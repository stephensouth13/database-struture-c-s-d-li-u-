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680" autoAdjust="0"/>
  </p:normalViewPr>
  <p:slideViewPr>
    <p:cSldViewPr>
      <p:cViewPr>
        <p:scale>
          <a:sx n="66" d="100"/>
          <a:sy n="66" d="100"/>
        </p:scale>
        <p:origin x="-547" y="-30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7FBCA40-7B02-4D79-8B5F-E82C221C66AE}" type="datetimeFigureOut">
              <a:rPr lang="en-US" smtClean="0"/>
              <a:t>9/3/2015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27BC6E0-3A6C-4ECC-B604-2D9098C19D8D}" type="slidenum">
              <a:rPr lang="en-US" smtClean="0"/>
              <a:t>‹#›</a:t>
            </a:fld>
            <a:endParaRPr lang="en-US"/>
          </a:p>
        </p:txBody>
      </p:sp>
    </p:spTree>
    <p:extLst>
      <p:ext uri="{BB962C8B-B14F-4D97-AF65-F5344CB8AC3E}">
        <p14:creationId xmlns:p14="http://schemas.microsoft.com/office/powerpoint/2010/main" val="1552302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A23FC10-CAB5-4CCC-8773-2D123589A9E3}" type="datetimeFigureOut">
              <a:rPr lang="en-US" smtClean="0"/>
              <a:t>9/3/2015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400562-4F68-4063-A95E-FFFEBDB36C12}" type="slidenum">
              <a:rPr lang="en-US" smtClean="0"/>
              <a:t>‹#›</a:t>
            </a:fld>
            <a:endParaRPr lang="en-US"/>
          </a:p>
        </p:txBody>
      </p:sp>
    </p:spTree>
    <p:extLst>
      <p:ext uri="{BB962C8B-B14F-4D97-AF65-F5344CB8AC3E}">
        <p14:creationId xmlns:p14="http://schemas.microsoft.com/office/powerpoint/2010/main" val="11251361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3200" b="1">
                <a:latin typeface="Times New Roman" panose="02020603050405020304" pitchFamily="18" charset="0"/>
                <a:cs typeface="Times New Roman" panose="02020603050405020304" pitchFamily="18" charset="0"/>
              </a:defRPr>
            </a:lvl1pPr>
          </a:lstStyle>
          <a:p>
            <a:r>
              <a:rPr lang="en-US" smtClean="0"/>
              <a:t>Click to edit Master title style</a:t>
            </a:r>
            <a:br>
              <a:rPr lang="en-US" smtClean="0"/>
            </a:br>
            <a:endParaRPr lang="en-US"/>
          </a:p>
        </p:txBody>
      </p:sp>
      <p:sp>
        <p:nvSpPr>
          <p:cNvPr id="3" name="Content Placeholder 2"/>
          <p:cNvSpPr>
            <a:spLocks noGrp="1"/>
          </p:cNvSpPr>
          <p:nvPr>
            <p:ph idx="1"/>
          </p:nvPr>
        </p:nvSpPr>
        <p:spPr/>
        <p:txBody>
          <a:bodyPr>
            <a:normAutofit/>
          </a:bodyPr>
          <a:lstStyle>
            <a:lvl1pPr>
              <a:defRPr sz="2800">
                <a:latin typeface="Times New Roman" panose="02020603050405020304" pitchFamily="18" charset="0"/>
                <a:cs typeface="Times New Roman" panose="02020603050405020304" pitchFamily="18" charset="0"/>
              </a:defRPr>
            </a:lvl1pPr>
            <a:lvl2pPr>
              <a:defRPr sz="2800">
                <a:latin typeface="Times New Roman" panose="02020603050405020304" pitchFamily="18" charset="0"/>
                <a:cs typeface="Times New Roman" panose="02020603050405020304" pitchFamily="18" charset="0"/>
              </a:defRPr>
            </a:lvl2pPr>
            <a:lvl3pPr>
              <a:defRPr sz="2800">
                <a:latin typeface="Times New Roman" panose="02020603050405020304" pitchFamily="18" charset="0"/>
                <a:cs typeface="Times New Roman" panose="02020603050405020304" pitchFamily="18" charset="0"/>
              </a:defRPr>
            </a:lvl3pPr>
            <a:lvl4pPr>
              <a:defRPr sz="2800">
                <a:latin typeface="Times New Roman" panose="02020603050405020304" pitchFamily="18" charset="0"/>
                <a:cs typeface="Times New Roman" panose="02020603050405020304" pitchFamily="18" charset="0"/>
              </a:defRPr>
            </a:lvl4pPr>
            <a:lvl5pPr>
              <a:defRPr sz="2800">
                <a:latin typeface="Times New Roman" panose="02020603050405020304" pitchFamily="18" charset="0"/>
                <a:cs typeface="Times New Roman" panose="02020603050405020304" pitchFamily="18"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A23FC10-CAB5-4CCC-8773-2D123589A9E3}" type="datetimeFigureOut">
              <a:rPr lang="en-US" smtClean="0"/>
              <a:t>9/3/2015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400562-4F68-4063-A95E-FFFEBDB36C12}" type="slidenum">
              <a:rPr lang="en-US" smtClean="0"/>
              <a:t>‹#›</a:t>
            </a:fld>
            <a:endParaRPr lang="en-US"/>
          </a:p>
        </p:txBody>
      </p:sp>
    </p:spTree>
    <p:extLst>
      <p:ext uri="{BB962C8B-B14F-4D97-AF65-F5344CB8AC3E}">
        <p14:creationId xmlns:p14="http://schemas.microsoft.com/office/powerpoint/2010/main" val="3728873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A23FC10-CAB5-4CCC-8773-2D123589A9E3}" type="datetimeFigureOut">
              <a:rPr lang="en-US" smtClean="0"/>
              <a:t>9/3/2015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400562-4F68-4063-A95E-FFFEBDB36C12}" type="slidenum">
              <a:rPr lang="en-US" smtClean="0"/>
              <a:t>‹#›</a:t>
            </a:fld>
            <a:endParaRPr lang="en-US"/>
          </a:p>
        </p:txBody>
      </p:sp>
    </p:spTree>
    <p:extLst>
      <p:ext uri="{BB962C8B-B14F-4D97-AF65-F5344CB8AC3E}">
        <p14:creationId xmlns:p14="http://schemas.microsoft.com/office/powerpoint/2010/main" val="1429956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smtClean="0"/>
              <a:t>Click to edit Master title style</a:t>
            </a:r>
            <a:br>
              <a:rPr lang="en-US" smtClean="0"/>
            </a:b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A23FC10-CAB5-4CCC-8773-2D123589A9E3}" type="datetimeFigureOut">
              <a:rPr lang="en-US" smtClean="0"/>
              <a:t>9/3/2015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400562-4F68-4063-A95E-FFFEBDB36C12}" type="slidenum">
              <a:rPr lang="en-US" smtClean="0"/>
              <a:t>‹#›</a:t>
            </a:fld>
            <a:endParaRPr lang="en-US"/>
          </a:p>
        </p:txBody>
      </p:sp>
    </p:spTree>
    <p:extLst>
      <p:ext uri="{BB962C8B-B14F-4D97-AF65-F5344CB8AC3E}">
        <p14:creationId xmlns:p14="http://schemas.microsoft.com/office/powerpoint/2010/main" val="25689321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A23FC10-CAB5-4CCC-8773-2D123589A9E3}" type="datetimeFigureOut">
              <a:rPr lang="en-US" smtClean="0"/>
              <a:t>9/3/2015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0400562-4F68-4063-A95E-FFFEBDB36C12}" type="slidenum">
              <a:rPr lang="en-US" smtClean="0"/>
              <a:t>‹#›</a:t>
            </a:fld>
            <a:endParaRPr lang="en-US"/>
          </a:p>
        </p:txBody>
      </p:sp>
    </p:spTree>
    <p:extLst>
      <p:ext uri="{BB962C8B-B14F-4D97-AF65-F5344CB8AC3E}">
        <p14:creationId xmlns:p14="http://schemas.microsoft.com/office/powerpoint/2010/main" val="12430941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A23FC10-CAB5-4CCC-8773-2D123589A9E3}" type="datetimeFigureOut">
              <a:rPr lang="en-US" smtClean="0"/>
              <a:t>9/3/2015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0400562-4F68-4063-A95E-FFFEBDB36C12}" type="slidenum">
              <a:rPr lang="en-US" smtClean="0"/>
              <a:t>‹#›</a:t>
            </a:fld>
            <a:endParaRPr lang="en-US"/>
          </a:p>
        </p:txBody>
      </p:sp>
    </p:spTree>
    <p:extLst>
      <p:ext uri="{BB962C8B-B14F-4D97-AF65-F5344CB8AC3E}">
        <p14:creationId xmlns:p14="http://schemas.microsoft.com/office/powerpoint/2010/main" val="20684340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23FC10-CAB5-4CCC-8773-2D123589A9E3}" type="datetimeFigureOut">
              <a:rPr lang="en-US" smtClean="0"/>
              <a:t>9/3/2015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0400562-4F68-4063-A95E-FFFEBDB36C12}" type="slidenum">
              <a:rPr lang="en-US" smtClean="0"/>
              <a:t>‹#›</a:t>
            </a:fld>
            <a:endParaRPr lang="en-US"/>
          </a:p>
        </p:txBody>
      </p:sp>
    </p:spTree>
    <p:extLst>
      <p:ext uri="{BB962C8B-B14F-4D97-AF65-F5344CB8AC3E}">
        <p14:creationId xmlns:p14="http://schemas.microsoft.com/office/powerpoint/2010/main" val="2110498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A23FC10-CAB5-4CCC-8773-2D123589A9E3}" type="datetimeFigureOut">
              <a:rPr lang="en-US" smtClean="0"/>
              <a:t>9/3/2015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400562-4F68-4063-A95E-FFFEBDB36C12}" type="slidenum">
              <a:rPr lang="en-US" smtClean="0"/>
              <a:t>‹#›</a:t>
            </a:fld>
            <a:endParaRPr lang="en-US"/>
          </a:p>
        </p:txBody>
      </p:sp>
    </p:spTree>
    <p:extLst>
      <p:ext uri="{BB962C8B-B14F-4D97-AF65-F5344CB8AC3E}">
        <p14:creationId xmlns:p14="http://schemas.microsoft.com/office/powerpoint/2010/main" val="19250889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A23FC10-CAB5-4CCC-8773-2D123589A9E3}" type="datetimeFigureOut">
              <a:rPr lang="en-US" smtClean="0"/>
              <a:t>9/3/2015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400562-4F68-4063-A95E-FFFEBDB36C12}" type="slidenum">
              <a:rPr lang="en-US" smtClean="0"/>
              <a:t>‹#›</a:t>
            </a:fld>
            <a:endParaRPr lang="en-US"/>
          </a:p>
        </p:txBody>
      </p:sp>
    </p:spTree>
    <p:extLst>
      <p:ext uri="{BB962C8B-B14F-4D97-AF65-F5344CB8AC3E}">
        <p14:creationId xmlns:p14="http://schemas.microsoft.com/office/powerpoint/2010/main" val="1072342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A23FC10-CAB5-4CCC-8773-2D123589A9E3}" type="datetimeFigureOut">
              <a:rPr lang="en-US" smtClean="0"/>
              <a:t>9/3/2015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400562-4F68-4063-A95E-FFFEBDB36C12}" type="slidenum">
              <a:rPr lang="en-US" smtClean="0"/>
              <a:t>‹#›</a:t>
            </a:fld>
            <a:endParaRPr lang="en-US"/>
          </a:p>
        </p:txBody>
      </p:sp>
    </p:spTree>
    <p:extLst>
      <p:ext uri="{BB962C8B-B14F-4D97-AF65-F5344CB8AC3E}">
        <p14:creationId xmlns:p14="http://schemas.microsoft.com/office/powerpoint/2010/main" val="29445265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A23FC10-CAB5-4CCC-8773-2D123589A9E3}" type="datetimeFigureOut">
              <a:rPr lang="en-US" smtClean="0"/>
              <a:t>9/3/2015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400562-4F68-4063-A95E-FFFEBDB36C12}" type="slidenum">
              <a:rPr lang="en-US" smtClean="0"/>
              <a:t>‹#›</a:t>
            </a:fld>
            <a:endParaRPr lang="en-US"/>
          </a:p>
        </p:txBody>
      </p:sp>
    </p:spTree>
    <p:extLst>
      <p:ext uri="{BB962C8B-B14F-4D97-AF65-F5344CB8AC3E}">
        <p14:creationId xmlns:p14="http://schemas.microsoft.com/office/powerpoint/2010/main" val="13131514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t">
            <a:normAutofit/>
          </a:bodyPr>
          <a:lstStyle/>
          <a:p>
            <a:r>
              <a:rPr lang="en-US" smtClean="0"/>
              <a:t>Click to edit Master title style</a:t>
            </a:r>
            <a:br>
              <a:rPr lang="en-US" smtClean="0"/>
            </a:b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23FC10-CAB5-4CCC-8773-2D123589A9E3}" type="datetimeFigureOut">
              <a:rPr lang="en-US" smtClean="0"/>
              <a:t>9/3/2015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A3EB79-FAE2-4654-86B1-78FF01A3C5E0}" type="slidenum">
              <a:rPr lang="en-US" smtClean="0"/>
              <a:t>‹#›</a:t>
            </a:fld>
            <a:endParaRPr lang="en-US"/>
          </a:p>
        </p:txBody>
      </p:sp>
    </p:spTree>
    <p:extLst>
      <p:ext uri="{BB962C8B-B14F-4D97-AF65-F5344CB8AC3E}">
        <p14:creationId xmlns:p14="http://schemas.microsoft.com/office/powerpoint/2010/main" val="41250448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spcBef>
          <a:spcPct val="0"/>
        </a:spcBef>
        <a:buNone/>
        <a:defRPr sz="3200" b="1" kern="1200">
          <a:solidFill>
            <a:schemeClr val="tx1"/>
          </a:solidFill>
          <a:latin typeface="Times New Roman" panose="02020603050405020304" pitchFamily="18" charset="0"/>
          <a:ea typeface="+mj-ea"/>
          <a:cs typeface="Times New Roman" panose="02020603050405020304" pitchFamily="18" charset="0"/>
        </a:defRPr>
      </a:lvl1pPr>
    </p:titleStyle>
    <p:bodyStyle>
      <a:lvl1pPr marL="342900" indent="-342900" algn="l" defTabSz="914400" rtl="0" eaLnBrk="1" latinLnBrk="0" hangingPunct="1">
        <a:spcBef>
          <a:spcPct val="20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spcBef>
          <a:spcPct val="20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spcBef>
          <a:spcPct val="20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spcBef>
          <a:spcPct val="20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smtClean="0"/>
              <a:t>MÔ HÌNH THỰC THỂ KẾT HỢP</a:t>
            </a:r>
            <a:endParaRPr lang="en-US" sz="4000"/>
          </a:p>
        </p:txBody>
      </p:sp>
    </p:spTree>
    <p:extLst>
      <p:ext uri="{BB962C8B-B14F-4D97-AF65-F5344CB8AC3E}">
        <p14:creationId xmlns:p14="http://schemas.microsoft.com/office/powerpoint/2010/main" val="5151136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Tổng quát</a:t>
            </a:r>
            <a:br>
              <a:rPr lang="en-US" smtClean="0"/>
            </a:br>
            <a:r>
              <a:rPr lang="en-US" smtClean="0"/>
              <a:t>ER: Entity-Relationship</a:t>
            </a:r>
            <a:endParaRPr lang="en-US"/>
          </a:p>
        </p:txBody>
      </p:sp>
      <p:sp>
        <p:nvSpPr>
          <p:cNvPr id="3" name="Content Placeholder 2"/>
          <p:cNvSpPr>
            <a:spLocks noGrp="1"/>
          </p:cNvSpPr>
          <p:nvPr>
            <p:ph idx="1"/>
          </p:nvPr>
        </p:nvSpPr>
        <p:spPr>
          <a:xfrm>
            <a:off x="457200" y="1600200"/>
            <a:ext cx="8610600" cy="5181600"/>
          </a:xfrm>
        </p:spPr>
        <p:txBody>
          <a:bodyPr/>
          <a:lstStyle/>
          <a:p>
            <a:pPr marL="0" indent="0">
              <a:buNone/>
            </a:pPr>
            <a:r>
              <a:rPr lang="en-US" smtClean="0"/>
              <a:t>Để cho việc con người có thể hiểu rỏ và dể dàng về những đối tượng tồn tại thật (thực thể), những đặc tính của thực thể và cả những mối quan hệ, người ta xây dựng nên tập các quy ước hình để biểu diễn những điều trên. Mô hình này gọi là mô hình thực thể mối quan hệ (hay Thực thể kết hợp).</a:t>
            </a:r>
          </a:p>
          <a:p>
            <a:pPr marL="0" indent="0">
              <a:buNone/>
            </a:pPr>
            <a:r>
              <a:rPr lang="en-US" smtClean="0"/>
              <a:t>Hiện tại có rất nhiều công cụ trong lập trình mô tả và hiểu mô hình này để tự sinh những cơ chế lưu trử vật lý dữ liệu trên máy tính.</a:t>
            </a:r>
            <a:endParaRPr lang="en-US"/>
          </a:p>
        </p:txBody>
      </p:sp>
    </p:spTree>
    <p:extLst>
      <p:ext uri="{BB962C8B-B14F-4D97-AF65-F5344CB8AC3E}">
        <p14:creationId xmlns:p14="http://schemas.microsoft.com/office/powerpoint/2010/main" val="13532485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Khái niệm</a:t>
            </a:r>
            <a:endParaRPr lang="en-US"/>
          </a:p>
        </p:txBody>
      </p:sp>
      <p:sp>
        <p:nvSpPr>
          <p:cNvPr id="3" name="Content Placeholder 2"/>
          <p:cNvSpPr>
            <a:spLocks noGrp="1"/>
          </p:cNvSpPr>
          <p:nvPr>
            <p:ph idx="1"/>
          </p:nvPr>
        </p:nvSpPr>
        <p:spPr>
          <a:xfrm>
            <a:off x="457200" y="1600200"/>
            <a:ext cx="8686800" cy="5257800"/>
          </a:xfrm>
        </p:spPr>
        <p:txBody>
          <a:bodyPr/>
          <a:lstStyle/>
          <a:p>
            <a:pPr marL="0" indent="0">
              <a:buNone/>
            </a:pPr>
            <a:r>
              <a:rPr lang="en-US" b="1" u="sng" smtClean="0"/>
              <a:t>Thực thể (Entity):</a:t>
            </a:r>
            <a:r>
              <a:rPr lang="en-US" smtClean="0"/>
              <a:t> là những đối tượng tồn tại và có phân biệt được với các đối tượng khác. Như vậy nó mang tính định danh riêng của đối tượng đó.</a:t>
            </a:r>
          </a:p>
          <a:p>
            <a:pPr marL="0" indent="0">
              <a:buNone/>
            </a:pPr>
            <a:r>
              <a:rPr lang="en-US" sz="2400" i="1" smtClean="0"/>
              <a:t>Ví dụ: sinh viên mã 10312345 tên Nguyễn Văn A là một thực thể. Hay một phòng ban có tên là phòng kế toán cũng là một thực thể.</a:t>
            </a:r>
          </a:p>
          <a:p>
            <a:pPr marL="0" indent="0">
              <a:buNone/>
            </a:pPr>
            <a:endParaRPr lang="en-US" sz="2400" smtClean="0"/>
          </a:p>
          <a:p>
            <a:pPr marL="0" indent="0">
              <a:buNone/>
            </a:pPr>
            <a:r>
              <a:rPr lang="en-US" b="1" u="sng" smtClean="0"/>
              <a:t>Tập thực thể (Entity set):</a:t>
            </a:r>
            <a:r>
              <a:rPr lang="en-US" smtClean="0"/>
              <a:t> là tập hợp các thực thể có cùng chung một quy cách mô tả.</a:t>
            </a:r>
          </a:p>
          <a:p>
            <a:pPr marL="0" indent="0">
              <a:buNone/>
            </a:pPr>
            <a:r>
              <a:rPr lang="en-US" sz="2400" i="1" smtClean="0"/>
              <a:t>Ví dụ: tất cả các sinh viên trong trường được gọi là một tập các thực thể tên là SinhVien. Hay tập tất cả các phòng ban trong trường được gọi tên là PhongBan</a:t>
            </a:r>
            <a:endParaRPr lang="en-US" sz="2400" i="1"/>
          </a:p>
        </p:txBody>
      </p:sp>
    </p:spTree>
    <p:extLst>
      <p:ext uri="{BB962C8B-B14F-4D97-AF65-F5344CB8AC3E}">
        <p14:creationId xmlns:p14="http://schemas.microsoft.com/office/powerpoint/2010/main" val="24713783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Khái niệm</a:t>
            </a:r>
            <a:endParaRPr lang="en-US"/>
          </a:p>
        </p:txBody>
      </p:sp>
      <p:sp>
        <p:nvSpPr>
          <p:cNvPr id="3" name="Content Placeholder 2"/>
          <p:cNvSpPr>
            <a:spLocks noGrp="1"/>
          </p:cNvSpPr>
          <p:nvPr>
            <p:ph idx="1"/>
          </p:nvPr>
        </p:nvSpPr>
        <p:spPr>
          <a:xfrm>
            <a:off x="457200" y="1600200"/>
            <a:ext cx="8686800" cy="5257800"/>
          </a:xfrm>
        </p:spPr>
        <p:txBody>
          <a:bodyPr/>
          <a:lstStyle/>
          <a:p>
            <a:pPr marL="0" indent="0">
              <a:buNone/>
            </a:pPr>
            <a:r>
              <a:rPr lang="en-US" b="1" u="sng" smtClean="0"/>
              <a:t>Mối quan hệ (relationship):</a:t>
            </a:r>
            <a:r>
              <a:rPr lang="en-US" smtClean="0"/>
              <a:t> Đó là sự kết hợp giữa các thực thể của những tập thực thể riêng biệt, mà mối quan hệ này mang trong nó một ý nghĩa. </a:t>
            </a:r>
          </a:p>
          <a:p>
            <a:pPr marL="0" indent="0">
              <a:buNone/>
            </a:pPr>
            <a:r>
              <a:rPr lang="en-US" sz="2400" smtClean="0"/>
              <a:t>Ví dụ: Mỗi thực thể thuộc tập thực thể SinhVien đề có mối kết hợp với thực thể thuộc tập thực thể Khoa. Mối quan hệ này là quan hệ </a:t>
            </a:r>
            <a:r>
              <a:rPr lang="en-US" sz="2400" b="1" smtClean="0"/>
              <a:t>quản lý</a:t>
            </a:r>
            <a:r>
              <a:rPr lang="en-US" sz="2400" smtClean="0"/>
              <a:t> (Khoa quản lý SinhVien)</a:t>
            </a:r>
          </a:p>
          <a:p>
            <a:pPr marL="0" indent="0">
              <a:buNone/>
            </a:pPr>
            <a:endParaRPr lang="en-US" sz="2400" smtClean="0"/>
          </a:p>
          <a:p>
            <a:pPr marL="0" indent="0">
              <a:buNone/>
            </a:pPr>
            <a:r>
              <a:rPr lang="en-US" b="1" u="sng" smtClean="0"/>
              <a:t>Thuộc tính (Attribute):</a:t>
            </a:r>
            <a:r>
              <a:rPr lang="en-US" smtClean="0"/>
              <a:t> đó là những đặc tính của tập thực thể.</a:t>
            </a:r>
          </a:p>
          <a:p>
            <a:pPr marL="0" indent="0">
              <a:buNone/>
            </a:pPr>
            <a:r>
              <a:rPr lang="en-US" sz="2400" smtClean="0"/>
              <a:t>Ví dụ: Mã sinh viên, tên sinh viên, ngày sinh có thể được xem là những đặc tính (thuộc tính) của tập thực thể SinhVien.</a:t>
            </a:r>
            <a:endParaRPr lang="en-US" sz="2400"/>
          </a:p>
        </p:txBody>
      </p:sp>
    </p:spTree>
    <p:extLst>
      <p:ext uri="{BB962C8B-B14F-4D97-AF65-F5344CB8AC3E}">
        <p14:creationId xmlns:p14="http://schemas.microsoft.com/office/powerpoint/2010/main" val="4061557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Khái niệm</a:t>
            </a:r>
            <a:endParaRPr lang="en-US"/>
          </a:p>
        </p:txBody>
      </p:sp>
      <p:sp>
        <p:nvSpPr>
          <p:cNvPr id="3" name="Content Placeholder 2"/>
          <p:cNvSpPr>
            <a:spLocks noGrp="1"/>
          </p:cNvSpPr>
          <p:nvPr>
            <p:ph idx="1"/>
          </p:nvPr>
        </p:nvSpPr>
        <p:spPr>
          <a:xfrm>
            <a:off x="457200" y="1600200"/>
            <a:ext cx="8686800" cy="5257800"/>
          </a:xfrm>
        </p:spPr>
        <p:txBody>
          <a:bodyPr/>
          <a:lstStyle/>
          <a:p>
            <a:r>
              <a:rPr lang="en-US" sz="2400" smtClean="0"/>
              <a:t>Hình chử nhật một nét thể hiện cho một tập thực thể</a:t>
            </a:r>
          </a:p>
          <a:p>
            <a:r>
              <a:rPr lang="en-US" sz="2400" smtClean="0"/>
              <a:t>Hình ellipse thể hiện cho thuộc tính </a:t>
            </a:r>
          </a:p>
          <a:p>
            <a:r>
              <a:rPr lang="en-US" sz="2400" smtClean="0"/>
              <a:t>Hình thoi thể hiện cho mối quan hệ</a:t>
            </a:r>
            <a:endParaRPr lang="en-US" sz="2400"/>
          </a:p>
        </p:txBody>
      </p:sp>
      <p:sp>
        <p:nvSpPr>
          <p:cNvPr id="4" name="Rectangle 3"/>
          <p:cNvSpPr/>
          <p:nvPr/>
        </p:nvSpPr>
        <p:spPr>
          <a:xfrm>
            <a:off x="7467600" y="1600200"/>
            <a:ext cx="12954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5" name="Oval 4"/>
          <p:cNvSpPr/>
          <p:nvPr/>
        </p:nvSpPr>
        <p:spPr>
          <a:xfrm>
            <a:off x="7543800" y="2057400"/>
            <a:ext cx="1143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6" name="Diamond 5"/>
          <p:cNvSpPr/>
          <p:nvPr/>
        </p:nvSpPr>
        <p:spPr>
          <a:xfrm>
            <a:off x="7658100" y="2514600"/>
            <a:ext cx="914400" cy="457200"/>
          </a:xfrm>
          <a:prstGeom prst="diamond">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7" name="Rectangle 6"/>
          <p:cNvSpPr/>
          <p:nvPr/>
        </p:nvSpPr>
        <p:spPr>
          <a:xfrm>
            <a:off x="1562100" y="3962400"/>
            <a:ext cx="12954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SinhVien</a:t>
            </a:r>
            <a:endParaRPr lang="en-US"/>
          </a:p>
        </p:txBody>
      </p:sp>
      <p:sp>
        <p:nvSpPr>
          <p:cNvPr id="8" name="Rectangle 7"/>
          <p:cNvSpPr/>
          <p:nvPr/>
        </p:nvSpPr>
        <p:spPr>
          <a:xfrm>
            <a:off x="5981700" y="3962400"/>
            <a:ext cx="12954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Khoa</a:t>
            </a:r>
            <a:endParaRPr lang="en-US"/>
          </a:p>
        </p:txBody>
      </p:sp>
      <p:sp>
        <p:nvSpPr>
          <p:cNvPr id="9" name="Diamond 8"/>
          <p:cNvSpPr/>
          <p:nvPr/>
        </p:nvSpPr>
        <p:spPr>
          <a:xfrm>
            <a:off x="3848100" y="3770245"/>
            <a:ext cx="1219200" cy="761999"/>
          </a:xfrm>
          <a:prstGeom prst="diamond">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500" smtClean="0"/>
              <a:t>Quản lý</a:t>
            </a:r>
            <a:endParaRPr lang="en-US" sz="1500"/>
          </a:p>
        </p:txBody>
      </p:sp>
      <p:cxnSp>
        <p:nvCxnSpPr>
          <p:cNvPr id="11" name="Straight Connector 10"/>
          <p:cNvCxnSpPr>
            <a:stCxn id="7" idx="3"/>
            <a:endCxn id="9" idx="1"/>
          </p:cNvCxnSpPr>
          <p:nvPr/>
        </p:nvCxnSpPr>
        <p:spPr>
          <a:xfrm flipV="1">
            <a:off x="2857500" y="4151245"/>
            <a:ext cx="990600" cy="1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9" idx="3"/>
            <a:endCxn id="8" idx="1"/>
          </p:cNvCxnSpPr>
          <p:nvPr/>
        </p:nvCxnSpPr>
        <p:spPr>
          <a:xfrm>
            <a:off x="5067300" y="4151245"/>
            <a:ext cx="914400" cy="1655"/>
          </a:xfrm>
          <a:prstGeom prst="line">
            <a:avLst/>
          </a:prstGeom>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762000" y="4719431"/>
            <a:ext cx="1143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MaSV</a:t>
            </a:r>
            <a:endParaRPr lang="en-US"/>
          </a:p>
        </p:txBody>
      </p:sp>
      <p:sp>
        <p:nvSpPr>
          <p:cNvPr id="15" name="Oval 14"/>
          <p:cNvSpPr/>
          <p:nvPr/>
        </p:nvSpPr>
        <p:spPr>
          <a:xfrm>
            <a:off x="2531165" y="4719431"/>
            <a:ext cx="1143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Ten</a:t>
            </a:r>
            <a:endParaRPr lang="en-US"/>
          </a:p>
        </p:txBody>
      </p:sp>
      <p:sp>
        <p:nvSpPr>
          <p:cNvPr id="16" name="Oval 15"/>
          <p:cNvSpPr/>
          <p:nvPr/>
        </p:nvSpPr>
        <p:spPr>
          <a:xfrm>
            <a:off x="1409700" y="5257800"/>
            <a:ext cx="16002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Ngày sinh</a:t>
            </a:r>
            <a:endParaRPr lang="en-US"/>
          </a:p>
        </p:txBody>
      </p:sp>
      <p:cxnSp>
        <p:nvCxnSpPr>
          <p:cNvPr id="18" name="Straight Connector 17"/>
          <p:cNvCxnSpPr>
            <a:stCxn id="7" idx="2"/>
            <a:endCxn id="16" idx="0"/>
          </p:cNvCxnSpPr>
          <p:nvPr/>
        </p:nvCxnSpPr>
        <p:spPr>
          <a:xfrm>
            <a:off x="2209800" y="4343400"/>
            <a:ext cx="0" cy="914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7" idx="2"/>
            <a:endCxn id="15" idx="0"/>
          </p:cNvCxnSpPr>
          <p:nvPr/>
        </p:nvCxnSpPr>
        <p:spPr>
          <a:xfrm>
            <a:off x="2209800" y="4343400"/>
            <a:ext cx="892865" cy="376031"/>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7" idx="2"/>
            <a:endCxn id="14" idx="0"/>
          </p:cNvCxnSpPr>
          <p:nvPr/>
        </p:nvCxnSpPr>
        <p:spPr>
          <a:xfrm flipH="1">
            <a:off x="1333500" y="4343400"/>
            <a:ext cx="876300" cy="376031"/>
          </a:xfrm>
          <a:prstGeom prst="line">
            <a:avLst/>
          </a:prstGeom>
        </p:spPr>
        <p:style>
          <a:lnRef idx="1">
            <a:schemeClr val="accent1"/>
          </a:lnRef>
          <a:fillRef idx="0">
            <a:schemeClr val="accent1"/>
          </a:fillRef>
          <a:effectRef idx="0">
            <a:schemeClr val="accent1"/>
          </a:effectRef>
          <a:fontRef idx="minor">
            <a:schemeClr val="tx1"/>
          </a:fontRef>
        </p:style>
      </p:cxnSp>
      <p:sp>
        <p:nvSpPr>
          <p:cNvPr id="23" name="Oval 22"/>
          <p:cNvSpPr/>
          <p:nvPr/>
        </p:nvSpPr>
        <p:spPr>
          <a:xfrm>
            <a:off x="5238750" y="4724400"/>
            <a:ext cx="14859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Ma Khoa</a:t>
            </a:r>
            <a:endParaRPr lang="en-US"/>
          </a:p>
        </p:txBody>
      </p:sp>
      <p:sp>
        <p:nvSpPr>
          <p:cNvPr id="24" name="Oval 23"/>
          <p:cNvSpPr/>
          <p:nvPr/>
        </p:nvSpPr>
        <p:spPr>
          <a:xfrm>
            <a:off x="7048500" y="4686300"/>
            <a:ext cx="14859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Tên Khoa</a:t>
            </a:r>
            <a:endParaRPr lang="en-US"/>
          </a:p>
        </p:txBody>
      </p:sp>
      <p:cxnSp>
        <p:nvCxnSpPr>
          <p:cNvPr id="26" name="Straight Connector 25"/>
          <p:cNvCxnSpPr>
            <a:stCxn id="8" idx="2"/>
            <a:endCxn id="23" idx="0"/>
          </p:cNvCxnSpPr>
          <p:nvPr/>
        </p:nvCxnSpPr>
        <p:spPr>
          <a:xfrm flipH="1">
            <a:off x="5981700" y="4343400"/>
            <a:ext cx="6477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a:stCxn id="8" idx="2"/>
            <a:endCxn id="24" idx="0"/>
          </p:cNvCxnSpPr>
          <p:nvPr/>
        </p:nvCxnSpPr>
        <p:spPr>
          <a:xfrm>
            <a:off x="6629400" y="4343400"/>
            <a:ext cx="1162050" cy="3429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0521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Khái niệm</a:t>
            </a:r>
            <a:endParaRPr lang="en-US"/>
          </a:p>
        </p:txBody>
      </p:sp>
      <p:sp>
        <p:nvSpPr>
          <p:cNvPr id="3" name="Content Placeholder 2"/>
          <p:cNvSpPr>
            <a:spLocks noGrp="1"/>
          </p:cNvSpPr>
          <p:nvPr>
            <p:ph idx="1"/>
          </p:nvPr>
        </p:nvSpPr>
        <p:spPr>
          <a:xfrm>
            <a:off x="457200" y="1600200"/>
            <a:ext cx="8686800" cy="5257800"/>
          </a:xfrm>
        </p:spPr>
        <p:txBody>
          <a:bodyPr/>
          <a:lstStyle/>
          <a:p>
            <a:pPr marL="0" indent="0">
              <a:buNone/>
            </a:pPr>
            <a:r>
              <a:rPr lang="en-US" b="1" u="sng" smtClean="0"/>
              <a:t>Thực thể mạnh:</a:t>
            </a:r>
            <a:r>
              <a:rPr lang="en-US" smtClean="0"/>
              <a:t> Là thực thể mà có thể tồn tại độc lập không lệ thuộc vào các thực thể khác.</a:t>
            </a:r>
          </a:p>
          <a:p>
            <a:pPr marL="0" indent="0">
              <a:buNone/>
            </a:pPr>
            <a:r>
              <a:rPr lang="en-US" sz="2400" i="1" smtClean="0"/>
              <a:t>Ví dụ: thực thể SinhVien hay thực thể Khoa hay PhongBan </a:t>
            </a:r>
          </a:p>
          <a:p>
            <a:pPr marL="0" indent="0">
              <a:buNone/>
            </a:pPr>
            <a:r>
              <a:rPr lang="en-US" b="1" u="sng" smtClean="0"/>
              <a:t>Thực thể yếu:</a:t>
            </a:r>
            <a:r>
              <a:rPr lang="en-US" smtClean="0"/>
              <a:t> Là thực thể mà sự tồn tại của nó phụ thuộc vào sự tồn tại của thực thể khác.</a:t>
            </a:r>
          </a:p>
          <a:p>
            <a:pPr marL="0" indent="0">
              <a:buNone/>
            </a:pPr>
            <a:r>
              <a:rPr lang="en-US" sz="2400" i="1" smtClean="0"/>
              <a:t>Ví dụ: Thực thể VayHocPhi là một thực thể yếu, vì thực thể này chỉ có khi phải tồn tại sinh viên. Không thể hình thành thực thể VayHocPhi nếu như không có một thực thể sinh viên cụ thể.</a:t>
            </a:r>
          </a:p>
          <a:p>
            <a:pPr marL="0" indent="0">
              <a:buNone/>
            </a:pPr>
            <a:r>
              <a:rPr lang="en-US" b="1" u="sng" smtClean="0"/>
              <a:t>Thực thể kết hợp:</a:t>
            </a:r>
            <a:r>
              <a:rPr lang="en-US" smtClean="0"/>
              <a:t> Là thực thể được hình thành do mối quan hệ của nhiều thực thể với nhau.</a:t>
            </a:r>
          </a:p>
          <a:p>
            <a:pPr marL="0" indent="0">
              <a:buNone/>
            </a:pPr>
            <a:r>
              <a:rPr lang="en-US" sz="2400" i="1" smtClean="0"/>
              <a:t>Ví dụ: Quan hệ giữa SinhVien và MonHoc hình thành nên một thực thể mới (thực thể kết hợp, thực thể yếu) để thể hiện ý nghĩa điểm số.</a:t>
            </a:r>
            <a:endParaRPr lang="en-US" sz="2400" i="1"/>
          </a:p>
        </p:txBody>
      </p:sp>
      <p:sp>
        <p:nvSpPr>
          <p:cNvPr id="4" name="Rectangle 3"/>
          <p:cNvSpPr/>
          <p:nvPr/>
        </p:nvSpPr>
        <p:spPr>
          <a:xfrm>
            <a:off x="6096000" y="2133600"/>
            <a:ext cx="1143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6" name="Rectangle 5"/>
          <p:cNvSpPr/>
          <p:nvPr/>
        </p:nvSpPr>
        <p:spPr>
          <a:xfrm>
            <a:off x="6096000" y="3485322"/>
            <a:ext cx="1143000" cy="381000"/>
          </a:xfrm>
          <a:prstGeom prst="rect">
            <a:avLst/>
          </a:prstGeom>
          <a:ln w="44450" cap="flat" cmpd="db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ln cmpd="dbl">
                <a:solidFill>
                  <a:schemeClr val="tx1"/>
                </a:solidFill>
              </a:ln>
            </a:endParaRPr>
          </a:p>
        </p:txBody>
      </p:sp>
      <p:grpSp>
        <p:nvGrpSpPr>
          <p:cNvPr id="9" name="Group 8"/>
          <p:cNvGrpSpPr/>
          <p:nvPr/>
        </p:nvGrpSpPr>
        <p:grpSpPr>
          <a:xfrm>
            <a:off x="6134100" y="5562600"/>
            <a:ext cx="1104900" cy="457200"/>
            <a:chOff x="304800" y="1129748"/>
            <a:chExt cx="762000" cy="457200"/>
          </a:xfrm>
        </p:grpSpPr>
        <p:sp>
          <p:nvSpPr>
            <p:cNvPr id="7" name="Diamond 6"/>
            <p:cNvSpPr/>
            <p:nvPr/>
          </p:nvSpPr>
          <p:spPr>
            <a:xfrm>
              <a:off x="304800" y="1129748"/>
              <a:ext cx="762000" cy="457200"/>
            </a:xfrm>
            <a:prstGeom prst="diamond">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8" name="Rectangle 7"/>
            <p:cNvSpPr/>
            <p:nvPr/>
          </p:nvSpPr>
          <p:spPr>
            <a:xfrm>
              <a:off x="304800" y="1129748"/>
              <a:ext cx="762000" cy="457200"/>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grpSp>
    </p:spTree>
    <p:extLst>
      <p:ext uri="{BB962C8B-B14F-4D97-AF65-F5344CB8AC3E}">
        <p14:creationId xmlns:p14="http://schemas.microsoft.com/office/powerpoint/2010/main" val="1193305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Các loại thuộc tính</a:t>
            </a:r>
            <a:endParaRPr lang="en-US"/>
          </a:p>
        </p:txBody>
      </p:sp>
      <p:sp>
        <p:nvSpPr>
          <p:cNvPr id="3" name="Content Placeholder 2"/>
          <p:cNvSpPr>
            <a:spLocks noGrp="1"/>
          </p:cNvSpPr>
          <p:nvPr>
            <p:ph idx="1"/>
          </p:nvPr>
        </p:nvSpPr>
        <p:spPr>
          <a:xfrm>
            <a:off x="457200" y="1600200"/>
            <a:ext cx="8686800" cy="5257800"/>
          </a:xfrm>
        </p:spPr>
        <p:txBody>
          <a:bodyPr/>
          <a:lstStyle/>
          <a:p>
            <a:pPr marL="0" indent="0">
              <a:buNone/>
            </a:pPr>
            <a:r>
              <a:rPr lang="en-US" b="1" u="sng" smtClean="0"/>
              <a:t>Thuộc tính đơn:</a:t>
            </a:r>
            <a:r>
              <a:rPr lang="en-US" smtClean="0"/>
              <a:t> </a:t>
            </a:r>
            <a:r>
              <a:rPr lang="en-US" sz="2400" i="1" smtClean="0"/>
              <a:t>Ví dụ: Thuộc tính tên trong thực thể SinhVien </a:t>
            </a:r>
            <a:endParaRPr lang="en-US" sz="2400" b="1" i="1" u="sng" smtClean="0"/>
          </a:p>
          <a:p>
            <a:pPr marL="0" indent="0">
              <a:buNone/>
            </a:pPr>
            <a:r>
              <a:rPr lang="en-US" b="1" u="sng" smtClean="0"/>
              <a:t>Thuộc tính đa trị:</a:t>
            </a:r>
            <a:r>
              <a:rPr lang="en-US" smtClean="0"/>
              <a:t>  </a:t>
            </a:r>
            <a:r>
              <a:rPr lang="en-US" sz="2400" i="1" smtClean="0"/>
              <a:t>Ví dụ: Thực thể GiaoVien có thuộc tính ChuyenMon là một thuộc tính đa trị (Vì một giáo viên cùng lúc có chuyên môn có thể là tổ hợp các giá trị khác nhau như chuyên môn Toán, Hóa, …</a:t>
            </a:r>
          </a:p>
          <a:p>
            <a:pPr marL="0" indent="0">
              <a:buNone/>
            </a:pPr>
            <a:r>
              <a:rPr lang="en-US" b="1" u="sng" smtClean="0"/>
              <a:t>Thuộc tính tổ hợp:</a:t>
            </a:r>
            <a:r>
              <a:rPr lang="en-US" smtClean="0"/>
              <a:t> Là thuộc tính mà bản thân nó bao gồm nhiều thuộc tính con bên trong.</a:t>
            </a:r>
          </a:p>
          <a:p>
            <a:pPr marL="0" indent="0">
              <a:buNone/>
            </a:pPr>
            <a:r>
              <a:rPr lang="en-US" sz="2400" i="1" smtClean="0"/>
              <a:t>Ví dụ: Trong thực thể sinh viên, thuộc tính địa chỉ là một thuộc tính tổ hợp gồm thuộc tính con như: tên quốc gia, tên thành phố, quận, đường và địa chỉ.</a:t>
            </a:r>
            <a:endParaRPr lang="en-US" sz="2400" i="1"/>
          </a:p>
        </p:txBody>
      </p:sp>
    </p:spTree>
    <p:extLst>
      <p:ext uri="{BB962C8B-B14F-4D97-AF65-F5344CB8AC3E}">
        <p14:creationId xmlns:p14="http://schemas.microsoft.com/office/powerpoint/2010/main" val="2789897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Các mức độ quan hệ</a:t>
            </a:r>
            <a:endParaRPr lang="en-US"/>
          </a:p>
        </p:txBody>
      </p:sp>
      <p:sp>
        <p:nvSpPr>
          <p:cNvPr id="3" name="Content Placeholder 2"/>
          <p:cNvSpPr>
            <a:spLocks noGrp="1"/>
          </p:cNvSpPr>
          <p:nvPr>
            <p:ph idx="1"/>
          </p:nvPr>
        </p:nvSpPr>
        <p:spPr>
          <a:xfrm>
            <a:off x="457200" y="1600200"/>
            <a:ext cx="8686800" cy="5257800"/>
          </a:xfrm>
        </p:spPr>
        <p:txBody>
          <a:bodyPr/>
          <a:lstStyle/>
          <a:p>
            <a:pPr marL="0" indent="0">
              <a:buNone/>
            </a:pPr>
            <a:r>
              <a:rPr lang="en-US" b="1" u="sng" smtClean="0"/>
              <a:t>Quan hệ chính bản thân:</a:t>
            </a:r>
            <a:r>
              <a:rPr lang="en-US" smtClean="0"/>
              <a:t> dùng mô tả quan hệ đệ quy.</a:t>
            </a:r>
          </a:p>
          <a:p>
            <a:pPr marL="0" indent="0">
              <a:buNone/>
            </a:pPr>
            <a:r>
              <a:rPr lang="en-US" sz="2400" i="1" smtClean="0"/>
              <a:t>Ví dụ: Thực thể NhanVien có thông tin về những người là cấp trên của chính họ. Người cấp trên này cũng là một thực thể NhanVien.</a:t>
            </a:r>
          </a:p>
          <a:p>
            <a:pPr marL="0" indent="0">
              <a:buNone/>
            </a:pPr>
            <a:endParaRPr lang="en-US" b="1" u="sng" smtClean="0"/>
          </a:p>
          <a:p>
            <a:pPr marL="0" indent="0">
              <a:buNone/>
            </a:pPr>
            <a:r>
              <a:rPr lang="en-US" b="1" u="sng" smtClean="0"/>
              <a:t>Quan hệ nhiều hơn 1:</a:t>
            </a:r>
            <a:r>
              <a:rPr lang="en-US" smtClean="0"/>
              <a:t> đó là những quan hệ mà số lượng thực thể tham gia vào hơn 1.</a:t>
            </a:r>
          </a:p>
          <a:p>
            <a:pPr marL="0" indent="0">
              <a:buNone/>
            </a:pPr>
            <a:r>
              <a:rPr lang="en-US" sz="2400" i="1" smtClean="0"/>
              <a:t>Ví dụ: Mối quan hệ giữa thực thể GiaoVien và SinhVien là quan hệ giảng dạy. Hay mối quan hệ giữa SinhVien, MonHoc và GiangDuong là quan hệ đăng ký học.</a:t>
            </a:r>
            <a:r>
              <a:rPr lang="en-US" smtClean="0"/>
              <a:t> </a:t>
            </a:r>
          </a:p>
          <a:p>
            <a:pPr marL="0" indent="0">
              <a:buNone/>
            </a:pPr>
            <a:endParaRPr lang="en-US"/>
          </a:p>
        </p:txBody>
      </p:sp>
    </p:spTree>
    <p:extLst>
      <p:ext uri="{BB962C8B-B14F-4D97-AF65-F5344CB8AC3E}">
        <p14:creationId xmlns:p14="http://schemas.microsoft.com/office/powerpoint/2010/main" val="19088385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Các loại quan hệ</a:t>
            </a:r>
            <a:endParaRPr lang="en-US"/>
          </a:p>
        </p:txBody>
      </p:sp>
      <p:sp>
        <p:nvSpPr>
          <p:cNvPr id="3" name="Content Placeholder 2"/>
          <p:cNvSpPr>
            <a:spLocks noGrp="1"/>
          </p:cNvSpPr>
          <p:nvPr>
            <p:ph idx="1"/>
          </p:nvPr>
        </p:nvSpPr>
        <p:spPr>
          <a:xfrm>
            <a:off x="457200" y="1600200"/>
            <a:ext cx="8686800" cy="5257800"/>
          </a:xfrm>
        </p:spPr>
        <p:txBody>
          <a:bodyPr/>
          <a:lstStyle/>
          <a:p>
            <a:pPr marL="0" indent="0">
              <a:buNone/>
            </a:pPr>
            <a:r>
              <a:rPr lang="en-US" b="1" u="sng" smtClean="0"/>
              <a:t>Quan hệ 1 – n:</a:t>
            </a:r>
          </a:p>
          <a:p>
            <a:pPr marL="0" indent="0">
              <a:buNone/>
            </a:pPr>
            <a:r>
              <a:rPr lang="en-US" sz="2400" i="1" smtClean="0"/>
              <a:t>Ví dụ: Một thực thể Khoa có sự kết hợp với nhiều thực thể SinhVien (Ý nói trong một khoa có nhiều có nhiều sinh viên)</a:t>
            </a:r>
          </a:p>
          <a:p>
            <a:pPr marL="0" indent="0">
              <a:buNone/>
            </a:pPr>
            <a:endParaRPr lang="en-US" smtClean="0"/>
          </a:p>
          <a:p>
            <a:pPr marL="0" indent="0">
              <a:buNone/>
            </a:pPr>
            <a:endParaRPr lang="en-US" smtClean="0"/>
          </a:p>
          <a:p>
            <a:pPr marL="0" indent="0">
              <a:buNone/>
            </a:pPr>
            <a:r>
              <a:rPr lang="en-US" sz="2400" i="1" smtClean="0"/>
              <a:t>Quan hệ này được gọi là 1-n. Nhưng được chỉ rỏ: Một thực thể SinhVien chỉ có duy nhất 1 Khoa; Một Khoa có thể nhiều sinh viên nhưng cũng có thể không có sinh viên nào. </a:t>
            </a:r>
          </a:p>
          <a:p>
            <a:pPr marL="0" indent="0">
              <a:buNone/>
            </a:pPr>
            <a:endParaRPr lang="en-US" sz="2400" i="1" smtClean="0"/>
          </a:p>
          <a:p>
            <a:pPr marL="0" indent="0">
              <a:buNone/>
            </a:pPr>
            <a:endParaRPr lang="en-US"/>
          </a:p>
        </p:txBody>
      </p:sp>
      <p:sp>
        <p:nvSpPr>
          <p:cNvPr id="4" name="Rectangle 3"/>
          <p:cNvSpPr/>
          <p:nvPr/>
        </p:nvSpPr>
        <p:spPr>
          <a:xfrm>
            <a:off x="1524000" y="3240156"/>
            <a:ext cx="12954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SinhVien</a:t>
            </a:r>
            <a:endParaRPr lang="en-US"/>
          </a:p>
        </p:txBody>
      </p:sp>
      <p:sp>
        <p:nvSpPr>
          <p:cNvPr id="5" name="Rectangle 4"/>
          <p:cNvSpPr/>
          <p:nvPr/>
        </p:nvSpPr>
        <p:spPr>
          <a:xfrm>
            <a:off x="6553200" y="3240156"/>
            <a:ext cx="12954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Khoa</a:t>
            </a:r>
            <a:endParaRPr lang="en-US"/>
          </a:p>
        </p:txBody>
      </p:sp>
      <p:sp>
        <p:nvSpPr>
          <p:cNvPr id="6" name="Diamond 5"/>
          <p:cNvSpPr/>
          <p:nvPr/>
        </p:nvSpPr>
        <p:spPr>
          <a:xfrm>
            <a:off x="4076700" y="3048001"/>
            <a:ext cx="1219200" cy="761999"/>
          </a:xfrm>
          <a:prstGeom prst="diamond">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500" smtClean="0"/>
              <a:t>Quản lý</a:t>
            </a:r>
            <a:endParaRPr lang="en-US" sz="1500"/>
          </a:p>
        </p:txBody>
      </p:sp>
      <p:cxnSp>
        <p:nvCxnSpPr>
          <p:cNvPr id="7" name="Straight Connector 6"/>
          <p:cNvCxnSpPr>
            <a:stCxn id="4" idx="3"/>
            <a:endCxn id="6" idx="1"/>
          </p:cNvCxnSpPr>
          <p:nvPr/>
        </p:nvCxnSpPr>
        <p:spPr>
          <a:xfrm flipV="1">
            <a:off x="2819400" y="3429001"/>
            <a:ext cx="1257300" cy="1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6" idx="3"/>
            <a:endCxn id="5" idx="1"/>
          </p:cNvCxnSpPr>
          <p:nvPr/>
        </p:nvCxnSpPr>
        <p:spPr>
          <a:xfrm>
            <a:off x="5295900" y="3429001"/>
            <a:ext cx="1257300" cy="1655"/>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2855843" y="3094453"/>
            <a:ext cx="481222" cy="369332"/>
          </a:xfrm>
          <a:prstGeom prst="rect">
            <a:avLst/>
          </a:prstGeom>
          <a:noFill/>
        </p:spPr>
        <p:txBody>
          <a:bodyPr wrap="none" rtlCol="0">
            <a:spAutoFit/>
          </a:bodyPr>
          <a:lstStyle/>
          <a:p>
            <a:r>
              <a:rPr lang="en-US" smtClean="0"/>
              <a:t>1:1</a:t>
            </a:r>
            <a:endParaRPr lang="en-US"/>
          </a:p>
        </p:txBody>
      </p:sp>
      <p:sp>
        <p:nvSpPr>
          <p:cNvPr id="11" name="TextBox 10"/>
          <p:cNvSpPr txBox="1"/>
          <p:nvPr/>
        </p:nvSpPr>
        <p:spPr>
          <a:xfrm>
            <a:off x="6049617" y="3094453"/>
            <a:ext cx="486030" cy="369332"/>
          </a:xfrm>
          <a:prstGeom prst="rect">
            <a:avLst/>
          </a:prstGeom>
          <a:noFill/>
        </p:spPr>
        <p:txBody>
          <a:bodyPr wrap="none" rtlCol="0">
            <a:spAutoFit/>
          </a:bodyPr>
          <a:lstStyle/>
          <a:p>
            <a:r>
              <a:rPr lang="en-US"/>
              <a:t>0</a:t>
            </a:r>
            <a:r>
              <a:rPr lang="en-US" smtClean="0"/>
              <a:t>:n</a:t>
            </a:r>
            <a:endParaRPr lang="en-US"/>
          </a:p>
        </p:txBody>
      </p:sp>
    </p:spTree>
    <p:extLst>
      <p:ext uri="{BB962C8B-B14F-4D97-AF65-F5344CB8AC3E}">
        <p14:creationId xmlns:p14="http://schemas.microsoft.com/office/powerpoint/2010/main" val="1416446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Các loại quan hệ</a:t>
            </a:r>
            <a:endParaRPr lang="en-US"/>
          </a:p>
        </p:txBody>
      </p:sp>
      <p:sp>
        <p:nvSpPr>
          <p:cNvPr id="3" name="Content Placeholder 2"/>
          <p:cNvSpPr>
            <a:spLocks noGrp="1"/>
          </p:cNvSpPr>
          <p:nvPr>
            <p:ph idx="1"/>
          </p:nvPr>
        </p:nvSpPr>
        <p:spPr>
          <a:xfrm>
            <a:off x="457200" y="1600200"/>
            <a:ext cx="8686800" cy="5257800"/>
          </a:xfrm>
        </p:spPr>
        <p:txBody>
          <a:bodyPr/>
          <a:lstStyle/>
          <a:p>
            <a:pPr marL="0" indent="0">
              <a:buNone/>
            </a:pPr>
            <a:r>
              <a:rPr lang="en-US" b="1" u="sng" smtClean="0"/>
              <a:t>Quan hệ 1 – 1:</a:t>
            </a:r>
          </a:p>
          <a:p>
            <a:pPr marL="0" indent="0">
              <a:buNone/>
            </a:pPr>
            <a:r>
              <a:rPr lang="en-US" sz="2400" i="1" smtClean="0"/>
              <a:t>Ví dụ: Một thực thể Khoa có sự kết hợp với nhiều thực thể GiaoVien (Ý nói trong một khoa có nhiều có nhiều giáo viên)</a:t>
            </a:r>
          </a:p>
          <a:p>
            <a:pPr marL="0" indent="0">
              <a:buNone/>
            </a:pPr>
            <a:endParaRPr lang="en-US" smtClean="0"/>
          </a:p>
          <a:p>
            <a:pPr marL="0" indent="0">
              <a:buNone/>
            </a:pPr>
            <a:endParaRPr lang="en-US" smtClean="0"/>
          </a:p>
          <a:p>
            <a:pPr marL="0" indent="0">
              <a:buNone/>
            </a:pPr>
            <a:r>
              <a:rPr lang="en-US" sz="2400" i="1" smtClean="0"/>
              <a:t>Tuy nhiên, trong một mối quan hệ khác là quan hệ trưởng khoa giữa giáo viên và khoa. Ta thấy 1 thực thể Khoa chỉ có duy nhất 1 trưởng khoa là 1 thực thể GiaoVien, tương tự 1 thực thể giáo viên cũng chỉ làm được trưởng khoa có duy nhất 1 thực thể Khoa.</a:t>
            </a:r>
          </a:p>
          <a:p>
            <a:pPr marL="0" indent="0">
              <a:buNone/>
            </a:pPr>
            <a:endParaRPr lang="en-US"/>
          </a:p>
        </p:txBody>
      </p:sp>
      <p:sp>
        <p:nvSpPr>
          <p:cNvPr id="4" name="Rectangle 3"/>
          <p:cNvSpPr/>
          <p:nvPr/>
        </p:nvSpPr>
        <p:spPr>
          <a:xfrm>
            <a:off x="1524000" y="3240156"/>
            <a:ext cx="12954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GiaoVien</a:t>
            </a:r>
            <a:endParaRPr lang="en-US"/>
          </a:p>
        </p:txBody>
      </p:sp>
      <p:sp>
        <p:nvSpPr>
          <p:cNvPr id="5" name="Rectangle 4"/>
          <p:cNvSpPr/>
          <p:nvPr/>
        </p:nvSpPr>
        <p:spPr>
          <a:xfrm>
            <a:off x="6553200" y="3240156"/>
            <a:ext cx="12954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Khoa</a:t>
            </a:r>
            <a:endParaRPr lang="en-US"/>
          </a:p>
        </p:txBody>
      </p:sp>
      <p:sp>
        <p:nvSpPr>
          <p:cNvPr id="6" name="Diamond 5"/>
          <p:cNvSpPr/>
          <p:nvPr/>
        </p:nvSpPr>
        <p:spPr>
          <a:xfrm>
            <a:off x="4076700" y="3048001"/>
            <a:ext cx="1219200" cy="761999"/>
          </a:xfrm>
          <a:prstGeom prst="diamond">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500" smtClean="0"/>
              <a:t>Quản lý</a:t>
            </a:r>
            <a:endParaRPr lang="en-US" sz="1500"/>
          </a:p>
        </p:txBody>
      </p:sp>
      <p:cxnSp>
        <p:nvCxnSpPr>
          <p:cNvPr id="7" name="Straight Connector 6"/>
          <p:cNvCxnSpPr>
            <a:stCxn id="4" idx="3"/>
            <a:endCxn id="6" idx="1"/>
          </p:cNvCxnSpPr>
          <p:nvPr/>
        </p:nvCxnSpPr>
        <p:spPr>
          <a:xfrm flipV="1">
            <a:off x="2819400" y="3429001"/>
            <a:ext cx="1257300" cy="1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6" idx="3"/>
            <a:endCxn id="5" idx="1"/>
          </p:cNvCxnSpPr>
          <p:nvPr/>
        </p:nvCxnSpPr>
        <p:spPr>
          <a:xfrm>
            <a:off x="5295900" y="3429001"/>
            <a:ext cx="1257300" cy="1655"/>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2855843" y="3094453"/>
            <a:ext cx="481222" cy="369332"/>
          </a:xfrm>
          <a:prstGeom prst="rect">
            <a:avLst/>
          </a:prstGeom>
          <a:noFill/>
        </p:spPr>
        <p:txBody>
          <a:bodyPr wrap="none" rtlCol="0">
            <a:spAutoFit/>
          </a:bodyPr>
          <a:lstStyle/>
          <a:p>
            <a:r>
              <a:rPr lang="en-US" smtClean="0"/>
              <a:t>1:1</a:t>
            </a:r>
            <a:endParaRPr lang="en-US"/>
          </a:p>
        </p:txBody>
      </p:sp>
      <p:sp>
        <p:nvSpPr>
          <p:cNvPr id="11" name="TextBox 10"/>
          <p:cNvSpPr txBox="1"/>
          <p:nvPr/>
        </p:nvSpPr>
        <p:spPr>
          <a:xfrm>
            <a:off x="6049617" y="3094453"/>
            <a:ext cx="486030" cy="369332"/>
          </a:xfrm>
          <a:prstGeom prst="rect">
            <a:avLst/>
          </a:prstGeom>
          <a:noFill/>
        </p:spPr>
        <p:txBody>
          <a:bodyPr wrap="none" rtlCol="0">
            <a:spAutoFit/>
          </a:bodyPr>
          <a:lstStyle/>
          <a:p>
            <a:r>
              <a:rPr lang="en-US"/>
              <a:t>5</a:t>
            </a:r>
            <a:r>
              <a:rPr lang="en-US" smtClean="0"/>
              <a:t>:n</a:t>
            </a:r>
            <a:endParaRPr lang="en-US"/>
          </a:p>
        </p:txBody>
      </p:sp>
      <p:sp>
        <p:nvSpPr>
          <p:cNvPr id="12" name="Rectangle 11"/>
          <p:cNvSpPr/>
          <p:nvPr/>
        </p:nvSpPr>
        <p:spPr>
          <a:xfrm>
            <a:off x="1524000" y="5830956"/>
            <a:ext cx="12954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GiaoVien</a:t>
            </a:r>
            <a:endParaRPr lang="en-US"/>
          </a:p>
        </p:txBody>
      </p:sp>
      <p:sp>
        <p:nvSpPr>
          <p:cNvPr id="13" name="Rectangle 12"/>
          <p:cNvSpPr/>
          <p:nvPr/>
        </p:nvSpPr>
        <p:spPr>
          <a:xfrm>
            <a:off x="6553200" y="5830956"/>
            <a:ext cx="12954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Khoa</a:t>
            </a:r>
            <a:endParaRPr lang="en-US"/>
          </a:p>
        </p:txBody>
      </p:sp>
      <p:sp>
        <p:nvSpPr>
          <p:cNvPr id="14" name="Diamond 13"/>
          <p:cNvSpPr/>
          <p:nvPr/>
        </p:nvSpPr>
        <p:spPr>
          <a:xfrm>
            <a:off x="3886200" y="5638801"/>
            <a:ext cx="1562100" cy="761999"/>
          </a:xfrm>
          <a:prstGeom prst="diamond">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500" smtClean="0"/>
              <a:t>Trưởng Khoa</a:t>
            </a:r>
            <a:endParaRPr lang="en-US" sz="1500"/>
          </a:p>
        </p:txBody>
      </p:sp>
      <p:cxnSp>
        <p:nvCxnSpPr>
          <p:cNvPr id="15" name="Straight Connector 14"/>
          <p:cNvCxnSpPr>
            <a:stCxn id="12" idx="3"/>
            <a:endCxn id="14" idx="1"/>
          </p:cNvCxnSpPr>
          <p:nvPr/>
        </p:nvCxnSpPr>
        <p:spPr>
          <a:xfrm flipV="1">
            <a:off x="2819400" y="6019801"/>
            <a:ext cx="1066800" cy="1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14" idx="3"/>
            <a:endCxn id="13" idx="1"/>
          </p:cNvCxnSpPr>
          <p:nvPr/>
        </p:nvCxnSpPr>
        <p:spPr>
          <a:xfrm>
            <a:off x="5448300" y="6019801"/>
            <a:ext cx="1104900" cy="1655"/>
          </a:xfrm>
          <a:prstGeom prst="line">
            <a:avLst/>
          </a:prstGeom>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2855843" y="5685253"/>
            <a:ext cx="481222" cy="369332"/>
          </a:xfrm>
          <a:prstGeom prst="rect">
            <a:avLst/>
          </a:prstGeom>
          <a:noFill/>
        </p:spPr>
        <p:txBody>
          <a:bodyPr wrap="none" rtlCol="0">
            <a:spAutoFit/>
          </a:bodyPr>
          <a:lstStyle/>
          <a:p>
            <a:r>
              <a:rPr lang="en-US" smtClean="0"/>
              <a:t>1:1</a:t>
            </a:r>
            <a:endParaRPr lang="en-US"/>
          </a:p>
        </p:txBody>
      </p:sp>
      <p:sp>
        <p:nvSpPr>
          <p:cNvPr id="18" name="TextBox 17"/>
          <p:cNvSpPr txBox="1"/>
          <p:nvPr/>
        </p:nvSpPr>
        <p:spPr>
          <a:xfrm>
            <a:off x="6049617" y="5685253"/>
            <a:ext cx="481222" cy="369332"/>
          </a:xfrm>
          <a:prstGeom prst="rect">
            <a:avLst/>
          </a:prstGeom>
          <a:noFill/>
        </p:spPr>
        <p:txBody>
          <a:bodyPr wrap="none" rtlCol="0">
            <a:spAutoFit/>
          </a:bodyPr>
          <a:lstStyle/>
          <a:p>
            <a:r>
              <a:rPr lang="en-US" smtClean="0"/>
              <a:t>1:1</a:t>
            </a:r>
            <a:endParaRPr lang="en-US"/>
          </a:p>
        </p:txBody>
      </p:sp>
    </p:spTree>
    <p:extLst>
      <p:ext uri="{BB962C8B-B14F-4D97-AF65-F5344CB8AC3E}">
        <p14:creationId xmlns:p14="http://schemas.microsoft.com/office/powerpoint/2010/main" val="24505484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Các loại quan hệ</a:t>
            </a:r>
            <a:endParaRPr lang="en-US"/>
          </a:p>
        </p:txBody>
      </p:sp>
      <p:sp>
        <p:nvSpPr>
          <p:cNvPr id="3" name="Content Placeholder 2"/>
          <p:cNvSpPr>
            <a:spLocks noGrp="1"/>
          </p:cNvSpPr>
          <p:nvPr>
            <p:ph idx="1"/>
          </p:nvPr>
        </p:nvSpPr>
        <p:spPr>
          <a:xfrm>
            <a:off x="457200" y="1600200"/>
            <a:ext cx="8686800" cy="5257800"/>
          </a:xfrm>
        </p:spPr>
        <p:txBody>
          <a:bodyPr/>
          <a:lstStyle/>
          <a:p>
            <a:pPr marL="0" indent="0">
              <a:buNone/>
            </a:pPr>
            <a:r>
              <a:rPr lang="en-US" b="1" u="sng" smtClean="0"/>
              <a:t>Quan hệ n – n:</a:t>
            </a:r>
          </a:p>
          <a:p>
            <a:pPr marL="0" indent="0">
              <a:buNone/>
            </a:pPr>
            <a:r>
              <a:rPr lang="en-US" sz="2400" i="1" smtClean="0"/>
              <a:t>Ví dụ: Xét mối quan hệ giữa tập thực thể SinhVien và tập thực thể MonHoc, ta có phát biểu là một sinh viên có thể học nhiều môn, một môn thì có thể được học bởi nhiều sinh viên.</a:t>
            </a:r>
          </a:p>
          <a:p>
            <a:pPr marL="0" indent="0">
              <a:buNone/>
            </a:pPr>
            <a:endParaRPr lang="en-US" smtClean="0"/>
          </a:p>
          <a:p>
            <a:pPr marL="0" indent="0">
              <a:buNone/>
            </a:pPr>
            <a:endParaRPr lang="en-US" smtClean="0"/>
          </a:p>
          <a:p>
            <a:pPr marL="0" indent="0">
              <a:buNone/>
            </a:pPr>
            <a:r>
              <a:rPr lang="en-US" sz="2400" i="1" smtClean="0"/>
              <a:t>Quan hệ này được gọi là quan hệ n-n, với quan hệ này thì phát sinh loại thực thể kết hợp, và được mô tả như sau</a:t>
            </a:r>
          </a:p>
          <a:p>
            <a:pPr marL="0" indent="0">
              <a:buNone/>
            </a:pPr>
            <a:endParaRPr lang="en-US" sz="2400" i="1" smtClean="0"/>
          </a:p>
          <a:p>
            <a:pPr marL="0" indent="0">
              <a:buNone/>
            </a:pPr>
            <a:endParaRPr lang="en-US"/>
          </a:p>
        </p:txBody>
      </p:sp>
      <p:sp>
        <p:nvSpPr>
          <p:cNvPr id="4" name="Rectangle 3"/>
          <p:cNvSpPr/>
          <p:nvPr/>
        </p:nvSpPr>
        <p:spPr>
          <a:xfrm>
            <a:off x="1524000" y="3544955"/>
            <a:ext cx="12954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SinhVien</a:t>
            </a:r>
            <a:endParaRPr lang="en-US"/>
          </a:p>
        </p:txBody>
      </p:sp>
      <p:sp>
        <p:nvSpPr>
          <p:cNvPr id="5" name="Rectangle 4"/>
          <p:cNvSpPr/>
          <p:nvPr/>
        </p:nvSpPr>
        <p:spPr>
          <a:xfrm>
            <a:off x="6553200" y="3544955"/>
            <a:ext cx="12954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MonHoc</a:t>
            </a:r>
            <a:endParaRPr lang="en-US"/>
          </a:p>
        </p:txBody>
      </p:sp>
      <p:sp>
        <p:nvSpPr>
          <p:cNvPr id="6" name="Diamond 5"/>
          <p:cNvSpPr/>
          <p:nvPr/>
        </p:nvSpPr>
        <p:spPr>
          <a:xfrm>
            <a:off x="4076700" y="3352800"/>
            <a:ext cx="1219200" cy="761999"/>
          </a:xfrm>
          <a:prstGeom prst="diamond">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500" smtClean="0"/>
              <a:t>Học</a:t>
            </a:r>
            <a:endParaRPr lang="en-US" sz="1500"/>
          </a:p>
        </p:txBody>
      </p:sp>
      <p:cxnSp>
        <p:nvCxnSpPr>
          <p:cNvPr id="7" name="Straight Connector 6"/>
          <p:cNvCxnSpPr>
            <a:stCxn id="4" idx="3"/>
            <a:endCxn id="6" idx="1"/>
          </p:cNvCxnSpPr>
          <p:nvPr/>
        </p:nvCxnSpPr>
        <p:spPr>
          <a:xfrm flipV="1">
            <a:off x="2819400" y="3733800"/>
            <a:ext cx="1257300" cy="1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6" idx="3"/>
            <a:endCxn id="5" idx="1"/>
          </p:cNvCxnSpPr>
          <p:nvPr/>
        </p:nvCxnSpPr>
        <p:spPr>
          <a:xfrm>
            <a:off x="5295900" y="3733800"/>
            <a:ext cx="1257300" cy="1655"/>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2855843" y="3399252"/>
            <a:ext cx="486030" cy="369332"/>
          </a:xfrm>
          <a:prstGeom prst="rect">
            <a:avLst/>
          </a:prstGeom>
          <a:noFill/>
        </p:spPr>
        <p:txBody>
          <a:bodyPr wrap="none" rtlCol="0">
            <a:spAutoFit/>
          </a:bodyPr>
          <a:lstStyle/>
          <a:p>
            <a:r>
              <a:rPr lang="en-US" smtClean="0"/>
              <a:t>1:n</a:t>
            </a:r>
            <a:endParaRPr lang="en-US"/>
          </a:p>
        </p:txBody>
      </p:sp>
      <p:sp>
        <p:nvSpPr>
          <p:cNvPr id="11" name="TextBox 10"/>
          <p:cNvSpPr txBox="1"/>
          <p:nvPr/>
        </p:nvSpPr>
        <p:spPr>
          <a:xfrm>
            <a:off x="6049617" y="3399252"/>
            <a:ext cx="486030" cy="369332"/>
          </a:xfrm>
          <a:prstGeom prst="rect">
            <a:avLst/>
          </a:prstGeom>
          <a:noFill/>
        </p:spPr>
        <p:txBody>
          <a:bodyPr wrap="none" rtlCol="0">
            <a:spAutoFit/>
          </a:bodyPr>
          <a:lstStyle/>
          <a:p>
            <a:r>
              <a:rPr lang="en-US"/>
              <a:t>0</a:t>
            </a:r>
            <a:r>
              <a:rPr lang="en-US" smtClean="0"/>
              <a:t>:n</a:t>
            </a:r>
            <a:endParaRPr lang="en-US"/>
          </a:p>
        </p:txBody>
      </p:sp>
      <p:sp>
        <p:nvSpPr>
          <p:cNvPr id="12" name="Rectangle 11"/>
          <p:cNvSpPr/>
          <p:nvPr/>
        </p:nvSpPr>
        <p:spPr>
          <a:xfrm>
            <a:off x="1524000" y="5602355"/>
            <a:ext cx="12954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SinhVien</a:t>
            </a:r>
            <a:endParaRPr lang="en-US"/>
          </a:p>
        </p:txBody>
      </p:sp>
      <p:sp>
        <p:nvSpPr>
          <p:cNvPr id="13" name="Rectangle 12"/>
          <p:cNvSpPr/>
          <p:nvPr/>
        </p:nvSpPr>
        <p:spPr>
          <a:xfrm>
            <a:off x="6553200" y="5602355"/>
            <a:ext cx="12954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MonHoc</a:t>
            </a:r>
            <a:endParaRPr lang="en-US"/>
          </a:p>
        </p:txBody>
      </p:sp>
      <p:sp>
        <p:nvSpPr>
          <p:cNvPr id="14" name="Diamond 13"/>
          <p:cNvSpPr/>
          <p:nvPr/>
        </p:nvSpPr>
        <p:spPr>
          <a:xfrm>
            <a:off x="4076700" y="5410200"/>
            <a:ext cx="1219200" cy="761999"/>
          </a:xfrm>
          <a:prstGeom prst="diamond">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500" smtClean="0"/>
              <a:t>Học</a:t>
            </a:r>
            <a:endParaRPr lang="en-US" sz="1500"/>
          </a:p>
        </p:txBody>
      </p:sp>
      <p:cxnSp>
        <p:nvCxnSpPr>
          <p:cNvPr id="15" name="Straight Connector 14"/>
          <p:cNvCxnSpPr>
            <a:stCxn id="12" idx="3"/>
            <a:endCxn id="14" idx="1"/>
          </p:cNvCxnSpPr>
          <p:nvPr/>
        </p:nvCxnSpPr>
        <p:spPr>
          <a:xfrm flipV="1">
            <a:off x="2819400" y="5791200"/>
            <a:ext cx="1257300" cy="1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14" idx="3"/>
            <a:endCxn id="13" idx="1"/>
          </p:cNvCxnSpPr>
          <p:nvPr/>
        </p:nvCxnSpPr>
        <p:spPr>
          <a:xfrm>
            <a:off x="5295900" y="5791200"/>
            <a:ext cx="1257300" cy="1655"/>
          </a:xfrm>
          <a:prstGeom prst="line">
            <a:avLst/>
          </a:prstGeom>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2855843" y="5456652"/>
            <a:ext cx="486030" cy="369332"/>
          </a:xfrm>
          <a:prstGeom prst="rect">
            <a:avLst/>
          </a:prstGeom>
          <a:noFill/>
        </p:spPr>
        <p:txBody>
          <a:bodyPr wrap="none" rtlCol="0">
            <a:spAutoFit/>
          </a:bodyPr>
          <a:lstStyle/>
          <a:p>
            <a:r>
              <a:rPr lang="en-US" smtClean="0"/>
              <a:t>1:n</a:t>
            </a:r>
            <a:endParaRPr lang="en-US"/>
          </a:p>
        </p:txBody>
      </p:sp>
      <p:sp>
        <p:nvSpPr>
          <p:cNvPr id="18" name="TextBox 17"/>
          <p:cNvSpPr txBox="1"/>
          <p:nvPr/>
        </p:nvSpPr>
        <p:spPr>
          <a:xfrm>
            <a:off x="6049617" y="5456652"/>
            <a:ext cx="486030" cy="369332"/>
          </a:xfrm>
          <a:prstGeom prst="rect">
            <a:avLst/>
          </a:prstGeom>
          <a:noFill/>
        </p:spPr>
        <p:txBody>
          <a:bodyPr wrap="none" rtlCol="0">
            <a:spAutoFit/>
          </a:bodyPr>
          <a:lstStyle/>
          <a:p>
            <a:r>
              <a:rPr lang="en-US"/>
              <a:t>0</a:t>
            </a:r>
            <a:r>
              <a:rPr lang="en-US" smtClean="0"/>
              <a:t>:n</a:t>
            </a:r>
            <a:endParaRPr lang="en-US"/>
          </a:p>
        </p:txBody>
      </p:sp>
      <p:sp>
        <p:nvSpPr>
          <p:cNvPr id="9" name="Rectangle 8"/>
          <p:cNvSpPr/>
          <p:nvPr/>
        </p:nvSpPr>
        <p:spPr>
          <a:xfrm>
            <a:off x="4076700" y="5410200"/>
            <a:ext cx="1219200" cy="761999"/>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1170881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Các loại quan hệ</a:t>
            </a:r>
            <a:endParaRPr lang="en-US"/>
          </a:p>
        </p:txBody>
      </p:sp>
      <p:sp>
        <p:nvSpPr>
          <p:cNvPr id="3" name="Content Placeholder 2"/>
          <p:cNvSpPr>
            <a:spLocks noGrp="1"/>
          </p:cNvSpPr>
          <p:nvPr>
            <p:ph idx="1"/>
          </p:nvPr>
        </p:nvSpPr>
        <p:spPr>
          <a:xfrm>
            <a:off x="457200" y="1600200"/>
            <a:ext cx="8686800" cy="5257800"/>
          </a:xfrm>
        </p:spPr>
        <p:txBody>
          <a:bodyPr/>
          <a:lstStyle/>
          <a:p>
            <a:pPr marL="0" indent="0">
              <a:buNone/>
            </a:pPr>
            <a:r>
              <a:rPr lang="en-US" b="1" u="sng" smtClean="0"/>
              <a:t>Quan hệ cha – con:</a:t>
            </a:r>
          </a:p>
          <a:p>
            <a:pPr marL="0" indent="0">
              <a:buNone/>
            </a:pPr>
            <a:r>
              <a:rPr lang="en-US" smtClean="0"/>
              <a:t>Tập thực thể đóng vai trò cha là dạng tập thực thể tổng quát và có quan hệ với tập thực thể con.</a:t>
            </a:r>
          </a:p>
          <a:p>
            <a:pPr marL="0" indent="0">
              <a:buNone/>
            </a:pPr>
            <a:r>
              <a:rPr lang="en-US" smtClean="0"/>
              <a:t>Ví dụ: Tập thực thể NhanVien trong trường bao gồm một vài tập thực thể con như sau: tập thực thể GiaoVien, tập thực thể NhanVienPhongBan, tập thực thể BaoVe.</a:t>
            </a:r>
          </a:p>
          <a:p>
            <a:pPr marL="0" indent="0">
              <a:buNone/>
            </a:pPr>
            <a:endParaRPr lang="en-US" smtClean="0"/>
          </a:p>
          <a:p>
            <a:pPr marL="0" indent="0">
              <a:buNone/>
            </a:pPr>
            <a:endParaRPr lang="en-US" smtClean="0"/>
          </a:p>
        </p:txBody>
      </p:sp>
      <p:sp>
        <p:nvSpPr>
          <p:cNvPr id="19" name="Rectangle 18"/>
          <p:cNvSpPr/>
          <p:nvPr/>
        </p:nvSpPr>
        <p:spPr>
          <a:xfrm>
            <a:off x="3810000" y="4572000"/>
            <a:ext cx="12954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NhanVien</a:t>
            </a:r>
            <a:endParaRPr lang="en-US"/>
          </a:p>
        </p:txBody>
      </p:sp>
      <p:sp>
        <p:nvSpPr>
          <p:cNvPr id="20" name="Rectangle 19"/>
          <p:cNvSpPr/>
          <p:nvPr/>
        </p:nvSpPr>
        <p:spPr>
          <a:xfrm>
            <a:off x="6019800" y="5830957"/>
            <a:ext cx="12954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BaoVe</a:t>
            </a:r>
            <a:endParaRPr lang="en-US"/>
          </a:p>
        </p:txBody>
      </p:sp>
      <p:sp>
        <p:nvSpPr>
          <p:cNvPr id="21" name="Rectangle 20"/>
          <p:cNvSpPr/>
          <p:nvPr/>
        </p:nvSpPr>
        <p:spPr>
          <a:xfrm>
            <a:off x="3352800" y="5830957"/>
            <a:ext cx="22098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NhanVienPhongBan</a:t>
            </a:r>
            <a:endParaRPr lang="en-US"/>
          </a:p>
        </p:txBody>
      </p:sp>
      <p:sp>
        <p:nvSpPr>
          <p:cNvPr id="22" name="Rectangle 21"/>
          <p:cNvSpPr/>
          <p:nvPr/>
        </p:nvSpPr>
        <p:spPr>
          <a:xfrm>
            <a:off x="1600200" y="5830957"/>
            <a:ext cx="12954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GiaoVien</a:t>
            </a:r>
            <a:endParaRPr lang="en-US"/>
          </a:p>
        </p:txBody>
      </p:sp>
      <p:cxnSp>
        <p:nvCxnSpPr>
          <p:cNvPr id="24" name="Straight Connector 23"/>
          <p:cNvCxnSpPr>
            <a:stCxn id="19" idx="2"/>
            <a:endCxn id="22" idx="0"/>
          </p:cNvCxnSpPr>
          <p:nvPr/>
        </p:nvCxnSpPr>
        <p:spPr>
          <a:xfrm flipH="1">
            <a:off x="2247900" y="4953000"/>
            <a:ext cx="2209800" cy="877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19" idx="2"/>
            <a:endCxn id="21" idx="0"/>
          </p:cNvCxnSpPr>
          <p:nvPr/>
        </p:nvCxnSpPr>
        <p:spPr>
          <a:xfrm>
            <a:off x="4457700" y="4953000"/>
            <a:ext cx="0" cy="877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a:stCxn id="19" idx="2"/>
            <a:endCxn id="20" idx="0"/>
          </p:cNvCxnSpPr>
          <p:nvPr/>
        </p:nvCxnSpPr>
        <p:spPr>
          <a:xfrm>
            <a:off x="4457700" y="4953000"/>
            <a:ext cx="2209800" cy="87795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30044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Các loại quan hệ</a:t>
            </a:r>
            <a:br>
              <a:rPr lang="en-US" smtClean="0"/>
            </a:br>
            <a:r>
              <a:rPr lang="en-US" smtClean="0"/>
              <a:t>(Disjoint - Overlap)</a:t>
            </a:r>
            <a:endParaRPr lang="en-US"/>
          </a:p>
        </p:txBody>
      </p:sp>
      <p:sp>
        <p:nvSpPr>
          <p:cNvPr id="3" name="Content Placeholder 2"/>
          <p:cNvSpPr>
            <a:spLocks noGrp="1"/>
          </p:cNvSpPr>
          <p:nvPr>
            <p:ph idx="1"/>
          </p:nvPr>
        </p:nvSpPr>
        <p:spPr>
          <a:xfrm>
            <a:off x="457200" y="1600200"/>
            <a:ext cx="8686800" cy="5257800"/>
          </a:xfrm>
        </p:spPr>
        <p:txBody>
          <a:bodyPr/>
          <a:lstStyle/>
          <a:p>
            <a:pPr marL="0" indent="0">
              <a:buNone/>
            </a:pPr>
            <a:r>
              <a:rPr lang="en-US" b="1" u="sng" smtClean="0"/>
              <a:t>Quan hệ cha – con không giao và chồng lấp:</a:t>
            </a:r>
          </a:p>
          <a:p>
            <a:pPr marL="0" indent="0">
              <a:buNone/>
            </a:pPr>
            <a:r>
              <a:rPr lang="en-US" sz="2400" smtClean="0"/>
              <a:t>Xét quan hệ cha con giữa thực thể cha là NhanVien và 2 thực thể con là GiaoVien và NhanVienPhongBan. </a:t>
            </a:r>
          </a:p>
          <a:p>
            <a:pPr marL="0" indent="0">
              <a:buNone/>
            </a:pPr>
            <a:r>
              <a:rPr lang="en-US" sz="2400" smtClean="0"/>
              <a:t>Nếu một người giáo viên cũng có thể là Nhân viên phòng ban thì đây là loại chồng lắp (</a:t>
            </a:r>
            <a:r>
              <a:rPr lang="en-US" sz="2400" b="1" smtClean="0"/>
              <a:t>O</a:t>
            </a:r>
            <a:r>
              <a:rPr lang="en-US" sz="2400" smtClean="0"/>
              <a:t>verlap)</a:t>
            </a:r>
          </a:p>
          <a:p>
            <a:pPr marL="0" indent="0">
              <a:buNone/>
            </a:pPr>
            <a:r>
              <a:rPr lang="en-US" sz="2400" smtClean="0"/>
              <a:t>Nếu mỗi một nhân viên chỉ có thể là 1 trong giáo viên hay nhân viên phòng ban (</a:t>
            </a:r>
            <a:r>
              <a:rPr lang="en-US" sz="2400" b="1" smtClean="0"/>
              <a:t>D</a:t>
            </a:r>
            <a:r>
              <a:rPr lang="en-US" sz="2400" smtClean="0"/>
              <a:t>isjoint)</a:t>
            </a:r>
          </a:p>
          <a:p>
            <a:pPr marL="0" indent="0">
              <a:buNone/>
            </a:pPr>
            <a:endParaRPr lang="en-US" smtClean="0"/>
          </a:p>
        </p:txBody>
      </p:sp>
      <p:sp>
        <p:nvSpPr>
          <p:cNvPr id="19" name="Rectangle 18"/>
          <p:cNvSpPr/>
          <p:nvPr/>
        </p:nvSpPr>
        <p:spPr>
          <a:xfrm>
            <a:off x="1489213" y="5029200"/>
            <a:ext cx="12954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NhanVien</a:t>
            </a:r>
            <a:endParaRPr lang="en-US"/>
          </a:p>
        </p:txBody>
      </p:sp>
      <p:sp>
        <p:nvSpPr>
          <p:cNvPr id="21" name="Rectangle 20"/>
          <p:cNvSpPr/>
          <p:nvPr/>
        </p:nvSpPr>
        <p:spPr>
          <a:xfrm>
            <a:off x="2251213" y="5943600"/>
            <a:ext cx="22098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NhanVienPhongBan</a:t>
            </a:r>
            <a:endParaRPr lang="en-US"/>
          </a:p>
        </p:txBody>
      </p:sp>
      <p:sp>
        <p:nvSpPr>
          <p:cNvPr id="22" name="Rectangle 21"/>
          <p:cNvSpPr/>
          <p:nvPr/>
        </p:nvSpPr>
        <p:spPr>
          <a:xfrm>
            <a:off x="501926" y="5943600"/>
            <a:ext cx="12954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GiaoVien</a:t>
            </a:r>
            <a:endParaRPr lang="en-US"/>
          </a:p>
        </p:txBody>
      </p:sp>
      <p:cxnSp>
        <p:nvCxnSpPr>
          <p:cNvPr id="24" name="Straight Connector 23"/>
          <p:cNvCxnSpPr>
            <a:stCxn id="19" idx="2"/>
            <a:endCxn id="22" idx="0"/>
          </p:cNvCxnSpPr>
          <p:nvPr/>
        </p:nvCxnSpPr>
        <p:spPr>
          <a:xfrm flipH="1">
            <a:off x="1149626" y="5410200"/>
            <a:ext cx="987287" cy="533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19" idx="2"/>
            <a:endCxn id="21" idx="0"/>
          </p:cNvCxnSpPr>
          <p:nvPr/>
        </p:nvCxnSpPr>
        <p:spPr>
          <a:xfrm>
            <a:off x="2136913" y="5410200"/>
            <a:ext cx="1219200" cy="533400"/>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1981200" y="5403573"/>
            <a:ext cx="336952" cy="369332"/>
          </a:xfrm>
          <a:prstGeom prst="rect">
            <a:avLst/>
          </a:prstGeom>
          <a:noFill/>
        </p:spPr>
        <p:txBody>
          <a:bodyPr wrap="none" rtlCol="0">
            <a:spAutoFit/>
          </a:bodyPr>
          <a:lstStyle/>
          <a:p>
            <a:r>
              <a:rPr lang="en-US" smtClean="0"/>
              <a:t>O</a:t>
            </a:r>
            <a:endParaRPr lang="en-US"/>
          </a:p>
        </p:txBody>
      </p:sp>
      <p:sp>
        <p:nvSpPr>
          <p:cNvPr id="16" name="Rectangle 15"/>
          <p:cNvSpPr/>
          <p:nvPr/>
        </p:nvSpPr>
        <p:spPr>
          <a:xfrm>
            <a:off x="6019800" y="5029200"/>
            <a:ext cx="12954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NhanVien</a:t>
            </a:r>
            <a:endParaRPr lang="en-US"/>
          </a:p>
        </p:txBody>
      </p:sp>
      <p:sp>
        <p:nvSpPr>
          <p:cNvPr id="17" name="Rectangle 16"/>
          <p:cNvSpPr/>
          <p:nvPr/>
        </p:nvSpPr>
        <p:spPr>
          <a:xfrm>
            <a:off x="6781800" y="5943600"/>
            <a:ext cx="22098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NhanVienPhongBan</a:t>
            </a:r>
            <a:endParaRPr lang="en-US"/>
          </a:p>
        </p:txBody>
      </p:sp>
      <p:sp>
        <p:nvSpPr>
          <p:cNvPr id="18" name="Rectangle 17"/>
          <p:cNvSpPr/>
          <p:nvPr/>
        </p:nvSpPr>
        <p:spPr>
          <a:xfrm>
            <a:off x="5032513" y="5943600"/>
            <a:ext cx="12954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GiaoVien</a:t>
            </a:r>
            <a:endParaRPr lang="en-US"/>
          </a:p>
        </p:txBody>
      </p:sp>
      <p:cxnSp>
        <p:nvCxnSpPr>
          <p:cNvPr id="23" name="Straight Connector 22"/>
          <p:cNvCxnSpPr>
            <a:stCxn id="16" idx="2"/>
            <a:endCxn id="18" idx="0"/>
          </p:cNvCxnSpPr>
          <p:nvPr/>
        </p:nvCxnSpPr>
        <p:spPr>
          <a:xfrm flipH="1">
            <a:off x="5680213" y="5410200"/>
            <a:ext cx="987287" cy="533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a:stCxn id="16" idx="2"/>
            <a:endCxn id="17" idx="0"/>
          </p:cNvCxnSpPr>
          <p:nvPr/>
        </p:nvCxnSpPr>
        <p:spPr>
          <a:xfrm>
            <a:off x="6667500" y="5410200"/>
            <a:ext cx="1219200" cy="533400"/>
          </a:xfrm>
          <a:prstGeom prst="line">
            <a:avLst/>
          </a:prstGeom>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6511787" y="5403573"/>
            <a:ext cx="327334" cy="369332"/>
          </a:xfrm>
          <a:prstGeom prst="rect">
            <a:avLst/>
          </a:prstGeom>
          <a:noFill/>
        </p:spPr>
        <p:txBody>
          <a:bodyPr wrap="none" rtlCol="0">
            <a:spAutoFit/>
          </a:bodyPr>
          <a:lstStyle/>
          <a:p>
            <a:r>
              <a:rPr lang="en-US"/>
              <a:t>D</a:t>
            </a:r>
          </a:p>
        </p:txBody>
      </p:sp>
    </p:spTree>
    <p:extLst>
      <p:ext uri="{BB962C8B-B14F-4D97-AF65-F5344CB8AC3E}">
        <p14:creationId xmlns:p14="http://schemas.microsoft.com/office/powerpoint/2010/main" val="16872983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Chuyển từ mô hình thực thể kết hợp </a:t>
            </a:r>
            <a:br>
              <a:rPr lang="en-US" smtClean="0"/>
            </a:br>
            <a:r>
              <a:rPr lang="en-US" smtClean="0"/>
              <a:t>sang dạng bảng và mô hình quan hệ</a:t>
            </a:r>
            <a:endParaRPr lang="en-US"/>
          </a:p>
        </p:txBody>
      </p:sp>
      <p:sp>
        <p:nvSpPr>
          <p:cNvPr id="3" name="Content Placeholder 2"/>
          <p:cNvSpPr>
            <a:spLocks noGrp="1"/>
          </p:cNvSpPr>
          <p:nvPr>
            <p:ph idx="1"/>
          </p:nvPr>
        </p:nvSpPr>
        <p:spPr>
          <a:xfrm>
            <a:off x="457200" y="1600200"/>
            <a:ext cx="8686800" cy="5257800"/>
          </a:xfrm>
        </p:spPr>
        <p:txBody>
          <a:bodyPr>
            <a:normAutofit/>
          </a:bodyPr>
          <a:lstStyle/>
          <a:p>
            <a:pPr marL="0" indent="0">
              <a:buNone/>
            </a:pPr>
            <a:r>
              <a:rPr lang="en-US" sz="2400" smtClean="0"/>
              <a:t>Mỗi tập thực thể mạnh sẽ được chuyển thành 1 bảng. </a:t>
            </a:r>
          </a:p>
          <a:p>
            <a:pPr marL="0" indent="0">
              <a:buNone/>
            </a:pPr>
            <a:r>
              <a:rPr lang="en-US" sz="2400" smtClean="0"/>
              <a:t>Mỗi thuộc tính của thực thể thành các cột.</a:t>
            </a:r>
          </a:p>
          <a:p>
            <a:pPr marL="0" indent="0">
              <a:buNone/>
            </a:pPr>
            <a:r>
              <a:rPr lang="en-US" sz="2400" smtClean="0"/>
              <a:t>Với thuộc tính tổ hợp thì ta dựng các cột tương ứng thuộc tính con.</a:t>
            </a:r>
          </a:p>
          <a:p>
            <a:pPr marL="0" indent="0">
              <a:buNone/>
            </a:pPr>
            <a:endParaRPr lang="en-US" sz="2400" smtClean="0"/>
          </a:p>
          <a:p>
            <a:endParaRPr lang="en-US" sz="2400" smtClean="0"/>
          </a:p>
          <a:p>
            <a:endParaRPr lang="en-US" sz="2400" smtClean="0"/>
          </a:p>
          <a:p>
            <a:endParaRPr lang="en-US" sz="2400"/>
          </a:p>
        </p:txBody>
      </p:sp>
      <p:sp>
        <p:nvSpPr>
          <p:cNvPr id="4" name="Rectangle 3"/>
          <p:cNvSpPr/>
          <p:nvPr/>
        </p:nvSpPr>
        <p:spPr>
          <a:xfrm>
            <a:off x="2006048" y="3200400"/>
            <a:ext cx="12954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SinhVien</a:t>
            </a:r>
            <a:endParaRPr lang="en-US"/>
          </a:p>
        </p:txBody>
      </p:sp>
      <p:sp>
        <p:nvSpPr>
          <p:cNvPr id="5" name="Oval 4"/>
          <p:cNvSpPr/>
          <p:nvPr/>
        </p:nvSpPr>
        <p:spPr>
          <a:xfrm>
            <a:off x="662609" y="3848100"/>
            <a:ext cx="1143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MaSV</a:t>
            </a:r>
            <a:endParaRPr lang="en-US"/>
          </a:p>
        </p:txBody>
      </p:sp>
      <p:sp>
        <p:nvSpPr>
          <p:cNvPr id="6" name="Oval 5"/>
          <p:cNvSpPr/>
          <p:nvPr/>
        </p:nvSpPr>
        <p:spPr>
          <a:xfrm>
            <a:off x="3657600" y="3849757"/>
            <a:ext cx="1143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Ten</a:t>
            </a:r>
            <a:endParaRPr lang="en-US"/>
          </a:p>
        </p:txBody>
      </p:sp>
      <p:sp>
        <p:nvSpPr>
          <p:cNvPr id="7" name="Oval 6"/>
          <p:cNvSpPr/>
          <p:nvPr/>
        </p:nvSpPr>
        <p:spPr>
          <a:xfrm>
            <a:off x="685800" y="4495800"/>
            <a:ext cx="16002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Ngày sinh</a:t>
            </a:r>
            <a:endParaRPr lang="en-US"/>
          </a:p>
        </p:txBody>
      </p:sp>
      <p:cxnSp>
        <p:nvCxnSpPr>
          <p:cNvPr id="8" name="Straight Connector 7"/>
          <p:cNvCxnSpPr>
            <a:stCxn id="4" idx="2"/>
            <a:endCxn id="7" idx="0"/>
          </p:cNvCxnSpPr>
          <p:nvPr/>
        </p:nvCxnSpPr>
        <p:spPr>
          <a:xfrm flipH="1">
            <a:off x="1485900" y="3581400"/>
            <a:ext cx="1167848" cy="914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a:stCxn id="4" idx="2"/>
            <a:endCxn id="6" idx="0"/>
          </p:cNvCxnSpPr>
          <p:nvPr/>
        </p:nvCxnSpPr>
        <p:spPr>
          <a:xfrm>
            <a:off x="2653748" y="3581400"/>
            <a:ext cx="1575352" cy="26835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4" idx="2"/>
            <a:endCxn id="5" idx="0"/>
          </p:cNvCxnSpPr>
          <p:nvPr/>
        </p:nvCxnSpPr>
        <p:spPr>
          <a:xfrm flipH="1">
            <a:off x="1234109" y="3581400"/>
            <a:ext cx="1419639" cy="26670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11" name="Table 10"/>
          <p:cNvGraphicFramePr>
            <a:graphicFrameLocks noGrp="1"/>
          </p:cNvGraphicFramePr>
          <p:nvPr>
            <p:extLst>
              <p:ext uri="{D42A27DB-BD31-4B8C-83A1-F6EECF244321}">
                <p14:modId xmlns:p14="http://schemas.microsoft.com/office/powerpoint/2010/main" val="1393108874"/>
              </p:ext>
            </p:extLst>
          </p:nvPr>
        </p:nvGraphicFramePr>
        <p:xfrm>
          <a:off x="6858000" y="3202940"/>
          <a:ext cx="1295400" cy="3337560"/>
        </p:xfrm>
        <a:graphic>
          <a:graphicData uri="http://schemas.openxmlformats.org/drawingml/2006/table">
            <a:tbl>
              <a:tblPr firstRow="1" bandRow="1">
                <a:tableStyleId>{5C22544A-7EE6-4342-B048-85BDC9FD1C3A}</a:tableStyleId>
              </a:tblPr>
              <a:tblGrid>
                <a:gridCol w="1295400"/>
              </a:tblGrid>
              <a:tr h="370840">
                <a:tc>
                  <a:txBody>
                    <a:bodyPr/>
                    <a:lstStyle/>
                    <a:p>
                      <a:r>
                        <a:rPr lang="en-US" smtClean="0"/>
                        <a:t>SinhVien</a:t>
                      </a:r>
                      <a:endParaRPr lang="en-US"/>
                    </a:p>
                  </a:txBody>
                  <a:tcPr/>
                </a:tc>
              </a:tr>
              <a:tr h="370840">
                <a:tc>
                  <a:txBody>
                    <a:bodyPr/>
                    <a:lstStyle/>
                    <a:p>
                      <a:r>
                        <a:rPr lang="en-US" b="1" u="sng" smtClean="0"/>
                        <a:t>MaSV</a:t>
                      </a:r>
                      <a:endParaRPr lang="en-US" b="1" u="sng"/>
                    </a:p>
                  </a:txBody>
                  <a:tcPr/>
                </a:tc>
              </a:tr>
              <a:tr h="370840">
                <a:tc>
                  <a:txBody>
                    <a:bodyPr/>
                    <a:lstStyle/>
                    <a:p>
                      <a:r>
                        <a:rPr lang="en-US" smtClean="0"/>
                        <a:t>Ten</a:t>
                      </a:r>
                      <a:endParaRPr lang="en-US"/>
                    </a:p>
                  </a:txBody>
                  <a:tcPr/>
                </a:tc>
              </a:tr>
              <a:tr h="370840">
                <a:tc>
                  <a:txBody>
                    <a:bodyPr/>
                    <a:lstStyle/>
                    <a:p>
                      <a:r>
                        <a:rPr lang="en-US" smtClean="0"/>
                        <a:t>Ngày</a:t>
                      </a:r>
                      <a:r>
                        <a:rPr lang="en-US" baseline="0" smtClean="0"/>
                        <a:t> sinh</a:t>
                      </a:r>
                      <a:endParaRPr lang="en-US"/>
                    </a:p>
                  </a:txBody>
                  <a:tcPr/>
                </a:tc>
              </a:tr>
              <a:tr h="370840">
                <a:tc>
                  <a:txBody>
                    <a:bodyPr/>
                    <a:lstStyle/>
                    <a:p>
                      <a:r>
                        <a:rPr lang="en-US" smtClean="0"/>
                        <a:t>Quốc</a:t>
                      </a:r>
                      <a:r>
                        <a:rPr lang="en-US" baseline="0" smtClean="0"/>
                        <a:t> gia</a:t>
                      </a:r>
                      <a:endParaRPr lang="en-US"/>
                    </a:p>
                  </a:txBody>
                  <a:tcPr/>
                </a:tc>
              </a:tr>
              <a:tr h="370840">
                <a:tc>
                  <a:txBody>
                    <a:bodyPr/>
                    <a:lstStyle/>
                    <a:p>
                      <a:r>
                        <a:rPr lang="en-US" smtClean="0"/>
                        <a:t>Thành</a:t>
                      </a:r>
                      <a:r>
                        <a:rPr lang="en-US" baseline="0" smtClean="0"/>
                        <a:t> phố</a:t>
                      </a:r>
                      <a:endParaRPr lang="en-US"/>
                    </a:p>
                  </a:txBody>
                  <a:tcPr/>
                </a:tc>
              </a:tr>
              <a:tr h="370840">
                <a:tc>
                  <a:txBody>
                    <a:bodyPr/>
                    <a:lstStyle/>
                    <a:p>
                      <a:r>
                        <a:rPr lang="en-US" smtClean="0"/>
                        <a:t>Quận</a:t>
                      </a:r>
                      <a:endParaRPr lang="en-US"/>
                    </a:p>
                  </a:txBody>
                  <a:tcPr/>
                </a:tc>
              </a:tr>
              <a:tr h="370840">
                <a:tc>
                  <a:txBody>
                    <a:bodyPr/>
                    <a:lstStyle/>
                    <a:p>
                      <a:r>
                        <a:rPr lang="en-US" smtClean="0"/>
                        <a:t>Đường</a:t>
                      </a:r>
                      <a:endParaRPr lang="en-US"/>
                    </a:p>
                  </a:txBody>
                  <a:tcPr/>
                </a:tc>
              </a:tr>
              <a:tr h="370840">
                <a:tc>
                  <a:txBody>
                    <a:bodyPr/>
                    <a:lstStyle/>
                    <a:p>
                      <a:r>
                        <a:rPr lang="en-US" smtClean="0"/>
                        <a:t>Số</a:t>
                      </a:r>
                      <a:r>
                        <a:rPr lang="en-US" baseline="0" smtClean="0"/>
                        <a:t> nhà</a:t>
                      </a:r>
                      <a:endParaRPr lang="en-US"/>
                    </a:p>
                  </a:txBody>
                  <a:tcPr/>
                </a:tc>
              </a:tr>
            </a:tbl>
          </a:graphicData>
        </a:graphic>
      </p:graphicFrame>
      <p:sp>
        <p:nvSpPr>
          <p:cNvPr id="16" name="Oval 15"/>
          <p:cNvSpPr/>
          <p:nvPr/>
        </p:nvSpPr>
        <p:spPr>
          <a:xfrm>
            <a:off x="2650435" y="4495800"/>
            <a:ext cx="16002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Địa chỉ</a:t>
            </a:r>
            <a:endParaRPr lang="en-US"/>
          </a:p>
        </p:txBody>
      </p:sp>
      <p:cxnSp>
        <p:nvCxnSpPr>
          <p:cNvPr id="17" name="Straight Connector 16"/>
          <p:cNvCxnSpPr>
            <a:endCxn id="16" idx="0"/>
          </p:cNvCxnSpPr>
          <p:nvPr/>
        </p:nvCxnSpPr>
        <p:spPr>
          <a:xfrm>
            <a:off x="2653748" y="3581400"/>
            <a:ext cx="796787" cy="914400"/>
          </a:xfrm>
          <a:prstGeom prst="line">
            <a:avLst/>
          </a:prstGeom>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493643" y="5401917"/>
            <a:ext cx="1447801"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Quốc gia</a:t>
            </a:r>
            <a:endParaRPr lang="en-US"/>
          </a:p>
        </p:txBody>
      </p:sp>
      <p:cxnSp>
        <p:nvCxnSpPr>
          <p:cNvPr id="20" name="Straight Connector 19"/>
          <p:cNvCxnSpPr>
            <a:stCxn id="16" idx="4"/>
            <a:endCxn id="19" idx="0"/>
          </p:cNvCxnSpPr>
          <p:nvPr/>
        </p:nvCxnSpPr>
        <p:spPr>
          <a:xfrm flipH="1">
            <a:off x="1217544" y="4876800"/>
            <a:ext cx="2232991" cy="525117"/>
          </a:xfrm>
          <a:prstGeom prst="line">
            <a:avLst/>
          </a:prstGeom>
        </p:spPr>
        <p:style>
          <a:lnRef idx="1">
            <a:schemeClr val="accent1"/>
          </a:lnRef>
          <a:fillRef idx="0">
            <a:schemeClr val="accent1"/>
          </a:fillRef>
          <a:effectRef idx="0">
            <a:schemeClr val="accent1"/>
          </a:effectRef>
          <a:fontRef idx="minor">
            <a:schemeClr val="tx1"/>
          </a:fontRef>
        </p:style>
      </p:cxnSp>
      <p:sp>
        <p:nvSpPr>
          <p:cNvPr id="21" name="Oval 20"/>
          <p:cNvSpPr/>
          <p:nvPr/>
        </p:nvSpPr>
        <p:spPr>
          <a:xfrm>
            <a:off x="5029200" y="5406886"/>
            <a:ext cx="16002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Số nhà</a:t>
            </a:r>
            <a:endParaRPr lang="en-US"/>
          </a:p>
        </p:txBody>
      </p:sp>
      <p:sp>
        <p:nvSpPr>
          <p:cNvPr id="22" name="Oval 21"/>
          <p:cNvSpPr/>
          <p:nvPr/>
        </p:nvSpPr>
        <p:spPr>
          <a:xfrm>
            <a:off x="2025099" y="5401917"/>
            <a:ext cx="1708701"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Thành phố</a:t>
            </a:r>
            <a:endParaRPr lang="en-US"/>
          </a:p>
        </p:txBody>
      </p:sp>
      <p:cxnSp>
        <p:nvCxnSpPr>
          <p:cNvPr id="27" name="Straight Connector 26"/>
          <p:cNvCxnSpPr>
            <a:stCxn id="16" idx="4"/>
            <a:endCxn id="22" idx="0"/>
          </p:cNvCxnSpPr>
          <p:nvPr/>
        </p:nvCxnSpPr>
        <p:spPr>
          <a:xfrm flipH="1">
            <a:off x="2879450" y="4876800"/>
            <a:ext cx="571085" cy="525117"/>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a:stCxn id="16" idx="4"/>
            <a:endCxn id="21" idx="0"/>
          </p:cNvCxnSpPr>
          <p:nvPr/>
        </p:nvCxnSpPr>
        <p:spPr>
          <a:xfrm>
            <a:off x="3450535" y="4876800"/>
            <a:ext cx="2378765" cy="530086"/>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16" idx="4"/>
            <a:endCxn id="42" idx="1"/>
          </p:cNvCxnSpPr>
          <p:nvPr/>
        </p:nvCxnSpPr>
        <p:spPr>
          <a:xfrm>
            <a:off x="3450535" y="4876800"/>
            <a:ext cx="1736809" cy="1274996"/>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a:stCxn id="16" idx="4"/>
            <a:endCxn id="41" idx="0"/>
          </p:cNvCxnSpPr>
          <p:nvPr/>
        </p:nvCxnSpPr>
        <p:spPr>
          <a:xfrm>
            <a:off x="3450535" y="4876800"/>
            <a:ext cx="626165" cy="1219200"/>
          </a:xfrm>
          <a:prstGeom prst="line">
            <a:avLst/>
          </a:prstGeom>
        </p:spPr>
        <p:style>
          <a:lnRef idx="1">
            <a:schemeClr val="accent1"/>
          </a:lnRef>
          <a:fillRef idx="0">
            <a:schemeClr val="accent1"/>
          </a:fillRef>
          <a:effectRef idx="0">
            <a:schemeClr val="accent1"/>
          </a:effectRef>
          <a:fontRef idx="minor">
            <a:schemeClr val="tx1"/>
          </a:fontRef>
        </p:style>
      </p:cxnSp>
      <p:sp>
        <p:nvSpPr>
          <p:cNvPr id="41" name="Oval 40"/>
          <p:cNvSpPr/>
          <p:nvPr/>
        </p:nvSpPr>
        <p:spPr>
          <a:xfrm>
            <a:off x="3276600" y="6096000"/>
            <a:ext cx="16002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Quận</a:t>
            </a:r>
            <a:endParaRPr lang="en-US"/>
          </a:p>
        </p:txBody>
      </p:sp>
      <p:sp>
        <p:nvSpPr>
          <p:cNvPr id="42" name="Oval 41"/>
          <p:cNvSpPr/>
          <p:nvPr/>
        </p:nvSpPr>
        <p:spPr>
          <a:xfrm>
            <a:off x="4953000" y="6096000"/>
            <a:ext cx="16002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Đường</a:t>
            </a:r>
            <a:endParaRPr lang="en-US"/>
          </a:p>
        </p:txBody>
      </p:sp>
    </p:spTree>
    <p:extLst>
      <p:ext uri="{BB962C8B-B14F-4D97-AF65-F5344CB8AC3E}">
        <p14:creationId xmlns:p14="http://schemas.microsoft.com/office/powerpoint/2010/main" val="18627444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Chuyển từ mô hình thực thể kết hợp </a:t>
            </a:r>
            <a:br>
              <a:rPr lang="en-US" smtClean="0"/>
            </a:br>
            <a:r>
              <a:rPr lang="en-US" smtClean="0"/>
              <a:t>sang dạng bảng và mô hình quan hệ</a:t>
            </a:r>
            <a:endParaRPr lang="en-US"/>
          </a:p>
        </p:txBody>
      </p:sp>
      <p:sp>
        <p:nvSpPr>
          <p:cNvPr id="3" name="Content Placeholder 2"/>
          <p:cNvSpPr>
            <a:spLocks noGrp="1"/>
          </p:cNvSpPr>
          <p:nvPr>
            <p:ph idx="1"/>
          </p:nvPr>
        </p:nvSpPr>
        <p:spPr>
          <a:xfrm>
            <a:off x="457200" y="1600200"/>
            <a:ext cx="8686800" cy="5257800"/>
          </a:xfrm>
        </p:spPr>
        <p:txBody>
          <a:bodyPr>
            <a:normAutofit/>
          </a:bodyPr>
          <a:lstStyle/>
          <a:p>
            <a:pPr marL="0" indent="0">
              <a:buNone/>
            </a:pPr>
            <a:r>
              <a:rPr lang="en-US" sz="2400" smtClean="0"/>
              <a:t>Với thuộc tính đa trị. Ta hình thành thực thể mới (Chuyên môn ghi nhận các môn học</a:t>
            </a:r>
          </a:p>
          <a:p>
            <a:pPr marL="0" indent="0">
              <a:buNone/>
            </a:pPr>
            <a:endParaRPr lang="en-US" sz="2400" smtClean="0"/>
          </a:p>
          <a:p>
            <a:endParaRPr lang="en-US" sz="2400" smtClean="0"/>
          </a:p>
          <a:p>
            <a:endParaRPr lang="en-US" sz="2400" smtClean="0"/>
          </a:p>
          <a:p>
            <a:endParaRPr lang="en-US" sz="2400"/>
          </a:p>
        </p:txBody>
      </p:sp>
      <p:sp>
        <p:nvSpPr>
          <p:cNvPr id="4" name="Rectangle 3"/>
          <p:cNvSpPr/>
          <p:nvPr/>
        </p:nvSpPr>
        <p:spPr>
          <a:xfrm>
            <a:off x="2110409" y="2507974"/>
            <a:ext cx="12954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GiaoVien</a:t>
            </a:r>
            <a:endParaRPr lang="en-US"/>
          </a:p>
        </p:txBody>
      </p:sp>
      <p:sp>
        <p:nvSpPr>
          <p:cNvPr id="5" name="Oval 4"/>
          <p:cNvSpPr/>
          <p:nvPr/>
        </p:nvSpPr>
        <p:spPr>
          <a:xfrm>
            <a:off x="766970" y="3155674"/>
            <a:ext cx="1143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MaGV</a:t>
            </a:r>
            <a:endParaRPr lang="en-US"/>
          </a:p>
        </p:txBody>
      </p:sp>
      <p:sp>
        <p:nvSpPr>
          <p:cNvPr id="6" name="Oval 5"/>
          <p:cNvSpPr/>
          <p:nvPr/>
        </p:nvSpPr>
        <p:spPr>
          <a:xfrm>
            <a:off x="3761961" y="3157331"/>
            <a:ext cx="11430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Ten</a:t>
            </a:r>
            <a:endParaRPr lang="en-US"/>
          </a:p>
        </p:txBody>
      </p:sp>
      <p:sp>
        <p:nvSpPr>
          <p:cNvPr id="7" name="Oval 6"/>
          <p:cNvSpPr/>
          <p:nvPr/>
        </p:nvSpPr>
        <p:spPr>
          <a:xfrm>
            <a:off x="790161" y="3803374"/>
            <a:ext cx="1600200" cy="381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Ngày sinh</a:t>
            </a:r>
            <a:endParaRPr lang="en-US"/>
          </a:p>
        </p:txBody>
      </p:sp>
      <p:cxnSp>
        <p:nvCxnSpPr>
          <p:cNvPr id="8" name="Straight Connector 7"/>
          <p:cNvCxnSpPr>
            <a:stCxn id="4" idx="2"/>
            <a:endCxn id="7" idx="0"/>
          </p:cNvCxnSpPr>
          <p:nvPr/>
        </p:nvCxnSpPr>
        <p:spPr>
          <a:xfrm flipH="1">
            <a:off x="1590261" y="2888974"/>
            <a:ext cx="1167848" cy="914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a:stCxn id="4" idx="2"/>
            <a:endCxn id="6" idx="0"/>
          </p:cNvCxnSpPr>
          <p:nvPr/>
        </p:nvCxnSpPr>
        <p:spPr>
          <a:xfrm>
            <a:off x="2758109" y="2888974"/>
            <a:ext cx="1575352" cy="26835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4" idx="2"/>
            <a:endCxn id="5" idx="0"/>
          </p:cNvCxnSpPr>
          <p:nvPr/>
        </p:nvCxnSpPr>
        <p:spPr>
          <a:xfrm flipH="1">
            <a:off x="1338470" y="2888974"/>
            <a:ext cx="1419639" cy="26670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11" name="Table 10"/>
          <p:cNvGraphicFramePr>
            <a:graphicFrameLocks noGrp="1"/>
          </p:cNvGraphicFramePr>
          <p:nvPr>
            <p:extLst>
              <p:ext uri="{D42A27DB-BD31-4B8C-83A1-F6EECF244321}">
                <p14:modId xmlns:p14="http://schemas.microsoft.com/office/powerpoint/2010/main" val="1021455966"/>
              </p:ext>
            </p:extLst>
          </p:nvPr>
        </p:nvGraphicFramePr>
        <p:xfrm>
          <a:off x="2438400" y="4784918"/>
          <a:ext cx="1295400" cy="1483360"/>
        </p:xfrm>
        <a:graphic>
          <a:graphicData uri="http://schemas.openxmlformats.org/drawingml/2006/table">
            <a:tbl>
              <a:tblPr firstRow="1" bandRow="1">
                <a:tableStyleId>{5C22544A-7EE6-4342-B048-85BDC9FD1C3A}</a:tableStyleId>
              </a:tblPr>
              <a:tblGrid>
                <a:gridCol w="1295400"/>
              </a:tblGrid>
              <a:tr h="370840">
                <a:tc>
                  <a:txBody>
                    <a:bodyPr/>
                    <a:lstStyle/>
                    <a:p>
                      <a:r>
                        <a:rPr lang="en-US" smtClean="0"/>
                        <a:t>GiaoVien</a:t>
                      </a:r>
                      <a:endParaRPr lang="en-US"/>
                    </a:p>
                  </a:txBody>
                  <a:tcPr/>
                </a:tc>
              </a:tr>
              <a:tr h="370840">
                <a:tc>
                  <a:txBody>
                    <a:bodyPr/>
                    <a:lstStyle/>
                    <a:p>
                      <a:r>
                        <a:rPr lang="en-US" b="1" u="sng" smtClean="0"/>
                        <a:t>MaGV</a:t>
                      </a:r>
                      <a:endParaRPr lang="en-US" b="1" u="sng"/>
                    </a:p>
                  </a:txBody>
                  <a:tcPr/>
                </a:tc>
              </a:tr>
              <a:tr h="370840">
                <a:tc>
                  <a:txBody>
                    <a:bodyPr/>
                    <a:lstStyle/>
                    <a:p>
                      <a:r>
                        <a:rPr lang="en-US" smtClean="0"/>
                        <a:t>Ten</a:t>
                      </a:r>
                      <a:endParaRPr lang="en-US"/>
                    </a:p>
                  </a:txBody>
                  <a:tcPr/>
                </a:tc>
              </a:tr>
              <a:tr h="370840">
                <a:tc>
                  <a:txBody>
                    <a:bodyPr/>
                    <a:lstStyle/>
                    <a:p>
                      <a:r>
                        <a:rPr lang="en-US" smtClean="0"/>
                        <a:t>Ngày</a:t>
                      </a:r>
                      <a:r>
                        <a:rPr lang="en-US" baseline="0" smtClean="0"/>
                        <a:t> sinh</a:t>
                      </a:r>
                      <a:endParaRPr lang="en-US"/>
                    </a:p>
                  </a:txBody>
                  <a:tcPr/>
                </a:tc>
              </a:tr>
            </a:tbl>
          </a:graphicData>
        </a:graphic>
      </p:graphicFrame>
      <p:sp>
        <p:nvSpPr>
          <p:cNvPr id="16" name="Oval 15"/>
          <p:cNvSpPr/>
          <p:nvPr/>
        </p:nvSpPr>
        <p:spPr>
          <a:xfrm>
            <a:off x="2754796" y="3803374"/>
            <a:ext cx="2045804" cy="381000"/>
          </a:xfrm>
          <a:prstGeom prst="ellipse">
            <a:avLst/>
          </a:prstGeom>
          <a:ln w="38100" cmpd="dbl"/>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Chuyên môn</a:t>
            </a:r>
            <a:endParaRPr lang="en-US"/>
          </a:p>
        </p:txBody>
      </p:sp>
      <p:cxnSp>
        <p:nvCxnSpPr>
          <p:cNvPr id="17" name="Straight Connector 16"/>
          <p:cNvCxnSpPr>
            <a:endCxn id="16" idx="0"/>
          </p:cNvCxnSpPr>
          <p:nvPr/>
        </p:nvCxnSpPr>
        <p:spPr>
          <a:xfrm>
            <a:off x="2758109" y="2888974"/>
            <a:ext cx="1019589" cy="91440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25" name="Table 24"/>
          <p:cNvGraphicFramePr>
            <a:graphicFrameLocks noGrp="1"/>
          </p:cNvGraphicFramePr>
          <p:nvPr>
            <p:extLst>
              <p:ext uri="{D42A27DB-BD31-4B8C-83A1-F6EECF244321}">
                <p14:modId xmlns:p14="http://schemas.microsoft.com/office/powerpoint/2010/main" val="236341567"/>
              </p:ext>
            </p:extLst>
          </p:nvPr>
        </p:nvGraphicFramePr>
        <p:xfrm>
          <a:off x="6172200" y="4744278"/>
          <a:ext cx="1447800" cy="1580322"/>
        </p:xfrm>
        <a:graphic>
          <a:graphicData uri="http://schemas.openxmlformats.org/drawingml/2006/table">
            <a:tbl>
              <a:tblPr firstRow="1" bandRow="1">
                <a:tableStyleId>{5C22544A-7EE6-4342-B048-85BDC9FD1C3A}</a:tableStyleId>
              </a:tblPr>
              <a:tblGrid>
                <a:gridCol w="1447800"/>
              </a:tblGrid>
              <a:tr h="470121">
                <a:tc>
                  <a:txBody>
                    <a:bodyPr/>
                    <a:lstStyle/>
                    <a:p>
                      <a:r>
                        <a:rPr lang="en-US" smtClean="0"/>
                        <a:t>GiaoVien</a:t>
                      </a:r>
                    </a:p>
                    <a:p>
                      <a:r>
                        <a:rPr lang="en-US" smtClean="0"/>
                        <a:t>ChuyenMon</a:t>
                      </a:r>
                      <a:endParaRPr lang="en-US"/>
                    </a:p>
                  </a:txBody>
                  <a:tcPr/>
                </a:tc>
              </a:tr>
              <a:tr h="470121">
                <a:tc>
                  <a:txBody>
                    <a:bodyPr/>
                    <a:lstStyle/>
                    <a:p>
                      <a:r>
                        <a:rPr lang="en-US" b="1" u="sng" smtClean="0"/>
                        <a:t>MaGV</a:t>
                      </a:r>
                      <a:endParaRPr lang="en-US" b="1" u="sng"/>
                    </a:p>
                  </a:txBody>
                  <a:tcPr/>
                </a:tc>
              </a:tr>
              <a:tr h="470121">
                <a:tc>
                  <a:txBody>
                    <a:bodyPr/>
                    <a:lstStyle/>
                    <a:p>
                      <a:r>
                        <a:rPr lang="en-US" b="1" u="sng" smtClean="0"/>
                        <a:t>Chuyên</a:t>
                      </a:r>
                      <a:r>
                        <a:rPr lang="en-US" b="1" u="sng" baseline="0" smtClean="0"/>
                        <a:t> môn</a:t>
                      </a:r>
                      <a:endParaRPr lang="en-US" b="1" u="sng"/>
                    </a:p>
                  </a:txBody>
                  <a:tcPr/>
                </a:tc>
              </a:tr>
            </a:tbl>
          </a:graphicData>
        </a:graphic>
      </p:graphicFrame>
      <p:cxnSp>
        <p:nvCxnSpPr>
          <p:cNvPr id="28" name="Straight Connector 27"/>
          <p:cNvCxnSpPr>
            <a:stCxn id="11" idx="3"/>
            <a:endCxn id="25" idx="1"/>
          </p:cNvCxnSpPr>
          <p:nvPr/>
        </p:nvCxnSpPr>
        <p:spPr>
          <a:xfrm>
            <a:off x="3733800" y="5526598"/>
            <a:ext cx="2438400" cy="7841"/>
          </a:xfrm>
          <a:prstGeom prst="line">
            <a:avLst/>
          </a:prstGeom>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3810000" y="5213146"/>
            <a:ext cx="301686" cy="369332"/>
          </a:xfrm>
          <a:prstGeom prst="rect">
            <a:avLst/>
          </a:prstGeom>
          <a:noFill/>
        </p:spPr>
        <p:txBody>
          <a:bodyPr wrap="none" rtlCol="0">
            <a:spAutoFit/>
          </a:bodyPr>
          <a:lstStyle/>
          <a:p>
            <a:r>
              <a:rPr lang="en-US" smtClean="0"/>
              <a:t>1</a:t>
            </a:r>
            <a:endParaRPr lang="en-US"/>
          </a:p>
        </p:txBody>
      </p:sp>
      <p:sp>
        <p:nvSpPr>
          <p:cNvPr id="37" name="TextBox 36"/>
          <p:cNvSpPr txBox="1"/>
          <p:nvPr/>
        </p:nvSpPr>
        <p:spPr>
          <a:xfrm>
            <a:off x="5865706" y="5226600"/>
            <a:ext cx="306494" cy="369332"/>
          </a:xfrm>
          <a:prstGeom prst="rect">
            <a:avLst/>
          </a:prstGeom>
          <a:noFill/>
        </p:spPr>
        <p:txBody>
          <a:bodyPr wrap="none" rtlCol="0">
            <a:spAutoFit/>
          </a:bodyPr>
          <a:lstStyle/>
          <a:p>
            <a:r>
              <a:rPr lang="en-US" smtClean="0"/>
              <a:t>n</a:t>
            </a:r>
            <a:endParaRPr lang="en-US"/>
          </a:p>
        </p:txBody>
      </p:sp>
      <p:cxnSp>
        <p:nvCxnSpPr>
          <p:cNvPr id="38" name="Straight Arrow Connector 37"/>
          <p:cNvCxnSpPr/>
          <p:nvPr/>
        </p:nvCxnSpPr>
        <p:spPr>
          <a:xfrm flipH="1">
            <a:off x="3733800" y="5791200"/>
            <a:ext cx="2438400" cy="0"/>
          </a:xfrm>
          <a:prstGeom prst="straightConnector1">
            <a:avLst/>
          </a:prstGeom>
          <a:ln>
            <a:headEnd type="none" w="lg" len="lg"/>
            <a:tailEnd type="triangle" w="lg" len="lg"/>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2296427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Chuyển từ mô hình thực thể kết hợp </a:t>
            </a:r>
            <a:br>
              <a:rPr lang="en-US" smtClean="0"/>
            </a:br>
            <a:r>
              <a:rPr lang="en-US" smtClean="0"/>
              <a:t>sang dạng bảng và mô hình quan hệ</a:t>
            </a:r>
            <a:endParaRPr lang="en-US"/>
          </a:p>
        </p:txBody>
      </p:sp>
      <p:sp>
        <p:nvSpPr>
          <p:cNvPr id="3" name="Content Placeholder 2"/>
          <p:cNvSpPr>
            <a:spLocks noGrp="1"/>
          </p:cNvSpPr>
          <p:nvPr>
            <p:ph idx="1"/>
          </p:nvPr>
        </p:nvSpPr>
        <p:spPr>
          <a:xfrm>
            <a:off x="457200" y="1600200"/>
            <a:ext cx="8686800" cy="5257800"/>
          </a:xfrm>
        </p:spPr>
        <p:txBody>
          <a:bodyPr>
            <a:normAutofit/>
          </a:bodyPr>
          <a:lstStyle/>
          <a:p>
            <a:pPr marL="0" indent="0">
              <a:buNone/>
            </a:pPr>
            <a:r>
              <a:rPr lang="en-US" sz="2400" smtClean="0"/>
              <a:t>Với quan hệ 1-1</a:t>
            </a:r>
          </a:p>
          <a:p>
            <a:pPr marL="0" indent="0">
              <a:buNone/>
            </a:pPr>
            <a:endParaRPr lang="en-US" sz="2400" smtClean="0"/>
          </a:p>
          <a:p>
            <a:pPr marL="0" indent="0">
              <a:buNone/>
            </a:pPr>
            <a:endParaRPr lang="en-US" sz="2400" smtClean="0"/>
          </a:p>
          <a:p>
            <a:endParaRPr lang="en-US" sz="2400" smtClean="0"/>
          </a:p>
          <a:p>
            <a:endParaRPr lang="en-US" sz="2400" smtClean="0"/>
          </a:p>
          <a:p>
            <a:endParaRPr lang="en-US" sz="2400"/>
          </a:p>
        </p:txBody>
      </p:sp>
      <p:graphicFrame>
        <p:nvGraphicFramePr>
          <p:cNvPr id="11" name="Table 10"/>
          <p:cNvGraphicFramePr>
            <a:graphicFrameLocks noGrp="1"/>
          </p:cNvGraphicFramePr>
          <p:nvPr>
            <p:extLst>
              <p:ext uri="{D42A27DB-BD31-4B8C-83A1-F6EECF244321}">
                <p14:modId xmlns:p14="http://schemas.microsoft.com/office/powerpoint/2010/main" val="2015570839"/>
              </p:ext>
            </p:extLst>
          </p:nvPr>
        </p:nvGraphicFramePr>
        <p:xfrm>
          <a:off x="4876800" y="4471466"/>
          <a:ext cx="1295400" cy="1483360"/>
        </p:xfrm>
        <a:graphic>
          <a:graphicData uri="http://schemas.openxmlformats.org/drawingml/2006/table">
            <a:tbl>
              <a:tblPr firstRow="1" bandRow="1">
                <a:tableStyleId>{5C22544A-7EE6-4342-B048-85BDC9FD1C3A}</a:tableStyleId>
              </a:tblPr>
              <a:tblGrid>
                <a:gridCol w="1295400"/>
              </a:tblGrid>
              <a:tr h="370840">
                <a:tc>
                  <a:txBody>
                    <a:bodyPr/>
                    <a:lstStyle/>
                    <a:p>
                      <a:r>
                        <a:rPr lang="en-US" smtClean="0"/>
                        <a:t>GiaoVien</a:t>
                      </a:r>
                      <a:endParaRPr lang="en-US"/>
                    </a:p>
                  </a:txBody>
                  <a:tcPr/>
                </a:tc>
              </a:tr>
              <a:tr h="370840">
                <a:tc>
                  <a:txBody>
                    <a:bodyPr/>
                    <a:lstStyle/>
                    <a:p>
                      <a:r>
                        <a:rPr lang="en-US" b="1" u="sng" smtClean="0"/>
                        <a:t>MaGV</a:t>
                      </a:r>
                      <a:endParaRPr lang="en-US" b="1" u="sng"/>
                    </a:p>
                  </a:txBody>
                  <a:tcPr/>
                </a:tc>
              </a:tr>
              <a:tr h="370840">
                <a:tc>
                  <a:txBody>
                    <a:bodyPr/>
                    <a:lstStyle/>
                    <a:p>
                      <a:r>
                        <a:rPr lang="en-US" smtClean="0"/>
                        <a:t>Ten</a:t>
                      </a:r>
                      <a:endParaRPr lang="en-US"/>
                    </a:p>
                  </a:txBody>
                  <a:tcPr/>
                </a:tc>
              </a:tr>
              <a:tr h="370840">
                <a:tc>
                  <a:txBody>
                    <a:bodyPr/>
                    <a:lstStyle/>
                    <a:p>
                      <a:r>
                        <a:rPr lang="en-US" smtClean="0"/>
                        <a:t>Ngày</a:t>
                      </a:r>
                      <a:r>
                        <a:rPr lang="en-US" baseline="0" smtClean="0"/>
                        <a:t> sinh</a:t>
                      </a:r>
                      <a:endParaRPr lang="en-US"/>
                    </a:p>
                  </a:txBody>
                  <a:tcPr/>
                </a:tc>
              </a:tr>
            </a:tbl>
          </a:graphicData>
        </a:graphic>
      </p:graphicFrame>
      <p:graphicFrame>
        <p:nvGraphicFramePr>
          <p:cNvPr id="25" name="Table 24"/>
          <p:cNvGraphicFramePr>
            <a:graphicFrameLocks noGrp="1"/>
          </p:cNvGraphicFramePr>
          <p:nvPr>
            <p:extLst>
              <p:ext uri="{D42A27DB-BD31-4B8C-83A1-F6EECF244321}">
                <p14:modId xmlns:p14="http://schemas.microsoft.com/office/powerpoint/2010/main" val="1567512418"/>
              </p:ext>
            </p:extLst>
          </p:nvPr>
        </p:nvGraphicFramePr>
        <p:xfrm>
          <a:off x="7162800" y="3346116"/>
          <a:ext cx="1447800" cy="1880484"/>
        </p:xfrm>
        <a:graphic>
          <a:graphicData uri="http://schemas.openxmlformats.org/drawingml/2006/table">
            <a:tbl>
              <a:tblPr firstRow="1" bandRow="1">
                <a:tableStyleId>{5C22544A-7EE6-4342-B048-85BDC9FD1C3A}</a:tableStyleId>
              </a:tblPr>
              <a:tblGrid>
                <a:gridCol w="1447800"/>
              </a:tblGrid>
              <a:tr h="470121">
                <a:tc>
                  <a:txBody>
                    <a:bodyPr/>
                    <a:lstStyle/>
                    <a:p>
                      <a:r>
                        <a:rPr lang="en-US" smtClean="0"/>
                        <a:t>Khoa</a:t>
                      </a:r>
                      <a:endParaRPr lang="en-US"/>
                    </a:p>
                  </a:txBody>
                  <a:tcPr/>
                </a:tc>
              </a:tr>
              <a:tr h="470121">
                <a:tc>
                  <a:txBody>
                    <a:bodyPr/>
                    <a:lstStyle/>
                    <a:p>
                      <a:r>
                        <a:rPr lang="en-US" b="1" u="sng" smtClean="0"/>
                        <a:t>MaKhoa</a:t>
                      </a:r>
                      <a:endParaRPr lang="en-US" b="1" u="sng"/>
                    </a:p>
                  </a:txBody>
                  <a:tcPr/>
                </a:tc>
              </a:tr>
              <a:tr h="470121">
                <a:tc>
                  <a:txBody>
                    <a:bodyPr/>
                    <a:lstStyle/>
                    <a:p>
                      <a:r>
                        <a:rPr lang="en-US" b="0" u="none" smtClean="0"/>
                        <a:t>Tên</a:t>
                      </a:r>
                      <a:r>
                        <a:rPr lang="en-US" b="0" u="none" baseline="0" smtClean="0"/>
                        <a:t> khoa</a:t>
                      </a:r>
                      <a:endParaRPr lang="en-US" b="0" u="none"/>
                    </a:p>
                  </a:txBody>
                  <a:tcPr/>
                </a:tc>
              </a:tr>
              <a:tr h="470121">
                <a:tc>
                  <a:txBody>
                    <a:bodyPr/>
                    <a:lstStyle/>
                    <a:p>
                      <a:r>
                        <a:rPr lang="en-US" b="0" u="none" smtClean="0"/>
                        <a:t>MaGVTruong</a:t>
                      </a:r>
                      <a:endParaRPr lang="en-US" b="0" u="none"/>
                    </a:p>
                  </a:txBody>
                  <a:tcPr/>
                </a:tc>
              </a:tr>
            </a:tbl>
          </a:graphicData>
        </a:graphic>
      </p:graphicFrame>
      <p:cxnSp>
        <p:nvCxnSpPr>
          <p:cNvPr id="28" name="Straight Connector 27"/>
          <p:cNvCxnSpPr/>
          <p:nvPr/>
        </p:nvCxnSpPr>
        <p:spPr>
          <a:xfrm>
            <a:off x="6096000" y="4997172"/>
            <a:ext cx="1066800" cy="0"/>
          </a:xfrm>
          <a:prstGeom prst="line">
            <a:avLst/>
          </a:prstGeom>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6071978" y="4964668"/>
            <a:ext cx="301686" cy="369332"/>
          </a:xfrm>
          <a:prstGeom prst="rect">
            <a:avLst/>
          </a:prstGeom>
          <a:noFill/>
        </p:spPr>
        <p:txBody>
          <a:bodyPr wrap="none" rtlCol="0">
            <a:spAutoFit/>
          </a:bodyPr>
          <a:lstStyle/>
          <a:p>
            <a:r>
              <a:rPr lang="en-US" smtClean="0"/>
              <a:t>1</a:t>
            </a:r>
            <a:endParaRPr lang="en-US"/>
          </a:p>
        </p:txBody>
      </p:sp>
      <p:sp>
        <p:nvSpPr>
          <p:cNvPr id="37" name="TextBox 36"/>
          <p:cNvSpPr txBox="1"/>
          <p:nvPr/>
        </p:nvSpPr>
        <p:spPr>
          <a:xfrm>
            <a:off x="6937314" y="4701343"/>
            <a:ext cx="301686" cy="369332"/>
          </a:xfrm>
          <a:prstGeom prst="rect">
            <a:avLst/>
          </a:prstGeom>
          <a:noFill/>
        </p:spPr>
        <p:txBody>
          <a:bodyPr wrap="none" rtlCol="0">
            <a:spAutoFit/>
          </a:bodyPr>
          <a:lstStyle/>
          <a:p>
            <a:r>
              <a:rPr lang="en-US" smtClean="0"/>
              <a:t>1</a:t>
            </a:r>
            <a:endParaRPr lang="en-US"/>
          </a:p>
        </p:txBody>
      </p:sp>
      <p:sp>
        <p:nvSpPr>
          <p:cNvPr id="18" name="Rectangle 17"/>
          <p:cNvSpPr/>
          <p:nvPr/>
        </p:nvSpPr>
        <p:spPr>
          <a:xfrm>
            <a:off x="1295400" y="2249555"/>
            <a:ext cx="12954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GiaoVien</a:t>
            </a:r>
            <a:endParaRPr lang="en-US"/>
          </a:p>
        </p:txBody>
      </p:sp>
      <p:sp>
        <p:nvSpPr>
          <p:cNvPr id="19" name="Rectangle 18"/>
          <p:cNvSpPr/>
          <p:nvPr/>
        </p:nvSpPr>
        <p:spPr>
          <a:xfrm>
            <a:off x="6324600" y="2249555"/>
            <a:ext cx="12954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Khoa</a:t>
            </a:r>
            <a:endParaRPr lang="en-US"/>
          </a:p>
        </p:txBody>
      </p:sp>
      <p:sp>
        <p:nvSpPr>
          <p:cNvPr id="20" name="Diamond 19"/>
          <p:cNvSpPr/>
          <p:nvPr/>
        </p:nvSpPr>
        <p:spPr>
          <a:xfrm>
            <a:off x="3657600" y="2057400"/>
            <a:ext cx="1562100" cy="761999"/>
          </a:xfrm>
          <a:prstGeom prst="diamond">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500" smtClean="0"/>
              <a:t>Trưởng Khoa</a:t>
            </a:r>
            <a:endParaRPr lang="en-US" sz="1500"/>
          </a:p>
        </p:txBody>
      </p:sp>
      <p:cxnSp>
        <p:nvCxnSpPr>
          <p:cNvPr id="21" name="Straight Connector 20"/>
          <p:cNvCxnSpPr>
            <a:stCxn id="18" idx="3"/>
            <a:endCxn id="20" idx="1"/>
          </p:cNvCxnSpPr>
          <p:nvPr/>
        </p:nvCxnSpPr>
        <p:spPr>
          <a:xfrm flipV="1">
            <a:off x="2590800" y="2438400"/>
            <a:ext cx="1066800" cy="1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20" idx="3"/>
            <a:endCxn id="19" idx="1"/>
          </p:cNvCxnSpPr>
          <p:nvPr/>
        </p:nvCxnSpPr>
        <p:spPr>
          <a:xfrm>
            <a:off x="5219700" y="2438400"/>
            <a:ext cx="1104900" cy="1655"/>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2627243" y="2103852"/>
            <a:ext cx="481222" cy="369332"/>
          </a:xfrm>
          <a:prstGeom prst="rect">
            <a:avLst/>
          </a:prstGeom>
          <a:noFill/>
        </p:spPr>
        <p:txBody>
          <a:bodyPr wrap="none" rtlCol="0">
            <a:spAutoFit/>
          </a:bodyPr>
          <a:lstStyle/>
          <a:p>
            <a:r>
              <a:rPr lang="en-US" smtClean="0"/>
              <a:t>1:1</a:t>
            </a:r>
            <a:endParaRPr lang="en-US"/>
          </a:p>
        </p:txBody>
      </p:sp>
      <p:sp>
        <p:nvSpPr>
          <p:cNvPr id="24" name="TextBox 23"/>
          <p:cNvSpPr txBox="1"/>
          <p:nvPr/>
        </p:nvSpPr>
        <p:spPr>
          <a:xfrm>
            <a:off x="5821017" y="2103852"/>
            <a:ext cx="481222" cy="369332"/>
          </a:xfrm>
          <a:prstGeom prst="rect">
            <a:avLst/>
          </a:prstGeom>
          <a:noFill/>
        </p:spPr>
        <p:txBody>
          <a:bodyPr wrap="none" rtlCol="0">
            <a:spAutoFit/>
          </a:bodyPr>
          <a:lstStyle/>
          <a:p>
            <a:r>
              <a:rPr lang="en-US" smtClean="0"/>
              <a:t>1:1</a:t>
            </a:r>
            <a:endParaRPr lang="en-US"/>
          </a:p>
        </p:txBody>
      </p:sp>
      <p:sp>
        <p:nvSpPr>
          <p:cNvPr id="33" name="TextBox 32"/>
          <p:cNvSpPr txBox="1"/>
          <p:nvPr/>
        </p:nvSpPr>
        <p:spPr>
          <a:xfrm>
            <a:off x="6324600" y="5505271"/>
            <a:ext cx="2793009" cy="1200329"/>
          </a:xfrm>
          <a:prstGeom prst="rect">
            <a:avLst/>
          </a:prstGeom>
          <a:noFill/>
        </p:spPr>
        <p:txBody>
          <a:bodyPr wrap="none" rtlCol="0">
            <a:spAutoFit/>
          </a:bodyPr>
          <a:lstStyle/>
          <a:p>
            <a:r>
              <a:rPr lang="en-US" smtClean="0"/>
              <a:t>Cách làm này buộc phải </a:t>
            </a:r>
          </a:p>
          <a:p>
            <a:r>
              <a:rPr lang="en-US" smtClean="0"/>
              <a:t>đặt ràng buộc là cột </a:t>
            </a:r>
          </a:p>
          <a:p>
            <a:r>
              <a:rPr lang="en-US" smtClean="0"/>
              <a:t>MaGVTruong phải có giá trị </a:t>
            </a:r>
          </a:p>
          <a:p>
            <a:r>
              <a:rPr lang="en-US" smtClean="0"/>
              <a:t>mang tính duy nhất</a:t>
            </a:r>
            <a:endParaRPr lang="en-US"/>
          </a:p>
        </p:txBody>
      </p:sp>
      <p:graphicFrame>
        <p:nvGraphicFramePr>
          <p:cNvPr id="36" name="Table 35"/>
          <p:cNvGraphicFramePr>
            <a:graphicFrameLocks noGrp="1"/>
          </p:cNvGraphicFramePr>
          <p:nvPr>
            <p:extLst>
              <p:ext uri="{D42A27DB-BD31-4B8C-83A1-F6EECF244321}">
                <p14:modId xmlns:p14="http://schemas.microsoft.com/office/powerpoint/2010/main" val="2186858934"/>
              </p:ext>
            </p:extLst>
          </p:nvPr>
        </p:nvGraphicFramePr>
        <p:xfrm>
          <a:off x="265977" y="2971800"/>
          <a:ext cx="1181823" cy="2123440"/>
        </p:xfrm>
        <a:graphic>
          <a:graphicData uri="http://schemas.openxmlformats.org/drawingml/2006/table">
            <a:tbl>
              <a:tblPr firstRow="1" bandRow="1">
                <a:tableStyleId>{5C22544A-7EE6-4342-B048-85BDC9FD1C3A}</a:tableStyleId>
              </a:tblPr>
              <a:tblGrid>
                <a:gridCol w="1181823"/>
              </a:tblGrid>
              <a:tr h="370840">
                <a:tc>
                  <a:txBody>
                    <a:bodyPr/>
                    <a:lstStyle/>
                    <a:p>
                      <a:r>
                        <a:rPr lang="en-US" smtClean="0"/>
                        <a:t>GiaoVien</a:t>
                      </a:r>
                      <a:endParaRPr lang="en-US"/>
                    </a:p>
                  </a:txBody>
                  <a:tcPr/>
                </a:tc>
              </a:tr>
              <a:tr h="370840">
                <a:tc>
                  <a:txBody>
                    <a:bodyPr/>
                    <a:lstStyle/>
                    <a:p>
                      <a:r>
                        <a:rPr lang="en-US" b="1" u="sng" smtClean="0"/>
                        <a:t>MaGV</a:t>
                      </a:r>
                      <a:endParaRPr lang="en-US" b="1" u="sng"/>
                    </a:p>
                  </a:txBody>
                  <a:tcPr/>
                </a:tc>
              </a:tr>
              <a:tr h="370840">
                <a:tc>
                  <a:txBody>
                    <a:bodyPr/>
                    <a:lstStyle/>
                    <a:p>
                      <a:r>
                        <a:rPr lang="en-US" smtClean="0"/>
                        <a:t>Ten</a:t>
                      </a:r>
                      <a:endParaRPr lang="en-US"/>
                    </a:p>
                  </a:txBody>
                  <a:tcPr/>
                </a:tc>
              </a:tr>
              <a:tr h="370840">
                <a:tc>
                  <a:txBody>
                    <a:bodyPr/>
                    <a:lstStyle/>
                    <a:p>
                      <a:r>
                        <a:rPr lang="en-US" smtClean="0"/>
                        <a:t>Ngày</a:t>
                      </a:r>
                      <a:r>
                        <a:rPr lang="en-US" baseline="0" smtClean="0"/>
                        <a:t> sinh</a:t>
                      </a:r>
                      <a:endParaRPr lang="en-US"/>
                    </a:p>
                  </a:txBody>
                  <a:tcPr/>
                </a:tc>
              </a:tr>
              <a:tr h="370840">
                <a:tc>
                  <a:txBody>
                    <a:bodyPr/>
                    <a:lstStyle/>
                    <a:p>
                      <a:r>
                        <a:rPr lang="en-US" smtClean="0"/>
                        <a:t>MaKhoaLaTruong</a:t>
                      </a:r>
                      <a:endParaRPr lang="en-US"/>
                    </a:p>
                  </a:txBody>
                  <a:tcPr/>
                </a:tc>
              </a:tr>
            </a:tbl>
          </a:graphicData>
        </a:graphic>
      </p:graphicFrame>
      <p:graphicFrame>
        <p:nvGraphicFramePr>
          <p:cNvPr id="38" name="Table 37"/>
          <p:cNvGraphicFramePr>
            <a:graphicFrameLocks noGrp="1"/>
          </p:cNvGraphicFramePr>
          <p:nvPr>
            <p:extLst>
              <p:ext uri="{D42A27DB-BD31-4B8C-83A1-F6EECF244321}">
                <p14:modId xmlns:p14="http://schemas.microsoft.com/office/powerpoint/2010/main" val="1833065640"/>
              </p:ext>
            </p:extLst>
          </p:nvPr>
        </p:nvGraphicFramePr>
        <p:xfrm>
          <a:off x="2533650" y="4110341"/>
          <a:ext cx="1447800" cy="1410363"/>
        </p:xfrm>
        <a:graphic>
          <a:graphicData uri="http://schemas.openxmlformats.org/drawingml/2006/table">
            <a:tbl>
              <a:tblPr firstRow="1" bandRow="1">
                <a:tableStyleId>{5C22544A-7EE6-4342-B048-85BDC9FD1C3A}</a:tableStyleId>
              </a:tblPr>
              <a:tblGrid>
                <a:gridCol w="1447800"/>
              </a:tblGrid>
              <a:tr h="470121">
                <a:tc>
                  <a:txBody>
                    <a:bodyPr/>
                    <a:lstStyle/>
                    <a:p>
                      <a:r>
                        <a:rPr lang="en-US" smtClean="0"/>
                        <a:t>Khoa</a:t>
                      </a:r>
                      <a:endParaRPr lang="en-US"/>
                    </a:p>
                  </a:txBody>
                  <a:tcPr/>
                </a:tc>
              </a:tr>
              <a:tr h="470121">
                <a:tc>
                  <a:txBody>
                    <a:bodyPr/>
                    <a:lstStyle/>
                    <a:p>
                      <a:r>
                        <a:rPr lang="en-US" b="1" u="sng" smtClean="0"/>
                        <a:t>MaKhoa</a:t>
                      </a:r>
                      <a:endParaRPr lang="en-US" b="1" u="sng"/>
                    </a:p>
                  </a:txBody>
                  <a:tcPr/>
                </a:tc>
              </a:tr>
              <a:tr h="470121">
                <a:tc>
                  <a:txBody>
                    <a:bodyPr/>
                    <a:lstStyle/>
                    <a:p>
                      <a:r>
                        <a:rPr lang="en-US" b="0" u="none" smtClean="0"/>
                        <a:t>Tên</a:t>
                      </a:r>
                      <a:r>
                        <a:rPr lang="en-US" b="0" u="none" baseline="0" smtClean="0"/>
                        <a:t> khoa</a:t>
                      </a:r>
                      <a:endParaRPr lang="en-US" b="0" u="none"/>
                    </a:p>
                  </a:txBody>
                  <a:tcPr/>
                </a:tc>
              </a:tr>
            </a:tbl>
          </a:graphicData>
        </a:graphic>
      </p:graphicFrame>
      <p:cxnSp>
        <p:nvCxnSpPr>
          <p:cNvPr id="39" name="Straight Connector 38"/>
          <p:cNvCxnSpPr>
            <a:endCxn id="38" idx="1"/>
          </p:cNvCxnSpPr>
          <p:nvPr/>
        </p:nvCxnSpPr>
        <p:spPr>
          <a:xfrm>
            <a:off x="1295400" y="4815522"/>
            <a:ext cx="1238250" cy="0"/>
          </a:xfrm>
          <a:prstGeom prst="line">
            <a:avLst/>
          </a:prstGeom>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1371600" y="4782275"/>
            <a:ext cx="301686" cy="369332"/>
          </a:xfrm>
          <a:prstGeom prst="rect">
            <a:avLst/>
          </a:prstGeom>
          <a:noFill/>
        </p:spPr>
        <p:txBody>
          <a:bodyPr wrap="none" rtlCol="0">
            <a:spAutoFit/>
          </a:bodyPr>
          <a:lstStyle/>
          <a:p>
            <a:r>
              <a:rPr lang="en-US" smtClean="0"/>
              <a:t>1</a:t>
            </a:r>
            <a:endParaRPr lang="en-US"/>
          </a:p>
        </p:txBody>
      </p:sp>
      <p:sp>
        <p:nvSpPr>
          <p:cNvPr id="42" name="TextBox 41"/>
          <p:cNvSpPr txBox="1"/>
          <p:nvPr/>
        </p:nvSpPr>
        <p:spPr>
          <a:xfrm>
            <a:off x="2289114" y="4518950"/>
            <a:ext cx="301686" cy="369332"/>
          </a:xfrm>
          <a:prstGeom prst="rect">
            <a:avLst/>
          </a:prstGeom>
          <a:noFill/>
        </p:spPr>
        <p:txBody>
          <a:bodyPr wrap="none" rtlCol="0">
            <a:spAutoFit/>
          </a:bodyPr>
          <a:lstStyle/>
          <a:p>
            <a:r>
              <a:rPr lang="en-US" smtClean="0"/>
              <a:t>1</a:t>
            </a:r>
            <a:endParaRPr lang="en-US"/>
          </a:p>
        </p:txBody>
      </p:sp>
      <p:sp>
        <p:nvSpPr>
          <p:cNvPr id="43" name="TextBox 42"/>
          <p:cNvSpPr txBox="1"/>
          <p:nvPr/>
        </p:nvSpPr>
        <p:spPr>
          <a:xfrm>
            <a:off x="331191" y="5486400"/>
            <a:ext cx="3199722" cy="1200329"/>
          </a:xfrm>
          <a:prstGeom prst="rect">
            <a:avLst/>
          </a:prstGeom>
          <a:noFill/>
        </p:spPr>
        <p:txBody>
          <a:bodyPr wrap="none" rtlCol="0">
            <a:spAutoFit/>
          </a:bodyPr>
          <a:lstStyle/>
          <a:p>
            <a:r>
              <a:rPr lang="en-US" smtClean="0"/>
              <a:t>Cách làm này buộc phải </a:t>
            </a:r>
          </a:p>
          <a:p>
            <a:r>
              <a:rPr lang="en-US" smtClean="0"/>
              <a:t>đặt ràng buộc là cột </a:t>
            </a:r>
          </a:p>
          <a:p>
            <a:r>
              <a:rPr lang="en-US" smtClean="0"/>
              <a:t>MaKhoaLaTruong phải có giá trị </a:t>
            </a:r>
          </a:p>
          <a:p>
            <a:r>
              <a:rPr lang="en-US" smtClean="0"/>
              <a:t>mang tính duy nhất</a:t>
            </a:r>
            <a:endParaRPr lang="en-US"/>
          </a:p>
        </p:txBody>
      </p:sp>
    </p:spTree>
    <p:extLst>
      <p:ext uri="{BB962C8B-B14F-4D97-AF65-F5344CB8AC3E}">
        <p14:creationId xmlns:p14="http://schemas.microsoft.com/office/powerpoint/2010/main" val="34241412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Chuyển từ mô hình thực thể kết hợp </a:t>
            </a:r>
            <a:br>
              <a:rPr lang="en-US" smtClean="0"/>
            </a:br>
            <a:r>
              <a:rPr lang="en-US" smtClean="0"/>
              <a:t>sang dạng bảng và mô hình quan hệ</a:t>
            </a:r>
            <a:endParaRPr lang="en-US"/>
          </a:p>
        </p:txBody>
      </p:sp>
      <p:sp>
        <p:nvSpPr>
          <p:cNvPr id="3" name="Content Placeholder 2"/>
          <p:cNvSpPr>
            <a:spLocks noGrp="1"/>
          </p:cNvSpPr>
          <p:nvPr>
            <p:ph idx="1"/>
          </p:nvPr>
        </p:nvSpPr>
        <p:spPr>
          <a:xfrm>
            <a:off x="457200" y="1600200"/>
            <a:ext cx="8686800" cy="5257800"/>
          </a:xfrm>
        </p:spPr>
        <p:txBody>
          <a:bodyPr>
            <a:normAutofit/>
          </a:bodyPr>
          <a:lstStyle/>
          <a:p>
            <a:pPr marL="0" indent="0">
              <a:buNone/>
            </a:pPr>
            <a:r>
              <a:rPr lang="en-US" sz="2400" smtClean="0"/>
              <a:t>Với quan hệ 1-n</a:t>
            </a:r>
          </a:p>
          <a:p>
            <a:pPr marL="0" indent="0">
              <a:buNone/>
            </a:pPr>
            <a:endParaRPr lang="en-US" sz="2400" smtClean="0"/>
          </a:p>
          <a:p>
            <a:pPr marL="0" indent="0">
              <a:buNone/>
            </a:pPr>
            <a:endParaRPr lang="en-US" sz="2400" smtClean="0"/>
          </a:p>
          <a:p>
            <a:endParaRPr lang="en-US" sz="2400" smtClean="0"/>
          </a:p>
          <a:p>
            <a:endParaRPr lang="en-US" sz="2400" smtClean="0"/>
          </a:p>
          <a:p>
            <a:endParaRPr lang="en-US" sz="2400"/>
          </a:p>
        </p:txBody>
      </p:sp>
      <p:graphicFrame>
        <p:nvGraphicFramePr>
          <p:cNvPr id="11" name="Table 10"/>
          <p:cNvGraphicFramePr>
            <a:graphicFrameLocks noGrp="1"/>
          </p:cNvGraphicFramePr>
          <p:nvPr>
            <p:extLst>
              <p:ext uri="{D42A27DB-BD31-4B8C-83A1-F6EECF244321}">
                <p14:modId xmlns:p14="http://schemas.microsoft.com/office/powerpoint/2010/main" val="3922922858"/>
              </p:ext>
            </p:extLst>
          </p:nvPr>
        </p:nvGraphicFramePr>
        <p:xfrm>
          <a:off x="1294351" y="3400720"/>
          <a:ext cx="1295400" cy="1854200"/>
        </p:xfrm>
        <a:graphic>
          <a:graphicData uri="http://schemas.openxmlformats.org/drawingml/2006/table">
            <a:tbl>
              <a:tblPr firstRow="1" bandRow="1">
                <a:tableStyleId>{5C22544A-7EE6-4342-B048-85BDC9FD1C3A}</a:tableStyleId>
              </a:tblPr>
              <a:tblGrid>
                <a:gridCol w="1295400"/>
              </a:tblGrid>
              <a:tr h="370840">
                <a:tc>
                  <a:txBody>
                    <a:bodyPr/>
                    <a:lstStyle/>
                    <a:p>
                      <a:r>
                        <a:rPr lang="en-US" smtClean="0"/>
                        <a:t>GiaoVien</a:t>
                      </a:r>
                      <a:endParaRPr lang="en-US"/>
                    </a:p>
                  </a:txBody>
                  <a:tcPr/>
                </a:tc>
              </a:tr>
              <a:tr h="370840">
                <a:tc>
                  <a:txBody>
                    <a:bodyPr/>
                    <a:lstStyle/>
                    <a:p>
                      <a:r>
                        <a:rPr lang="en-US" b="1" u="sng" smtClean="0"/>
                        <a:t>MaGV</a:t>
                      </a:r>
                      <a:endParaRPr lang="en-US" b="1" u="sng"/>
                    </a:p>
                  </a:txBody>
                  <a:tcPr/>
                </a:tc>
              </a:tr>
              <a:tr h="370840">
                <a:tc>
                  <a:txBody>
                    <a:bodyPr/>
                    <a:lstStyle/>
                    <a:p>
                      <a:r>
                        <a:rPr lang="en-US" smtClean="0"/>
                        <a:t>Ten</a:t>
                      </a:r>
                      <a:endParaRPr lang="en-US"/>
                    </a:p>
                  </a:txBody>
                  <a:tcPr/>
                </a:tc>
              </a:tr>
              <a:tr h="370840">
                <a:tc>
                  <a:txBody>
                    <a:bodyPr/>
                    <a:lstStyle/>
                    <a:p>
                      <a:r>
                        <a:rPr lang="en-US" smtClean="0"/>
                        <a:t>Ngày</a:t>
                      </a:r>
                      <a:r>
                        <a:rPr lang="en-US" baseline="0" smtClean="0"/>
                        <a:t> sinh</a:t>
                      </a:r>
                      <a:endParaRPr lang="en-US"/>
                    </a:p>
                  </a:txBody>
                  <a:tcPr/>
                </a:tc>
              </a:tr>
              <a:tr h="370840">
                <a:tc>
                  <a:txBody>
                    <a:bodyPr/>
                    <a:lstStyle/>
                    <a:p>
                      <a:r>
                        <a:rPr lang="en-US" smtClean="0"/>
                        <a:t>MaKhoa</a:t>
                      </a:r>
                      <a:endParaRPr lang="en-US"/>
                    </a:p>
                  </a:txBody>
                  <a:tcPr/>
                </a:tc>
              </a:tr>
            </a:tbl>
          </a:graphicData>
        </a:graphic>
      </p:graphicFrame>
      <p:graphicFrame>
        <p:nvGraphicFramePr>
          <p:cNvPr id="25" name="Table 24"/>
          <p:cNvGraphicFramePr>
            <a:graphicFrameLocks noGrp="1"/>
          </p:cNvGraphicFramePr>
          <p:nvPr>
            <p:extLst>
              <p:ext uri="{D42A27DB-BD31-4B8C-83A1-F6EECF244321}">
                <p14:modId xmlns:p14="http://schemas.microsoft.com/office/powerpoint/2010/main" val="896928699"/>
              </p:ext>
            </p:extLst>
          </p:nvPr>
        </p:nvGraphicFramePr>
        <p:xfrm>
          <a:off x="6324600" y="4384875"/>
          <a:ext cx="1447800" cy="1410363"/>
        </p:xfrm>
        <a:graphic>
          <a:graphicData uri="http://schemas.openxmlformats.org/drawingml/2006/table">
            <a:tbl>
              <a:tblPr firstRow="1" bandRow="1">
                <a:tableStyleId>{5C22544A-7EE6-4342-B048-85BDC9FD1C3A}</a:tableStyleId>
              </a:tblPr>
              <a:tblGrid>
                <a:gridCol w="1447800"/>
              </a:tblGrid>
              <a:tr h="470121">
                <a:tc>
                  <a:txBody>
                    <a:bodyPr/>
                    <a:lstStyle/>
                    <a:p>
                      <a:r>
                        <a:rPr lang="en-US" smtClean="0"/>
                        <a:t>Khoa</a:t>
                      </a:r>
                      <a:endParaRPr lang="en-US"/>
                    </a:p>
                  </a:txBody>
                  <a:tcPr/>
                </a:tc>
              </a:tr>
              <a:tr h="470121">
                <a:tc>
                  <a:txBody>
                    <a:bodyPr/>
                    <a:lstStyle/>
                    <a:p>
                      <a:r>
                        <a:rPr lang="en-US" b="1" u="sng" smtClean="0"/>
                        <a:t>MaKhoa</a:t>
                      </a:r>
                      <a:endParaRPr lang="en-US" b="1" u="sng"/>
                    </a:p>
                  </a:txBody>
                  <a:tcPr/>
                </a:tc>
              </a:tr>
              <a:tr h="470121">
                <a:tc>
                  <a:txBody>
                    <a:bodyPr/>
                    <a:lstStyle/>
                    <a:p>
                      <a:r>
                        <a:rPr lang="en-US" b="0" u="none" smtClean="0"/>
                        <a:t>Tên</a:t>
                      </a:r>
                      <a:r>
                        <a:rPr lang="en-US" b="0" u="none" baseline="0" smtClean="0"/>
                        <a:t> khoa</a:t>
                      </a:r>
                      <a:endParaRPr lang="en-US" b="0" u="none"/>
                    </a:p>
                  </a:txBody>
                  <a:tcPr/>
                </a:tc>
              </a:tr>
            </a:tbl>
          </a:graphicData>
        </a:graphic>
      </p:graphicFrame>
      <p:sp>
        <p:nvSpPr>
          <p:cNvPr id="18" name="Rectangle 17"/>
          <p:cNvSpPr/>
          <p:nvPr/>
        </p:nvSpPr>
        <p:spPr>
          <a:xfrm>
            <a:off x="1295400" y="2249555"/>
            <a:ext cx="12954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GiaoVien</a:t>
            </a:r>
            <a:endParaRPr lang="en-US"/>
          </a:p>
        </p:txBody>
      </p:sp>
      <p:sp>
        <p:nvSpPr>
          <p:cNvPr id="19" name="Rectangle 18"/>
          <p:cNvSpPr/>
          <p:nvPr/>
        </p:nvSpPr>
        <p:spPr>
          <a:xfrm>
            <a:off x="6324600" y="2249555"/>
            <a:ext cx="12954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Khoa</a:t>
            </a:r>
            <a:endParaRPr lang="en-US"/>
          </a:p>
        </p:txBody>
      </p:sp>
      <p:sp>
        <p:nvSpPr>
          <p:cNvPr id="20" name="Diamond 19"/>
          <p:cNvSpPr/>
          <p:nvPr/>
        </p:nvSpPr>
        <p:spPr>
          <a:xfrm>
            <a:off x="3657600" y="2057400"/>
            <a:ext cx="1562100" cy="761999"/>
          </a:xfrm>
          <a:prstGeom prst="diamond">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500" smtClean="0"/>
              <a:t>Quản lý</a:t>
            </a:r>
            <a:endParaRPr lang="en-US" sz="1500"/>
          </a:p>
        </p:txBody>
      </p:sp>
      <p:cxnSp>
        <p:nvCxnSpPr>
          <p:cNvPr id="21" name="Straight Connector 20"/>
          <p:cNvCxnSpPr>
            <a:stCxn id="18" idx="3"/>
            <a:endCxn id="20" idx="1"/>
          </p:cNvCxnSpPr>
          <p:nvPr/>
        </p:nvCxnSpPr>
        <p:spPr>
          <a:xfrm flipV="1">
            <a:off x="2590800" y="2438400"/>
            <a:ext cx="1066800" cy="1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20" idx="3"/>
            <a:endCxn id="19" idx="1"/>
          </p:cNvCxnSpPr>
          <p:nvPr/>
        </p:nvCxnSpPr>
        <p:spPr>
          <a:xfrm>
            <a:off x="5219700" y="2438400"/>
            <a:ext cx="1104900" cy="1655"/>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2627243" y="2103852"/>
            <a:ext cx="481222" cy="369332"/>
          </a:xfrm>
          <a:prstGeom prst="rect">
            <a:avLst/>
          </a:prstGeom>
          <a:noFill/>
        </p:spPr>
        <p:txBody>
          <a:bodyPr wrap="none" rtlCol="0">
            <a:spAutoFit/>
          </a:bodyPr>
          <a:lstStyle/>
          <a:p>
            <a:r>
              <a:rPr lang="en-US" smtClean="0"/>
              <a:t>1:1</a:t>
            </a:r>
            <a:endParaRPr lang="en-US"/>
          </a:p>
        </p:txBody>
      </p:sp>
      <p:sp>
        <p:nvSpPr>
          <p:cNvPr id="24" name="TextBox 23"/>
          <p:cNvSpPr txBox="1"/>
          <p:nvPr/>
        </p:nvSpPr>
        <p:spPr>
          <a:xfrm>
            <a:off x="5821017" y="2103852"/>
            <a:ext cx="486030" cy="369332"/>
          </a:xfrm>
          <a:prstGeom prst="rect">
            <a:avLst/>
          </a:prstGeom>
          <a:noFill/>
        </p:spPr>
        <p:txBody>
          <a:bodyPr wrap="none" rtlCol="0">
            <a:spAutoFit/>
          </a:bodyPr>
          <a:lstStyle/>
          <a:p>
            <a:r>
              <a:rPr lang="en-US" smtClean="0"/>
              <a:t>1:n</a:t>
            </a:r>
            <a:endParaRPr lang="en-US"/>
          </a:p>
        </p:txBody>
      </p:sp>
      <p:cxnSp>
        <p:nvCxnSpPr>
          <p:cNvPr id="5" name="Straight Connector 4"/>
          <p:cNvCxnSpPr>
            <a:endCxn id="25" idx="1"/>
          </p:cNvCxnSpPr>
          <p:nvPr/>
        </p:nvCxnSpPr>
        <p:spPr>
          <a:xfrm>
            <a:off x="2438400" y="5090056"/>
            <a:ext cx="3886200" cy="0"/>
          </a:xfrm>
          <a:prstGeom prst="line">
            <a:avLst/>
          </a:prstGeom>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2642978" y="4718855"/>
            <a:ext cx="306494" cy="369332"/>
          </a:xfrm>
          <a:prstGeom prst="rect">
            <a:avLst/>
          </a:prstGeom>
          <a:noFill/>
        </p:spPr>
        <p:txBody>
          <a:bodyPr wrap="none" rtlCol="0">
            <a:spAutoFit/>
          </a:bodyPr>
          <a:lstStyle/>
          <a:p>
            <a:r>
              <a:rPr lang="en-US"/>
              <a:t>n</a:t>
            </a:r>
          </a:p>
        </p:txBody>
      </p:sp>
      <p:sp>
        <p:nvSpPr>
          <p:cNvPr id="30" name="TextBox 29"/>
          <p:cNvSpPr txBox="1"/>
          <p:nvPr/>
        </p:nvSpPr>
        <p:spPr>
          <a:xfrm>
            <a:off x="5952182" y="4736068"/>
            <a:ext cx="301686" cy="369332"/>
          </a:xfrm>
          <a:prstGeom prst="rect">
            <a:avLst/>
          </a:prstGeom>
          <a:noFill/>
        </p:spPr>
        <p:txBody>
          <a:bodyPr wrap="none" rtlCol="0">
            <a:spAutoFit/>
          </a:bodyPr>
          <a:lstStyle/>
          <a:p>
            <a:r>
              <a:rPr lang="en-US" smtClean="0"/>
              <a:t>1</a:t>
            </a:r>
            <a:endParaRPr lang="en-US"/>
          </a:p>
        </p:txBody>
      </p:sp>
    </p:spTree>
    <p:extLst>
      <p:ext uri="{BB962C8B-B14F-4D97-AF65-F5344CB8AC3E}">
        <p14:creationId xmlns:p14="http://schemas.microsoft.com/office/powerpoint/2010/main" val="8105024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Chuyển từ mô hình thực thể kết hợp </a:t>
            </a:r>
            <a:br>
              <a:rPr lang="en-US" smtClean="0"/>
            </a:br>
            <a:r>
              <a:rPr lang="en-US" smtClean="0"/>
              <a:t>sang dạng bảng và mô hình quan hệ</a:t>
            </a:r>
            <a:endParaRPr lang="en-US"/>
          </a:p>
        </p:txBody>
      </p:sp>
      <p:sp>
        <p:nvSpPr>
          <p:cNvPr id="3" name="Content Placeholder 2"/>
          <p:cNvSpPr>
            <a:spLocks noGrp="1"/>
          </p:cNvSpPr>
          <p:nvPr>
            <p:ph idx="1"/>
          </p:nvPr>
        </p:nvSpPr>
        <p:spPr>
          <a:xfrm>
            <a:off x="457200" y="1600200"/>
            <a:ext cx="8686800" cy="5257800"/>
          </a:xfrm>
        </p:spPr>
        <p:txBody>
          <a:bodyPr>
            <a:normAutofit/>
          </a:bodyPr>
          <a:lstStyle/>
          <a:p>
            <a:pPr marL="0" indent="0">
              <a:buNone/>
            </a:pPr>
            <a:r>
              <a:rPr lang="en-US" sz="2400" smtClean="0"/>
              <a:t>Với quan hệ n-n</a:t>
            </a:r>
          </a:p>
          <a:p>
            <a:pPr marL="0" indent="0">
              <a:buNone/>
            </a:pPr>
            <a:endParaRPr lang="en-US" sz="2400" smtClean="0"/>
          </a:p>
          <a:p>
            <a:pPr marL="0" indent="0">
              <a:buNone/>
            </a:pPr>
            <a:endParaRPr lang="en-US" sz="2400" smtClean="0"/>
          </a:p>
          <a:p>
            <a:endParaRPr lang="en-US" sz="2400" smtClean="0"/>
          </a:p>
          <a:p>
            <a:endParaRPr lang="en-US" sz="2400" smtClean="0"/>
          </a:p>
          <a:p>
            <a:endParaRPr lang="en-US" sz="2400"/>
          </a:p>
        </p:txBody>
      </p:sp>
      <p:graphicFrame>
        <p:nvGraphicFramePr>
          <p:cNvPr id="11" name="Table 10"/>
          <p:cNvGraphicFramePr>
            <a:graphicFrameLocks noGrp="1"/>
          </p:cNvGraphicFramePr>
          <p:nvPr>
            <p:extLst>
              <p:ext uri="{D42A27DB-BD31-4B8C-83A1-F6EECF244321}">
                <p14:modId xmlns:p14="http://schemas.microsoft.com/office/powerpoint/2010/main" val="2339161490"/>
              </p:ext>
            </p:extLst>
          </p:nvPr>
        </p:nvGraphicFramePr>
        <p:xfrm>
          <a:off x="1295400" y="3276600"/>
          <a:ext cx="1295400" cy="1483360"/>
        </p:xfrm>
        <a:graphic>
          <a:graphicData uri="http://schemas.openxmlformats.org/drawingml/2006/table">
            <a:tbl>
              <a:tblPr firstRow="1" bandRow="1">
                <a:tableStyleId>{5C22544A-7EE6-4342-B048-85BDC9FD1C3A}</a:tableStyleId>
              </a:tblPr>
              <a:tblGrid>
                <a:gridCol w="1295400"/>
              </a:tblGrid>
              <a:tr h="370840">
                <a:tc>
                  <a:txBody>
                    <a:bodyPr/>
                    <a:lstStyle/>
                    <a:p>
                      <a:r>
                        <a:rPr lang="en-US" smtClean="0"/>
                        <a:t>SinhVien</a:t>
                      </a:r>
                      <a:endParaRPr lang="en-US"/>
                    </a:p>
                  </a:txBody>
                  <a:tcPr/>
                </a:tc>
              </a:tr>
              <a:tr h="370840">
                <a:tc>
                  <a:txBody>
                    <a:bodyPr/>
                    <a:lstStyle/>
                    <a:p>
                      <a:r>
                        <a:rPr lang="en-US" b="1" u="sng" smtClean="0"/>
                        <a:t>MaSV</a:t>
                      </a:r>
                      <a:endParaRPr lang="en-US" b="1" u="sng"/>
                    </a:p>
                  </a:txBody>
                  <a:tcPr/>
                </a:tc>
              </a:tr>
              <a:tr h="370840">
                <a:tc>
                  <a:txBody>
                    <a:bodyPr/>
                    <a:lstStyle/>
                    <a:p>
                      <a:r>
                        <a:rPr lang="en-US" smtClean="0"/>
                        <a:t>Ten</a:t>
                      </a:r>
                      <a:endParaRPr lang="en-US"/>
                    </a:p>
                  </a:txBody>
                  <a:tcPr/>
                </a:tc>
              </a:tr>
              <a:tr h="370840">
                <a:tc>
                  <a:txBody>
                    <a:bodyPr/>
                    <a:lstStyle/>
                    <a:p>
                      <a:r>
                        <a:rPr lang="en-US" smtClean="0"/>
                        <a:t>Ngày</a:t>
                      </a:r>
                      <a:r>
                        <a:rPr lang="en-US" baseline="0" smtClean="0"/>
                        <a:t> sinh</a:t>
                      </a:r>
                      <a:endParaRPr lang="en-US"/>
                    </a:p>
                  </a:txBody>
                  <a:tcPr/>
                </a:tc>
              </a:tr>
            </a:tbl>
          </a:graphicData>
        </a:graphic>
      </p:graphicFrame>
      <p:graphicFrame>
        <p:nvGraphicFramePr>
          <p:cNvPr id="25" name="Table 24"/>
          <p:cNvGraphicFramePr>
            <a:graphicFrameLocks noGrp="1"/>
          </p:cNvGraphicFramePr>
          <p:nvPr>
            <p:extLst>
              <p:ext uri="{D42A27DB-BD31-4B8C-83A1-F6EECF244321}">
                <p14:modId xmlns:p14="http://schemas.microsoft.com/office/powerpoint/2010/main" val="2005008601"/>
              </p:ext>
            </p:extLst>
          </p:nvPr>
        </p:nvGraphicFramePr>
        <p:xfrm>
          <a:off x="6535647" y="3352800"/>
          <a:ext cx="1447800" cy="1410363"/>
        </p:xfrm>
        <a:graphic>
          <a:graphicData uri="http://schemas.openxmlformats.org/drawingml/2006/table">
            <a:tbl>
              <a:tblPr firstRow="1" bandRow="1">
                <a:tableStyleId>{5C22544A-7EE6-4342-B048-85BDC9FD1C3A}</a:tableStyleId>
              </a:tblPr>
              <a:tblGrid>
                <a:gridCol w="1447800"/>
              </a:tblGrid>
              <a:tr h="470121">
                <a:tc>
                  <a:txBody>
                    <a:bodyPr/>
                    <a:lstStyle/>
                    <a:p>
                      <a:r>
                        <a:rPr lang="en-US" smtClean="0"/>
                        <a:t>MonHoc</a:t>
                      </a:r>
                      <a:endParaRPr lang="en-US"/>
                    </a:p>
                  </a:txBody>
                  <a:tcPr/>
                </a:tc>
              </a:tr>
              <a:tr h="470121">
                <a:tc>
                  <a:txBody>
                    <a:bodyPr/>
                    <a:lstStyle/>
                    <a:p>
                      <a:r>
                        <a:rPr lang="en-US" b="1" u="sng" smtClean="0"/>
                        <a:t>MaMon</a:t>
                      </a:r>
                      <a:endParaRPr lang="en-US" b="1" u="sng"/>
                    </a:p>
                  </a:txBody>
                  <a:tcPr/>
                </a:tc>
              </a:tr>
              <a:tr h="470121">
                <a:tc>
                  <a:txBody>
                    <a:bodyPr/>
                    <a:lstStyle/>
                    <a:p>
                      <a:r>
                        <a:rPr lang="en-US" b="0" u="none" smtClean="0"/>
                        <a:t>Tên</a:t>
                      </a:r>
                      <a:r>
                        <a:rPr lang="en-US" b="0" u="none" baseline="0" smtClean="0"/>
                        <a:t> môn</a:t>
                      </a:r>
                      <a:endParaRPr lang="en-US" b="0" u="none"/>
                    </a:p>
                  </a:txBody>
                  <a:tcPr/>
                </a:tc>
              </a:tr>
            </a:tbl>
          </a:graphicData>
        </a:graphic>
      </p:graphicFrame>
      <p:sp>
        <p:nvSpPr>
          <p:cNvPr id="30" name="TextBox 29"/>
          <p:cNvSpPr txBox="1"/>
          <p:nvPr/>
        </p:nvSpPr>
        <p:spPr>
          <a:xfrm>
            <a:off x="6194896" y="3810000"/>
            <a:ext cx="301686" cy="369332"/>
          </a:xfrm>
          <a:prstGeom prst="rect">
            <a:avLst/>
          </a:prstGeom>
          <a:noFill/>
        </p:spPr>
        <p:txBody>
          <a:bodyPr wrap="none" rtlCol="0">
            <a:spAutoFit/>
          </a:bodyPr>
          <a:lstStyle/>
          <a:p>
            <a:r>
              <a:rPr lang="en-US" smtClean="0"/>
              <a:t>1</a:t>
            </a:r>
            <a:endParaRPr lang="en-US"/>
          </a:p>
        </p:txBody>
      </p:sp>
      <p:sp>
        <p:nvSpPr>
          <p:cNvPr id="16" name="Rectangle 15"/>
          <p:cNvSpPr/>
          <p:nvPr/>
        </p:nvSpPr>
        <p:spPr>
          <a:xfrm>
            <a:off x="1524000" y="2249556"/>
            <a:ext cx="12954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SinhVien</a:t>
            </a:r>
            <a:endParaRPr lang="en-US"/>
          </a:p>
        </p:txBody>
      </p:sp>
      <p:sp>
        <p:nvSpPr>
          <p:cNvPr id="17" name="Rectangle 16"/>
          <p:cNvSpPr/>
          <p:nvPr/>
        </p:nvSpPr>
        <p:spPr>
          <a:xfrm>
            <a:off x="6553200" y="2249556"/>
            <a:ext cx="12954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MonHoc</a:t>
            </a:r>
            <a:endParaRPr lang="en-US"/>
          </a:p>
        </p:txBody>
      </p:sp>
      <p:sp>
        <p:nvSpPr>
          <p:cNvPr id="26" name="Diamond 25"/>
          <p:cNvSpPr/>
          <p:nvPr/>
        </p:nvSpPr>
        <p:spPr>
          <a:xfrm>
            <a:off x="4076700" y="2057401"/>
            <a:ext cx="1219200" cy="761999"/>
          </a:xfrm>
          <a:prstGeom prst="diamond">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500" smtClean="0"/>
              <a:t>Học và điểm</a:t>
            </a:r>
            <a:endParaRPr lang="en-US" sz="1500"/>
          </a:p>
        </p:txBody>
      </p:sp>
      <p:cxnSp>
        <p:nvCxnSpPr>
          <p:cNvPr id="27" name="Straight Connector 26"/>
          <p:cNvCxnSpPr>
            <a:stCxn id="16" idx="3"/>
            <a:endCxn id="26" idx="1"/>
          </p:cNvCxnSpPr>
          <p:nvPr/>
        </p:nvCxnSpPr>
        <p:spPr>
          <a:xfrm flipV="1">
            <a:off x="2819400" y="2438401"/>
            <a:ext cx="1257300" cy="1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a:stCxn id="26" idx="3"/>
            <a:endCxn id="17" idx="1"/>
          </p:cNvCxnSpPr>
          <p:nvPr/>
        </p:nvCxnSpPr>
        <p:spPr>
          <a:xfrm>
            <a:off x="5295900" y="2438401"/>
            <a:ext cx="1257300" cy="1655"/>
          </a:xfrm>
          <a:prstGeom prst="line">
            <a:avLst/>
          </a:prstGeom>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2855843" y="2103853"/>
            <a:ext cx="486030" cy="369332"/>
          </a:xfrm>
          <a:prstGeom prst="rect">
            <a:avLst/>
          </a:prstGeom>
          <a:noFill/>
        </p:spPr>
        <p:txBody>
          <a:bodyPr wrap="none" rtlCol="0">
            <a:spAutoFit/>
          </a:bodyPr>
          <a:lstStyle/>
          <a:p>
            <a:r>
              <a:rPr lang="en-US" smtClean="0"/>
              <a:t>1:n</a:t>
            </a:r>
            <a:endParaRPr lang="en-US"/>
          </a:p>
        </p:txBody>
      </p:sp>
      <p:sp>
        <p:nvSpPr>
          <p:cNvPr id="32" name="TextBox 31"/>
          <p:cNvSpPr txBox="1"/>
          <p:nvPr/>
        </p:nvSpPr>
        <p:spPr>
          <a:xfrm>
            <a:off x="6049617" y="2103853"/>
            <a:ext cx="486030" cy="369332"/>
          </a:xfrm>
          <a:prstGeom prst="rect">
            <a:avLst/>
          </a:prstGeom>
          <a:noFill/>
        </p:spPr>
        <p:txBody>
          <a:bodyPr wrap="none" rtlCol="0">
            <a:spAutoFit/>
          </a:bodyPr>
          <a:lstStyle/>
          <a:p>
            <a:r>
              <a:rPr lang="en-US"/>
              <a:t>0</a:t>
            </a:r>
            <a:r>
              <a:rPr lang="en-US" smtClean="0"/>
              <a:t>:n</a:t>
            </a:r>
            <a:endParaRPr lang="en-US"/>
          </a:p>
        </p:txBody>
      </p:sp>
      <p:sp>
        <p:nvSpPr>
          <p:cNvPr id="33" name="Rectangle 32"/>
          <p:cNvSpPr/>
          <p:nvPr/>
        </p:nvSpPr>
        <p:spPr>
          <a:xfrm>
            <a:off x="4076700" y="2057401"/>
            <a:ext cx="1219200" cy="761999"/>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graphicFrame>
        <p:nvGraphicFramePr>
          <p:cNvPr id="34" name="Table 33"/>
          <p:cNvGraphicFramePr>
            <a:graphicFrameLocks noGrp="1"/>
          </p:cNvGraphicFramePr>
          <p:nvPr>
            <p:extLst>
              <p:ext uri="{D42A27DB-BD31-4B8C-83A1-F6EECF244321}">
                <p14:modId xmlns:p14="http://schemas.microsoft.com/office/powerpoint/2010/main" val="1347627977"/>
              </p:ext>
            </p:extLst>
          </p:nvPr>
        </p:nvGraphicFramePr>
        <p:xfrm>
          <a:off x="3962400" y="3810000"/>
          <a:ext cx="1219200" cy="1880484"/>
        </p:xfrm>
        <a:graphic>
          <a:graphicData uri="http://schemas.openxmlformats.org/drawingml/2006/table">
            <a:tbl>
              <a:tblPr firstRow="1" bandRow="1">
                <a:tableStyleId>{5C22544A-7EE6-4342-B048-85BDC9FD1C3A}</a:tableStyleId>
              </a:tblPr>
              <a:tblGrid>
                <a:gridCol w="1219200"/>
              </a:tblGrid>
              <a:tr h="470121">
                <a:tc>
                  <a:txBody>
                    <a:bodyPr/>
                    <a:lstStyle/>
                    <a:p>
                      <a:r>
                        <a:rPr lang="en-US" smtClean="0"/>
                        <a:t>DiemHoc</a:t>
                      </a:r>
                      <a:endParaRPr lang="en-US"/>
                    </a:p>
                  </a:txBody>
                  <a:tcPr/>
                </a:tc>
              </a:tr>
              <a:tr h="470121">
                <a:tc>
                  <a:txBody>
                    <a:bodyPr/>
                    <a:lstStyle/>
                    <a:p>
                      <a:r>
                        <a:rPr lang="en-US" b="1" u="sng" smtClean="0"/>
                        <a:t>MaMon</a:t>
                      </a:r>
                      <a:endParaRPr lang="en-US" b="1" u="sng"/>
                    </a:p>
                  </a:txBody>
                  <a:tcPr/>
                </a:tc>
              </a:tr>
              <a:tr h="470121">
                <a:tc>
                  <a:txBody>
                    <a:bodyPr/>
                    <a:lstStyle/>
                    <a:p>
                      <a:r>
                        <a:rPr lang="en-US" b="1" u="sng" smtClean="0"/>
                        <a:t>MaSV</a:t>
                      </a:r>
                      <a:endParaRPr lang="en-US" b="1" u="sng"/>
                    </a:p>
                  </a:txBody>
                  <a:tcPr/>
                </a:tc>
              </a:tr>
              <a:tr h="470121">
                <a:tc>
                  <a:txBody>
                    <a:bodyPr/>
                    <a:lstStyle/>
                    <a:p>
                      <a:r>
                        <a:rPr lang="en-US" b="0" u="none" smtClean="0"/>
                        <a:t>Diem</a:t>
                      </a:r>
                      <a:endParaRPr lang="en-US" b="0" u="none"/>
                    </a:p>
                  </a:txBody>
                  <a:tcPr/>
                </a:tc>
              </a:tr>
            </a:tbl>
          </a:graphicData>
        </a:graphic>
      </p:graphicFrame>
      <p:cxnSp>
        <p:nvCxnSpPr>
          <p:cNvPr id="6" name="Straight Connector 5"/>
          <p:cNvCxnSpPr/>
          <p:nvPr/>
        </p:nvCxnSpPr>
        <p:spPr>
          <a:xfrm flipH="1">
            <a:off x="5105400" y="4038600"/>
            <a:ext cx="1447800" cy="457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362200" y="3810000"/>
            <a:ext cx="1714500" cy="1143000"/>
          </a:xfrm>
          <a:prstGeom prst="line">
            <a:avLst/>
          </a:prstGeom>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5178033" y="4384300"/>
            <a:ext cx="306494" cy="369332"/>
          </a:xfrm>
          <a:prstGeom prst="rect">
            <a:avLst/>
          </a:prstGeom>
          <a:noFill/>
        </p:spPr>
        <p:txBody>
          <a:bodyPr wrap="none" rtlCol="0">
            <a:spAutoFit/>
          </a:bodyPr>
          <a:lstStyle/>
          <a:p>
            <a:r>
              <a:rPr lang="en-US"/>
              <a:t>n</a:t>
            </a:r>
          </a:p>
        </p:txBody>
      </p:sp>
      <p:sp>
        <p:nvSpPr>
          <p:cNvPr id="36" name="TextBox 35"/>
          <p:cNvSpPr txBox="1"/>
          <p:nvPr/>
        </p:nvSpPr>
        <p:spPr>
          <a:xfrm>
            <a:off x="2626790" y="3669268"/>
            <a:ext cx="301686" cy="369332"/>
          </a:xfrm>
          <a:prstGeom prst="rect">
            <a:avLst/>
          </a:prstGeom>
          <a:noFill/>
        </p:spPr>
        <p:txBody>
          <a:bodyPr wrap="none" rtlCol="0">
            <a:spAutoFit/>
          </a:bodyPr>
          <a:lstStyle/>
          <a:p>
            <a:r>
              <a:rPr lang="en-US" smtClean="0"/>
              <a:t>1</a:t>
            </a:r>
            <a:endParaRPr lang="en-US"/>
          </a:p>
        </p:txBody>
      </p:sp>
      <p:sp>
        <p:nvSpPr>
          <p:cNvPr id="37" name="TextBox 36"/>
          <p:cNvSpPr txBox="1"/>
          <p:nvPr/>
        </p:nvSpPr>
        <p:spPr>
          <a:xfrm>
            <a:off x="3581400" y="4768334"/>
            <a:ext cx="306494" cy="369332"/>
          </a:xfrm>
          <a:prstGeom prst="rect">
            <a:avLst/>
          </a:prstGeom>
          <a:noFill/>
        </p:spPr>
        <p:txBody>
          <a:bodyPr wrap="none" rtlCol="0">
            <a:spAutoFit/>
          </a:bodyPr>
          <a:lstStyle/>
          <a:p>
            <a:r>
              <a:rPr lang="en-US"/>
              <a:t>n</a:t>
            </a:r>
          </a:p>
        </p:txBody>
      </p:sp>
    </p:spTree>
    <p:extLst>
      <p:ext uri="{BB962C8B-B14F-4D97-AF65-F5344CB8AC3E}">
        <p14:creationId xmlns:p14="http://schemas.microsoft.com/office/powerpoint/2010/main" val="23863246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Chuyển từ mô hình thực thể kết hợp </a:t>
            </a:r>
            <a:br>
              <a:rPr lang="en-US" smtClean="0"/>
            </a:br>
            <a:r>
              <a:rPr lang="en-US" smtClean="0"/>
              <a:t>sang dạng bảng và mô hình quan hệ</a:t>
            </a:r>
            <a:endParaRPr lang="en-US"/>
          </a:p>
        </p:txBody>
      </p:sp>
      <p:sp>
        <p:nvSpPr>
          <p:cNvPr id="3" name="Content Placeholder 2"/>
          <p:cNvSpPr>
            <a:spLocks noGrp="1"/>
          </p:cNvSpPr>
          <p:nvPr>
            <p:ph idx="1"/>
          </p:nvPr>
        </p:nvSpPr>
        <p:spPr>
          <a:xfrm>
            <a:off x="457200" y="1600200"/>
            <a:ext cx="8686800" cy="5257800"/>
          </a:xfrm>
        </p:spPr>
        <p:txBody>
          <a:bodyPr>
            <a:normAutofit/>
          </a:bodyPr>
          <a:lstStyle/>
          <a:p>
            <a:pPr marL="0" indent="0">
              <a:buNone/>
            </a:pPr>
            <a:r>
              <a:rPr lang="en-US" sz="2400" smtClean="0"/>
              <a:t>Với quan hệ đệ quy</a:t>
            </a:r>
          </a:p>
          <a:p>
            <a:pPr marL="0" indent="0">
              <a:buNone/>
            </a:pPr>
            <a:endParaRPr lang="en-US" sz="2400" smtClean="0"/>
          </a:p>
          <a:p>
            <a:endParaRPr lang="en-US" sz="2400" smtClean="0"/>
          </a:p>
          <a:p>
            <a:endParaRPr lang="en-US" sz="2400" smtClean="0"/>
          </a:p>
          <a:p>
            <a:endParaRPr lang="en-US" sz="2400"/>
          </a:p>
        </p:txBody>
      </p:sp>
      <p:graphicFrame>
        <p:nvGraphicFramePr>
          <p:cNvPr id="11" name="Table 10"/>
          <p:cNvGraphicFramePr>
            <a:graphicFrameLocks noGrp="1"/>
          </p:cNvGraphicFramePr>
          <p:nvPr>
            <p:extLst>
              <p:ext uri="{D42A27DB-BD31-4B8C-83A1-F6EECF244321}">
                <p14:modId xmlns:p14="http://schemas.microsoft.com/office/powerpoint/2010/main" val="3318418555"/>
              </p:ext>
            </p:extLst>
          </p:nvPr>
        </p:nvGraphicFramePr>
        <p:xfrm>
          <a:off x="5334000" y="1991360"/>
          <a:ext cx="1295400" cy="2123440"/>
        </p:xfrm>
        <a:graphic>
          <a:graphicData uri="http://schemas.openxmlformats.org/drawingml/2006/table">
            <a:tbl>
              <a:tblPr firstRow="1" bandRow="1">
                <a:tableStyleId>{5C22544A-7EE6-4342-B048-85BDC9FD1C3A}</a:tableStyleId>
              </a:tblPr>
              <a:tblGrid>
                <a:gridCol w="1295400"/>
              </a:tblGrid>
              <a:tr h="370840">
                <a:tc>
                  <a:txBody>
                    <a:bodyPr/>
                    <a:lstStyle/>
                    <a:p>
                      <a:r>
                        <a:rPr lang="en-US" smtClean="0"/>
                        <a:t>NhanVien</a:t>
                      </a:r>
                      <a:endParaRPr lang="en-US"/>
                    </a:p>
                  </a:txBody>
                  <a:tcPr/>
                </a:tc>
              </a:tr>
              <a:tr h="370840">
                <a:tc>
                  <a:txBody>
                    <a:bodyPr/>
                    <a:lstStyle/>
                    <a:p>
                      <a:r>
                        <a:rPr lang="en-US" b="1" u="sng" smtClean="0"/>
                        <a:t>MaNV</a:t>
                      </a:r>
                      <a:endParaRPr lang="en-US" b="1" u="sng"/>
                    </a:p>
                  </a:txBody>
                  <a:tcPr/>
                </a:tc>
              </a:tr>
              <a:tr h="370840">
                <a:tc>
                  <a:txBody>
                    <a:bodyPr/>
                    <a:lstStyle/>
                    <a:p>
                      <a:r>
                        <a:rPr lang="en-US" smtClean="0"/>
                        <a:t>Ten</a:t>
                      </a:r>
                      <a:endParaRPr lang="en-US"/>
                    </a:p>
                  </a:txBody>
                  <a:tcPr/>
                </a:tc>
              </a:tr>
              <a:tr h="370840">
                <a:tc>
                  <a:txBody>
                    <a:bodyPr/>
                    <a:lstStyle/>
                    <a:p>
                      <a:r>
                        <a:rPr lang="en-US" smtClean="0"/>
                        <a:t>Ngày</a:t>
                      </a:r>
                      <a:r>
                        <a:rPr lang="en-US" baseline="0" smtClean="0"/>
                        <a:t> sinh</a:t>
                      </a:r>
                      <a:endParaRPr lang="en-US"/>
                    </a:p>
                  </a:txBody>
                  <a:tcPr/>
                </a:tc>
              </a:tr>
              <a:tr h="370840">
                <a:tc>
                  <a:txBody>
                    <a:bodyPr/>
                    <a:lstStyle/>
                    <a:p>
                      <a:r>
                        <a:rPr lang="en-US" smtClean="0"/>
                        <a:t>MaNV</a:t>
                      </a:r>
                    </a:p>
                    <a:p>
                      <a:r>
                        <a:rPr lang="en-US" smtClean="0"/>
                        <a:t>CapTren</a:t>
                      </a:r>
                      <a:endParaRPr lang="en-US"/>
                    </a:p>
                  </a:txBody>
                  <a:tcPr/>
                </a:tc>
              </a:tr>
            </a:tbl>
          </a:graphicData>
        </a:graphic>
      </p:graphicFrame>
      <p:sp>
        <p:nvSpPr>
          <p:cNvPr id="16" name="Rectangle 15"/>
          <p:cNvSpPr/>
          <p:nvPr/>
        </p:nvSpPr>
        <p:spPr>
          <a:xfrm>
            <a:off x="990600" y="2837960"/>
            <a:ext cx="12954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NhanVien</a:t>
            </a:r>
            <a:endParaRPr lang="en-US"/>
          </a:p>
        </p:txBody>
      </p:sp>
      <p:sp>
        <p:nvSpPr>
          <p:cNvPr id="37" name="TextBox 36"/>
          <p:cNvSpPr txBox="1"/>
          <p:nvPr/>
        </p:nvSpPr>
        <p:spPr>
          <a:xfrm>
            <a:off x="6678722" y="3622706"/>
            <a:ext cx="306494" cy="369332"/>
          </a:xfrm>
          <a:prstGeom prst="rect">
            <a:avLst/>
          </a:prstGeom>
          <a:noFill/>
        </p:spPr>
        <p:txBody>
          <a:bodyPr wrap="none" rtlCol="0">
            <a:spAutoFit/>
          </a:bodyPr>
          <a:lstStyle/>
          <a:p>
            <a:r>
              <a:rPr lang="en-US"/>
              <a:t>n</a:t>
            </a:r>
          </a:p>
        </p:txBody>
      </p:sp>
      <p:sp>
        <p:nvSpPr>
          <p:cNvPr id="5" name="Diamond 4"/>
          <p:cNvSpPr/>
          <p:nvPr/>
        </p:nvSpPr>
        <p:spPr>
          <a:xfrm>
            <a:off x="2895096" y="2536233"/>
            <a:ext cx="1219704" cy="1066800"/>
          </a:xfrm>
          <a:prstGeom prst="diamond">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Cấp trên</a:t>
            </a:r>
            <a:endParaRPr lang="en-US"/>
          </a:p>
        </p:txBody>
      </p:sp>
      <p:sp>
        <p:nvSpPr>
          <p:cNvPr id="7" name="Freeform 6"/>
          <p:cNvSpPr/>
          <p:nvPr/>
        </p:nvSpPr>
        <p:spPr>
          <a:xfrm>
            <a:off x="1678329" y="3210458"/>
            <a:ext cx="1562582" cy="673517"/>
          </a:xfrm>
          <a:custGeom>
            <a:avLst/>
            <a:gdLst>
              <a:gd name="connsiteX0" fmla="*/ 0 w 1562582"/>
              <a:gd name="connsiteY0" fmla="*/ 0 h 673517"/>
              <a:gd name="connsiteX1" fmla="*/ 821803 w 1562582"/>
              <a:gd name="connsiteY1" fmla="*/ 671332 h 673517"/>
              <a:gd name="connsiteX2" fmla="*/ 1562582 w 1562582"/>
              <a:gd name="connsiteY2" fmla="*/ 173621 h 673517"/>
            </a:gdLst>
            <a:ahLst/>
            <a:cxnLst>
              <a:cxn ang="0">
                <a:pos x="connsiteX0" y="connsiteY0"/>
              </a:cxn>
              <a:cxn ang="0">
                <a:pos x="connsiteX1" y="connsiteY1"/>
              </a:cxn>
              <a:cxn ang="0">
                <a:pos x="connsiteX2" y="connsiteY2"/>
              </a:cxn>
            </a:cxnLst>
            <a:rect l="l" t="t" r="r" b="b"/>
            <a:pathLst>
              <a:path w="1562582" h="673517">
                <a:moveTo>
                  <a:pt x="0" y="0"/>
                </a:moveTo>
                <a:cubicBezTo>
                  <a:pt x="280686" y="321197"/>
                  <a:pt x="561373" y="642395"/>
                  <a:pt x="821803" y="671332"/>
                </a:cubicBezTo>
                <a:cubicBezTo>
                  <a:pt x="1082233" y="700269"/>
                  <a:pt x="1322407" y="436945"/>
                  <a:pt x="1562582" y="1736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a:off x="1481559" y="2133600"/>
            <a:ext cx="1747778" cy="706468"/>
          </a:xfrm>
          <a:custGeom>
            <a:avLst/>
            <a:gdLst>
              <a:gd name="connsiteX0" fmla="*/ 1747778 w 1747778"/>
              <a:gd name="connsiteY0" fmla="*/ 625446 h 706468"/>
              <a:gd name="connsiteX1" fmla="*/ 902826 w 1747778"/>
              <a:gd name="connsiteY1" fmla="*/ 413 h 706468"/>
              <a:gd name="connsiteX2" fmla="*/ 0 w 1747778"/>
              <a:gd name="connsiteY2" fmla="*/ 706468 h 706468"/>
            </a:gdLst>
            <a:ahLst/>
            <a:cxnLst>
              <a:cxn ang="0">
                <a:pos x="connsiteX0" y="connsiteY0"/>
              </a:cxn>
              <a:cxn ang="0">
                <a:pos x="connsiteX1" y="connsiteY1"/>
              </a:cxn>
              <a:cxn ang="0">
                <a:pos x="connsiteX2" y="connsiteY2"/>
              </a:cxn>
            </a:cxnLst>
            <a:rect l="l" t="t" r="r" b="b"/>
            <a:pathLst>
              <a:path w="1747778" h="706468">
                <a:moveTo>
                  <a:pt x="1747778" y="625446"/>
                </a:moveTo>
                <a:cubicBezTo>
                  <a:pt x="1470950" y="306177"/>
                  <a:pt x="1194122" y="-13091"/>
                  <a:pt x="902826" y="413"/>
                </a:cubicBezTo>
                <a:cubicBezTo>
                  <a:pt x="611530" y="13917"/>
                  <a:pt x="305765" y="360192"/>
                  <a:pt x="0" y="70646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p:cNvSpPr txBox="1"/>
          <p:nvPr/>
        </p:nvSpPr>
        <p:spPr>
          <a:xfrm>
            <a:off x="1364894" y="3271439"/>
            <a:ext cx="481222" cy="369332"/>
          </a:xfrm>
          <a:prstGeom prst="rect">
            <a:avLst/>
          </a:prstGeom>
          <a:noFill/>
        </p:spPr>
        <p:txBody>
          <a:bodyPr wrap="none" rtlCol="0">
            <a:spAutoFit/>
          </a:bodyPr>
          <a:lstStyle/>
          <a:p>
            <a:r>
              <a:rPr lang="en-US" smtClean="0"/>
              <a:t>1:1</a:t>
            </a:r>
            <a:endParaRPr lang="en-US"/>
          </a:p>
        </p:txBody>
      </p:sp>
      <p:sp>
        <p:nvSpPr>
          <p:cNvPr id="38" name="TextBox 37"/>
          <p:cNvSpPr txBox="1"/>
          <p:nvPr/>
        </p:nvSpPr>
        <p:spPr>
          <a:xfrm>
            <a:off x="1240948" y="2302168"/>
            <a:ext cx="486030" cy="369332"/>
          </a:xfrm>
          <a:prstGeom prst="rect">
            <a:avLst/>
          </a:prstGeom>
          <a:noFill/>
        </p:spPr>
        <p:txBody>
          <a:bodyPr wrap="none" rtlCol="0">
            <a:spAutoFit/>
          </a:bodyPr>
          <a:lstStyle/>
          <a:p>
            <a:r>
              <a:rPr lang="en-US" smtClean="0"/>
              <a:t>1:n</a:t>
            </a:r>
            <a:endParaRPr lang="en-US"/>
          </a:p>
        </p:txBody>
      </p:sp>
      <p:sp>
        <p:nvSpPr>
          <p:cNvPr id="10" name="Freeform 9"/>
          <p:cNvSpPr/>
          <p:nvPr/>
        </p:nvSpPr>
        <p:spPr>
          <a:xfrm>
            <a:off x="6456744" y="2545731"/>
            <a:ext cx="1203792" cy="1261641"/>
          </a:xfrm>
          <a:custGeom>
            <a:avLst/>
            <a:gdLst>
              <a:gd name="connsiteX0" fmla="*/ 0 w 1203792"/>
              <a:gd name="connsiteY0" fmla="*/ 1261641 h 1261641"/>
              <a:gd name="connsiteX1" fmla="*/ 1203767 w 1203792"/>
              <a:gd name="connsiteY1" fmla="*/ 636608 h 1261641"/>
              <a:gd name="connsiteX2" fmla="*/ 34724 w 1203792"/>
              <a:gd name="connsiteY2" fmla="*/ 0 h 1261641"/>
            </a:gdLst>
            <a:ahLst/>
            <a:cxnLst>
              <a:cxn ang="0">
                <a:pos x="connsiteX0" y="connsiteY0"/>
              </a:cxn>
              <a:cxn ang="0">
                <a:pos x="connsiteX1" y="connsiteY1"/>
              </a:cxn>
              <a:cxn ang="0">
                <a:pos x="connsiteX2" y="connsiteY2"/>
              </a:cxn>
            </a:cxnLst>
            <a:rect l="l" t="t" r="r" b="b"/>
            <a:pathLst>
              <a:path w="1203792" h="1261641">
                <a:moveTo>
                  <a:pt x="0" y="1261641"/>
                </a:moveTo>
                <a:cubicBezTo>
                  <a:pt x="598990" y="1054261"/>
                  <a:pt x="1197980" y="846881"/>
                  <a:pt x="1203767" y="636608"/>
                </a:cubicBezTo>
                <a:cubicBezTo>
                  <a:pt x="1209554" y="426334"/>
                  <a:pt x="221848" y="98385"/>
                  <a:pt x="34724"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p:cNvSpPr txBox="1"/>
          <p:nvPr/>
        </p:nvSpPr>
        <p:spPr>
          <a:xfrm>
            <a:off x="6693073" y="2347561"/>
            <a:ext cx="301686" cy="369332"/>
          </a:xfrm>
          <a:prstGeom prst="rect">
            <a:avLst/>
          </a:prstGeom>
          <a:noFill/>
        </p:spPr>
        <p:txBody>
          <a:bodyPr wrap="none" rtlCol="0">
            <a:spAutoFit/>
          </a:bodyPr>
          <a:lstStyle/>
          <a:p>
            <a:r>
              <a:rPr lang="en-US" smtClean="0"/>
              <a:t>1</a:t>
            </a:r>
            <a:endParaRPr lang="en-US"/>
          </a:p>
        </p:txBody>
      </p:sp>
      <p:graphicFrame>
        <p:nvGraphicFramePr>
          <p:cNvPr id="40" name="Table 39"/>
          <p:cNvGraphicFramePr>
            <a:graphicFrameLocks noGrp="1"/>
          </p:cNvGraphicFramePr>
          <p:nvPr>
            <p:extLst>
              <p:ext uri="{D42A27DB-BD31-4B8C-83A1-F6EECF244321}">
                <p14:modId xmlns:p14="http://schemas.microsoft.com/office/powerpoint/2010/main" val="1506458842"/>
              </p:ext>
            </p:extLst>
          </p:nvPr>
        </p:nvGraphicFramePr>
        <p:xfrm>
          <a:off x="593248" y="4450788"/>
          <a:ext cx="1295400" cy="2123440"/>
        </p:xfrm>
        <a:graphic>
          <a:graphicData uri="http://schemas.openxmlformats.org/drawingml/2006/table">
            <a:tbl>
              <a:tblPr firstRow="1" bandRow="1">
                <a:tableStyleId>{5C22544A-7EE6-4342-B048-85BDC9FD1C3A}</a:tableStyleId>
              </a:tblPr>
              <a:tblGrid>
                <a:gridCol w="1295400"/>
              </a:tblGrid>
              <a:tr h="370840">
                <a:tc>
                  <a:txBody>
                    <a:bodyPr/>
                    <a:lstStyle/>
                    <a:p>
                      <a:r>
                        <a:rPr lang="en-US" smtClean="0"/>
                        <a:t>NhanVien</a:t>
                      </a:r>
                      <a:endParaRPr lang="en-US"/>
                    </a:p>
                  </a:txBody>
                  <a:tcPr/>
                </a:tc>
              </a:tr>
              <a:tr h="370840">
                <a:tc>
                  <a:txBody>
                    <a:bodyPr/>
                    <a:lstStyle/>
                    <a:p>
                      <a:r>
                        <a:rPr lang="en-US" b="1" u="sng" smtClean="0"/>
                        <a:t>MaNV</a:t>
                      </a:r>
                      <a:endParaRPr lang="en-US" b="1" u="sng"/>
                    </a:p>
                  </a:txBody>
                  <a:tcPr/>
                </a:tc>
              </a:tr>
              <a:tr h="370840">
                <a:tc>
                  <a:txBody>
                    <a:bodyPr/>
                    <a:lstStyle/>
                    <a:p>
                      <a:r>
                        <a:rPr lang="en-US" smtClean="0"/>
                        <a:t>Ten</a:t>
                      </a:r>
                      <a:endParaRPr lang="en-US"/>
                    </a:p>
                  </a:txBody>
                  <a:tcPr/>
                </a:tc>
              </a:tr>
              <a:tr h="370840">
                <a:tc>
                  <a:txBody>
                    <a:bodyPr/>
                    <a:lstStyle/>
                    <a:p>
                      <a:r>
                        <a:rPr lang="en-US" smtClean="0"/>
                        <a:t>Ngày</a:t>
                      </a:r>
                      <a:r>
                        <a:rPr lang="en-US" baseline="0" smtClean="0"/>
                        <a:t> sinh</a:t>
                      </a:r>
                      <a:endParaRPr lang="en-US"/>
                    </a:p>
                  </a:txBody>
                  <a:tcPr/>
                </a:tc>
              </a:tr>
              <a:tr h="370840">
                <a:tc>
                  <a:txBody>
                    <a:bodyPr/>
                    <a:lstStyle/>
                    <a:p>
                      <a:r>
                        <a:rPr lang="en-US" smtClean="0"/>
                        <a:t>MaNV</a:t>
                      </a:r>
                    </a:p>
                    <a:p>
                      <a:r>
                        <a:rPr lang="en-US" smtClean="0"/>
                        <a:t>CapTren</a:t>
                      </a:r>
                      <a:endParaRPr lang="en-US"/>
                    </a:p>
                  </a:txBody>
                  <a:tcPr/>
                </a:tc>
              </a:tr>
            </a:tbl>
          </a:graphicData>
        </a:graphic>
      </p:graphicFrame>
      <p:graphicFrame>
        <p:nvGraphicFramePr>
          <p:cNvPr id="41" name="Table 40"/>
          <p:cNvGraphicFramePr>
            <a:graphicFrameLocks noGrp="1"/>
          </p:cNvGraphicFramePr>
          <p:nvPr>
            <p:extLst>
              <p:ext uri="{D42A27DB-BD31-4B8C-83A1-F6EECF244321}">
                <p14:modId xmlns:p14="http://schemas.microsoft.com/office/powerpoint/2010/main" val="2208299883"/>
              </p:ext>
            </p:extLst>
          </p:nvPr>
        </p:nvGraphicFramePr>
        <p:xfrm>
          <a:off x="3490250" y="4437925"/>
          <a:ext cx="2476500" cy="2123440"/>
        </p:xfrm>
        <a:graphic>
          <a:graphicData uri="http://schemas.openxmlformats.org/drawingml/2006/table">
            <a:tbl>
              <a:tblPr firstRow="1" bandRow="1">
                <a:tableStyleId>{5C22544A-7EE6-4342-B048-85BDC9FD1C3A}</a:tableStyleId>
              </a:tblPr>
              <a:tblGrid>
                <a:gridCol w="2476500"/>
              </a:tblGrid>
              <a:tr h="370840">
                <a:tc>
                  <a:txBody>
                    <a:bodyPr/>
                    <a:lstStyle/>
                    <a:p>
                      <a:r>
                        <a:rPr lang="en-US" smtClean="0"/>
                        <a:t>NhanVien</a:t>
                      </a:r>
                      <a:r>
                        <a:rPr lang="en-US" baseline="0" smtClean="0"/>
                        <a:t> (As CapTren)</a:t>
                      </a:r>
                      <a:endParaRPr lang="en-US"/>
                    </a:p>
                  </a:txBody>
                  <a:tcPr/>
                </a:tc>
              </a:tr>
              <a:tr h="370840">
                <a:tc>
                  <a:txBody>
                    <a:bodyPr/>
                    <a:lstStyle/>
                    <a:p>
                      <a:r>
                        <a:rPr lang="en-US" b="1" u="sng" smtClean="0"/>
                        <a:t>MaNV</a:t>
                      </a:r>
                      <a:endParaRPr lang="en-US" b="1" u="sng"/>
                    </a:p>
                  </a:txBody>
                  <a:tcPr/>
                </a:tc>
              </a:tr>
              <a:tr h="370840">
                <a:tc>
                  <a:txBody>
                    <a:bodyPr/>
                    <a:lstStyle/>
                    <a:p>
                      <a:r>
                        <a:rPr lang="en-US" smtClean="0"/>
                        <a:t>Ten</a:t>
                      </a:r>
                      <a:endParaRPr lang="en-US"/>
                    </a:p>
                  </a:txBody>
                  <a:tcPr/>
                </a:tc>
              </a:tr>
              <a:tr h="370840">
                <a:tc>
                  <a:txBody>
                    <a:bodyPr/>
                    <a:lstStyle/>
                    <a:p>
                      <a:r>
                        <a:rPr lang="en-US" smtClean="0"/>
                        <a:t>Ngày</a:t>
                      </a:r>
                      <a:r>
                        <a:rPr lang="en-US" baseline="0" smtClean="0"/>
                        <a:t> sinh</a:t>
                      </a:r>
                      <a:endParaRPr lang="en-US"/>
                    </a:p>
                  </a:txBody>
                  <a:tcPr/>
                </a:tc>
              </a:tr>
              <a:tr h="370840">
                <a:tc>
                  <a:txBody>
                    <a:bodyPr/>
                    <a:lstStyle/>
                    <a:p>
                      <a:r>
                        <a:rPr lang="en-US" smtClean="0"/>
                        <a:t>MaNV</a:t>
                      </a:r>
                    </a:p>
                    <a:p>
                      <a:r>
                        <a:rPr lang="en-US" smtClean="0"/>
                        <a:t>CapTren</a:t>
                      </a:r>
                      <a:endParaRPr lang="en-US"/>
                    </a:p>
                  </a:txBody>
                  <a:tcPr/>
                </a:tc>
              </a:tr>
            </a:tbl>
          </a:graphicData>
        </a:graphic>
      </p:graphicFrame>
      <p:cxnSp>
        <p:nvCxnSpPr>
          <p:cNvPr id="13" name="Straight Connector 12"/>
          <p:cNvCxnSpPr/>
          <p:nvPr/>
        </p:nvCxnSpPr>
        <p:spPr>
          <a:xfrm flipH="1">
            <a:off x="1726978" y="5029200"/>
            <a:ext cx="1777970" cy="1219200"/>
          </a:xfrm>
          <a:prstGeom prst="line">
            <a:avLst/>
          </a:prstGeom>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3203262" y="4800600"/>
            <a:ext cx="301686" cy="369332"/>
          </a:xfrm>
          <a:prstGeom prst="rect">
            <a:avLst/>
          </a:prstGeom>
          <a:noFill/>
        </p:spPr>
        <p:txBody>
          <a:bodyPr wrap="none" rtlCol="0">
            <a:spAutoFit/>
          </a:bodyPr>
          <a:lstStyle/>
          <a:p>
            <a:r>
              <a:rPr lang="en-US" smtClean="0"/>
              <a:t>1</a:t>
            </a:r>
            <a:endParaRPr lang="en-US"/>
          </a:p>
        </p:txBody>
      </p:sp>
      <p:sp>
        <p:nvSpPr>
          <p:cNvPr id="43" name="TextBox 42"/>
          <p:cNvSpPr txBox="1"/>
          <p:nvPr/>
        </p:nvSpPr>
        <p:spPr>
          <a:xfrm>
            <a:off x="1846116" y="6063734"/>
            <a:ext cx="306494" cy="369332"/>
          </a:xfrm>
          <a:prstGeom prst="rect">
            <a:avLst/>
          </a:prstGeom>
          <a:noFill/>
        </p:spPr>
        <p:txBody>
          <a:bodyPr wrap="none" rtlCol="0">
            <a:spAutoFit/>
          </a:bodyPr>
          <a:lstStyle/>
          <a:p>
            <a:r>
              <a:rPr lang="en-US"/>
              <a:t>n</a:t>
            </a:r>
          </a:p>
        </p:txBody>
      </p:sp>
    </p:spTree>
    <p:extLst>
      <p:ext uri="{BB962C8B-B14F-4D97-AF65-F5344CB8AC3E}">
        <p14:creationId xmlns:p14="http://schemas.microsoft.com/office/powerpoint/2010/main" val="22797449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Xác định các phụ thuộc hàm </a:t>
            </a:r>
            <a:br>
              <a:rPr lang="en-US" smtClean="0"/>
            </a:br>
            <a:r>
              <a:rPr lang="en-US" smtClean="0"/>
              <a:t>cảm biến từ mối quan hệ thực thể</a:t>
            </a:r>
            <a:endParaRPr lang="en-US"/>
          </a:p>
        </p:txBody>
      </p:sp>
      <p:sp>
        <p:nvSpPr>
          <p:cNvPr id="3" name="Content Placeholder 2"/>
          <p:cNvSpPr>
            <a:spLocks noGrp="1"/>
          </p:cNvSpPr>
          <p:nvPr>
            <p:ph idx="1"/>
          </p:nvPr>
        </p:nvSpPr>
        <p:spPr/>
        <p:txBody>
          <a:bodyPr/>
          <a:lstStyle/>
          <a:p>
            <a:pPr marL="0" indent="0">
              <a:buNone/>
            </a:pPr>
            <a:r>
              <a:rPr lang="en-US" smtClean="0"/>
              <a:t>Phụ thuộc hàm sinh từ khóa</a:t>
            </a:r>
            <a:endParaRPr lang="en-US"/>
          </a:p>
          <a:p>
            <a:pPr marL="0" indent="0">
              <a:buNone/>
            </a:pPr>
            <a:r>
              <a:rPr lang="en-US" smtClean="0"/>
              <a:t>Phụ thuộc hàm sinh từ quan hệ 1 – n</a:t>
            </a:r>
            <a:endParaRPr lang="en-US"/>
          </a:p>
          <a:p>
            <a:pPr marL="0" indent="0">
              <a:buNone/>
            </a:pPr>
            <a:r>
              <a:rPr lang="en-US" smtClean="0"/>
              <a:t>Phụ thuộc hàm sinh từ quan hệ n – n</a:t>
            </a:r>
          </a:p>
          <a:p>
            <a:pPr marL="0" indent="0">
              <a:buNone/>
            </a:pPr>
            <a:endParaRPr lang="en-US"/>
          </a:p>
          <a:p>
            <a:pPr marL="0" indent="0">
              <a:buNone/>
            </a:pPr>
            <a:r>
              <a:rPr lang="en-US" smtClean="0"/>
              <a:t>Bước 1: Xác định các phụ thuộc hàm cảm biến</a:t>
            </a:r>
          </a:p>
          <a:p>
            <a:pPr marL="0" indent="0">
              <a:buNone/>
            </a:pPr>
            <a:r>
              <a:rPr lang="en-US" smtClean="0"/>
              <a:t>Bước 2: Xây dựng được lược đồ cơ sở dữ liệu</a:t>
            </a:r>
          </a:p>
          <a:p>
            <a:pPr marL="0" indent="0">
              <a:buNone/>
            </a:pPr>
            <a:r>
              <a:rPr lang="en-US" smtClean="0"/>
              <a:t>Bước 3: Dùng những thuật toán phân rả để xây dựng mô hình quan hệ dữ liệu.</a:t>
            </a:r>
          </a:p>
          <a:p>
            <a:pPr marL="0" indent="0">
              <a:buNone/>
            </a:pPr>
            <a:endParaRPr lang="en-US"/>
          </a:p>
        </p:txBody>
      </p:sp>
    </p:spTree>
    <p:extLst>
      <p:ext uri="{BB962C8B-B14F-4D97-AF65-F5344CB8AC3E}">
        <p14:creationId xmlns:p14="http://schemas.microsoft.com/office/powerpoint/2010/main" val="28314391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1296</TotalTime>
  <Words>1637</Words>
  <Application>Microsoft Office PowerPoint</Application>
  <PresentationFormat>On-screen Show (4:3)</PresentationFormat>
  <Paragraphs>275</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MÔ HÌNH THỰC THỂ KẾT HỢP</vt:lpstr>
      <vt:lpstr>Tổng quát ER: Entity-Relationship</vt:lpstr>
      <vt:lpstr>Khái niệm</vt:lpstr>
      <vt:lpstr>Khái niệm</vt:lpstr>
      <vt:lpstr>Khái niệm</vt:lpstr>
      <vt:lpstr>Khái niệm</vt:lpstr>
      <vt:lpstr>Các loại thuộc tính</vt:lpstr>
      <vt:lpstr>Các mức độ quan hệ</vt:lpstr>
      <vt:lpstr>Các loại quan hệ</vt:lpstr>
      <vt:lpstr>Các loại quan hệ</vt:lpstr>
      <vt:lpstr>Các loại quan hệ</vt:lpstr>
      <vt:lpstr>Các loại quan hệ</vt:lpstr>
      <vt:lpstr>Các loại quan hệ (Disjoint - Overlap)</vt:lpstr>
      <vt:lpstr>Chuyển từ mô hình thực thể kết hợp  sang dạng bảng và mô hình quan hệ</vt:lpstr>
      <vt:lpstr>Chuyển từ mô hình thực thể kết hợp  sang dạng bảng và mô hình quan hệ</vt:lpstr>
      <vt:lpstr>Chuyển từ mô hình thực thể kết hợp  sang dạng bảng và mô hình quan hệ</vt:lpstr>
      <vt:lpstr>Chuyển từ mô hình thực thể kết hợp  sang dạng bảng và mô hình quan hệ</vt:lpstr>
      <vt:lpstr>Chuyển từ mô hình thực thể kết hợp  sang dạng bảng và mô hình quan hệ</vt:lpstr>
      <vt:lpstr>Chuyển từ mô hình thực thể kết hợp  sang dạng bảng và mô hình quan hệ</vt:lpstr>
      <vt:lpstr>Xác định các phụ thuộc hàm  cảm biến từ mối quan hệ thực thể</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HỆ QUẢN TRỊ CƠ SỞ DỮ LIỆU SQL SERVER 2012</dc:title>
  <dc:creator>phanhien</dc:creator>
  <cp:lastModifiedBy>phanhien</cp:lastModifiedBy>
  <cp:revision>279</cp:revision>
  <dcterms:created xsi:type="dcterms:W3CDTF">2015-08-04T00:53:59Z</dcterms:created>
  <dcterms:modified xsi:type="dcterms:W3CDTF">2015-09-03T07:37:19Z</dcterms:modified>
</cp:coreProperties>
</file>