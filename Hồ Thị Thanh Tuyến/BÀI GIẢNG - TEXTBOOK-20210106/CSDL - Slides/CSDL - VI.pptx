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91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5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3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9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3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2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5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EB79-FAE2-4654-86B1-78FF01A3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077200" cy="2212975"/>
          </a:xfrm>
        </p:spPr>
        <p:txBody>
          <a:bodyPr>
            <a:normAutofit/>
          </a:bodyPr>
          <a:lstStyle/>
          <a:p>
            <a:r>
              <a:rPr lang="en-US" sz="4000" smtClean="0"/>
              <a:t>GIAO TÁC TRONG</a:t>
            </a:r>
            <a:br>
              <a:rPr lang="en-US" sz="4000" smtClean="0"/>
            </a:br>
            <a:r>
              <a:rPr lang="en-US" sz="4000" smtClean="0"/>
              <a:t>HỆ QUẢN TRỊ CƠ SỞ DỮ LIỆU</a:t>
            </a:r>
            <a:br>
              <a:rPr lang="en-US" sz="4000" smtClean="0"/>
            </a:br>
            <a:r>
              <a:rPr lang="en-US" sz="4000" smtClean="0"/>
              <a:t>SQL SERVER 2012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51511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Giao tác </a:t>
            </a:r>
            <a:br>
              <a:rPr lang="en-US" smtClean="0"/>
            </a:br>
            <a:r>
              <a:rPr lang="en-US" i="1" smtClean="0"/>
              <a:t>(Transaction)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ea typeface="Arial Unicode MS" pitchFamily="34" charset="-128"/>
              </a:rPr>
              <a:t>Giao tác được hiểu như khái niệm chỉ tập các lệnh được thực hiện nhưng có sự gắn kết với nhau và được coi như là 1 đơn vị hoạt động, chúng chỉ thành công nếu như tất cả thành công và thất bại nếu có 1 phần tử thất bại.</a:t>
            </a:r>
          </a:p>
          <a:p>
            <a:pPr marL="0" indent="0">
              <a:buNone/>
            </a:pPr>
            <a:r>
              <a:rPr lang="en-US" sz="2400" u="sng" smtClean="0"/>
              <a:t>Tính chất của giao tác </a:t>
            </a:r>
          </a:p>
          <a:p>
            <a:r>
              <a:rPr lang="en-US" sz="2400" smtClean="0">
                <a:ea typeface="Arial Unicode MS" pitchFamily="34" charset="-128"/>
              </a:rPr>
              <a:t>Tính </a:t>
            </a:r>
            <a:r>
              <a:rPr lang="en-US" sz="2400">
                <a:ea typeface="Arial Unicode MS" pitchFamily="34" charset="-128"/>
              </a:rPr>
              <a:t>nguyên tử (Atomicty</a:t>
            </a:r>
            <a:r>
              <a:rPr lang="en-US" sz="2400" smtClean="0">
                <a:ea typeface="Arial Unicode MS" pitchFamily="34" charset="-128"/>
              </a:rPr>
              <a:t>): Thành </a:t>
            </a:r>
            <a:r>
              <a:rPr lang="en-US" sz="2400">
                <a:ea typeface="Arial Unicode MS" pitchFamily="34" charset="-128"/>
              </a:rPr>
              <a:t>công nếu tất cả thành </a:t>
            </a:r>
            <a:r>
              <a:rPr lang="en-US" sz="2400" smtClean="0">
                <a:ea typeface="Arial Unicode MS" pitchFamily="34" charset="-128"/>
              </a:rPr>
              <a:t>công.</a:t>
            </a:r>
          </a:p>
          <a:p>
            <a:r>
              <a:rPr lang="en-US" sz="2400" smtClean="0">
                <a:ea typeface="Arial Unicode MS" pitchFamily="34" charset="-128"/>
              </a:rPr>
              <a:t>Tính </a:t>
            </a:r>
            <a:r>
              <a:rPr lang="en-US" sz="2400">
                <a:ea typeface="Arial Unicode MS" pitchFamily="34" charset="-128"/>
              </a:rPr>
              <a:t>nhất quán (Consistency</a:t>
            </a:r>
            <a:r>
              <a:rPr lang="en-US" sz="2400" smtClean="0">
                <a:ea typeface="Arial Unicode MS" pitchFamily="34" charset="-128"/>
              </a:rPr>
              <a:t>): Vẫn </a:t>
            </a:r>
            <a:r>
              <a:rPr lang="en-US" sz="2400">
                <a:ea typeface="Arial Unicode MS" pitchFamily="34" charset="-128"/>
              </a:rPr>
              <a:t>đảm bảo các ràng </a:t>
            </a:r>
            <a:r>
              <a:rPr lang="en-US" sz="2400" smtClean="0">
                <a:ea typeface="Arial Unicode MS" pitchFamily="34" charset="-128"/>
              </a:rPr>
              <a:t>buộc.</a:t>
            </a:r>
          </a:p>
          <a:p>
            <a:r>
              <a:rPr lang="en-US" sz="2400" smtClean="0">
                <a:ea typeface="Arial Unicode MS" pitchFamily="34" charset="-128"/>
              </a:rPr>
              <a:t>Tính </a:t>
            </a:r>
            <a:r>
              <a:rPr lang="en-US" sz="2400">
                <a:ea typeface="Arial Unicode MS" pitchFamily="34" charset="-128"/>
              </a:rPr>
              <a:t>cô lập (Isolation</a:t>
            </a:r>
            <a:r>
              <a:rPr lang="en-US" sz="2400" smtClean="0">
                <a:ea typeface="Arial Unicode MS" pitchFamily="34" charset="-128"/>
              </a:rPr>
              <a:t>): Thể </a:t>
            </a:r>
            <a:r>
              <a:rPr lang="en-US" sz="2400">
                <a:ea typeface="Arial Unicode MS" pitchFamily="34" charset="-128"/>
              </a:rPr>
              <a:t>hiện mức độ riêng tư của từng giao tác</a:t>
            </a:r>
            <a:r>
              <a:rPr lang="en-US" sz="2400" smtClean="0">
                <a:ea typeface="Arial Unicode MS" pitchFamily="34" charset="-128"/>
              </a:rPr>
              <a:t>. (</a:t>
            </a:r>
            <a:r>
              <a:rPr lang="en-US" sz="2400">
                <a:ea typeface="Arial Unicode MS" pitchFamily="34" charset="-128"/>
              </a:rPr>
              <a:t>Một giao tác đang thay đổi có thể bên ngoài thấy hay không </a:t>
            </a:r>
            <a:r>
              <a:rPr lang="en-US" sz="2400" smtClean="0">
                <a:ea typeface="Arial Unicode MS" pitchFamily="34" charset="-128"/>
              </a:rPr>
              <a:t>thấy)</a:t>
            </a:r>
          </a:p>
          <a:p>
            <a:r>
              <a:rPr lang="en-US" sz="2400" smtClean="0">
                <a:ea typeface="Arial Unicode MS" pitchFamily="34" charset="-128"/>
              </a:rPr>
              <a:t>Tính </a:t>
            </a:r>
            <a:r>
              <a:rPr lang="en-US" sz="2400">
                <a:ea typeface="Arial Unicode MS" pitchFamily="34" charset="-128"/>
              </a:rPr>
              <a:t>bền vững (Durability</a:t>
            </a:r>
            <a:r>
              <a:rPr lang="en-US" sz="2400" smtClean="0">
                <a:ea typeface="Arial Unicode MS" pitchFamily="34" charset="-128"/>
              </a:rPr>
              <a:t>): Khi </a:t>
            </a:r>
            <a:r>
              <a:rPr lang="en-US" sz="2400">
                <a:ea typeface="Arial Unicode MS" pitchFamily="34" charset="-128"/>
              </a:rPr>
              <a:t>hệ thống có lỗi, nhưng thành công của giao tác vẫn được ghi vào dữ liệu.  </a:t>
            </a:r>
          </a:p>
          <a:p>
            <a:pPr marL="0" indent="0">
              <a:buNone/>
            </a:pPr>
            <a:endParaRPr lang="en-US" sz="2200" smtClean="0"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11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Giao tác </a:t>
            </a:r>
            <a:br>
              <a:rPr lang="en-US" smtClean="0"/>
            </a:br>
            <a:r>
              <a:rPr lang="en-US" i="1" smtClean="0"/>
              <a:t>(Transaction)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u="sng" smtClean="0">
                <a:ea typeface="Arial Unicode MS" pitchFamily="34" charset="-128"/>
              </a:rPr>
              <a:t>Vấn đề đặt ra cho việc dùng giao tác </a:t>
            </a:r>
          </a:p>
          <a:p>
            <a:pPr marL="0" indent="0">
              <a:buNone/>
            </a:pPr>
            <a:endParaRPr lang="en-US" sz="2600">
              <a:ea typeface="Arial Unicode MS" pitchFamily="34" charset="-128"/>
            </a:endParaRPr>
          </a:p>
          <a:p>
            <a:pPr marL="285750" lvl="1">
              <a:buFont typeface="Courier New" panose="02070309020205020404" pitchFamily="49" charset="0"/>
              <a:buChar char="o"/>
            </a:pPr>
            <a:r>
              <a:rPr lang="en-US" sz="2600">
                <a:ea typeface="Arial Unicode MS" pitchFamily="34" charset="-128"/>
              </a:rPr>
              <a:t>Khi nào sử dụng giao tác </a:t>
            </a:r>
            <a:r>
              <a:rPr lang="en-US" sz="2600" smtClean="0">
                <a:ea typeface="Arial Unicode MS" pitchFamily="34" charset="-128"/>
              </a:rPr>
              <a:t>?</a:t>
            </a:r>
          </a:p>
          <a:p>
            <a:pPr marL="285750" lvl="1">
              <a:buFont typeface="Courier New" panose="02070309020205020404" pitchFamily="49" charset="0"/>
              <a:buChar char="o"/>
            </a:pPr>
            <a:r>
              <a:rPr lang="en-US" sz="2600" smtClean="0">
                <a:ea typeface="Arial Unicode MS" pitchFamily="34" charset="-128"/>
              </a:rPr>
              <a:t>Sử dụng giao tác ở mức độ cô lập nào là phù hợp ?</a:t>
            </a:r>
          </a:p>
          <a:p>
            <a:pPr marL="285750" lvl="1">
              <a:buFont typeface="Courier New" panose="02070309020205020404" pitchFamily="49" charset="0"/>
              <a:buChar char="o"/>
            </a:pPr>
            <a:r>
              <a:rPr lang="en-US" sz="2600" smtClean="0">
                <a:ea typeface="Arial Unicode MS" pitchFamily="34" charset="-128"/>
              </a:rPr>
              <a:t>Phạm vi ảnh hưởng của giao tác là đâu ?</a:t>
            </a:r>
            <a:endParaRPr lang="en-US" sz="2600">
              <a:ea typeface="Arial Unicode MS" pitchFamily="34" charset="-128"/>
            </a:endParaRPr>
          </a:p>
          <a:p>
            <a:pPr marL="285750" lvl="1">
              <a:buFont typeface="Courier New" panose="02070309020205020404" pitchFamily="49" charset="0"/>
              <a:buChar char="o"/>
            </a:pPr>
            <a:r>
              <a:rPr lang="en-US" sz="2600" smtClean="0">
                <a:ea typeface="Arial Unicode MS" pitchFamily="34" charset="-128"/>
              </a:rPr>
              <a:t>Khả năng các </a:t>
            </a:r>
            <a:r>
              <a:rPr lang="en-US" sz="2600">
                <a:ea typeface="Arial Unicode MS" pitchFamily="34" charset="-128"/>
              </a:rPr>
              <a:t>ngôn ngữ lập trình </a:t>
            </a:r>
            <a:r>
              <a:rPr lang="en-US" sz="2600" smtClean="0">
                <a:ea typeface="Arial Unicode MS" pitchFamily="34" charset="-128"/>
              </a:rPr>
              <a:t>kết </a:t>
            </a:r>
            <a:r>
              <a:rPr lang="en-US" sz="2600">
                <a:ea typeface="Arial Unicode MS" pitchFamily="34" charset="-128"/>
              </a:rPr>
              <a:t>nối với hệ quản trị có sử dụng cơ chế giao tác </a:t>
            </a:r>
            <a:r>
              <a:rPr lang="en-US" sz="2600" smtClean="0">
                <a:ea typeface="Arial Unicode MS" pitchFamily="34" charset="-128"/>
              </a:rPr>
              <a:t>như thế nào ?</a:t>
            </a:r>
            <a:endParaRPr lang="en-US" sz="2600">
              <a:ea typeface="Arial Unicode MS" pitchFamily="34" charset="-128"/>
            </a:endParaRPr>
          </a:p>
          <a:p>
            <a:pPr marL="0" indent="0">
              <a:buNone/>
            </a:pPr>
            <a:endParaRPr lang="en-US" sz="2600" smtClean="0"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600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Giao tác tường minh</a:t>
            </a:r>
            <a:br>
              <a:rPr lang="en-US" smtClean="0"/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i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Explicit)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smtClean="0">
                <a:ea typeface="Arial Unicode MS" pitchFamily="34" charset="-128"/>
              </a:rPr>
              <a:t>Giao </a:t>
            </a:r>
            <a:r>
              <a:rPr lang="en-US" sz="2400" b="1" u="sng">
                <a:ea typeface="Arial Unicode MS" pitchFamily="34" charset="-128"/>
              </a:rPr>
              <a:t>tác</a:t>
            </a:r>
          </a:p>
          <a:p>
            <a:pPr>
              <a:buNone/>
            </a:pPr>
            <a:r>
              <a:rPr lang="en-US" sz="2400">
                <a:solidFill>
                  <a:srgbClr val="0070C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Begin  tran 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[tên_giao_tác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] 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lệnh 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| khối_lệnh</a:t>
            </a:r>
          </a:p>
          <a:p>
            <a:pPr>
              <a:buNone/>
            </a:pP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{ 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Commit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tran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| </a:t>
            </a:r>
            <a:r>
              <a:rPr lang="en-US" sz="22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Rollback  tran 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} [tên_giao_tác] </a:t>
            </a:r>
          </a:p>
          <a:p>
            <a:pPr>
              <a:buNone/>
            </a:pPr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buNone/>
            </a:pPr>
            <a:r>
              <a:rPr lang="en-US" sz="2400" b="1" u="sng">
                <a:ea typeface="Arial Unicode MS" pitchFamily="34" charset="-128"/>
              </a:rPr>
              <a:t>Tạo điểm lưu</a:t>
            </a:r>
            <a:endParaRPr lang="en-US" sz="2400" b="1">
              <a:ea typeface="Arial Unicode MS" pitchFamily="34" charset="-128"/>
            </a:endParaRPr>
          </a:p>
          <a:p>
            <a:pPr>
              <a:buNone/>
            </a:pPr>
            <a:r>
              <a:rPr lang="en-US" sz="24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save  tran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 tên_điểm_lưu</a:t>
            </a:r>
          </a:p>
          <a:p>
            <a:pPr>
              <a:buNone/>
            </a:pPr>
            <a:endParaRPr lang="en-US" sz="240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r>
              <a:rPr lang="en-US" sz="2400" b="1" i="1" smtClean="0">
                <a:ea typeface="Arial Unicode MS" pitchFamily="34" charset="-128"/>
              </a:rPr>
              <a:t>Hủy </a:t>
            </a:r>
            <a:r>
              <a:rPr lang="en-US" sz="2400" b="1" i="1">
                <a:ea typeface="Arial Unicode MS" pitchFamily="34" charset="-128"/>
              </a:rPr>
              <a:t>những gì sau điểm lưu nếu rollback</a:t>
            </a:r>
            <a:endParaRPr lang="en-US" sz="2600" b="1" i="1" smtClean="0"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079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Giao tác – Điểm lưu</a:t>
            </a:r>
            <a:br>
              <a:rPr lang="en-US" smtClean="0"/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(Save point)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begin tran t1 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lệnh | khối_lệnh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save tran s1 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lệnh | khối_lệnh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rollback tran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s1		-- </a:t>
            </a:r>
            <a:r>
              <a:rPr lang="en-US" sz="2400" smtClean="0">
                <a:ea typeface="Arial Unicode MS" pitchFamily="34" charset="-128"/>
              </a:rPr>
              <a:t>chưa </a:t>
            </a:r>
            <a:r>
              <a:rPr lang="en-US" sz="2400">
                <a:ea typeface="Arial Unicode MS" pitchFamily="34" charset="-128"/>
              </a:rPr>
              <a:t>chấm dứt t1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lệnh | khối_lệnh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commit 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tran t1</a:t>
            </a:r>
          </a:p>
          <a:p>
            <a:pPr>
              <a:buNone/>
            </a:pPr>
            <a:endParaRPr lang="en-US" sz="24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0" indent="0">
              <a:buNone/>
            </a:pPr>
            <a:r>
              <a:rPr lang="en-US" sz="2400" b="1">
                <a:ea typeface="Arial Unicode MS" pitchFamily="34" charset="-128"/>
              </a:rPr>
              <a:t>=&gt;</a:t>
            </a:r>
            <a:r>
              <a:rPr lang="en-US" sz="2400">
                <a:ea typeface="Arial Unicode MS" pitchFamily="34" charset="-128"/>
              </a:rPr>
              <a:t> 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Rollback tran s1</a:t>
            </a:r>
            <a:r>
              <a:rPr lang="en-US" sz="2200">
                <a:ea typeface="Arial Unicode MS" pitchFamily="34" charset="-128"/>
              </a:rPr>
              <a:t> </a:t>
            </a:r>
            <a:r>
              <a:rPr lang="en-US" sz="2400">
                <a:ea typeface="Arial Unicode MS" pitchFamily="34" charset="-128"/>
              </a:rPr>
              <a:t>chỉ hủy bỏ kết quả </a:t>
            </a:r>
            <a:r>
              <a:rPr lang="en-US" sz="2400" smtClean="0">
                <a:ea typeface="Arial Unicode MS" pitchFamily="34" charset="-128"/>
              </a:rPr>
              <a:t>từ sau </a:t>
            </a:r>
            <a:r>
              <a:rPr lang="en-US" sz="2400">
                <a:ea typeface="Arial Unicode MS" pitchFamily="34" charset="-128"/>
              </a:rPr>
              <a:t>lệnh </a:t>
            </a:r>
            <a:r>
              <a:rPr lang="en-US" sz="22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save tran s1</a:t>
            </a:r>
            <a:r>
              <a:rPr lang="en-US" sz="2400">
                <a:ea typeface="Arial Unicode MS" pitchFamily="34" charset="-128"/>
              </a:rPr>
              <a:t> </a:t>
            </a:r>
            <a:r>
              <a:rPr lang="en-US" sz="2400" smtClean="0">
                <a:ea typeface="Arial Unicode MS" pitchFamily="34" charset="-128"/>
              </a:rPr>
              <a:t>đến chổ </a:t>
            </a:r>
            <a:r>
              <a:rPr lang="en-US" sz="22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rollback tran s1 </a:t>
            </a:r>
            <a:r>
              <a:rPr lang="en-US" sz="2400" smtClean="0">
                <a:ea typeface="Arial Unicode MS" pitchFamily="34" charset="-128"/>
              </a:rPr>
              <a:t>và sau đó là </a:t>
            </a:r>
            <a:r>
              <a:rPr lang="en-US" sz="2400">
                <a:ea typeface="Arial Unicode MS" pitchFamily="34" charset="-128"/>
              </a:rPr>
              <a:t>tiếp tục làm tiếp (giao tác t1 vẫn còn).</a:t>
            </a:r>
          </a:p>
        </p:txBody>
      </p:sp>
    </p:spTree>
    <p:extLst>
      <p:ext uri="{BB962C8B-B14F-4D97-AF65-F5344CB8AC3E}">
        <p14:creationId xmlns:p14="http://schemas.microsoft.com/office/powerpoint/2010/main" val="222086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Hành vi đọc dữ liệu với giao tác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>
                <a:ea typeface="Arial Unicode MS" pitchFamily="34" charset="-128"/>
              </a:rPr>
              <a:t>Dirty read</a:t>
            </a:r>
          </a:p>
          <a:p>
            <a:pPr lvl="1">
              <a:buNone/>
            </a:pPr>
            <a:r>
              <a:rPr lang="en-US" sz="2600">
                <a:ea typeface="Arial Unicode MS" pitchFamily="34" charset="-128"/>
              </a:rPr>
              <a:t>	Đọc dữ liệu mà giao tác khác chưa commit.</a:t>
            </a:r>
          </a:p>
          <a:p>
            <a:r>
              <a:rPr lang="en-US" sz="2600" b="1">
                <a:ea typeface="Arial Unicode MS" pitchFamily="34" charset="-128"/>
              </a:rPr>
              <a:t>Non repeatable read (Non Rep | Lost Update)</a:t>
            </a:r>
          </a:p>
          <a:p>
            <a:pPr lvl="1">
              <a:buNone/>
            </a:pPr>
            <a:r>
              <a:rPr lang="en-US" sz="2600">
                <a:ea typeface="Arial Unicode MS" pitchFamily="34" charset="-128"/>
              </a:rPr>
              <a:t>	Giao tác đọc lần đầu thấy dữ liệu là A, nhưng sau đó đọc lại thì thấy là B (do giao tác khác thay đổi)</a:t>
            </a:r>
          </a:p>
          <a:p>
            <a:r>
              <a:rPr lang="en-US" sz="2600" b="1">
                <a:ea typeface="Arial Unicode MS" pitchFamily="34" charset="-128"/>
              </a:rPr>
              <a:t>Phantom read </a:t>
            </a:r>
          </a:p>
          <a:p>
            <a:pPr lvl="1">
              <a:buNone/>
            </a:pPr>
            <a:r>
              <a:rPr lang="en-US" sz="2600">
                <a:ea typeface="Arial Unicode MS" pitchFamily="34" charset="-128"/>
              </a:rPr>
              <a:t>	Khi giao tác 1 đọc dữ liệu, bên ngoài hay giao tác khác thêm dòng mới vào hay xóa đi, làm cho các dòng đang đọc trở thành dòng ảo (phantom).</a:t>
            </a:r>
          </a:p>
          <a:p>
            <a:pPr marL="0" indent="0">
              <a:buNone/>
            </a:pP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208270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Mức độ cô lập trong giao tác</a:t>
            </a:r>
            <a:br>
              <a:rPr lang="en-US" smtClean="0"/>
            </a:br>
            <a:r>
              <a:rPr lang="en-US" smtClean="0"/>
              <a:t>(Isolation level)</a:t>
            </a:r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305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447800"/>
                <a:gridCol w="1828800"/>
                <a:gridCol w="1828800"/>
              </a:tblGrid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ISOLATION</a:t>
                      </a:r>
                      <a:r>
                        <a:rPr lang="en-US" sz="2800" baseline="0" smtClean="0"/>
                        <a:t> LEVEL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DIRTY </a:t>
                      </a:r>
                    </a:p>
                    <a:p>
                      <a:pPr algn="ctr"/>
                      <a:r>
                        <a:rPr lang="en-US" sz="2800" smtClean="0"/>
                        <a:t>READ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NON REPEATED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PHANTOM READ</a:t>
                      </a:r>
                      <a:endParaRPr lang="en-US" sz="2800"/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lang="en-US" sz="2800" smtClean="0"/>
                        <a:t>Read uncommitted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√</a:t>
                      </a:r>
                      <a:endParaRPr lang="en-US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√</a:t>
                      </a:r>
                      <a:endParaRPr lang="en-US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√</a:t>
                      </a:r>
                      <a:endParaRPr lang="en-US" sz="2800" b="1"/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lang="en-US" sz="2800" smtClean="0"/>
                        <a:t>Read committed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√</a:t>
                      </a:r>
                      <a:endParaRPr lang="en-US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√</a:t>
                      </a:r>
                      <a:endParaRPr lang="en-US" sz="2800" b="1"/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lang="en-US" sz="2800" smtClean="0"/>
                        <a:t>Repeatable read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√</a:t>
                      </a:r>
                      <a:endParaRPr lang="en-US" sz="2800" b="1"/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lang="en-US" sz="2800" smtClean="0"/>
                        <a:t>Serializable 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b="1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65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Mức độ cô lập trong giao tác</a:t>
            </a:r>
            <a:br>
              <a:rPr lang="en-US"/>
            </a:br>
            <a:r>
              <a:rPr lang="en-US"/>
              <a:t>(Isolation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Arial Unicode MS" pitchFamily="34" charset="-128"/>
              </a:rPr>
              <a:t>Thiết lập mức độ</a:t>
            </a:r>
          </a:p>
          <a:p>
            <a:pPr>
              <a:buNone/>
            </a:pPr>
            <a:r>
              <a:rPr lang="en-US" sz="24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SET  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TRANSACTION 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ISOLATION LEVEL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{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read uncommitted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|</a:t>
            </a:r>
            <a:endParaRPr lang="en-US" sz="24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read 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committed 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|</a:t>
            </a:r>
            <a:endParaRPr lang="en-US" sz="24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repeatable 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read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|</a:t>
            </a:r>
            <a:endParaRPr lang="en-US" sz="24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serializable 		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24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0070C0"/>
                </a:solidFill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BEGIN TRAN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 ……</a:t>
            </a:r>
          </a:p>
          <a:p>
            <a:pPr marL="0" indent="0">
              <a:buNone/>
            </a:pP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14383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Giao tác không tường minh</a:t>
            </a:r>
            <a:br>
              <a:rPr lang="en-US" smtClean="0"/>
            </a:br>
            <a:r>
              <a:rPr lang="en-US" i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(Implicit</a:t>
            </a:r>
            <a:r>
              <a:rPr lang="en-US" i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>
                <a:ea typeface="Arial Unicode MS" pitchFamily="34" charset="-128"/>
              </a:rPr>
              <a:t>Bắt đầu giao tác với các lệnh</a:t>
            </a:r>
          </a:p>
          <a:p>
            <a:pPr lvl="1">
              <a:buNone/>
            </a:pPr>
            <a:r>
              <a:rPr lang="en-US" sz="2600">
                <a:solidFill>
                  <a:srgbClr val="0070C0"/>
                </a:solidFill>
                <a:ea typeface="Arial Unicode MS" pitchFamily="34" charset="-128"/>
              </a:rPr>
              <a:t>ALTER TABLE, DROP, TRUNCATE TABLE, </a:t>
            </a:r>
          </a:p>
          <a:p>
            <a:pPr lvl="1">
              <a:buNone/>
            </a:pPr>
            <a:r>
              <a:rPr lang="en-US" sz="2600">
                <a:solidFill>
                  <a:srgbClr val="0070C0"/>
                </a:solidFill>
                <a:ea typeface="Arial Unicode MS" pitchFamily="34" charset="-128"/>
              </a:rPr>
              <a:t>CREATE, OPEN, FETCH, REVOKE, GRANT</a:t>
            </a:r>
          </a:p>
          <a:p>
            <a:pPr lvl="1">
              <a:buNone/>
            </a:pPr>
            <a:r>
              <a:rPr lang="en-US" sz="2600">
                <a:solidFill>
                  <a:srgbClr val="0070C0"/>
                </a:solidFill>
                <a:ea typeface="Arial Unicode MS" pitchFamily="34" charset="-128"/>
              </a:rPr>
              <a:t>DELETE,  INSERT, SELECT, UPDATE</a:t>
            </a:r>
          </a:p>
          <a:p>
            <a:pPr marL="0" indent="0">
              <a:buNone/>
            </a:pPr>
            <a:r>
              <a:rPr lang="en-US" sz="2600" b="1">
                <a:ea typeface="Arial Unicode MS" pitchFamily="34" charset="-128"/>
              </a:rPr>
              <a:t>Kết thúc bằng lệnh </a:t>
            </a:r>
            <a:r>
              <a:rPr lang="en-US" sz="2600">
                <a:ea typeface="Arial Unicode MS" pitchFamily="34" charset="-128"/>
              </a:rPr>
              <a:t>: </a:t>
            </a:r>
            <a:r>
              <a:rPr lang="en-US" sz="2600" smtClean="0">
                <a:solidFill>
                  <a:srgbClr val="0070C0"/>
                </a:solidFill>
                <a:ea typeface="Arial Unicode MS" pitchFamily="34" charset="-128"/>
              </a:rPr>
              <a:t>COMMIT | ROLLBACK TRAN</a:t>
            </a:r>
            <a:endParaRPr lang="en-US" sz="2600" smtClean="0">
              <a:ea typeface="Arial Unicode MS" pitchFamily="34" charset="-128"/>
            </a:endParaRPr>
          </a:p>
          <a:p>
            <a:pPr marL="457200" indent="0">
              <a:buNone/>
            </a:pPr>
            <a:r>
              <a:rPr lang="en-US" sz="2600" smtClean="0">
                <a:ea typeface="Arial Unicode MS" pitchFamily="34" charset="-128"/>
              </a:rPr>
              <a:t>Khi </a:t>
            </a:r>
            <a:r>
              <a:rPr lang="en-US" sz="2600">
                <a:ea typeface="Arial Unicode MS" pitchFamily="34" charset="-128"/>
              </a:rPr>
              <a:t>kết thúc cũng là lúc bắt đầu một giao tác mới</a:t>
            </a:r>
            <a:r>
              <a:rPr lang="en-US" sz="2600" smtClean="0">
                <a:ea typeface="Arial Unicode MS" pitchFamily="34" charset="-128"/>
              </a:rPr>
              <a:t>.</a:t>
            </a:r>
            <a:endParaRPr lang="en-US" sz="2600">
              <a:ea typeface="Arial Unicode MS" pitchFamily="34" charset="-128"/>
            </a:endParaRPr>
          </a:p>
          <a:p>
            <a:pPr marL="0" indent="0">
              <a:buNone/>
            </a:pPr>
            <a:r>
              <a:rPr lang="en-US" sz="2600" b="1">
                <a:ea typeface="Arial Unicode MS" pitchFamily="34" charset="-128"/>
              </a:rPr>
              <a:t>Thiết lập thông số chấp nhận </a:t>
            </a:r>
          </a:p>
          <a:p>
            <a:pPr>
              <a:buNone/>
            </a:pPr>
            <a:r>
              <a:rPr lang="en-US" sz="2600">
                <a:ea typeface="Arial Unicode MS" pitchFamily="34" charset="-128"/>
              </a:rPr>
              <a:t>	 </a:t>
            </a:r>
            <a:r>
              <a:rPr lang="en-US" sz="2600">
                <a:solidFill>
                  <a:srgbClr val="0070C0"/>
                </a:solidFill>
                <a:ea typeface="Arial Unicode MS" pitchFamily="34" charset="-128"/>
              </a:rPr>
              <a:t>SET IMPLICIT_TRANSACTIONS </a:t>
            </a:r>
            <a:r>
              <a:rPr lang="en-US" sz="2600" smtClean="0">
                <a:solidFill>
                  <a:srgbClr val="0070C0"/>
                </a:solidFill>
                <a:ea typeface="Arial Unicode MS" pitchFamily="34" charset="-128"/>
              </a:rPr>
              <a:t>ON|OFF</a:t>
            </a:r>
            <a:endParaRPr lang="en-US" sz="2600">
              <a:solidFill>
                <a:srgbClr val="0070C0"/>
              </a:solidFill>
              <a:ea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489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Giao tác tự động</a:t>
            </a:r>
            <a:br>
              <a:rPr lang="en-US" smtClean="0"/>
            </a:b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ea typeface="Arial Unicode MS" pitchFamily="34" charset="-128"/>
              </a:rPr>
              <a:t>Cơ chế tự động xác nhận được thực thi khi trong giao tác xuất hiện lỗi lúc chạy hay lỗi cú pháp.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Lỗi cú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pháp: </a:t>
            </a:r>
            <a:r>
              <a:rPr lang="en-US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giao tác bị hủy (rollback)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Lỗi lúc chạy (khóa chính, sai dữ liệu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,…): giao </a:t>
            </a:r>
            <a:r>
              <a:rPr lang="en-US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tác được chấp nhận đến thời điểm </a:t>
            </a:r>
            <a:r>
              <a:rPr lang="en-US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bị lỗi.</a:t>
            </a: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836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Giao tác </a:t>
            </a:r>
            <a:r>
              <a:rPr lang="en-US" smtClean="0"/>
              <a:t>lồng nhau</a:t>
            </a:r>
            <a:r>
              <a:rPr lang="en-US" smtClean="0"/>
              <a:t/>
            </a:r>
            <a:br>
              <a:rPr lang="en-US" smtClean="0"/>
            </a:b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r>
              <a:rPr lang="en-US">
                <a:ea typeface="Arial Unicode MS" pitchFamily="34" charset="-128"/>
              </a:rPr>
              <a:t>Cho phép các giao tác lồng với nhau.</a:t>
            </a:r>
          </a:p>
          <a:p>
            <a:r>
              <a:rPr lang="en-US">
                <a:ea typeface="Arial Unicode MS" pitchFamily="34" charset="-128"/>
              </a:rPr>
              <a:t>Lệnh </a:t>
            </a:r>
            <a:r>
              <a:rPr lang="en-US">
                <a:solidFill>
                  <a:srgbClr val="0070C0"/>
                </a:solidFill>
                <a:ea typeface="Arial Unicode MS" pitchFamily="34" charset="-128"/>
              </a:rPr>
              <a:t>commit</a:t>
            </a:r>
            <a:r>
              <a:rPr lang="en-US">
                <a:ea typeface="Arial Unicode MS" pitchFamily="34" charset="-128"/>
              </a:rPr>
              <a:t> chỉ có tác dụng cho giao tác cấp ‘con’ gần nhất.</a:t>
            </a:r>
          </a:p>
          <a:p>
            <a:r>
              <a:rPr lang="en-US">
                <a:ea typeface="Arial Unicode MS" pitchFamily="34" charset="-128"/>
              </a:rPr>
              <a:t>Lệnh </a:t>
            </a:r>
            <a:r>
              <a:rPr lang="en-US">
                <a:solidFill>
                  <a:srgbClr val="0070C0"/>
                </a:solidFill>
                <a:ea typeface="Arial Unicode MS" pitchFamily="34" charset="-128"/>
              </a:rPr>
              <a:t>rollback tran</a:t>
            </a:r>
            <a:r>
              <a:rPr lang="en-US">
                <a:ea typeface="Arial Unicode MS" pitchFamily="34" charset="-128"/>
              </a:rPr>
              <a:t> có tác dụng hủy tất cả và trở về điểm ban đầu của giao tác cấp ‘cha’ nhất.</a:t>
            </a:r>
          </a:p>
          <a:p>
            <a:r>
              <a:rPr lang="en-US">
                <a:ea typeface="Arial Unicode MS" pitchFamily="34" charset="-128"/>
              </a:rPr>
              <a:t>Biến  </a:t>
            </a:r>
            <a:r>
              <a:rPr lang="en-US">
                <a:solidFill>
                  <a:srgbClr val="0070C0"/>
                </a:solidFill>
                <a:ea typeface="Arial Unicode MS" pitchFamily="34" charset="-128"/>
              </a:rPr>
              <a:t>@@trancount</a:t>
            </a:r>
            <a:r>
              <a:rPr lang="en-US">
                <a:ea typeface="Arial Unicode MS" pitchFamily="34" charset="-128"/>
              </a:rPr>
              <a:t>  chỉ xem vào thời điểm hiện tại có bao nhiêu giao tác đang tồn tại.</a:t>
            </a:r>
          </a:p>
          <a:p>
            <a:pPr marL="0" indent="0">
              <a:buNone/>
            </a:pPr>
            <a:endParaRPr lang="en-US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488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Giao tác </a:t>
            </a:r>
            <a:r>
              <a:rPr lang="en-US" smtClean="0"/>
              <a:t>lồng nhau</a:t>
            </a:r>
            <a:r>
              <a:rPr lang="en-US" smtClean="0"/>
              <a:t/>
            </a:r>
            <a:br>
              <a:rPr lang="en-US" smtClean="0"/>
            </a:b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Begin tran t1 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………</a:t>
            </a:r>
            <a:endParaRPr lang="en-US" sz="24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begin tran t2 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…………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	print @@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trancount   </a:t>
            </a:r>
            <a:r>
              <a:rPr lang="en-US" sz="2200" smtClean="0">
                <a:ea typeface="Arial Unicode MS" pitchFamily="34" charset="-128"/>
              </a:rPr>
              <a:t>-- @@trancount </a:t>
            </a:r>
            <a:r>
              <a:rPr lang="en-US" sz="2200">
                <a:ea typeface="Arial Unicode MS" pitchFamily="34" charset="-128"/>
              </a:rPr>
              <a:t>là 2</a:t>
            </a: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commit tran t2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	……… </a:t>
            </a:r>
            <a:endParaRPr lang="en-US" sz="24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	print 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@@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trancount   </a:t>
            </a:r>
            <a:r>
              <a:rPr lang="en-US" sz="2200" smtClean="0">
                <a:ea typeface="Arial Unicode MS" pitchFamily="34" charset="-128"/>
              </a:rPr>
              <a:t>-- </a:t>
            </a:r>
            <a:r>
              <a:rPr lang="en-US" sz="2200">
                <a:ea typeface="Arial Unicode MS" pitchFamily="34" charset="-128"/>
              </a:rPr>
              <a:t>@@trancount</a:t>
            </a:r>
            <a:r>
              <a:rPr lang="en-US" sz="2200" smtClean="0">
                <a:ea typeface="Arial Unicode MS" pitchFamily="34" charset="-128"/>
              </a:rPr>
              <a:t> </a:t>
            </a:r>
            <a:r>
              <a:rPr lang="en-US" sz="2200">
                <a:ea typeface="Arial Unicode MS" pitchFamily="34" charset="-128"/>
              </a:rPr>
              <a:t>là 1</a:t>
            </a:r>
          </a:p>
          <a:p>
            <a:pPr>
              <a:buNone/>
            </a:pP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commit  </a:t>
            </a:r>
            <a:r>
              <a:rPr lang="en-US" sz="240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tran </a:t>
            </a:r>
            <a:r>
              <a:rPr lang="en-US" sz="2400" smtClean="0">
                <a:latin typeface="Courier New" panose="02070309020205020404" pitchFamily="49" charset="0"/>
                <a:ea typeface="Arial Unicode MS" pitchFamily="34" charset="-128"/>
                <a:cs typeface="Courier New" panose="02070309020205020404" pitchFamily="49" charset="0"/>
              </a:rPr>
              <a:t>t1</a:t>
            </a:r>
            <a:endParaRPr lang="en-US" sz="2400">
              <a:latin typeface="Courier New" panose="02070309020205020404" pitchFamily="49" charset="0"/>
              <a:ea typeface="Arial Unicode MS" pitchFamily="34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91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480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GIAO TÁC TRONG HỆ QUẢN TRỊ CƠ SỞ DỮ LIỆU SQL SERVER 2012</vt:lpstr>
      <vt:lpstr>Giao tác  (Transaction)</vt:lpstr>
      <vt:lpstr>Giao tác  (Transaction)</vt:lpstr>
      <vt:lpstr>Giao tác tường minh (Explicit)</vt:lpstr>
      <vt:lpstr>Giao tác – Điểm lưu (Save point)</vt:lpstr>
      <vt:lpstr>Hành vi đọc dữ liệu với giao tác</vt:lpstr>
      <vt:lpstr>Mức độ cô lập trong giao tác (Isolation level)</vt:lpstr>
      <vt:lpstr>Mức độ cô lập trong giao tác (Isolation level)</vt:lpstr>
      <vt:lpstr>Giao tác không tường minh (Implicit)</vt:lpstr>
      <vt:lpstr>Giao tác tự động </vt:lpstr>
      <vt:lpstr>Giao tác lồng nhau </vt:lpstr>
      <vt:lpstr>Giao tác lồng nhau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QUẢN TRỊ CƠ SỞ DỮ LIỆU SQL SERVER 2012</dc:title>
  <dc:creator>phanhien</dc:creator>
  <cp:lastModifiedBy>phanhien</cp:lastModifiedBy>
  <cp:revision>145</cp:revision>
  <dcterms:created xsi:type="dcterms:W3CDTF">2015-08-04T00:53:59Z</dcterms:created>
  <dcterms:modified xsi:type="dcterms:W3CDTF">2015-08-05T07:06:51Z</dcterms:modified>
</cp:coreProperties>
</file>