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1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77200" cy="2212975"/>
          </a:xfrm>
        </p:spPr>
        <p:txBody>
          <a:bodyPr>
            <a:normAutofit/>
          </a:bodyPr>
          <a:lstStyle/>
          <a:p>
            <a:r>
              <a:rPr lang="en-US" sz="4000" smtClean="0"/>
              <a:t>NGÔN NGỮ LẬP TRÌNH TRONG</a:t>
            </a:r>
            <a:br>
              <a:rPr lang="en-US" sz="4000" smtClean="0"/>
            </a:br>
            <a:r>
              <a:rPr lang="en-US" sz="4000" smtClean="0"/>
              <a:t>HỆ </a:t>
            </a:r>
            <a:r>
              <a:rPr lang="en-US" sz="4000" smtClean="0"/>
              <a:t>QUẢN TRỊ CƠ SỞ DỮ LIỆU</a:t>
            </a:r>
            <a:br>
              <a:rPr lang="en-US" sz="4000" smtClean="0"/>
            </a:br>
            <a:r>
              <a:rPr lang="en-US" sz="4000" smtClean="0"/>
              <a:t>SQL SERVER 2012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sz="2400" u="sng"/>
              <a:t>Kiểu dữ liệu </a:t>
            </a:r>
          </a:p>
          <a:p>
            <a:pPr lvl="1"/>
            <a:r>
              <a:rPr lang="en-US" sz="2400"/>
              <a:t>Char, VarChar, Nchar, NvarChar </a:t>
            </a:r>
          </a:p>
          <a:p>
            <a:pPr lvl="1"/>
            <a:r>
              <a:rPr lang="en-US" sz="2400"/>
              <a:t>Bit, TinyInt, SmallInt, Int, BigInt</a:t>
            </a:r>
          </a:p>
          <a:p>
            <a:pPr lvl="1"/>
            <a:r>
              <a:rPr lang="en-US" sz="2400"/>
              <a:t>Float, SmallMoney, Money, Real</a:t>
            </a:r>
          </a:p>
          <a:p>
            <a:pPr lvl="1"/>
            <a:r>
              <a:rPr lang="en-US" sz="2400"/>
              <a:t>DateTime</a:t>
            </a:r>
          </a:p>
          <a:p>
            <a:pPr lvl="1"/>
            <a:r>
              <a:rPr lang="en-US" sz="2400"/>
              <a:t>Text, Image, XML</a:t>
            </a:r>
            <a:endParaRPr lang="en-US" sz="2400" u="sng"/>
          </a:p>
          <a:p>
            <a:r>
              <a:rPr lang="en-US" sz="2400" u="sng"/>
              <a:t>Toán tử</a:t>
            </a:r>
            <a:r>
              <a:rPr lang="en-US" sz="2400"/>
              <a:t> :  + - * / %</a:t>
            </a:r>
            <a:endParaRPr lang="en-US" sz="2400" u="sng"/>
          </a:p>
          <a:p>
            <a:pPr marL="0" indent="0">
              <a:buNone/>
            </a:pPr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val="21311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b="1" u="sng"/>
              <a:t>Cú pháp khai báo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6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  @tên_biến  kiểu_dữ_liệu [,… n]</a:t>
            </a:r>
          </a:p>
          <a:p>
            <a:r>
              <a:rPr lang="en-US" b="1" u="sng"/>
              <a:t>Gán giá trị 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6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  @tên_biến  =  </a:t>
            </a:r>
          </a:p>
          <a:p>
            <a:pPr>
              <a:buNone/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	   giá_trị | biểu_thức | @biến | hàm</a:t>
            </a:r>
          </a:p>
          <a:p>
            <a:r>
              <a:rPr lang="en-US" b="1" u="sng" smtClean="0"/>
              <a:t>Khối lệnh</a:t>
            </a:r>
          </a:p>
          <a:p>
            <a:pPr>
              <a:buNone/>
            </a:pP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smtClean="0">
                <a:latin typeface="Courier New" panose="02070309020205020404" pitchFamily="49" charset="0"/>
                <a:cs typeface="Courier New" panose="02070309020205020404" pitchFamily="49" charset="0"/>
              </a:rPr>
              <a:t>khối_lệnh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:= 	</a:t>
            </a:r>
            <a:r>
              <a:rPr lang="en-US" sz="26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>
              <a:buNone/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				lệnh … | khối_lệnh</a:t>
            </a:r>
          </a:p>
          <a:p>
            <a:pPr>
              <a:buNone/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6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>
              <a:buNone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  <a:p>
            <a:pPr>
              <a:buNone/>
            </a:pPr>
            <a:endParaRPr lang="en-US" smtClean="0">
              <a:latin typeface="Lucida Sans Unicode" pitchFamily="34" charset="0"/>
              <a:cs typeface="Lucida Sans Unicode" pitchFamily="34" charset="0"/>
            </a:endParaRP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declare 	@x int, @y int</a:t>
            </a:r>
          </a:p>
          <a:p>
            <a:pPr>
              <a:buNone/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set @y = 5</a:t>
            </a:r>
          </a:p>
          <a:p>
            <a:pPr>
              <a:buNone/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set @x = @y + 3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9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b="1" u="sng"/>
              <a:t>Cấu trúc lệnh IF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(điều_kiện)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lệnh …. | khối_lệnh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lệnh …. | khối_lệnh</a:t>
            </a:r>
          </a:p>
          <a:p>
            <a:r>
              <a:rPr lang="en-US" sz="2400" b="1" u="sng"/>
              <a:t>Cấu trúc lệnh WHILE</a:t>
            </a:r>
          </a:p>
          <a:p>
            <a:pPr>
              <a:buNone/>
            </a:pPr>
            <a:r>
              <a:rPr lang="en-US" sz="2400">
                <a:latin typeface="Lucida Sans Unicode" pitchFamily="34" charset="0"/>
                <a:cs typeface="Lucida Sans Unicode" pitchFamily="34" charset="0"/>
              </a:rPr>
              <a:t>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(điều_kiện)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		lệnh | khối_lệnh </a:t>
            </a:r>
            <a:endParaRPr lang="en-US" sz="2400">
              <a:latin typeface="Lucida Sans Unicode" pitchFamily="34" charset="0"/>
              <a:cs typeface="Lucida Sans Unicode" pitchFamily="34" charset="0"/>
            </a:endParaRPr>
          </a:p>
          <a:p>
            <a:r>
              <a:rPr lang="en-US" sz="2400" b="1" u="sng"/>
              <a:t>Lệnh ngắt vòng lặp</a:t>
            </a:r>
          </a:p>
          <a:p>
            <a:pPr>
              <a:buNone/>
            </a:pPr>
            <a:r>
              <a:rPr lang="en-US" sz="2400">
                <a:latin typeface="Lucida Sans Unicode" pitchFamily="34" charset="0"/>
                <a:cs typeface="Lucida Sans Unicode" pitchFamily="34" charset="0"/>
              </a:rPr>
              <a:t>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continue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2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br>
              <a:rPr lang="en-US" smtClean="0"/>
            </a:br>
            <a:r>
              <a:rPr lang="en-US" i="1" smtClean="0"/>
              <a:t>(Cursor)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b="1" u="sng"/>
              <a:t>Biến Cursor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tên_biến_cursor   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	for  câu_truy_vấn </a:t>
            </a:r>
          </a:p>
          <a:p>
            <a:r>
              <a:rPr lang="en-US" sz="2400" b="1" u="sng"/>
              <a:t>Sử dụng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tên_biến_cursor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	….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tên_biến_cursor</a:t>
            </a:r>
          </a:p>
          <a:p>
            <a:r>
              <a:rPr lang="en-US" sz="2400" b="1" u="sng"/>
              <a:t>Hủy cursor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deallocate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tên_biến_cursor</a:t>
            </a: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79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br>
              <a:rPr lang="en-US" smtClean="0"/>
            </a:br>
            <a:r>
              <a:rPr lang="en-US" i="1" smtClean="0"/>
              <a:t>(Cursor)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b="1" u="sng"/>
              <a:t>Di chuyển Cursor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i="1">
                <a:latin typeface="Courier New" panose="02070309020205020404" pitchFamily="49" charset="0"/>
                <a:cs typeface="Courier New" panose="02070309020205020404" pitchFamily="49" charset="0"/>
              </a:rPr>
              <a:t>định_vị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tên_biến_cursor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@tên_biến [,… n]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400" i="1">
                <a:latin typeface="Courier New" panose="02070309020205020404" pitchFamily="49" charset="0"/>
                <a:cs typeface="Courier New" panose="02070309020205020404" pitchFamily="49" charset="0"/>
              </a:rPr>
              <a:t>định_vị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:= 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prior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absolute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(giá_trị | biến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relative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(giá_trị | biến)</a:t>
            </a:r>
          </a:p>
          <a:p>
            <a:r>
              <a:rPr lang="en-US" sz="2600" b="1" u="sng"/>
              <a:t>Trạng thái Cursor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@@fetch_status </a:t>
            </a:r>
          </a:p>
          <a:p>
            <a:pPr>
              <a:buNone/>
            </a:pPr>
            <a:r>
              <a:rPr lang="en-US"/>
              <a:t>	</a:t>
            </a:r>
            <a:r>
              <a:rPr lang="en-US" sz="2400"/>
              <a:t>=0 	: Đang trong dòng dữ liệu (lần đi kế tiếp thành công)</a:t>
            </a:r>
          </a:p>
          <a:p>
            <a:pPr>
              <a:buNone/>
            </a:pPr>
            <a:r>
              <a:rPr lang="en-US" sz="2400"/>
              <a:t>	≠0	: Ngoài dòng dữ liệu (lần đi kế tiếp không thành công)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Tính tổng số chẳn từ 1 </a:t>
            </a:r>
            <a:r>
              <a:rPr lang="en-US" sz="2400" b="1"/>
              <a:t>-&gt; </a:t>
            </a:r>
            <a:r>
              <a:rPr lang="en-US" sz="2400" b="1" smtClean="0"/>
              <a:t>100</a:t>
            </a:r>
          </a:p>
          <a:p>
            <a:pPr marL="0" indent="0">
              <a:buNone/>
            </a:pPr>
            <a:endParaRPr lang="en-US" sz="2400" b="1"/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Declare @t int, @x int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Set @t = 0 ; Set @x = 1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While (@x &lt;= 100) 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if  ((@x % 2) = 0)  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set @t = @t + @x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set @x = @x + 1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346075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Print @t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04601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lập trình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In các sinhvien(masv char(5),tensv </a:t>
            </a:r>
            <a:r>
              <a:rPr lang="en-US" sz="2400" b="1"/>
              <a:t>char(10</a:t>
            </a:r>
            <a:r>
              <a:rPr lang="en-US" sz="2400" b="1" smtClean="0"/>
              <a:t>))</a:t>
            </a:r>
          </a:p>
          <a:p>
            <a:pPr marL="0" indent="0">
              <a:buNone/>
            </a:pPr>
            <a:endParaRPr lang="en-US" sz="2400" b="1"/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Declare sv cursor for select * from sinhvien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Open sv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Declare @ma char(5),@ten char(10)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Fetch next from sv into @ma,@ten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While (@@fetch_status = 0)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print @ma + ‘ : ‘ + @ten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 Fetch next from sv into @ma,@ten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Close sv; Deallocate sv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913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Thủ tục</a:t>
            </a:r>
            <a:br>
              <a:rPr lang="en-US" smtClean="0"/>
            </a:br>
            <a:r>
              <a:rPr lang="en-US" smtClean="0"/>
              <a:t>(Procedure)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u="sng"/>
              <a:t>Tạo lập thủ tục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 procedure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tên_thủ_tục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@tên_tham_số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kiểu_dữ_liệu  </a:t>
            </a:r>
            <a:r>
              <a:rPr lang="en-US" sz="2000" i="1" smtClean="0">
                <a:latin typeface="Courier New" panose="02070309020205020404" pitchFamily="49" charset="0"/>
                <a:cs typeface="Courier New" panose="02070309020205020404" pitchFamily="49" charset="0"/>
              </a:rPr>
              <a:t>loại 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[,…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n]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lệnh | khối_lệnh</a:t>
            </a:r>
          </a:p>
          <a:p>
            <a:pPr>
              <a:buNone/>
            </a:pPr>
            <a:r>
              <a:rPr lang="en-US" sz="20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loại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(không cần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ghi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)|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en-US" sz="200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u="sng"/>
              <a:t>Thực thi thủ tục</a:t>
            </a:r>
          </a:p>
          <a:p>
            <a:pPr>
              <a:buNone/>
            </a:pPr>
            <a:r>
              <a:rPr lang="en-US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 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tên_thủ_tục  giá_trị|@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biến  [output]  [,…n] </a:t>
            </a:r>
          </a:p>
          <a:p>
            <a:pPr marL="0" indent="0">
              <a:buNone/>
            </a:pPr>
            <a:r>
              <a:rPr lang="en-US" sz="2200" b="1" u="sng"/>
              <a:t>Xóa thủ tục </a:t>
            </a:r>
          </a:p>
          <a:p>
            <a:pPr>
              <a:buNone/>
            </a:pPr>
            <a:r>
              <a:rPr lang="en-US" sz="20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tên_thủ_tục</a:t>
            </a:r>
          </a:p>
          <a:p>
            <a:pPr marL="0" indent="0">
              <a:buNone/>
            </a:pPr>
            <a:r>
              <a:rPr lang="en-US" sz="2200" b="1" u="sng"/>
              <a:t>Thay đổi thủ tục</a:t>
            </a:r>
          </a:p>
          <a:p>
            <a:pPr>
              <a:buNone/>
            </a:pPr>
            <a:r>
              <a:rPr lang="en-US" sz="20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tên_thủ_tục</a:t>
            </a:r>
          </a:p>
        </p:txBody>
      </p:sp>
    </p:spTree>
    <p:extLst>
      <p:ext uri="{BB962C8B-B14F-4D97-AF65-F5344CB8AC3E}">
        <p14:creationId xmlns:p14="http://schemas.microsoft.com/office/powerpoint/2010/main" val="392443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Thủ tục</a:t>
            </a:r>
            <a:br>
              <a:rPr lang="en-US" smtClean="0"/>
            </a:br>
            <a:r>
              <a:rPr lang="en-US" smtClean="0"/>
              <a:t>(ví dụ)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Viết thủ tục xóa các sinh viên theo </a:t>
            </a:r>
            <a:r>
              <a:rPr lang="en-US" sz="2200" b="1"/>
              <a:t>thành </a:t>
            </a:r>
            <a:r>
              <a:rPr lang="en-US" sz="2200" b="1" smtClean="0"/>
              <a:t>phố </a:t>
            </a:r>
          </a:p>
          <a:p>
            <a:pPr marL="0" indent="0">
              <a:buNone/>
            </a:pPr>
            <a:r>
              <a:rPr lang="en-US" sz="2200" b="1" smtClean="0"/>
              <a:t>sinhvien </a:t>
            </a:r>
            <a:r>
              <a:rPr lang="en-US" sz="2200" b="1"/>
              <a:t>(masv char(5), tp </a:t>
            </a:r>
            <a:r>
              <a:rPr lang="en-US" sz="2200" b="1"/>
              <a:t>char(5</a:t>
            </a:r>
            <a:r>
              <a:rPr lang="en-US" sz="2200" b="1" smtClean="0"/>
              <a:t>))</a:t>
            </a:r>
          </a:p>
          <a:p>
            <a:pPr marL="0" indent="0">
              <a:buNone/>
            </a:pPr>
            <a:endParaRPr lang="en-US" sz="2200"/>
          </a:p>
          <a:p>
            <a:pPr>
              <a:buNone/>
            </a:pPr>
            <a:r>
              <a:rPr lang="en-US" sz="220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xoasinhvien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@tp char(5)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delete from sinhvien where tp = @tp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exec 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xoasinhvien  ‘HCM’</a:t>
            </a:r>
          </a:p>
          <a:p>
            <a:pPr marL="0" indent="0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59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Thủ tục</a:t>
            </a:r>
            <a:br>
              <a:rPr lang="en-US" smtClean="0"/>
            </a:br>
            <a:r>
              <a:rPr lang="en-US" smtClean="0"/>
              <a:t>(ví dụ)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Viết thủ tục đếm xem có bao nhiêu sinh viên theo thành phố</a:t>
            </a:r>
          </a:p>
          <a:p>
            <a:pPr>
              <a:buNone/>
            </a:pPr>
            <a:endParaRPr lang="en-US" sz="220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dem @tp char(5), @t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select @t = count(*) from sinhvien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	where tp = @tp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@tong int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exec 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dem  ‘HCM’ , @tong output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print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@tong</a:t>
            </a:r>
          </a:p>
          <a:p>
            <a:pPr marL="0" indent="0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81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</a:t>
            </a:r>
            <a:br>
              <a:rPr lang="en-US" smtClean="0"/>
            </a:br>
            <a:r>
              <a:rPr lang="en-US" i="1" smtClean="0"/>
              <a:t>(Function)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/>
          <a:lstStyle/>
          <a:p>
            <a:pPr marL="0" indent="0">
              <a:buNone/>
            </a:pPr>
            <a:r>
              <a:rPr lang="en-US" sz="2200" b="1" u="sng"/>
              <a:t>Tạo lập hàm</a:t>
            </a:r>
          </a:p>
          <a:p>
            <a:pPr>
              <a:buNone/>
            </a:pP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tên_hàm </a:t>
            </a:r>
            <a:endParaRPr lang="en-US" sz="20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@tên_tham_số  kiểu </a:t>
            </a: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[,…n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kiểu_trả_về</a:t>
            </a:r>
          </a:p>
          <a:p>
            <a:pPr>
              <a:buNone/>
            </a:pP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200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lệnh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khối_lệnh</a:t>
            </a:r>
          </a:p>
          <a:p>
            <a:pPr marL="0" indent="0">
              <a:buNone/>
            </a:pPr>
            <a:r>
              <a:rPr lang="en-US" sz="2200" b="1" u="sng"/>
              <a:t>Thực thi hàm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=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tên_hàm </a:t>
            </a: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(giá_trị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| @biến [,…n] )</a:t>
            </a:r>
          </a:p>
          <a:p>
            <a:pPr marL="0" indent="0">
              <a:buNone/>
            </a:pPr>
            <a:r>
              <a:rPr lang="en-US" sz="2200" b="1" u="sng"/>
              <a:t>Xóa hàm</a:t>
            </a:r>
          </a:p>
          <a:p>
            <a:pPr>
              <a:buNone/>
            </a:pPr>
            <a:r>
              <a:rPr lang="en-US" sz="20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tên_hàm</a:t>
            </a:r>
          </a:p>
          <a:p>
            <a:pPr marL="0" indent="0">
              <a:buNone/>
            </a:pPr>
            <a:r>
              <a:rPr lang="en-US" sz="2200" b="1" u="sng"/>
              <a:t>Thay đổi hàm</a:t>
            </a:r>
          </a:p>
          <a:p>
            <a:pPr>
              <a:buNone/>
            </a:pPr>
            <a:r>
              <a:rPr lang="en-US" sz="20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tên_hàm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71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Viết hàm đếm xem có bao nhiêu sinh viên theo thành phố.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function dem (@tp char(5))  returns int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	@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t int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	@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t = count(*) from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sinhvien </a:t>
            </a:r>
            <a:endParaRPr lang="en-US" sz="22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		where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tp = @tp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return @t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@tong int 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@tong = dbo.dem(‘HCM’)</a:t>
            </a:r>
          </a:p>
        </p:txBody>
      </p:sp>
    </p:spTree>
    <p:extLst>
      <p:ext uri="{BB962C8B-B14F-4D97-AF65-F5344CB8AC3E}">
        <p14:creationId xmlns:p14="http://schemas.microsoft.com/office/powerpoint/2010/main" val="1584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/>
              <a:t>Viết hàm sinh ra mã sinh viên tự động theo </a:t>
            </a:r>
            <a:r>
              <a:rPr lang="en-US" sz="2200" b="1"/>
              <a:t>quy </a:t>
            </a:r>
            <a:r>
              <a:rPr lang="en-US" sz="2200" b="1" smtClean="0"/>
              <a:t>tắc: mã </a:t>
            </a:r>
            <a:r>
              <a:rPr lang="en-US" sz="2200" b="1"/>
              <a:t>sinh </a:t>
            </a:r>
            <a:r>
              <a:rPr lang="en-US" sz="2200" b="1"/>
              <a:t>viên </a:t>
            </a:r>
            <a:r>
              <a:rPr lang="en-US" sz="2200" b="1" smtClean="0"/>
              <a:t>có dạng</a:t>
            </a:r>
            <a:r>
              <a:rPr lang="en-US" sz="2200" b="1"/>
              <a:t>: </a:t>
            </a:r>
            <a:r>
              <a:rPr lang="en-US" sz="2200" b="1" smtClean="0"/>
              <a:t>BA0001. Trong đó ‘</a:t>
            </a:r>
            <a:r>
              <a:rPr lang="en-US" sz="2200" b="1"/>
              <a:t>BA’ : quy định (</a:t>
            </a:r>
            <a:r>
              <a:rPr lang="en-US" sz="2200" b="1"/>
              <a:t>luôn </a:t>
            </a:r>
            <a:r>
              <a:rPr lang="en-US" sz="2200" b="1" smtClean="0"/>
              <a:t>có 2 ký tự); 0001 </a:t>
            </a:r>
            <a:r>
              <a:rPr lang="en-US" sz="2200" b="1"/>
              <a:t>: là </a:t>
            </a:r>
            <a:r>
              <a:rPr lang="en-US" sz="2200" b="1"/>
              <a:t>số </a:t>
            </a:r>
            <a:r>
              <a:rPr lang="en-US" sz="2200" b="1" smtClean="0"/>
              <a:t>gồm 4 ký số. VD: Hiện </a:t>
            </a:r>
            <a:r>
              <a:rPr lang="en-US" sz="2200" b="1"/>
              <a:t>tại sinh viên có mã cao nhất </a:t>
            </a:r>
            <a:r>
              <a:rPr lang="en-US" sz="2200" b="1"/>
              <a:t>là  </a:t>
            </a:r>
            <a:r>
              <a:rPr lang="en-US" sz="2200" b="1" smtClean="0"/>
              <a:t>BA0024, thì </a:t>
            </a:r>
            <a:r>
              <a:rPr lang="en-US" sz="2200" b="1"/>
              <a:t>sinh mã mới </a:t>
            </a:r>
            <a:r>
              <a:rPr lang="en-US" sz="2200" b="1"/>
              <a:t>là </a:t>
            </a:r>
            <a:r>
              <a:rPr lang="en-US" sz="2200" b="1" smtClean="0"/>
              <a:t>BA0025.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Create function sinhkhoa () returns char(6) As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declare @max int 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@max = max(cast(substring(masv,3,4) as int)) + 1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from sinhvien 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declare @s char(8), @s1 char(6)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set @s = ‘0000’ + cast(@max as char(4))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set @s1 = ‘BA’ + right(rtrim(@s),4)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return @s1</a:t>
            </a:r>
          </a:p>
          <a:p>
            <a:pPr>
              <a:buNone/>
            </a:pPr>
            <a:r>
              <a:rPr 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200" b="1"/>
          </a:p>
        </p:txBody>
      </p:sp>
    </p:spTree>
    <p:extLst>
      <p:ext uri="{BB962C8B-B14F-4D97-AF65-F5344CB8AC3E}">
        <p14:creationId xmlns:p14="http://schemas.microsoft.com/office/powerpoint/2010/main" val="259313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</a:t>
            </a:r>
            <a:br>
              <a:rPr lang="en-US" smtClean="0"/>
            </a:br>
            <a:r>
              <a:rPr lang="en-US" i="1" smtClean="0"/>
              <a:t>(ví dụ table function)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create function laydssv (@malop char(5))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200" b="1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returns TABLE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as</a:t>
            </a:r>
            <a:endParaRPr lang="en-US" sz="22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return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(</a:t>
            </a:r>
            <a:endParaRPr lang="en-US" sz="22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select masv,tensv from sinhvien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where malop = @malop 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 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)</a:t>
            </a:r>
          </a:p>
          <a:p>
            <a:pPr>
              <a:buFont typeface="Arial" charset="0"/>
              <a:buNone/>
            </a:pPr>
            <a:endParaRPr lang="en-US" sz="22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* from laydssv('QT1')</a:t>
            </a:r>
          </a:p>
          <a:p>
            <a:pPr marL="0" indent="0">
              <a:buNone/>
            </a:pP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200" b="1"/>
          </a:p>
        </p:txBody>
      </p:sp>
    </p:spTree>
    <p:extLst>
      <p:ext uri="{BB962C8B-B14F-4D97-AF65-F5344CB8AC3E}">
        <p14:creationId xmlns:p14="http://schemas.microsoft.com/office/powerpoint/2010/main" val="671046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</a:t>
            </a:r>
            <a:br>
              <a:rPr lang="en-US" smtClean="0"/>
            </a:br>
            <a:r>
              <a:rPr lang="en-US" i="1" smtClean="0"/>
              <a:t>(ví dụ table function)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create function laydssv1 (@malop char(5))</a:t>
            </a:r>
          </a:p>
          <a:p>
            <a:pPr>
              <a:buNone/>
              <a:defRPr/>
            </a:pP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returns  </a:t>
            </a:r>
            <a:r>
              <a:rPr lang="en-US" sz="2000" b="1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@btam table(masv char(5),tensv char(20))</a:t>
            </a:r>
          </a:p>
          <a:p>
            <a:pPr>
              <a:buNone/>
              <a:defRPr/>
            </a:pP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as</a:t>
            </a:r>
            <a:endParaRPr lang="en-US" sz="20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begin</a:t>
            </a:r>
            <a:endParaRPr lang="en-US" sz="20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insert into </a:t>
            </a:r>
            <a:r>
              <a:rPr lang="en-US" sz="2000" b="1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@</a:t>
            </a:r>
            <a:r>
              <a:rPr lang="en-US" sz="2000" b="1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btam  </a:t>
            </a:r>
            <a:endParaRPr lang="en-US" sz="2000" b="1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select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masv,tensv from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sinhvien </a:t>
            </a:r>
            <a:endParaRPr lang="en-US" sz="20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where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malop = @malop</a:t>
            </a:r>
          </a:p>
          <a:p>
            <a:pPr>
              <a:buNone/>
              <a:defRPr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return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</a:p>
          <a:p>
            <a:pPr>
              <a:buNone/>
              <a:defRPr/>
            </a:pP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end</a:t>
            </a:r>
            <a:endParaRPr lang="en-US" sz="20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endParaRPr lang="en-US" sz="20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endParaRPr lang="en-US" sz="20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sz="20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select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* from laydssv1('QT1')</a:t>
            </a:r>
          </a:p>
          <a:p>
            <a:pPr marL="0" indent="0">
              <a:buNone/>
            </a:pP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579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(Trigger)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/>
          </a:bodyPr>
          <a:lstStyle/>
          <a:p>
            <a:r>
              <a:rPr lang="en-US" sz="2600">
                <a:ea typeface="Arial Unicode MS" pitchFamily="34" charset="-128"/>
              </a:rPr>
              <a:t>Bẫy lệnh được phát sinh sau những hành vi thêm mới hay thay đổi, xóa trên bảng.</a:t>
            </a:r>
          </a:p>
          <a:p>
            <a:pPr lvl="1"/>
            <a:r>
              <a:rPr lang="en-US" sz="2600">
                <a:ea typeface="Arial Unicode MS" pitchFamily="34" charset="-128"/>
              </a:rPr>
              <a:t>Có thể hủy các cập nhập trên dữ liệu</a:t>
            </a:r>
          </a:p>
          <a:p>
            <a:r>
              <a:rPr lang="en-US" sz="2600">
                <a:ea typeface="Arial Unicode MS" pitchFamily="34" charset="-128"/>
              </a:rPr>
              <a:t>Bẫy lệnh được phát sinh để thay thế những hành vi thêm, đổi, xóa.</a:t>
            </a:r>
          </a:p>
          <a:p>
            <a:r>
              <a:rPr lang="en-US" sz="2600">
                <a:ea typeface="Arial Unicode MS" pitchFamily="34" charset="-128"/>
              </a:rPr>
              <a:t>Bẫy sự kiện lưu giử tách rời giá trị mới được đưa vào và giá trị cũ được xóa bỏ.</a:t>
            </a:r>
          </a:p>
          <a:p>
            <a:pPr lvl="1"/>
            <a:r>
              <a:rPr lang="en-US" sz="2600">
                <a:ea typeface="Arial Unicode MS" pitchFamily="34" charset="-128"/>
              </a:rPr>
              <a:t>Dùng bảng tạm Inserted và deleted</a:t>
            </a:r>
          </a:p>
          <a:p>
            <a:r>
              <a:rPr lang="en-US" sz="2600">
                <a:ea typeface="Arial Unicode MS" pitchFamily="34" charset="-128"/>
              </a:rPr>
              <a:t>Bẫy sự kiện còn áp dụng cho </a:t>
            </a:r>
            <a:r>
              <a:rPr lang="en-US" sz="2600" i="1">
                <a:ea typeface="Arial Unicode MS" pitchFamily="34" charset="-128"/>
              </a:rPr>
              <a:t>Login</a:t>
            </a:r>
            <a:r>
              <a:rPr lang="en-US" sz="2600">
                <a:ea typeface="Arial Unicode MS" pitchFamily="34" charset="-128"/>
              </a:rPr>
              <a:t>. </a:t>
            </a:r>
            <a:endParaRPr lang="en-US" sz="260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9748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Bẫy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</a:t>
            </a:r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sự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</a:t>
            </a:r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kiện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(trigger)</a:t>
            </a:r>
            <a:endParaRPr lang="en-US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 smtClean="0">
                <a:latin typeface="Lucida Sans Unicode" pitchFamily="34" charset="0"/>
                <a:cs typeface="Lucida Sans Unicode" pitchFamily="34" charset="0"/>
              </a:rPr>
              <a:t>Loại</a:t>
            </a:r>
            <a:r>
              <a:rPr lang="en-US" u="sng" dirty="0" smtClean="0">
                <a:latin typeface="Lucida Sans Unicode" pitchFamily="34" charset="0"/>
                <a:cs typeface="Lucida Sans Unicode" pitchFamily="34" charset="0"/>
              </a:rPr>
              <a:t> trigger FOR</a:t>
            </a:r>
            <a:endParaRPr lang="en-US" dirty="0" smtClean="0">
              <a:latin typeface="Lucida Sans Unicode" pitchFamily="34" charset="0"/>
              <a:cs typeface="Lucida Sans Unicode" pitchFamily="34" charset="0"/>
            </a:endParaRPr>
          </a:p>
          <a:p>
            <a:pPr>
              <a:buNone/>
            </a:pPr>
            <a:endParaRPr lang="en-US" dirty="0" smtClean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5400000">
            <a:off x="2515394" y="2806938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an 6"/>
          <p:cNvSpPr/>
          <p:nvPr/>
        </p:nvSpPr>
        <p:spPr>
          <a:xfrm>
            <a:off x="2514600" y="3264932"/>
            <a:ext cx="990600" cy="1066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68304" y="254614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5400000">
            <a:off x="2529042" y="4407138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2286000" y="4900388"/>
            <a:ext cx="144780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994996" y="5828436"/>
            <a:ext cx="14904" cy="4199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0" idx="3"/>
            <a:endCxn id="8" idx="6"/>
          </p:cNvCxnSpPr>
          <p:nvPr/>
        </p:nvCxnSpPr>
        <p:spPr>
          <a:xfrm flipH="1" flipV="1">
            <a:off x="3096904" y="2660448"/>
            <a:ext cx="636896" cy="2697140"/>
          </a:xfrm>
          <a:prstGeom prst="bentConnector3">
            <a:avLst>
              <a:gd name="adj1" fmla="val -687321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57400" y="3493532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Lưu vào dữ liệu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981200" y="1905000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Insert  | Update | Delete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438400" y="2209800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 </a:t>
            </a:r>
            <a:r>
              <a:rPr lang="en-US" sz="1200" b="1" dirty="0" smtClean="0"/>
              <a:t>(</a:t>
            </a:r>
            <a:r>
              <a:rPr lang="en-US" sz="1200" b="1" dirty="0" err="1" smtClean="0"/>
              <a:t>lưu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thể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hiện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dữ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liệu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tại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thời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điểm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hiện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tại</a:t>
            </a:r>
            <a:r>
              <a:rPr lang="en-US" sz="1200" b="1" dirty="0" smtClean="0"/>
              <a:t>)</a:t>
            </a:r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600200" y="5169932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bẫy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971800" y="2960132"/>
            <a:ext cx="2438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10800000" flipV="1">
            <a:off x="4599296" y="2960926"/>
            <a:ext cx="879938" cy="6850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16200000" flipH="1">
            <a:off x="5486400" y="2960132"/>
            <a:ext cx="685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lowchart: Internal Storage 48"/>
          <p:cNvSpPr/>
          <p:nvPr/>
        </p:nvSpPr>
        <p:spPr>
          <a:xfrm>
            <a:off x="4191000" y="3686876"/>
            <a:ext cx="1143000" cy="1295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Inserted</a:t>
            </a:r>
            <a:endParaRPr lang="en-US"/>
          </a:p>
        </p:txBody>
      </p:sp>
      <p:sp>
        <p:nvSpPr>
          <p:cNvPr id="50" name="Flowchart: Internal Storage 49"/>
          <p:cNvSpPr/>
          <p:nvPr/>
        </p:nvSpPr>
        <p:spPr>
          <a:xfrm>
            <a:off x="5867400" y="3686876"/>
            <a:ext cx="1219200" cy="1295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Deleted</a:t>
            </a:r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733800" y="5410200"/>
            <a:ext cx="410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chấp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(</a:t>
            </a:r>
            <a:r>
              <a:rPr lang="en-US" dirty="0" err="1" smtClean="0"/>
              <a:t>RollBack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824964" y="5802868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Chấp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(Commit)</a:t>
            </a:r>
            <a:endParaRPr lang="en-US" dirty="0"/>
          </a:p>
        </p:txBody>
      </p:sp>
      <p:cxnSp>
        <p:nvCxnSpPr>
          <p:cNvPr id="27" name="Elbow Connector 26"/>
          <p:cNvCxnSpPr>
            <a:stCxn id="8" idx="6"/>
          </p:cNvCxnSpPr>
          <p:nvPr/>
        </p:nvCxnSpPr>
        <p:spPr>
          <a:xfrm flipH="1">
            <a:off x="1219200" y="2660448"/>
            <a:ext cx="1877704" cy="3587952"/>
          </a:xfrm>
          <a:prstGeom prst="bentConnector4">
            <a:avLst>
              <a:gd name="adj1" fmla="val 77953"/>
              <a:gd name="adj2" fmla="val -43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6248400"/>
            <a:ext cx="2386652" cy="316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Bẫy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</a:t>
            </a:r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sự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</a:t>
            </a:r>
            <a:r>
              <a:rPr lang="en-US" dirty="0" err="1" smtClean="0">
                <a:latin typeface="Lucida Sans Unicode" pitchFamily="34" charset="0"/>
                <a:cs typeface="Lucida Sans Unicode" pitchFamily="34" charset="0"/>
              </a:rPr>
              <a:t>kiện</a:t>
            </a:r>
            <a:r>
              <a:rPr lang="en-US" dirty="0" smtClean="0">
                <a:latin typeface="Lucida Sans Unicode" pitchFamily="34" charset="0"/>
                <a:cs typeface="Lucida Sans Unicode" pitchFamily="34" charset="0"/>
              </a:rPr>
              <a:t> (trigger)</a:t>
            </a:r>
            <a:endParaRPr lang="en-US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smtClean="0">
                <a:latin typeface="Lucida Sans Unicode" pitchFamily="34" charset="0"/>
                <a:cs typeface="Lucida Sans Unicode" pitchFamily="34" charset="0"/>
              </a:rPr>
              <a:t>Loại trigger INSTEAD OF</a:t>
            </a:r>
            <a:endParaRPr lang="en-US" smtClean="0">
              <a:latin typeface="Lucida Sans Unicode" pitchFamily="34" charset="0"/>
              <a:cs typeface="Lucida Sans Unicode" pitchFamily="34" charset="0"/>
            </a:endParaRPr>
          </a:p>
          <a:p>
            <a:pPr>
              <a:buNone/>
            </a:pPr>
            <a:endParaRPr lang="en-US" smtClean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5400000">
            <a:off x="1252260" y="3612872"/>
            <a:ext cx="206906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1586552" y="4710752"/>
            <a:ext cx="144780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1989954" y="5942806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5400" y="2057400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Insert  | Update | Delete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00752" y="4980296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bẫy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286000" y="3188732"/>
            <a:ext cx="2438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10800000" flipV="1">
            <a:off x="3913496" y="3189526"/>
            <a:ext cx="879938" cy="6850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16200000" flipH="1">
            <a:off x="4800600" y="3188732"/>
            <a:ext cx="685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lowchart: Internal Storage 48"/>
          <p:cNvSpPr/>
          <p:nvPr/>
        </p:nvSpPr>
        <p:spPr>
          <a:xfrm>
            <a:off x="3505200" y="3915476"/>
            <a:ext cx="1143000" cy="1295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Inserted</a:t>
            </a:r>
            <a:endParaRPr lang="en-US"/>
          </a:p>
        </p:txBody>
      </p:sp>
      <p:sp>
        <p:nvSpPr>
          <p:cNvPr id="50" name="Flowchart: Internal Storage 49"/>
          <p:cNvSpPr/>
          <p:nvPr/>
        </p:nvSpPr>
        <p:spPr>
          <a:xfrm>
            <a:off x="5181600" y="3915476"/>
            <a:ext cx="1219200" cy="1295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Deleted</a:t>
            </a: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 rot="5400000">
            <a:off x="826857" y="3452011"/>
            <a:ext cx="239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Không thay đổi dữ liệu</a:t>
            </a: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066800" y="6248400"/>
            <a:ext cx="2386652" cy="316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3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(Trigger)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/>
              <a:t>Bảng tạm cho bẫy sự kiện</a:t>
            </a:r>
            <a:r>
              <a:rPr lang="en-US" sz="2400" b="1"/>
              <a:t> </a:t>
            </a:r>
          </a:p>
          <a:p>
            <a:pPr marL="2743200" indent="-2401888">
              <a:buNone/>
            </a:pPr>
            <a:r>
              <a:rPr lang="en-US" sz="2400" smtClean="0"/>
              <a:t>inserted: Lưu </a:t>
            </a:r>
            <a:r>
              <a:rPr lang="en-US" sz="2400"/>
              <a:t>những thông tin sắp được đưa vào dữ liệu</a:t>
            </a:r>
          </a:p>
          <a:p>
            <a:pPr marL="2743200" indent="-2401888">
              <a:buNone/>
            </a:pPr>
            <a:r>
              <a:rPr lang="en-US" sz="2400" smtClean="0"/>
              <a:t>deleted:  Lưu </a:t>
            </a:r>
            <a:r>
              <a:rPr lang="en-US" sz="2400"/>
              <a:t>những thông tin đã có và chuẩn bị được thay thế</a:t>
            </a:r>
          </a:p>
          <a:p>
            <a:pPr marL="2743200" indent="-2401888">
              <a:buNone/>
            </a:pPr>
            <a:r>
              <a:rPr lang="en-US" sz="2400"/>
              <a:t>Bảng tạm có cấu trúc giống bảng đặt </a:t>
            </a:r>
            <a:r>
              <a:rPr lang="en-US" sz="2400"/>
              <a:t>sự </a:t>
            </a:r>
            <a:r>
              <a:rPr lang="en-US" sz="2400" smtClean="0"/>
              <a:t>kiện.</a:t>
            </a:r>
          </a:p>
          <a:p>
            <a:pPr marL="2743200" indent="-2401888">
              <a:buNone/>
            </a:pPr>
            <a:endParaRPr lang="en-US" sz="2400" smtClean="0"/>
          </a:p>
          <a:p>
            <a:pPr marL="2743200" indent="-2743200">
              <a:buNone/>
            </a:pPr>
            <a:r>
              <a:rPr lang="en-US" sz="2400" b="1" u="sng" smtClean="0"/>
              <a:t>VD:</a:t>
            </a:r>
          </a:p>
          <a:p>
            <a:pPr marL="2743200" indent="-2743200">
              <a:buNone/>
            </a:pPr>
            <a:r>
              <a:rPr lang="en-US" sz="2400" smtClean="0"/>
              <a:t>Cập </a:t>
            </a:r>
            <a:r>
              <a:rPr lang="en-US" sz="2400"/>
              <a:t>nhập sinh viên mã ‘BA0002’ với thành phố ‘HCM’ </a:t>
            </a:r>
            <a:r>
              <a:rPr lang="en-US" sz="2400"/>
              <a:t>thành </a:t>
            </a:r>
            <a:r>
              <a:rPr lang="en-US" sz="2400" smtClean="0"/>
              <a:t>‘HN’</a:t>
            </a:r>
            <a:endParaRPr lang="en-US" sz="2400"/>
          </a:p>
          <a:p>
            <a:pPr marL="341313" indent="0">
              <a:buNone/>
            </a:pPr>
            <a:r>
              <a:rPr lang="en-US" sz="2400"/>
              <a:t>=&gt; Vào bảng inserted là bộ (‘BA0002’,’aaa’,’HN’)</a:t>
            </a:r>
          </a:p>
          <a:p>
            <a:pPr marL="341313" indent="0">
              <a:buNone/>
            </a:pPr>
            <a:r>
              <a:rPr lang="en-US" sz="2400"/>
              <a:t>=&gt; Vào bảng deleted là bộ  (‘BA0002’,’aaa’,’HCM’)</a:t>
            </a:r>
          </a:p>
          <a:p>
            <a:pPr marL="0" indent="0">
              <a:buNone/>
            </a:pPr>
            <a:endParaRPr lang="en-US" sz="260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2988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(Trigger)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smtClean="0">
                <a:ea typeface="Arial Unicode MS" pitchFamily="34" charset="-128"/>
              </a:rPr>
              <a:t>Các hàm dùng để kiểm tra cột dữ liệu bị tác động:</a:t>
            </a:r>
          </a:p>
          <a:p>
            <a:pPr marL="0" indent="0" algn="just">
              <a:buNone/>
            </a:pPr>
            <a:endParaRPr lang="en-US" sz="2400" b="1" smtClean="0">
              <a:ea typeface="Arial Unicode MS" pitchFamily="34" charset="-128"/>
            </a:endParaRPr>
          </a:p>
          <a:p>
            <a:pPr marL="0" indent="0" algn="just">
              <a:buNone/>
            </a:pPr>
            <a:r>
              <a:rPr lang="en-US" sz="2400" smtClean="0">
                <a:solidFill>
                  <a:srgbClr val="0070C0"/>
                </a:solidFill>
                <a:ea typeface="Arial Unicode MS" pitchFamily="34" charset="-128"/>
              </a:rPr>
              <a:t>update(</a:t>
            </a:r>
            <a:r>
              <a:rPr lang="en-US" sz="2400" smtClean="0">
                <a:ea typeface="Arial Unicode MS" pitchFamily="34" charset="-128"/>
              </a:rPr>
              <a:t>tên_cột</a:t>
            </a:r>
            <a:r>
              <a:rPr lang="en-US" sz="2400">
                <a:solidFill>
                  <a:srgbClr val="0070C0"/>
                </a:solidFill>
                <a:ea typeface="Arial Unicode MS" pitchFamily="34" charset="-128"/>
              </a:rPr>
              <a:t>)</a:t>
            </a:r>
            <a:r>
              <a:rPr lang="en-US" sz="2400">
                <a:ea typeface="Arial Unicode MS" pitchFamily="34" charset="-128"/>
              </a:rPr>
              <a:t> :</a:t>
            </a:r>
          </a:p>
          <a:p>
            <a:pPr lvl="1" algn="just">
              <a:buFont typeface="Arial" charset="0"/>
              <a:buNone/>
            </a:pPr>
            <a:r>
              <a:rPr lang="en-US" sz="2400">
                <a:ea typeface="Arial Unicode MS" pitchFamily="34" charset="-128"/>
              </a:rPr>
              <a:t>	Trả về kết quả True / False nếu cột đó bị cập nhập.</a:t>
            </a:r>
          </a:p>
          <a:p>
            <a:pPr marL="0" indent="0" algn="just">
              <a:buNone/>
            </a:pPr>
            <a:r>
              <a:rPr lang="en-US" sz="2400">
                <a:solidFill>
                  <a:srgbClr val="0070C0"/>
                </a:solidFill>
                <a:ea typeface="Arial Unicode MS" pitchFamily="34" charset="-128"/>
              </a:rPr>
              <a:t>columns_updated() </a:t>
            </a:r>
            <a:r>
              <a:rPr lang="en-US" sz="2400">
                <a:ea typeface="Arial Unicode MS" pitchFamily="34" charset="-128"/>
              </a:rPr>
              <a:t>:</a:t>
            </a:r>
          </a:p>
          <a:p>
            <a:pPr lvl="1" algn="just">
              <a:buFont typeface="Arial" charset="0"/>
              <a:buNone/>
            </a:pPr>
            <a:r>
              <a:rPr lang="en-US" sz="2400">
                <a:ea typeface="Arial Unicode MS" pitchFamily="34" charset="-128"/>
              </a:rPr>
              <a:t>	Trả về một số xác định các cột được cập nhập.</a:t>
            </a:r>
          </a:p>
          <a:p>
            <a:pPr lvl="1" algn="just">
              <a:buFont typeface="Arial" charset="0"/>
              <a:buNone/>
            </a:pPr>
            <a:r>
              <a:rPr lang="en-US" sz="2400">
                <a:ea typeface="Arial Unicode MS" pitchFamily="34" charset="-128"/>
              </a:rPr>
              <a:t>   </a:t>
            </a:r>
            <a:r>
              <a:rPr lang="en-US" sz="2400" smtClean="0">
                <a:ea typeface="Arial Unicode MS" pitchFamily="34" charset="-128"/>
              </a:rPr>
              <a:t> Ví </a:t>
            </a:r>
            <a:r>
              <a:rPr lang="en-US" sz="2400">
                <a:ea typeface="Arial Unicode MS" pitchFamily="34" charset="-128"/>
              </a:rPr>
              <a:t>dụ: 	Bang (c1,c2,c3,c4) </a:t>
            </a:r>
          </a:p>
          <a:p>
            <a:pPr lvl="1" algn="just">
              <a:buFont typeface="Arial" charset="0"/>
              <a:buNone/>
            </a:pPr>
            <a:r>
              <a:rPr lang="en-US" sz="2400">
                <a:ea typeface="Arial Unicode MS" pitchFamily="34" charset="-128"/>
              </a:rPr>
              <a:t>	Nếu c2 được cập nhật </a:t>
            </a:r>
            <a:r>
              <a:rPr lang="en-US" sz="2400">
                <a:ea typeface="Arial Unicode MS" pitchFamily="34" charset="-128"/>
              </a:rPr>
              <a:t>	</a:t>
            </a:r>
            <a:r>
              <a:rPr lang="en-US" sz="2400" smtClean="0">
                <a:ea typeface="Arial Unicode MS" pitchFamily="34" charset="-128"/>
              </a:rPr>
              <a:t>	=&gt; </a:t>
            </a:r>
            <a:r>
              <a:rPr lang="en-US" sz="2400">
                <a:ea typeface="Arial Unicode MS" pitchFamily="34" charset="-128"/>
              </a:rPr>
              <a:t>0010: </a:t>
            </a:r>
            <a:r>
              <a:rPr lang="en-US" sz="2400">
                <a:ea typeface="Arial Unicode MS" pitchFamily="34" charset="-128"/>
              </a:rPr>
              <a:t>kết </a:t>
            </a:r>
            <a:r>
              <a:rPr lang="en-US" sz="2400" smtClean="0">
                <a:ea typeface="Arial Unicode MS" pitchFamily="34" charset="-128"/>
              </a:rPr>
              <a:t>quả hàm là </a:t>
            </a:r>
            <a:r>
              <a:rPr lang="en-US" sz="2400">
                <a:ea typeface="Arial Unicode MS" pitchFamily="34" charset="-128"/>
              </a:rPr>
              <a:t>2</a:t>
            </a:r>
          </a:p>
          <a:p>
            <a:pPr lvl="1" algn="just">
              <a:buFont typeface="Arial" charset="0"/>
              <a:buNone/>
            </a:pPr>
            <a:r>
              <a:rPr lang="en-US" sz="2400">
                <a:ea typeface="Arial Unicode MS" pitchFamily="34" charset="-128"/>
              </a:rPr>
              <a:t>	Nếu c1,c3,c4 được cập nhật </a:t>
            </a:r>
            <a:r>
              <a:rPr lang="en-US" sz="2400">
                <a:ea typeface="Arial Unicode MS" pitchFamily="34" charset="-128"/>
              </a:rPr>
              <a:t>	</a:t>
            </a:r>
            <a:r>
              <a:rPr lang="en-US" sz="2400" smtClean="0">
                <a:ea typeface="Arial Unicode MS" pitchFamily="34" charset="-128"/>
              </a:rPr>
              <a:t>=&gt; 1101</a:t>
            </a:r>
            <a:r>
              <a:rPr lang="en-US" sz="2400">
                <a:ea typeface="Arial Unicode MS" pitchFamily="34" charset="-128"/>
              </a:rPr>
              <a:t>: kết </a:t>
            </a:r>
            <a:r>
              <a:rPr lang="en-US" sz="2400">
                <a:ea typeface="Arial Unicode MS" pitchFamily="34" charset="-128"/>
              </a:rPr>
              <a:t>quả </a:t>
            </a:r>
            <a:r>
              <a:rPr lang="en-US" sz="2400" smtClean="0">
                <a:ea typeface="Arial Unicode MS" pitchFamily="34" charset="-128"/>
              </a:rPr>
              <a:t>hàm là 13</a:t>
            </a:r>
            <a:endParaRPr lang="en-US" sz="240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5772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(Trigger)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>
                <a:ea typeface="Arial Unicode MS" pitchFamily="34" charset="-128"/>
              </a:rPr>
              <a:t>Thay đổi thông số cho phép đệ quy trực tiếp</a:t>
            </a:r>
          </a:p>
          <a:p>
            <a:pPr>
              <a:buFont typeface="Arial" charset="0"/>
              <a:buNone/>
            </a:pPr>
            <a:r>
              <a:rPr lang="en-US" sz="2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alter database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tendatabase </a:t>
            </a:r>
            <a:endParaRPr lang="en-US" sz="2000" smtClean="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Font typeface="Arial" charset="0"/>
              <a:buNone/>
            </a:pP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0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set 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recursive_triggers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{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on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 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off 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2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000">
                <a:ea typeface="Arial Unicode MS" pitchFamily="34" charset="-128"/>
              </a:rPr>
              <a:t>(</a:t>
            </a:r>
            <a:r>
              <a:rPr lang="en-US" sz="2000" b="1">
                <a:ea typeface="Arial Unicode MS" pitchFamily="34" charset="-128"/>
              </a:rPr>
              <a:t>Update T1</a:t>
            </a:r>
            <a:r>
              <a:rPr lang="en-US" sz="2000">
                <a:ea typeface="Arial Unicode MS" pitchFamily="34" charset="-128"/>
              </a:rPr>
              <a:t>, kích chạy </a:t>
            </a:r>
            <a:r>
              <a:rPr lang="en-US" sz="2000" b="1">
                <a:ea typeface="Arial Unicode MS" pitchFamily="34" charset="-128"/>
              </a:rPr>
              <a:t>Trigger 1</a:t>
            </a:r>
            <a:r>
              <a:rPr lang="en-US" sz="2000">
                <a:ea typeface="Arial Unicode MS" pitchFamily="34" charset="-128"/>
              </a:rPr>
              <a:t>. Trigger 1 chạy </a:t>
            </a:r>
            <a:r>
              <a:rPr lang="en-US" sz="2000" b="1">
                <a:ea typeface="Arial Unicode MS" pitchFamily="34" charset="-128"/>
              </a:rPr>
              <a:t>update T1</a:t>
            </a:r>
            <a:r>
              <a:rPr lang="en-US" sz="2000">
                <a:ea typeface="Arial Unicode MS" pitchFamily="34" charset="-128"/>
              </a:rPr>
              <a:t> lần nữa, kích chạy </a:t>
            </a:r>
            <a:r>
              <a:rPr lang="en-US" sz="2000" b="1">
                <a:ea typeface="Arial Unicode MS" pitchFamily="34" charset="-128"/>
              </a:rPr>
              <a:t>Trigger 1</a:t>
            </a:r>
            <a:r>
              <a:rPr lang="en-US" sz="2000">
                <a:ea typeface="Arial Unicode MS" pitchFamily="34" charset="-128"/>
              </a:rPr>
              <a:t>…)</a:t>
            </a:r>
          </a:p>
          <a:p>
            <a:pPr>
              <a:buFont typeface="Arial" charset="0"/>
              <a:buNone/>
            </a:pPr>
            <a:endParaRPr lang="en-US" sz="1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buNone/>
            </a:pPr>
            <a:r>
              <a:rPr lang="en-US" sz="2400" b="1" u="sng">
                <a:ea typeface="Arial Unicode MS" pitchFamily="34" charset="-128"/>
              </a:rPr>
              <a:t>Thiết lập giới hạn lồng nhau (đệ quy gián tiếp)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exec sp_configure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‘</a:t>
            </a:r>
            <a:r>
              <a:rPr lang="en-US" sz="20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Nested Triggers</a:t>
            </a:r>
            <a:r>
              <a:rPr lang="en-US" sz="20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’ </a:t>
            </a:r>
            <a:r>
              <a:rPr lang="en-US" sz="2000" i="1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n</a:t>
            </a:r>
          </a:p>
          <a:p>
            <a:pPr>
              <a:buFont typeface="Arial" charset="0"/>
              <a:buNone/>
            </a:pPr>
            <a:r>
              <a:rPr lang="en-US" sz="1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endParaRPr lang="en-US" sz="14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Arial" charset="0"/>
              <a:buNone/>
            </a:pPr>
            <a:r>
              <a:rPr lang="en-US" sz="1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000" smtClean="0">
                <a:ea typeface="Arial Unicode MS" pitchFamily="34" charset="-128"/>
              </a:rPr>
              <a:t>(</a:t>
            </a:r>
            <a:r>
              <a:rPr lang="en-US" sz="2000" b="1">
                <a:ea typeface="Arial Unicode MS" pitchFamily="34" charset="-128"/>
              </a:rPr>
              <a:t>Update T1</a:t>
            </a:r>
            <a:r>
              <a:rPr lang="en-US" sz="2000">
                <a:ea typeface="Arial Unicode MS" pitchFamily="34" charset="-128"/>
              </a:rPr>
              <a:t>, kích chạy </a:t>
            </a:r>
            <a:r>
              <a:rPr lang="en-US" sz="2000" b="1">
                <a:ea typeface="Arial Unicode MS" pitchFamily="34" charset="-128"/>
              </a:rPr>
              <a:t>Trigger 1</a:t>
            </a:r>
            <a:r>
              <a:rPr lang="en-US" sz="2000">
                <a:ea typeface="Arial Unicode MS" pitchFamily="34" charset="-128"/>
              </a:rPr>
              <a:t>. Trigger 1 chạy </a:t>
            </a:r>
            <a:r>
              <a:rPr lang="en-US" sz="2000" b="1">
                <a:ea typeface="Arial Unicode MS" pitchFamily="34" charset="-128"/>
              </a:rPr>
              <a:t>update T2</a:t>
            </a:r>
            <a:r>
              <a:rPr lang="en-US" sz="2000">
                <a:ea typeface="Arial Unicode MS" pitchFamily="34" charset="-128"/>
              </a:rPr>
              <a:t>, kích chạy </a:t>
            </a:r>
            <a:r>
              <a:rPr lang="en-US" sz="2000" b="1">
                <a:ea typeface="Arial Unicode MS" pitchFamily="34" charset="-128"/>
              </a:rPr>
              <a:t>Trigger 2</a:t>
            </a:r>
            <a:r>
              <a:rPr lang="en-US" sz="2000">
                <a:ea typeface="Arial Unicode MS" pitchFamily="34" charset="-128"/>
              </a:rPr>
              <a:t>. Trigger 2 chạy </a:t>
            </a:r>
            <a:r>
              <a:rPr lang="en-US" sz="2000" b="1">
                <a:ea typeface="Arial Unicode MS" pitchFamily="34" charset="-128"/>
              </a:rPr>
              <a:t>update T1</a:t>
            </a:r>
            <a:r>
              <a:rPr lang="en-US" sz="2000">
                <a:ea typeface="Arial Unicode MS" pitchFamily="34" charset="-128"/>
              </a:rPr>
              <a:t>, kích chạy </a:t>
            </a:r>
            <a:r>
              <a:rPr lang="en-US" sz="2000" b="1">
                <a:ea typeface="Arial Unicode MS" pitchFamily="34" charset="-128"/>
              </a:rPr>
              <a:t>Trigger 1</a:t>
            </a:r>
            <a:r>
              <a:rPr lang="en-US" sz="2000">
                <a:ea typeface="Arial Unicode MS" pitchFamily="34" charset="-128"/>
              </a:rPr>
              <a:t>. …)</a:t>
            </a:r>
          </a:p>
          <a:p>
            <a:pPr>
              <a:buFont typeface="Arial" charset="0"/>
              <a:buNone/>
            </a:pPr>
            <a:endParaRPr lang="en-US" sz="1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Arial" charset="0"/>
              <a:buNone/>
            </a:pPr>
            <a:r>
              <a:rPr lang="en-US" sz="1400" i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000" i="1">
                <a:ea typeface="Arial Unicode MS" pitchFamily="34" charset="-128"/>
              </a:rPr>
              <a:t>Lồng nhau được tối đa là 32 cấp độ.</a:t>
            </a:r>
          </a:p>
          <a:p>
            <a:pPr marL="0" indent="0" algn="just">
              <a:buNone/>
            </a:pPr>
            <a:endParaRPr lang="en-US" sz="240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687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(Trigger)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/>
              <a:t>Tạo trigger</a:t>
            </a:r>
          </a:p>
          <a:p>
            <a:pPr>
              <a:buNone/>
            </a:pPr>
            <a:r>
              <a:rPr lang="en-US" sz="2400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create  trigger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tên_trigger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20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	tên_bảng</a:t>
            </a:r>
          </a:p>
          <a:p>
            <a:pPr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{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instead of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}   {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update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}   </a:t>
            </a:r>
          </a:p>
          <a:p>
            <a:pPr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pPr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	lệnh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khối_lệnh</a:t>
            </a:r>
          </a:p>
          <a:p>
            <a:pPr>
              <a:buNone/>
            </a:pPr>
            <a:endParaRPr lang="en-US" sz="24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u="sng"/>
              <a:t>Xóa và thay đổi</a:t>
            </a:r>
            <a:r>
              <a:rPr lang="en-US" sz="2400" b="1"/>
              <a:t> </a:t>
            </a:r>
          </a:p>
          <a:p>
            <a:pPr>
              <a:buNone/>
            </a:pPr>
            <a:r>
              <a:rPr lang="en-US" sz="2400" b="1">
                <a:latin typeface="Lucida Sans Unicode" pitchFamily="34" charset="0"/>
                <a:cs typeface="Lucida Sans Unicode" pitchFamily="34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{Alter</a:t>
            </a:r>
            <a:r>
              <a:rPr lang="en-US" sz="240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40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Drop} 	trigger  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tên_trigger </a:t>
            </a:r>
          </a:p>
          <a:p>
            <a:pPr marL="0" indent="0" algn="just">
              <a:buNone/>
            </a:pPr>
            <a:endParaRPr lang="en-US" sz="240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516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Tạo trigger cho bảng sinhvien (masv, tensv</a:t>
            </a:r>
            <a:r>
              <a:rPr lang="en-US" sz="2600" b="1"/>
              <a:t>, </a:t>
            </a:r>
            <a:r>
              <a:rPr lang="en-US" sz="2600" b="1" smtClean="0"/>
              <a:t>malop) thỏa </a:t>
            </a:r>
            <a:r>
              <a:rPr lang="en-US" sz="2600" b="1"/>
              <a:t>mãn điều kiện một lớp không quá </a:t>
            </a:r>
            <a:r>
              <a:rPr lang="en-US" sz="2600" b="1"/>
              <a:t>20 </a:t>
            </a:r>
            <a:r>
              <a:rPr lang="en-US" sz="2600" b="1" smtClean="0"/>
              <a:t>người.</a:t>
            </a:r>
          </a:p>
          <a:p>
            <a:pPr marL="0" indent="0">
              <a:buNone/>
            </a:pPr>
            <a:endParaRPr lang="en-US" sz="2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trigger tssv on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sinhvien 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for insert,update </a:t>
            </a:r>
          </a:p>
          <a:p>
            <a:pPr marL="0" indent="0">
              <a:buNone/>
            </a:pP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marL="0" indent="0">
              <a:buNone/>
            </a:pP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declare @malop char(5), @ts int </a:t>
            </a: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select @malop = malop from inserted</a:t>
            </a: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select @ts = count(*) from sinhvien </a:t>
            </a: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	where malop=@malop</a:t>
            </a: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if (@ts &gt; 20) 	</a:t>
            </a:r>
          </a:p>
          <a:p>
            <a:pPr marL="915988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rollback 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transaction</a:t>
            </a:r>
          </a:p>
          <a:p>
            <a:pPr marL="915988" indent="-915988">
              <a:buNone/>
            </a:pP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481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Bẫy sự kiện</a:t>
            </a:r>
            <a:br>
              <a:rPr lang="en-US" smtClean="0"/>
            </a:br>
            <a:r>
              <a:rPr lang="en-US" i="1" smtClean="0"/>
              <a:t>(ví dụ)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smtClean="0"/>
              <a:t>Tạo </a:t>
            </a:r>
            <a:r>
              <a:rPr lang="en-US" sz="2600" b="1"/>
              <a:t>trigger cho bảng sinhvien (masv, tensv</a:t>
            </a:r>
            <a:r>
              <a:rPr lang="en-US" sz="2600" b="1"/>
              <a:t>, </a:t>
            </a:r>
            <a:r>
              <a:rPr lang="en-US" sz="2600" b="1" smtClean="0"/>
              <a:t>trangthai) thỏa </a:t>
            </a:r>
            <a:r>
              <a:rPr lang="en-US" sz="2600" b="1"/>
              <a:t>mãn điều kiện khi xóa một sinh viên tức thay đổi trạng thái từ </a:t>
            </a:r>
            <a:r>
              <a:rPr lang="en-US" sz="2600" b="1"/>
              <a:t>0 </a:t>
            </a:r>
            <a:r>
              <a:rPr lang="en-US" sz="2600" b="1" smtClean="0"/>
              <a:t>thành 1</a:t>
            </a:r>
          </a:p>
          <a:p>
            <a:pPr marL="0" indent="0">
              <a:buNone/>
            </a:pPr>
            <a:endParaRPr lang="en-US" sz="2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Create trigger tssv on sinhvien instead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pPr>
              <a:buNone/>
            </a:pP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2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	sinhvien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set trangthai = 1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	masv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z="220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select masv from deleted)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53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717</Words>
  <Application>Microsoft Office PowerPoint</Application>
  <PresentationFormat>On-screen Show (4:3)</PresentationFormat>
  <Paragraphs>273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NGÔN NGỮ LẬP TRÌNH TRONG HỆ QUẢN TRỊ CƠ SỞ DỮ LIỆU SQL SERVER 2012</vt:lpstr>
      <vt:lpstr>Ngôn ngữ lập trình</vt:lpstr>
      <vt:lpstr>Ngôn ngữ lập trình</vt:lpstr>
      <vt:lpstr>Ngôn ngữ lập trình</vt:lpstr>
      <vt:lpstr>Ngôn ngữ lập trình (Cursor)</vt:lpstr>
      <vt:lpstr>Ngôn ngữ lập trình (Cursor)</vt:lpstr>
      <vt:lpstr>Ngôn ngữ lập trình (ví dụ)</vt:lpstr>
      <vt:lpstr>Ngôn ngữ lập trình (ví dụ)</vt:lpstr>
      <vt:lpstr>Thủ tục (Procedure)</vt:lpstr>
      <vt:lpstr>Thủ tục (ví dụ)</vt:lpstr>
      <vt:lpstr>Thủ tục (ví dụ)</vt:lpstr>
      <vt:lpstr>Hàm (Function)</vt:lpstr>
      <vt:lpstr>Hàm (ví dụ)</vt:lpstr>
      <vt:lpstr>Hàm (ví dụ)</vt:lpstr>
      <vt:lpstr>Hàm (ví dụ table function)</vt:lpstr>
      <vt:lpstr>Hàm (ví dụ table function)</vt:lpstr>
      <vt:lpstr>Bẫy sự kiện (Trigger)</vt:lpstr>
      <vt:lpstr>Bẫy sự kiện (trigger)</vt:lpstr>
      <vt:lpstr>Bẫy sự kiện (trigger)</vt:lpstr>
      <vt:lpstr>Bẫy sự kiện (Trigger)</vt:lpstr>
      <vt:lpstr>Bẫy sự kiện (Trigger)</vt:lpstr>
      <vt:lpstr>Bẫy sự kiện (Trigger)</vt:lpstr>
      <vt:lpstr>Bẫy sự kiện (Trigger)</vt:lpstr>
      <vt:lpstr>Bẫy sự kiện (ví dụ)</vt:lpstr>
      <vt:lpstr>Bẫy sự kiện (ví dụ)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119</cp:revision>
  <dcterms:created xsi:type="dcterms:W3CDTF">2015-08-04T00:53:59Z</dcterms:created>
  <dcterms:modified xsi:type="dcterms:W3CDTF">2015-08-05T02:29:34Z</dcterms:modified>
</cp:coreProperties>
</file>