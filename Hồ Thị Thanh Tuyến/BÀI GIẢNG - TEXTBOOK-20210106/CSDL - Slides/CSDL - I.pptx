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8" r:id="rId31"/>
    <p:sldId id="289" r:id="rId32"/>
    <p:sldId id="290" r:id="rId33"/>
    <p:sldId id="285" r:id="rId34"/>
    <p:sldId id="286" r:id="rId35"/>
    <p:sldId id="287" r:id="rId36"/>
    <p:sldId id="291" r:id="rId37"/>
    <p:sldId id="292" r:id="rId38"/>
    <p:sldId id="293" r:id="rId39"/>
    <p:sldId id="294" r:id="rId40"/>
    <p:sldId id="303" r:id="rId41"/>
    <p:sldId id="295" r:id="rId42"/>
    <p:sldId id="296" r:id="rId43"/>
    <p:sldId id="297" r:id="rId44"/>
    <p:sldId id="298" r:id="rId45"/>
    <p:sldId id="299" r:id="rId46"/>
    <p:sldId id="300" r:id="rId47"/>
    <p:sldId id="301" r:id="rId48"/>
    <p:sldId id="30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80" autoAdjust="0"/>
  </p:normalViewPr>
  <p:slideViewPr>
    <p:cSldViewPr>
      <p:cViewPr varScale="1">
        <p:scale>
          <a:sx n="86" d="100"/>
          <a:sy n="86" d="100"/>
        </p:scale>
        <p:origin x="93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FBCA40-7B02-4D79-8B5F-E82C221C66AE}" type="datetimeFigureOut">
              <a:rPr lang="en-US" smtClean="0"/>
              <a:t>11/8/2015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7BC6E0-3A6C-4ECC-B604-2D9098C19D8D}" type="slidenum">
              <a:rPr lang="en-US" smtClean="0"/>
              <a:t>‹#›</a:t>
            </a:fld>
            <a:endParaRPr lang="en-US"/>
          </a:p>
        </p:txBody>
      </p:sp>
    </p:spTree>
    <p:extLst>
      <p:ext uri="{BB962C8B-B14F-4D97-AF65-F5344CB8AC3E}">
        <p14:creationId xmlns:p14="http://schemas.microsoft.com/office/powerpoint/2010/main" val="1552302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Khóa</a:t>
            </a:r>
            <a:r>
              <a:rPr lang="en-US" baseline="0" smtClean="0"/>
              <a:t> ẩn, khóa tường minh, khóa chính, sự duy nhất (Unique)</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9</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10</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11</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12</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13</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14</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15</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16</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17</a:t>
            </a:fld>
            <a:endParaRPr lang="en-US"/>
          </a:p>
        </p:txBody>
      </p:sp>
    </p:spTree>
    <p:extLst>
      <p:ext uri="{BB962C8B-B14F-4D97-AF65-F5344CB8AC3E}">
        <p14:creationId xmlns:p14="http://schemas.microsoft.com/office/powerpoint/2010/main" val="4186005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Về</a:t>
            </a:r>
            <a:r>
              <a:rPr lang="en-US" baseline="0" smtClean="0"/>
              <a:t> thuật toán tìm khóa:</a:t>
            </a:r>
          </a:p>
          <a:p>
            <a:pPr marL="228600" indent="-228600">
              <a:buAutoNum type="arabicPeriod"/>
            </a:pPr>
            <a:r>
              <a:rPr lang="en-US" baseline="0" smtClean="0"/>
              <a:t>Thuộc tính mà không hề xuất hiện ở vế phải (có thể ở vế trái hay không) thì chắc chắn là có trong Khóa (IK)</a:t>
            </a:r>
          </a:p>
          <a:p>
            <a:pPr marL="228600" indent="-228600">
              <a:buAutoNum type="arabicPeriod"/>
            </a:pPr>
            <a:r>
              <a:rPr lang="en-US" smtClean="0"/>
              <a:t>Thuộc tính</a:t>
            </a:r>
            <a:r>
              <a:rPr lang="en-US" baseline="0" smtClean="0"/>
              <a:t> nào mà chỉ xuất hiện ở vế phải không và không xuất hiện ở vế trái, </a:t>
            </a:r>
          </a:p>
          <a:p>
            <a:pPr marL="0" indent="0">
              <a:buNone/>
            </a:pPr>
            <a:r>
              <a:rPr lang="en-US" baseline="0" smtClean="0"/>
              <a:t>	thì chắc không thuộc Khóa (NK)</a:t>
            </a:r>
          </a:p>
          <a:p>
            <a:pPr marL="0" indent="0">
              <a:buNone/>
            </a:pPr>
            <a:r>
              <a:rPr lang="en-US" baseline="0" smtClean="0"/>
              <a:t>Thuật toán:</a:t>
            </a:r>
          </a:p>
          <a:p>
            <a:pPr marL="171450" indent="-171450">
              <a:buFontTx/>
              <a:buChar char="-"/>
            </a:pPr>
            <a:r>
              <a:rPr lang="en-US" baseline="0" smtClean="0"/>
              <a:t>Từ IK, ta tìm bao đóng của IK</a:t>
            </a:r>
          </a:p>
          <a:p>
            <a:pPr marL="171450" indent="-171450">
              <a:buFontTx/>
              <a:buChar char="-"/>
            </a:pPr>
            <a:r>
              <a:rPr lang="en-US" baseline="0" smtClean="0"/>
              <a:t>Nếu bao đóng đó mà giống R thì trả lời khóa</a:t>
            </a:r>
          </a:p>
          <a:p>
            <a:pPr marL="171450" indent="-171450">
              <a:buFontTx/>
              <a:buChar char="-"/>
            </a:pPr>
            <a:r>
              <a:rPr lang="en-US" baseline="0" smtClean="0"/>
              <a:t>Nếu không thì thêm thuộc tính A khác </a:t>
            </a:r>
          </a:p>
          <a:p>
            <a:pPr marL="628650" lvl="1" indent="-171450">
              <a:buFontTx/>
              <a:buChar char="-"/>
            </a:pPr>
            <a:r>
              <a:rPr lang="en-US" baseline="0" smtClean="0"/>
              <a:t>Nhưng A không thuộc NK</a:t>
            </a:r>
          </a:p>
          <a:p>
            <a:pPr marL="628650" lvl="1" indent="-171450">
              <a:buFontTx/>
              <a:buChar char="-"/>
            </a:pPr>
            <a:r>
              <a:rPr lang="en-US" baseline="0" smtClean="0"/>
              <a:t>Nhưng A không thuộc vào bao đóng của IK</a:t>
            </a:r>
          </a:p>
          <a:p>
            <a:pPr marL="628650" lvl="1" indent="-171450">
              <a:buFontTx/>
              <a:buChar char="-"/>
            </a:pPr>
            <a:r>
              <a:rPr lang="en-US" baseline="0" smtClean="0"/>
              <a:t>Trong IKA không có thuộc tính dư thừa (xét như phụ thuộc hàm đầy đủ) -&gt; siêu khóa</a:t>
            </a:r>
          </a:p>
          <a:p>
            <a:pPr marL="914400" lvl="2" indent="0">
              <a:buFontTx/>
              <a:buNone/>
            </a:pPr>
            <a:r>
              <a:rPr lang="en-US" baseline="0" smtClean="0"/>
              <a:t>(Dư thùa : bao đóng của IK = W, thì khi thêm A vào ta có bao đóng IKA = W)</a:t>
            </a:r>
          </a:p>
          <a:p>
            <a:pPr marL="914400" lvl="2" indent="0">
              <a:buFontTx/>
              <a:buNone/>
            </a:pPr>
            <a:r>
              <a:rPr lang="en-US" baseline="0" smtClean="0"/>
              <a:t>Trường hợp thêm A vào làm dư thừa một thuộc tính B trong IK, thi ý nói A, B gần như tương đồng</a:t>
            </a:r>
          </a:p>
          <a:p>
            <a:pPr marL="914400" lvl="2" indent="0">
              <a:buFontTx/>
              <a:buNone/>
            </a:pPr>
            <a:r>
              <a:rPr lang="en-US" baseline="0" smtClean="0"/>
              <a:t>Nhưng vì mình xet IK ban đầu chắc chắn là không dư thừa, nhưng cứ mỗi lần thêm thuộc tính tự do có thể dẫn đến dư thừa.</a:t>
            </a:r>
          </a:p>
          <a:p>
            <a:pPr marL="171450" indent="-171450">
              <a:buFontTx/>
              <a:buChar char="-"/>
            </a:pPr>
            <a:r>
              <a:rPr lang="en-US" baseline="0" smtClean="0"/>
              <a:t>Tiếp tục tìm bao đóng của IK mới</a:t>
            </a:r>
          </a:p>
          <a:p>
            <a:pPr marL="171450" indent="-171450">
              <a:buFont typeface="Wingdings"/>
              <a:buChar char="è"/>
            </a:pPr>
            <a:r>
              <a:rPr lang="en-US" baseline="0" smtClean="0">
                <a:sym typeface="Wingdings" panose="05000000000000000000" pitchFamily="2" charset="2"/>
              </a:rPr>
              <a:t>Bài toán tìm mọi khóa là bài toán khá khó, cần biết các tương đương</a:t>
            </a:r>
          </a:p>
          <a:p>
            <a:pPr marL="171450" indent="-171450">
              <a:buFont typeface="Wingdings"/>
              <a:buChar char="è"/>
            </a:pPr>
            <a:r>
              <a:rPr lang="en-US" baseline="0" smtClean="0">
                <a:sym typeface="Wingdings" panose="05000000000000000000" pitchFamily="2" charset="2"/>
              </a:rPr>
              <a:t>Có thể làm bài dựng cây, để loại node mà là thuộc tính dư, hay xác định được các nhánh cây là những khóa với sự thay đổi các thuộc tính tương đương</a:t>
            </a:r>
            <a:endParaRPr lang="en-US" baseline="0" smtClean="0"/>
          </a:p>
        </p:txBody>
      </p:sp>
      <p:sp>
        <p:nvSpPr>
          <p:cNvPr id="4" name="Slide Number Placeholder 3"/>
          <p:cNvSpPr>
            <a:spLocks noGrp="1"/>
          </p:cNvSpPr>
          <p:nvPr>
            <p:ph type="sldNum" sz="quarter" idx="10"/>
          </p:nvPr>
        </p:nvSpPr>
        <p:spPr/>
        <p:txBody>
          <a:bodyPr/>
          <a:lstStyle/>
          <a:p>
            <a:fld id="{127BC6E0-3A6C-4ECC-B604-2D9098C19D8D}" type="slidenum">
              <a:rPr lang="en-US" smtClean="0"/>
              <a:t>27</a:t>
            </a:fld>
            <a:endParaRPr lang="en-US"/>
          </a:p>
        </p:txBody>
      </p:sp>
    </p:spTree>
    <p:extLst>
      <p:ext uri="{BB962C8B-B14F-4D97-AF65-F5344CB8AC3E}">
        <p14:creationId xmlns:p14="http://schemas.microsoft.com/office/powerpoint/2010/main" val="2616750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Có</a:t>
            </a:r>
            <a:r>
              <a:rPr lang="en-US" baseline="0" smtClean="0"/>
              <a:t> nhiều phủ tối tiểu, tùy theo cách làm</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31</a:t>
            </a:fld>
            <a:endParaRPr lang="en-US"/>
          </a:p>
        </p:txBody>
      </p:sp>
    </p:spTree>
    <p:extLst>
      <p:ext uri="{BB962C8B-B14F-4D97-AF65-F5344CB8AC3E}">
        <p14:creationId xmlns:p14="http://schemas.microsoft.com/office/powerpoint/2010/main" val="18743702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32</a:t>
            </a:fld>
            <a:endParaRPr lang="en-US"/>
          </a:p>
        </p:txBody>
      </p:sp>
    </p:spTree>
    <p:extLst>
      <p:ext uri="{BB962C8B-B14F-4D97-AF65-F5344CB8AC3E}">
        <p14:creationId xmlns:p14="http://schemas.microsoft.com/office/powerpoint/2010/main" val="18743702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left"/>
                    </m:oMathParaPr>
                    <m:oMath xmlns:m="http://schemas.openxmlformats.org/officeDocument/2006/math">
                      <m:r>
                        <a:rPr lang="en-US" i="1" smtClean="0">
                          <a:latin typeface="Cambria Math"/>
                        </a:rPr>
                        <m:t>𝑅</m:t>
                      </m:r>
                      <m:r>
                        <a:rPr lang="en-US"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𝑛</m:t>
                          </m:r>
                        </m:sub>
                      </m:sSub>
                      <m:r>
                        <a:rPr lang="en-US" b="0" i="1" smtClean="0">
                          <a:latin typeface="Cambria Math"/>
                        </a:rPr>
                        <m:t>}</m:t>
                      </m:r>
                    </m:oMath>
                  </m:oMathPara>
                </a14:m>
                <a:endParaRPr lang="en-US"/>
              </a:p>
            </p:txBody>
          </p:sp>
        </mc:Choice>
        <mc:Fallback xmlns="">
          <p:sp>
            <p:nvSpPr>
              <p:cNvPr id="3" name="Notes Placeholder 2"/>
              <p:cNvSpPr>
                <a:spLocks noGrp="1"/>
              </p:cNvSpPr>
              <p:nvPr>
                <p:ph type="body" idx="1"/>
              </p:nvPr>
            </p:nvSpPr>
            <p:spPr/>
            <p:txBody>
              <a:bodyPr/>
              <a:lstStyle/>
              <a:p>
                <a:pPr/>
                <a:r>
                  <a:rPr lang="en-US" i="0" smtClean="0">
                    <a:latin typeface="Cambria Math"/>
                  </a:rPr>
                  <a:t>𝑅={</a:t>
                </a:r>
                <a:r>
                  <a:rPr lang="en-US" b="0" i="0" smtClean="0">
                    <a:latin typeface="Cambria Math"/>
                  </a:rPr>
                  <a:t>𝐴_1,𝐴_2,…,𝐴_𝑛}</a:t>
                </a:r>
                <a:endParaRPr lang="en-US"/>
              </a:p>
            </p:txBody>
          </p:sp>
        </mc:Fallback>
      </mc:AlternateContent>
      <p:sp>
        <p:nvSpPr>
          <p:cNvPr id="4" name="Slide Number Placeholder 3"/>
          <p:cNvSpPr>
            <a:spLocks noGrp="1"/>
          </p:cNvSpPr>
          <p:nvPr>
            <p:ph type="sldNum" sz="quarter" idx="10"/>
          </p:nvPr>
        </p:nvSpPr>
        <p:spPr/>
        <p:txBody>
          <a:bodyPr/>
          <a:lstStyle/>
          <a:p>
            <a:fld id="{127BC6E0-3A6C-4ECC-B604-2D9098C19D8D}" type="slidenum">
              <a:rPr lang="en-US" smtClean="0"/>
              <a:t>33</a:t>
            </a:fld>
            <a:endParaRPr lang="en-US"/>
          </a:p>
        </p:txBody>
      </p:sp>
    </p:spTree>
    <p:extLst>
      <p:ext uri="{BB962C8B-B14F-4D97-AF65-F5344CB8AC3E}">
        <p14:creationId xmlns:p14="http://schemas.microsoft.com/office/powerpoint/2010/main" val="3466905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Liên</a:t>
            </a:r>
            <a:r>
              <a:rPr lang="en-US" baseline="0" smtClean="0"/>
              <a:t> quan đến việc tìm ra mọi Khóa</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44</a:t>
            </a:fld>
            <a:endParaRPr lang="en-US"/>
          </a:p>
        </p:txBody>
      </p:sp>
    </p:spTree>
    <p:extLst>
      <p:ext uri="{BB962C8B-B14F-4D97-AF65-F5344CB8AC3E}">
        <p14:creationId xmlns:p14="http://schemas.microsoft.com/office/powerpoint/2010/main" val="20609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Liên</a:t>
            </a:r>
            <a:r>
              <a:rPr lang="en-US" baseline="0" smtClean="0"/>
              <a:t> quan đến việc tìm ra mọi Khóa</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45</a:t>
            </a:fld>
            <a:endParaRPr lang="en-US"/>
          </a:p>
        </p:txBody>
      </p:sp>
    </p:spTree>
    <p:extLst>
      <p:ext uri="{BB962C8B-B14F-4D97-AF65-F5344CB8AC3E}">
        <p14:creationId xmlns:p14="http://schemas.microsoft.com/office/powerpoint/2010/main" val="1670299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Liên</a:t>
            </a:r>
            <a:r>
              <a:rPr lang="en-US" baseline="0" smtClean="0"/>
              <a:t> quan đến việc tìm ra mọi Khóa</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46</a:t>
            </a:fld>
            <a:endParaRPr lang="en-US"/>
          </a:p>
        </p:txBody>
      </p:sp>
    </p:spTree>
    <p:extLst>
      <p:ext uri="{BB962C8B-B14F-4D97-AF65-F5344CB8AC3E}">
        <p14:creationId xmlns:p14="http://schemas.microsoft.com/office/powerpoint/2010/main" val="16702994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Phân</a:t>
            </a:r>
            <a:r>
              <a:rPr lang="en-US" baseline="0" smtClean="0"/>
              <a:t> rả như vậy làm cho lược đồ cơ sở dữ liệu sẽ rất tốt, không dư thừa ,…. Và gần giống như dạng mô hình dữ liệu</a:t>
            </a:r>
            <a:endParaRPr lang="en-US"/>
          </a:p>
        </p:txBody>
      </p:sp>
      <p:sp>
        <p:nvSpPr>
          <p:cNvPr id="4" name="Slide Number Placeholder 3"/>
          <p:cNvSpPr>
            <a:spLocks noGrp="1"/>
          </p:cNvSpPr>
          <p:nvPr>
            <p:ph type="sldNum" sz="quarter" idx="10"/>
          </p:nvPr>
        </p:nvSpPr>
        <p:spPr/>
        <p:txBody>
          <a:bodyPr/>
          <a:lstStyle/>
          <a:p>
            <a:fld id="{127BC6E0-3A6C-4ECC-B604-2D9098C19D8D}" type="slidenum">
              <a:rPr lang="en-US" smtClean="0"/>
              <a:t>47</a:t>
            </a:fld>
            <a:endParaRPr lang="en-US"/>
          </a:p>
        </p:txBody>
      </p:sp>
    </p:spTree>
    <p:extLst>
      <p:ext uri="{BB962C8B-B14F-4D97-AF65-F5344CB8AC3E}">
        <p14:creationId xmlns:p14="http://schemas.microsoft.com/office/powerpoint/2010/main" val="3914548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11/8/2015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125136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3200" b="1">
                <a:latin typeface="Times New Roman" panose="02020603050405020304" pitchFamily="18" charset="0"/>
                <a:cs typeface="Times New Roman" panose="02020603050405020304" pitchFamily="18" charset="0"/>
              </a:defRPr>
            </a:lvl1pPr>
          </a:lstStyle>
          <a:p>
            <a:r>
              <a:rPr lang="en-US" smtClean="0"/>
              <a:t>Click to edit Master title style</a:t>
            </a:r>
            <a:br>
              <a:rPr lang="en-US" smtClean="0"/>
            </a:br>
            <a:endParaRPr lang="en-US"/>
          </a:p>
        </p:txBody>
      </p:sp>
      <p:sp>
        <p:nvSpPr>
          <p:cNvPr id="3" name="Content Placeholder 2"/>
          <p:cNvSpPr>
            <a:spLocks noGrp="1"/>
          </p:cNvSpPr>
          <p:nvPr>
            <p:ph idx="1"/>
          </p:nvPr>
        </p:nvSpPr>
        <p:spPr/>
        <p:txBody>
          <a:bodyPr>
            <a:normAutofit/>
          </a:bodyPr>
          <a:lstStyle>
            <a:lvl1pPr>
              <a:defRPr sz="2800">
                <a:latin typeface="Times New Roman" panose="02020603050405020304" pitchFamily="18" charset="0"/>
                <a:cs typeface="Times New Roman" panose="02020603050405020304" pitchFamily="18" charset="0"/>
              </a:defRPr>
            </a:lvl1pPr>
            <a:lvl2pPr>
              <a:defRPr sz="2800">
                <a:latin typeface="Times New Roman" panose="02020603050405020304" pitchFamily="18" charset="0"/>
                <a:cs typeface="Times New Roman" panose="02020603050405020304" pitchFamily="18" charset="0"/>
              </a:defRPr>
            </a:lvl2pPr>
            <a:lvl3pPr>
              <a:defRPr sz="2800">
                <a:latin typeface="Times New Roman" panose="02020603050405020304" pitchFamily="18" charset="0"/>
                <a:cs typeface="Times New Roman" panose="02020603050405020304" pitchFamily="18" charset="0"/>
              </a:defRPr>
            </a:lvl3pPr>
            <a:lvl4pPr>
              <a:defRPr sz="2800">
                <a:latin typeface="Times New Roman" panose="02020603050405020304" pitchFamily="18" charset="0"/>
                <a:cs typeface="Times New Roman" panose="02020603050405020304" pitchFamily="18" charset="0"/>
              </a:defRPr>
            </a:lvl4pPr>
            <a:lvl5pPr>
              <a:defRPr sz="2800">
                <a:latin typeface="Times New Roman" panose="02020603050405020304" pitchFamily="18" charset="0"/>
                <a:cs typeface="Times New Roman" panose="02020603050405020304"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11/8/2015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372887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23FC10-CAB5-4CCC-8773-2D123589A9E3}" type="datetimeFigureOut">
              <a:rPr lang="en-US" smtClean="0"/>
              <a:t>11/8/2015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429956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smtClean="0"/>
              <a:t>Click to edit Master title style</a:t>
            </a:r>
            <a:br>
              <a:rPr lang="en-US" smtClean="0"/>
            </a:b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23FC10-CAB5-4CCC-8773-2D123589A9E3}" type="datetimeFigureOut">
              <a:rPr lang="en-US" smtClean="0"/>
              <a:t>11/8/2015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568932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23FC10-CAB5-4CCC-8773-2D123589A9E3}" type="datetimeFigureOut">
              <a:rPr lang="en-US" smtClean="0"/>
              <a:t>11/8/2015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243094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23FC10-CAB5-4CCC-8773-2D123589A9E3}" type="datetimeFigureOut">
              <a:rPr lang="en-US" smtClean="0"/>
              <a:t>11/8/2015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068434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3FC10-CAB5-4CCC-8773-2D123589A9E3}" type="datetimeFigureOut">
              <a:rPr lang="en-US" smtClean="0"/>
              <a:t>11/8/2015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110498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23FC10-CAB5-4CCC-8773-2D123589A9E3}" type="datetimeFigureOut">
              <a:rPr lang="en-US" smtClean="0"/>
              <a:t>11/8/2015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925088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23FC10-CAB5-4CCC-8773-2D123589A9E3}" type="datetimeFigureOut">
              <a:rPr lang="en-US" smtClean="0"/>
              <a:t>11/8/2015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072342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11/8/2015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2944526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23FC10-CAB5-4CCC-8773-2D123589A9E3}" type="datetimeFigureOut">
              <a:rPr lang="en-US" smtClean="0"/>
              <a:t>11/8/2015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0400562-4F68-4063-A95E-FFFEBDB36C12}" type="slidenum">
              <a:rPr lang="en-US" smtClean="0"/>
              <a:t>‹#›</a:t>
            </a:fld>
            <a:endParaRPr lang="en-US"/>
          </a:p>
        </p:txBody>
      </p:sp>
    </p:spTree>
    <p:extLst>
      <p:ext uri="{BB962C8B-B14F-4D97-AF65-F5344CB8AC3E}">
        <p14:creationId xmlns:p14="http://schemas.microsoft.com/office/powerpoint/2010/main" val="1313151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t">
            <a:normAutofit/>
          </a:bodyPr>
          <a:lstStyle/>
          <a:p>
            <a:r>
              <a:rPr lang="en-US" smtClean="0"/>
              <a:t>Click to edit Master title style</a:t>
            </a:r>
            <a:br>
              <a:rPr lang="en-US" smtClean="0"/>
            </a:b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23FC10-CAB5-4CCC-8773-2D123589A9E3}" type="datetimeFigureOut">
              <a:rPr lang="en-US" smtClean="0"/>
              <a:t>11/8/2015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A3EB79-FAE2-4654-86B1-78FF01A3C5E0}" type="slidenum">
              <a:rPr lang="en-US" smtClean="0"/>
              <a:t>‹#›</a:t>
            </a:fld>
            <a:endParaRPr lang="en-US"/>
          </a:p>
        </p:txBody>
      </p:sp>
    </p:spTree>
    <p:extLst>
      <p:ext uri="{BB962C8B-B14F-4D97-AF65-F5344CB8AC3E}">
        <p14:creationId xmlns:p14="http://schemas.microsoft.com/office/powerpoint/2010/main" val="41250448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2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smtClean="0"/>
              <a:t>KHÁI NIỆM CĂN BẢN VỀ</a:t>
            </a:r>
            <a:br>
              <a:rPr lang="en-US" sz="4000" smtClean="0"/>
            </a:br>
            <a:r>
              <a:rPr lang="en-US" sz="4000" smtClean="0"/>
              <a:t>CƠ SỞ DỮ LIỆU</a:t>
            </a:r>
            <a:endParaRPr lang="en-US" sz="4000"/>
          </a:p>
        </p:txBody>
      </p:sp>
    </p:spTree>
    <p:extLst>
      <p:ext uri="{BB962C8B-B14F-4D97-AF65-F5344CB8AC3E}">
        <p14:creationId xmlns:p14="http://schemas.microsoft.com/office/powerpoint/2010/main" val="51511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Đặt vấn đề</a:t>
            </a:r>
            <a:br>
              <a:rPr lang="en-US" smtClean="0"/>
            </a:br>
            <a:endParaRPr lang="en-US"/>
          </a:p>
        </p:txBody>
      </p:sp>
      <p:sp>
        <p:nvSpPr>
          <p:cNvPr id="3" name="Content Placeholder 2"/>
          <p:cNvSpPr>
            <a:spLocks noGrp="1"/>
          </p:cNvSpPr>
          <p:nvPr>
            <p:ph idx="1"/>
          </p:nvPr>
        </p:nvSpPr>
        <p:spPr>
          <a:xfrm>
            <a:off x="457200" y="1600200"/>
            <a:ext cx="8229600" cy="4953000"/>
          </a:xfrm>
        </p:spPr>
        <p:txBody>
          <a:bodyPr>
            <a:normAutofit/>
          </a:bodyPr>
          <a:lstStyle/>
          <a:p>
            <a:endParaRPr lang="en-US" smtClean="0"/>
          </a:p>
          <a:p>
            <a:r>
              <a:rPr lang="en-US" smtClean="0"/>
              <a:t>Vai trò của việc quản lý dữ liệu, thông tin</a:t>
            </a:r>
          </a:p>
          <a:p>
            <a:r>
              <a:rPr lang="en-US" smtClean="0"/>
              <a:t>Phương pháp ghi nhận dữ liệu và thông tin</a:t>
            </a:r>
          </a:p>
          <a:p>
            <a:pPr lvl="1"/>
            <a:r>
              <a:rPr lang="en-US" smtClean="0"/>
              <a:t>Hình thức ghi nhận</a:t>
            </a:r>
          </a:p>
          <a:p>
            <a:pPr lvl="1"/>
            <a:r>
              <a:rPr lang="en-US" smtClean="0"/>
              <a:t>Hạn chế </a:t>
            </a:r>
          </a:p>
          <a:p>
            <a:pPr marL="457200" lvl="1" indent="0">
              <a:buNone/>
            </a:pPr>
            <a:endParaRPr lang="en-US"/>
          </a:p>
          <a:p>
            <a:pPr marL="457200" lvl="1" indent="-457200">
              <a:buFont typeface="Wingdings"/>
              <a:buChar char="à"/>
            </a:pPr>
            <a:r>
              <a:rPr lang="en-US" smtClean="0">
                <a:sym typeface="Wingdings" panose="05000000000000000000" pitchFamily="2" charset="2"/>
              </a:rPr>
              <a:t>Cần phải có cách tiếp cận mới là “Cơ sở dữ liệu”</a:t>
            </a:r>
          </a:p>
          <a:p>
            <a:pPr marL="0" lvl="1" indent="0">
              <a:buNone/>
            </a:pPr>
            <a:endParaRPr lang="en-US" smtClean="0"/>
          </a:p>
        </p:txBody>
      </p:sp>
    </p:spTree>
    <p:extLst>
      <p:ext uri="{BB962C8B-B14F-4D97-AF65-F5344CB8AC3E}">
        <p14:creationId xmlns:p14="http://schemas.microsoft.com/office/powerpoint/2010/main" val="213112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Cơ sở dữ liệu</a:t>
            </a:r>
            <a:endParaRPr lang="en-US"/>
          </a:p>
        </p:txBody>
      </p:sp>
      <p:sp>
        <p:nvSpPr>
          <p:cNvPr id="3" name="Content Placeholder 2"/>
          <p:cNvSpPr>
            <a:spLocks noGrp="1"/>
          </p:cNvSpPr>
          <p:nvPr>
            <p:ph idx="1"/>
          </p:nvPr>
        </p:nvSpPr>
        <p:spPr>
          <a:xfrm>
            <a:off x="457200" y="1600200"/>
            <a:ext cx="8610600" cy="5181600"/>
          </a:xfrm>
        </p:spPr>
        <p:txBody>
          <a:bodyPr/>
          <a:lstStyle/>
          <a:p>
            <a:pPr marL="0" indent="0" algn="just">
              <a:buNone/>
            </a:pPr>
            <a:r>
              <a:rPr lang="en-US" smtClean="0"/>
              <a:t>Cơ sở dữ liệu là một tập hợp các dữ liệu dùng chung, có quan hệ logic với nhau. Cùng với mô tả, chúng được thiết kế cho nhu cầu thông tin của một tổ chức.</a:t>
            </a:r>
          </a:p>
          <a:p>
            <a:pPr marL="0" indent="0" algn="just">
              <a:buNone/>
            </a:pPr>
            <a:r>
              <a:rPr lang="en-US" sz="2400" smtClean="0"/>
              <a:t>Thuận lợi</a:t>
            </a:r>
          </a:p>
          <a:p>
            <a:pPr algn="just">
              <a:buFontTx/>
              <a:buChar char="-"/>
            </a:pPr>
            <a:r>
              <a:rPr lang="en-US" sz="2400" smtClean="0"/>
              <a:t>Kiểm soát dư thừa dữ liệu, tăng tính toàn vẹn, nhất quán, bảo mật</a:t>
            </a:r>
          </a:p>
          <a:p>
            <a:pPr algn="just">
              <a:buFontTx/>
              <a:buChar char="-"/>
            </a:pPr>
            <a:r>
              <a:rPr lang="en-US" sz="2400" smtClean="0"/>
              <a:t>Tăng hiệu quả khai thác và quản lý dữ liệu</a:t>
            </a:r>
          </a:p>
          <a:p>
            <a:pPr algn="just">
              <a:buFontTx/>
              <a:buChar char="-"/>
            </a:pPr>
            <a:r>
              <a:rPr lang="en-US" sz="2400" smtClean="0"/>
              <a:t>Tiện lợi cho việc chia sẻ, sao lưu và phục hồi</a:t>
            </a:r>
          </a:p>
          <a:p>
            <a:pPr marL="0" indent="0" algn="just">
              <a:buNone/>
            </a:pPr>
            <a:r>
              <a:rPr lang="en-US" sz="2400" smtClean="0"/>
              <a:t>Bất lợi</a:t>
            </a:r>
          </a:p>
          <a:p>
            <a:pPr algn="just">
              <a:buFontTx/>
              <a:buChar char="-"/>
            </a:pPr>
            <a:r>
              <a:rPr lang="en-US" sz="2400" smtClean="0"/>
              <a:t>Phức tạp</a:t>
            </a:r>
          </a:p>
          <a:p>
            <a:pPr algn="just">
              <a:buFontTx/>
              <a:buChar char="-"/>
            </a:pPr>
            <a:r>
              <a:rPr lang="en-US" sz="2400" smtClean="0"/>
              <a:t>Chí phí cao</a:t>
            </a:r>
          </a:p>
          <a:p>
            <a:pPr algn="just">
              <a:buFontTx/>
              <a:buChar char="-"/>
            </a:pPr>
            <a:endParaRPr lang="en-US" sz="2400"/>
          </a:p>
        </p:txBody>
      </p:sp>
    </p:spTree>
    <p:extLst>
      <p:ext uri="{BB962C8B-B14F-4D97-AF65-F5344CB8AC3E}">
        <p14:creationId xmlns:p14="http://schemas.microsoft.com/office/powerpoint/2010/main" val="224867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Cơ sở dữ liệu</a:t>
            </a:r>
            <a:endParaRPr lang="en-US"/>
          </a:p>
        </p:txBody>
      </p:sp>
      <p:sp>
        <p:nvSpPr>
          <p:cNvPr id="3" name="Content Placeholder 2"/>
          <p:cNvSpPr>
            <a:spLocks noGrp="1"/>
          </p:cNvSpPr>
          <p:nvPr>
            <p:ph idx="1"/>
          </p:nvPr>
        </p:nvSpPr>
        <p:spPr>
          <a:xfrm>
            <a:off x="457200" y="1600200"/>
            <a:ext cx="8686800" cy="5105400"/>
          </a:xfrm>
        </p:spPr>
        <p:txBody>
          <a:bodyPr/>
          <a:lstStyle/>
          <a:p>
            <a:pPr marL="0" indent="0">
              <a:buNone/>
            </a:pPr>
            <a:r>
              <a:rPr lang="en-US" b="1" u="sng" smtClean="0"/>
              <a:t>Hệ quản trị cơ sở dữ liệu</a:t>
            </a:r>
          </a:p>
          <a:p>
            <a:pPr marL="0" indent="0">
              <a:buNone/>
            </a:pPr>
            <a:r>
              <a:rPr lang="en-US" smtClean="0"/>
              <a:t>Một hệ thống phần mềm cho phép người dùng quản trị một cơ sở dữ liệu cùng với nhiều tiện tích khác trên dữ liệu.</a:t>
            </a:r>
          </a:p>
          <a:p>
            <a:pPr marL="0" indent="0">
              <a:buNone/>
            </a:pPr>
            <a:r>
              <a:rPr lang="en-US" b="1" u="sng" smtClean="0"/>
              <a:t>Môi trường cơ sở dữ liệu</a:t>
            </a:r>
          </a:p>
          <a:p>
            <a:pPr marL="0" indent="0">
              <a:buNone/>
            </a:pPr>
            <a:r>
              <a:rPr lang="en-US" smtClean="0"/>
              <a:t>Môi trường bao gồm: phần cứng, phần mềm, dữ liệu, con người và quy trình (thủ tục)</a:t>
            </a:r>
          </a:p>
          <a:p>
            <a:pPr marL="0" indent="0">
              <a:buNone/>
            </a:pPr>
            <a:r>
              <a:rPr lang="en-US" b="1" u="sng" smtClean="0"/>
              <a:t>Mô hình dữ liệu</a:t>
            </a:r>
          </a:p>
          <a:p>
            <a:pPr marL="0" indent="0">
              <a:buNone/>
            </a:pPr>
            <a:r>
              <a:rPr lang="en-US" smtClean="0"/>
              <a:t>Là mô hình trừu tượng của dữ liệu, thể hiện cấu trúc (hay còn gọi là lược đồ). </a:t>
            </a:r>
          </a:p>
        </p:txBody>
      </p:sp>
    </p:spTree>
    <p:extLst>
      <p:ext uri="{BB962C8B-B14F-4D97-AF65-F5344CB8AC3E}">
        <p14:creationId xmlns:p14="http://schemas.microsoft.com/office/powerpoint/2010/main" val="749729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Cơ sở dữ liệu</a:t>
            </a:r>
            <a:br>
              <a:rPr lang="en-US" smtClean="0"/>
            </a:br>
            <a:r>
              <a:rPr lang="en-US" smtClean="0"/>
              <a:t>(Mô hình theo hướng quan niệm)</a:t>
            </a:r>
            <a:endParaRPr lang="en-US"/>
          </a:p>
        </p:txBody>
      </p:sp>
      <p:sp>
        <p:nvSpPr>
          <p:cNvPr id="3" name="Content Placeholder 2"/>
          <p:cNvSpPr>
            <a:spLocks noGrp="1"/>
          </p:cNvSpPr>
          <p:nvPr>
            <p:ph idx="1"/>
          </p:nvPr>
        </p:nvSpPr>
        <p:spPr/>
        <p:txBody>
          <a:bodyPr/>
          <a:lstStyle/>
          <a:p>
            <a:pPr marL="0" indent="0">
              <a:buNone/>
            </a:pPr>
            <a:r>
              <a:rPr lang="en-US" smtClean="0"/>
              <a:t>Các mô hình theo hướng quan niệm gồm các mô hình:</a:t>
            </a:r>
          </a:p>
          <a:p>
            <a:pPr marL="514350" indent="-514350">
              <a:buAutoNum type="arabicPeriod"/>
            </a:pPr>
            <a:r>
              <a:rPr lang="en-US" smtClean="0"/>
              <a:t>Mô hình thực thể kết hợp</a:t>
            </a:r>
          </a:p>
          <a:p>
            <a:pPr marL="514350" indent="-514350">
              <a:buAutoNum type="arabicPeriod"/>
            </a:pPr>
            <a:r>
              <a:rPr lang="en-US" smtClean="0"/>
              <a:t>Mô hình hướng đồi tượng </a:t>
            </a:r>
          </a:p>
          <a:p>
            <a:pPr marL="0" indent="0">
              <a:buNone/>
            </a:pPr>
            <a:r>
              <a:rPr lang="en-US" smtClean="0"/>
              <a:t>Trong một cơ sở dữ liệu, sự trừu tượng hóa chia làm 3 </a:t>
            </a:r>
          </a:p>
          <a:p>
            <a:pPr>
              <a:buFontTx/>
              <a:buChar char="-"/>
            </a:pPr>
            <a:r>
              <a:rPr lang="en-US" smtClean="0"/>
              <a:t>Mức ngoài</a:t>
            </a:r>
          </a:p>
          <a:p>
            <a:pPr>
              <a:buFontTx/>
              <a:buChar char="-"/>
            </a:pPr>
            <a:r>
              <a:rPr lang="en-US" smtClean="0"/>
              <a:t>Mức quan niệm</a:t>
            </a:r>
          </a:p>
          <a:p>
            <a:pPr>
              <a:buFontTx/>
              <a:buChar char="-"/>
            </a:pPr>
            <a:r>
              <a:rPr lang="en-US" smtClean="0"/>
              <a:t>Mức trong</a:t>
            </a:r>
          </a:p>
          <a:p>
            <a:pPr>
              <a:buFontTx/>
              <a:buChar char="-"/>
            </a:pPr>
            <a:endParaRPr lang="en-US" smtClean="0"/>
          </a:p>
        </p:txBody>
      </p:sp>
    </p:spTree>
    <p:extLst>
      <p:ext uri="{BB962C8B-B14F-4D97-AF65-F5344CB8AC3E}">
        <p14:creationId xmlns:p14="http://schemas.microsoft.com/office/powerpoint/2010/main" val="932800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smtClean="0"/>
              <a:t>MÔ HÌNH </a:t>
            </a:r>
            <a:br>
              <a:rPr lang="en-US" sz="4000" smtClean="0"/>
            </a:br>
            <a:r>
              <a:rPr lang="en-US" sz="4000" smtClean="0"/>
              <a:t>CƠ SỞ DỮ LIỆU QUAN HỆ</a:t>
            </a:r>
            <a:endParaRPr lang="en-US" sz="4000"/>
          </a:p>
        </p:txBody>
      </p:sp>
    </p:spTree>
    <p:extLst>
      <p:ext uri="{BB962C8B-B14F-4D97-AF65-F5344CB8AC3E}">
        <p14:creationId xmlns:p14="http://schemas.microsoft.com/office/powerpoint/2010/main" val="12339329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534400" cy="5029200"/>
              </a:xfrm>
            </p:spPr>
            <p:txBody>
              <a:bodyPr/>
              <a:lstStyle/>
              <a:p>
                <a:pPr marL="0" indent="0">
                  <a:buNone/>
                </a:pPr>
                <a14:m>
                  <m:oMath xmlns:m="http://schemas.openxmlformats.org/officeDocument/2006/math">
                    <m:r>
                      <a:rPr lang="en-US" i="1" smtClean="0">
                        <a:latin typeface="Cambria Math"/>
                      </a:rPr>
                      <m:t>𝑆𝑉</m:t>
                    </m:r>
                  </m:oMath>
                </a14:m>
                <a:r>
                  <a:rPr lang="en-US" smtClean="0"/>
                  <a:t> được gọi là quan hệ.</a:t>
                </a:r>
              </a:p>
              <a:p>
                <a:pPr marL="0" indent="0">
                  <a:buNone/>
                </a:pPr>
                <a14:m>
                  <m:oMath xmlns:m="http://schemas.openxmlformats.org/officeDocument/2006/math">
                    <m:r>
                      <a:rPr lang="en-US" i="1" smtClean="0">
                        <a:latin typeface="Cambria Math"/>
                      </a:rPr>
                      <m:t>𝑇𝑇</m:t>
                    </m:r>
                    <m:r>
                      <a:rPr lang="en-US" i="1" smtClean="0">
                        <a:latin typeface="Cambria Math"/>
                      </a:rPr>
                      <m:t>={</m:t>
                    </m:r>
                    <m:r>
                      <a:rPr lang="en-US" i="1" smtClean="0">
                        <a:latin typeface="Cambria Math"/>
                      </a:rPr>
                      <m:t>𝑚𝑎𝑠𝑣</m:t>
                    </m:r>
                    <m:r>
                      <a:rPr lang="en-US" i="1" smtClean="0">
                        <a:latin typeface="Cambria Math"/>
                      </a:rPr>
                      <m:t>, </m:t>
                    </m:r>
                    <m:r>
                      <a:rPr lang="en-US" i="1" smtClean="0">
                        <a:latin typeface="Cambria Math"/>
                      </a:rPr>
                      <m:t>h𝑜𝑡𝑒𝑛</m:t>
                    </m:r>
                    <m:r>
                      <a:rPr lang="en-US" i="1" smtClean="0">
                        <a:latin typeface="Cambria Math"/>
                      </a:rPr>
                      <m:t>, </m:t>
                    </m:r>
                    <m:r>
                      <a:rPr lang="en-US" i="1" smtClean="0">
                        <a:latin typeface="Cambria Math"/>
                      </a:rPr>
                      <m:t>𝑙𝑜𝑝</m:t>
                    </m:r>
                    <m:r>
                      <a:rPr lang="en-US" i="1" smtClean="0">
                        <a:latin typeface="Cambria Math"/>
                      </a:rPr>
                      <m:t>}</m:t>
                    </m:r>
                  </m:oMath>
                </a14:m>
                <a:r>
                  <a:rPr lang="en-US" smtClean="0"/>
                  <a:t>, khi đó </a:t>
                </a:r>
                <a14:m>
                  <m:oMath xmlns:m="http://schemas.openxmlformats.org/officeDocument/2006/math">
                    <m:r>
                      <a:rPr lang="en-US" i="1" smtClean="0">
                        <a:latin typeface="Cambria Math"/>
                      </a:rPr>
                      <m:t>𝑇𝑇</m:t>
                    </m:r>
                  </m:oMath>
                </a14:m>
                <a:r>
                  <a:rPr lang="en-US" smtClean="0"/>
                  <a:t> là một lược đồ quan hệ, đó chính là tập các thuộc tính.</a:t>
                </a:r>
              </a:p>
              <a:p>
                <a:pPr marL="0" indent="0">
                  <a:buNone/>
                </a:pPr>
                <a:endParaRPr lang="en-US"/>
              </a:p>
              <a:p>
                <a:pPr marL="0" indent="0">
                  <a:buNone/>
                </a:pPr>
                <a:endParaRPr lang="en-US" smtClean="0"/>
              </a:p>
              <a:p>
                <a:pPr marL="0" indent="0">
                  <a:buNone/>
                </a:pPr>
                <a:endParaRPr lang="en-US"/>
              </a:p>
              <a:p>
                <a:pPr marL="0" indent="0">
                  <a:buNone/>
                </a:pPr>
                <a:endParaRPr lang="en-US" smtClean="0"/>
              </a:p>
              <a:p>
                <a:pPr marL="0" indent="0">
                  <a:buNone/>
                </a:pPr>
                <a:endParaRPr lang="en-US"/>
              </a:p>
              <a:p>
                <a:pPr marL="0" indent="0">
                  <a:buNone/>
                </a:pPr>
                <a:r>
                  <a:rPr lang="en-US" smtClean="0"/>
                  <a:t>Miền giá trị của thuộc tính </a:t>
                </a:r>
                <a14:m>
                  <m:oMath xmlns:m="http://schemas.openxmlformats.org/officeDocument/2006/math">
                    <m:r>
                      <a:rPr lang="en-US" i="1" smtClean="0">
                        <a:latin typeface="Cambria Math"/>
                      </a:rPr>
                      <m:t>𝑙𝑜𝑝</m:t>
                    </m:r>
                  </m:oMath>
                </a14:m>
                <a:r>
                  <a:rPr lang="en-US" smtClean="0"/>
                  <a:t> có thể là tập các giá trị như sau </a:t>
                </a:r>
                <a14:m>
                  <m:oMath xmlns:m="http://schemas.openxmlformats.org/officeDocument/2006/math">
                    <m:r>
                      <a:rPr lang="en-US" i="1" smtClean="0">
                        <a:latin typeface="Cambria Math"/>
                      </a:rPr>
                      <m:t>{“</m:t>
                    </m:r>
                    <m:r>
                      <a:rPr lang="en-US" i="1" smtClean="0">
                        <a:latin typeface="Cambria Math"/>
                      </a:rPr>
                      <m:t>𝑇𝑂</m:t>
                    </m:r>
                    <m:r>
                      <a:rPr lang="en-US" i="1" smtClean="0">
                        <a:latin typeface="Cambria Math"/>
                      </a:rPr>
                      <m:t>”, “</m:t>
                    </m:r>
                    <m:r>
                      <a:rPr lang="en-US" i="1" smtClean="0">
                        <a:latin typeface="Cambria Math"/>
                      </a:rPr>
                      <m:t>𝑇𝐻</m:t>
                    </m:r>
                    <m:r>
                      <a:rPr lang="en-US" i="1" smtClean="0">
                        <a:latin typeface="Cambria Math"/>
                      </a:rPr>
                      <m:t>”, “</m:t>
                    </m:r>
                    <m:r>
                      <a:rPr lang="en-US" i="1" smtClean="0">
                        <a:latin typeface="Cambria Math"/>
                      </a:rPr>
                      <m:t>𝑄𝑇</m:t>
                    </m:r>
                    <m:r>
                      <a:rPr lang="en-US" i="1" smtClean="0">
                        <a:latin typeface="Cambria Math"/>
                      </a:rPr>
                      <m:t>”, … }</m:t>
                    </m:r>
                  </m:oMath>
                </a14:m>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534400" cy="5029200"/>
              </a:xfrm>
              <a:blipFill rotWithShape="1">
                <a:blip r:embed="rId2"/>
                <a:stretch>
                  <a:fillRect l="-1429" t="-1212" r="-2000" b="-1818"/>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1359679946"/>
              </p:ext>
            </p:extLst>
          </p:nvPr>
        </p:nvGraphicFramePr>
        <p:xfrm>
          <a:off x="533400" y="3124200"/>
          <a:ext cx="3048001" cy="2225040"/>
        </p:xfrm>
        <a:graphic>
          <a:graphicData uri="http://schemas.openxmlformats.org/drawingml/2006/table">
            <a:tbl>
              <a:tblPr firstRow="1" bandRow="1">
                <a:tableStyleId>{5C22544A-7EE6-4342-B048-85BDC9FD1C3A}</a:tableStyleId>
              </a:tblPr>
              <a:tblGrid>
                <a:gridCol w="703385"/>
                <a:gridCol w="703385"/>
                <a:gridCol w="1055077"/>
                <a:gridCol w="586154"/>
              </a:tblGrid>
              <a:tr h="370840">
                <a:tc>
                  <a:txBody>
                    <a:bodyPr/>
                    <a:lstStyle/>
                    <a:p>
                      <a:r>
                        <a:rPr lang="en-US" smtClean="0">
                          <a:solidFill>
                            <a:schemeClr val="tx1"/>
                          </a:solidFill>
                        </a:rPr>
                        <a:t>SV</a:t>
                      </a:r>
                      <a:endParaRPr lang="en-US">
                        <a:solidFill>
                          <a:schemeClr val="tx1"/>
                        </a:solidFill>
                      </a:endParaRPr>
                    </a:p>
                  </a:txBody>
                  <a:tcPr>
                    <a:noFill/>
                  </a:tcPr>
                </a:tc>
                <a:tc>
                  <a:txBody>
                    <a:bodyPr/>
                    <a:lstStyle/>
                    <a:p>
                      <a:r>
                        <a:rPr lang="en-US" smtClean="0"/>
                        <a:t>masv</a:t>
                      </a:r>
                      <a:endParaRPr lang="en-US"/>
                    </a:p>
                  </a:txBody>
                  <a:tcPr/>
                </a:tc>
                <a:tc>
                  <a:txBody>
                    <a:bodyPr/>
                    <a:lstStyle/>
                    <a:p>
                      <a:r>
                        <a:rPr lang="en-US" smtClean="0"/>
                        <a:t>hoten</a:t>
                      </a:r>
                      <a:endParaRPr lang="en-US"/>
                    </a:p>
                  </a:txBody>
                  <a:tcPr/>
                </a:tc>
                <a:tc>
                  <a:txBody>
                    <a:bodyPr/>
                    <a:lstStyle/>
                    <a:p>
                      <a:r>
                        <a:rPr lang="en-US" smtClean="0"/>
                        <a:t>lop</a:t>
                      </a:r>
                      <a:endParaRPr lang="en-US"/>
                    </a:p>
                  </a:txBody>
                  <a:tcPr/>
                </a:tc>
              </a:tr>
              <a:tr h="370840">
                <a:tc rowSpan="5">
                  <a:txBody>
                    <a:bodyPr/>
                    <a:lstStyle/>
                    <a:p>
                      <a:endParaRPr lang="en-US"/>
                    </a:p>
                  </a:txBody>
                  <a:tcPr>
                    <a:noFill/>
                  </a:tcPr>
                </a:tc>
                <a:tc>
                  <a:txBody>
                    <a:bodyPr/>
                    <a:lstStyle/>
                    <a:p>
                      <a:r>
                        <a:rPr lang="en-US" smtClean="0"/>
                        <a:t>S1</a:t>
                      </a:r>
                      <a:endParaRPr lang="en-US"/>
                    </a:p>
                  </a:txBody>
                  <a:tcPr/>
                </a:tc>
                <a:tc>
                  <a:txBody>
                    <a:bodyPr/>
                    <a:lstStyle/>
                    <a:p>
                      <a:r>
                        <a:rPr lang="en-US" smtClean="0"/>
                        <a:t>Hoàng</a:t>
                      </a:r>
                      <a:endParaRPr lang="en-US"/>
                    </a:p>
                  </a:txBody>
                  <a:tcPr/>
                </a:tc>
                <a:tc>
                  <a:txBody>
                    <a:bodyPr/>
                    <a:lstStyle/>
                    <a:p>
                      <a:r>
                        <a:rPr lang="en-US" smtClean="0"/>
                        <a:t>TO</a:t>
                      </a:r>
                      <a:endParaRPr lang="en-US"/>
                    </a:p>
                  </a:txBody>
                  <a:tcPr/>
                </a:tc>
              </a:tr>
              <a:tr h="370840">
                <a:tc vMerge="1">
                  <a:txBody>
                    <a:bodyPr/>
                    <a:lstStyle/>
                    <a:p>
                      <a:endParaRPr lang="en-US"/>
                    </a:p>
                  </a:txBody>
                  <a:tcPr/>
                </a:tc>
                <a:tc>
                  <a:txBody>
                    <a:bodyPr/>
                    <a:lstStyle/>
                    <a:p>
                      <a:r>
                        <a:rPr lang="en-US" smtClean="0"/>
                        <a:t>S2</a:t>
                      </a:r>
                      <a:endParaRPr lang="en-US"/>
                    </a:p>
                  </a:txBody>
                  <a:tcPr/>
                </a:tc>
                <a:tc>
                  <a:txBody>
                    <a:bodyPr/>
                    <a:lstStyle/>
                    <a:p>
                      <a:r>
                        <a:rPr lang="en-US" smtClean="0"/>
                        <a:t>Nhân</a:t>
                      </a:r>
                      <a:endParaRPr lang="en-US"/>
                    </a:p>
                  </a:txBody>
                  <a:tcPr/>
                </a:tc>
                <a:tc>
                  <a:txBody>
                    <a:bodyPr/>
                    <a:lstStyle/>
                    <a:p>
                      <a:r>
                        <a:rPr lang="en-US" smtClean="0"/>
                        <a:t>TO</a:t>
                      </a:r>
                      <a:endParaRPr lang="en-US"/>
                    </a:p>
                  </a:txBody>
                  <a:tcPr/>
                </a:tc>
              </a:tr>
              <a:tr h="370840">
                <a:tc vMerge="1">
                  <a:txBody>
                    <a:bodyPr/>
                    <a:lstStyle/>
                    <a:p>
                      <a:endParaRPr lang="en-US"/>
                    </a:p>
                  </a:txBody>
                  <a:tcPr/>
                </a:tc>
                <a:tc>
                  <a:txBody>
                    <a:bodyPr/>
                    <a:lstStyle/>
                    <a:p>
                      <a:r>
                        <a:rPr lang="en-US" smtClean="0"/>
                        <a:t>S3</a:t>
                      </a:r>
                      <a:endParaRPr lang="en-US"/>
                    </a:p>
                  </a:txBody>
                  <a:tcPr/>
                </a:tc>
                <a:tc>
                  <a:txBody>
                    <a:bodyPr/>
                    <a:lstStyle/>
                    <a:p>
                      <a:r>
                        <a:rPr lang="en-US" smtClean="0"/>
                        <a:t>Vân</a:t>
                      </a:r>
                      <a:endParaRPr lang="en-US"/>
                    </a:p>
                  </a:txBody>
                  <a:tcPr/>
                </a:tc>
                <a:tc>
                  <a:txBody>
                    <a:bodyPr/>
                    <a:lstStyle/>
                    <a:p>
                      <a:r>
                        <a:rPr lang="en-US" smtClean="0"/>
                        <a:t>TH</a:t>
                      </a:r>
                      <a:endParaRPr lang="en-US"/>
                    </a:p>
                  </a:txBody>
                  <a:tcPr/>
                </a:tc>
              </a:tr>
              <a:tr h="370840">
                <a:tc vMerge="1">
                  <a:txBody>
                    <a:bodyPr/>
                    <a:lstStyle/>
                    <a:p>
                      <a:endParaRPr lang="en-US"/>
                    </a:p>
                  </a:txBody>
                  <a:tcPr/>
                </a:tc>
                <a:tc>
                  <a:txBody>
                    <a:bodyPr/>
                    <a:lstStyle/>
                    <a:p>
                      <a:r>
                        <a:rPr lang="en-US" smtClean="0"/>
                        <a:t>S4</a:t>
                      </a:r>
                      <a:endParaRPr lang="en-US"/>
                    </a:p>
                  </a:txBody>
                  <a:tcPr/>
                </a:tc>
                <a:tc>
                  <a:txBody>
                    <a:bodyPr/>
                    <a:lstStyle/>
                    <a:p>
                      <a:r>
                        <a:rPr lang="en-US" smtClean="0"/>
                        <a:t>Hương</a:t>
                      </a:r>
                      <a:endParaRPr lang="en-US"/>
                    </a:p>
                  </a:txBody>
                  <a:tcPr/>
                </a:tc>
                <a:tc>
                  <a:txBody>
                    <a:bodyPr/>
                    <a:lstStyle/>
                    <a:p>
                      <a:r>
                        <a:rPr lang="en-US" smtClean="0"/>
                        <a:t>TH</a:t>
                      </a:r>
                      <a:endParaRPr lang="en-US"/>
                    </a:p>
                  </a:txBody>
                  <a:tcPr/>
                </a:tc>
              </a:tr>
              <a:tr h="370840">
                <a:tc vMerge="1">
                  <a:txBody>
                    <a:bodyPr/>
                    <a:lstStyle/>
                    <a:p>
                      <a:endParaRPr lang="en-US"/>
                    </a:p>
                  </a:txBody>
                  <a:tcPr/>
                </a:tc>
                <a:tc>
                  <a:txBody>
                    <a:bodyPr/>
                    <a:lstStyle/>
                    <a:p>
                      <a:r>
                        <a:rPr lang="en-US" smtClean="0"/>
                        <a:t>S5</a:t>
                      </a:r>
                      <a:endParaRPr lang="en-US"/>
                    </a:p>
                  </a:txBody>
                  <a:tcPr/>
                </a:tc>
                <a:tc>
                  <a:txBody>
                    <a:bodyPr/>
                    <a:lstStyle/>
                    <a:p>
                      <a:r>
                        <a:rPr lang="en-US" smtClean="0"/>
                        <a:t>Linh</a:t>
                      </a:r>
                      <a:endParaRPr lang="en-US"/>
                    </a:p>
                  </a:txBody>
                  <a:tcPr/>
                </a:tc>
                <a:tc>
                  <a:txBody>
                    <a:bodyPr/>
                    <a:lstStyle/>
                    <a:p>
                      <a:r>
                        <a:rPr lang="en-US" smtClean="0"/>
                        <a:t>TO</a:t>
                      </a:r>
                      <a:endParaRPr lang="en-US"/>
                    </a:p>
                  </a:txBody>
                  <a:tcPr/>
                </a:tc>
              </a:tr>
            </a:tbl>
          </a:graphicData>
        </a:graphic>
      </p:graphicFrame>
      <p:cxnSp>
        <p:nvCxnSpPr>
          <p:cNvPr id="6" name="Straight Arrow Connector 5"/>
          <p:cNvCxnSpPr/>
          <p:nvPr/>
        </p:nvCxnSpPr>
        <p:spPr>
          <a:xfrm>
            <a:off x="3505200" y="3276600"/>
            <a:ext cx="1295400"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3048000" y="4953000"/>
            <a:ext cx="381000" cy="381000"/>
          </a:xfrm>
          <a:prstGeom prst="ellipse">
            <a:avLst/>
          </a:prstGeom>
          <a:noFill/>
          <a:ln>
            <a:solidFill>
              <a:srgbClr val="0070C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9" name="Straight Arrow Connector 8"/>
          <p:cNvCxnSpPr>
            <a:stCxn id="7" idx="6"/>
          </p:cNvCxnSpPr>
          <p:nvPr/>
        </p:nvCxnSpPr>
        <p:spPr>
          <a:xfrm>
            <a:off x="3429000" y="5143500"/>
            <a:ext cx="11430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4615869" y="4964668"/>
            <a:ext cx="946731" cy="369332"/>
          </a:xfrm>
          <a:prstGeom prst="rect">
            <a:avLst/>
          </a:prstGeom>
          <a:noFill/>
        </p:spPr>
        <p:txBody>
          <a:bodyPr wrap="square" rtlCol="0">
            <a:spAutoFit/>
          </a:bodyPr>
          <a:lstStyle/>
          <a:p>
            <a:r>
              <a:rPr lang="en-US" smtClean="0"/>
              <a:t>Giá trị</a:t>
            </a:r>
            <a:endParaRPr lang="en-US"/>
          </a:p>
        </p:txBody>
      </p:sp>
      <p:sp>
        <p:nvSpPr>
          <p:cNvPr id="11" name="TextBox 10"/>
          <p:cNvSpPr txBox="1"/>
          <p:nvPr/>
        </p:nvSpPr>
        <p:spPr>
          <a:xfrm>
            <a:off x="4800600" y="3091934"/>
            <a:ext cx="1295400" cy="369332"/>
          </a:xfrm>
          <a:prstGeom prst="rect">
            <a:avLst/>
          </a:prstGeom>
          <a:noFill/>
        </p:spPr>
        <p:txBody>
          <a:bodyPr wrap="square" rtlCol="0">
            <a:spAutoFit/>
          </a:bodyPr>
          <a:lstStyle/>
          <a:p>
            <a:r>
              <a:rPr lang="en-US" smtClean="0"/>
              <a:t>Thuộc tính</a:t>
            </a:r>
            <a:endParaRPr lang="en-US"/>
          </a:p>
        </p:txBody>
      </p:sp>
      <p:sp>
        <p:nvSpPr>
          <p:cNvPr id="12" name="Rounded Rectangle 11"/>
          <p:cNvSpPr/>
          <p:nvPr/>
        </p:nvSpPr>
        <p:spPr>
          <a:xfrm>
            <a:off x="1143000" y="4191000"/>
            <a:ext cx="2514600" cy="457200"/>
          </a:xfrm>
          <a:prstGeom prst="round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4" name="Straight Arrow Connector 13"/>
          <p:cNvCxnSpPr>
            <a:stCxn id="12" idx="3"/>
          </p:cNvCxnSpPr>
          <p:nvPr/>
        </p:nvCxnSpPr>
        <p:spPr>
          <a:xfrm>
            <a:off x="3657600" y="4419600"/>
            <a:ext cx="1066800" cy="0"/>
          </a:xfrm>
          <a:prstGeom prst="straightConnector1">
            <a:avLst/>
          </a:prstGeom>
          <a:ln w="28575">
            <a:solidFill>
              <a:schemeClr val="accent6">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762500" y="4234934"/>
            <a:ext cx="3238500" cy="369332"/>
          </a:xfrm>
          <a:prstGeom prst="rect">
            <a:avLst/>
          </a:prstGeom>
          <a:noFill/>
        </p:spPr>
        <p:txBody>
          <a:bodyPr wrap="square" rtlCol="0">
            <a:spAutoFit/>
          </a:bodyPr>
          <a:lstStyle/>
          <a:p>
            <a:r>
              <a:rPr lang="en-US" smtClean="0"/>
              <a:t>1 dòng dữ liệu hay là 1 bộ</a:t>
            </a:r>
            <a:endParaRPr lang="en-US"/>
          </a:p>
        </p:txBody>
      </p:sp>
      <p:sp>
        <p:nvSpPr>
          <p:cNvPr id="16" name="Rectangle 15"/>
          <p:cNvSpPr/>
          <p:nvPr/>
        </p:nvSpPr>
        <p:spPr>
          <a:xfrm>
            <a:off x="990600" y="3507322"/>
            <a:ext cx="2743200" cy="1948934"/>
          </a:xfrm>
          <a:prstGeom prst="rect">
            <a:avLst/>
          </a:prstGeom>
          <a:noFill/>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cxnSp>
        <p:nvCxnSpPr>
          <p:cNvPr id="18" name="Straight Arrow Connector 17"/>
          <p:cNvCxnSpPr/>
          <p:nvPr/>
        </p:nvCxnSpPr>
        <p:spPr>
          <a:xfrm>
            <a:off x="3733800" y="3810000"/>
            <a:ext cx="990600" cy="0"/>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761662" y="3625334"/>
            <a:ext cx="3772737" cy="369332"/>
          </a:xfrm>
          <a:prstGeom prst="rect">
            <a:avLst/>
          </a:prstGeom>
          <a:noFill/>
        </p:spPr>
        <p:txBody>
          <a:bodyPr wrap="square" rtlCol="0">
            <a:spAutoFit/>
          </a:bodyPr>
          <a:lstStyle/>
          <a:p>
            <a:r>
              <a:rPr lang="en-US" smtClean="0"/>
              <a:t>1 thể hiện của quan hệ (tập các bộ) </a:t>
            </a:r>
            <a:endParaRPr lang="en-US"/>
          </a:p>
        </p:txBody>
      </p:sp>
    </p:spTree>
    <p:extLst>
      <p:ext uri="{BB962C8B-B14F-4D97-AF65-F5344CB8AC3E}">
        <p14:creationId xmlns:p14="http://schemas.microsoft.com/office/powerpoint/2010/main" val="40978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cơ sở dữ liệu quan hệ</a:t>
            </a:r>
            <a:r>
              <a:rPr lang="en-US" smtClean="0"/>
              <a:t/>
            </a:r>
            <a:br>
              <a:rPr lang="en-US" smtClean="0"/>
            </a:br>
            <a:r>
              <a:rPr lang="en-US" i="1" smtClean="0"/>
              <a:t>(Một số quy ước)</a:t>
            </a:r>
            <a:endParaRPr lang="en-US" i="1"/>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229600" cy="4953000"/>
              </a:xfrm>
            </p:spPr>
            <p:txBody>
              <a:bodyPr>
                <a:normAutofit/>
              </a:bodyPr>
              <a:lstStyle/>
              <a:p>
                <a:pPr marL="0" indent="0">
                  <a:buNone/>
                </a:pPr>
                <a:r>
                  <a:rPr lang="en-US" smtClean="0"/>
                  <a:t>Cho một lược đồ quan hệ ký hiệu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𝑅</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𝑛</m:t>
                          </m:r>
                        </m:sub>
                      </m:sSub>
                      <m:r>
                        <a:rPr lang="en-US" b="0" i="1" smtClean="0">
                          <a:latin typeface="Cambria Math"/>
                        </a:rPr>
                        <m:t>}</m:t>
                      </m:r>
                    </m:oMath>
                  </m:oMathPara>
                </a14:m>
                <a:endParaRPr lang="en-US" smtClean="0"/>
              </a:p>
              <a:p>
                <a:pPr marL="0" indent="0">
                  <a:buNone/>
                </a:pPr>
                <a:r>
                  <a:rPr lang="en-US" smtClean="0"/>
                  <a:t>Trong đó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oMath>
                </a14:m>
                <a:r>
                  <a:rPr lang="en-US" smtClean="0"/>
                  <a:t> được coi là thuộc tính của lược đồ </a:t>
                </a:r>
                <a14:m>
                  <m:oMath xmlns:m="http://schemas.openxmlformats.org/officeDocument/2006/math">
                    <m:r>
                      <a:rPr lang="en-US" i="1" smtClean="0">
                        <a:latin typeface="Cambria Math"/>
                      </a:rPr>
                      <m:t>𝑅</m:t>
                    </m:r>
                  </m:oMath>
                </a14:m>
                <a:endParaRPr lang="en-US" smtClean="0"/>
              </a:p>
              <a:p>
                <a:pPr marL="0" indent="0">
                  <a:buNone/>
                </a:pPr>
                <a:r>
                  <a:rPr lang="en-US" smtClean="0"/>
                  <a:t>Miền giá trị của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oMath>
                </a14:m>
                <a:r>
                  <a:rPr lang="en-US" smtClean="0"/>
                  <a:t> ký hiệu là </a:t>
                </a:r>
                <a14:m>
                  <m:oMath xmlns:m="http://schemas.openxmlformats.org/officeDocument/2006/math">
                    <m:r>
                      <a:rPr lang="en-US" i="1" smtClean="0">
                        <a:latin typeface="Cambria Math"/>
                      </a:rPr>
                      <m:t>𝑑𝑜𝑚</m:t>
                    </m:r>
                    <m:d>
                      <m:dPr>
                        <m:ctrlPr>
                          <a:rPr lang="en-US"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i="1" smtClean="0">
                                <a:latin typeface="Cambria Math"/>
                              </a:rPr>
                              <m:t>𝐴</m:t>
                            </m:r>
                          </m:e>
                          <m:sub>
                            <m:r>
                              <a:rPr lang="en-US" b="0" i="1" smtClean="0">
                                <a:latin typeface="Cambria Math"/>
                              </a:rPr>
                              <m:t>𝑖</m:t>
                            </m:r>
                          </m:sub>
                        </m:sSub>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𝐷</m:t>
                        </m:r>
                      </m:e>
                      <m:sub>
                        <m:r>
                          <a:rPr lang="en-US" b="0" i="1" smtClean="0">
                            <a:latin typeface="Cambria Math"/>
                          </a:rPr>
                          <m:t>𝑖</m:t>
                        </m:r>
                      </m:sub>
                    </m:sSub>
                  </m:oMath>
                </a14:m>
                <a:endParaRPr lang="en-US" smtClean="0"/>
              </a:p>
              <a:p>
                <a:pPr marL="0" indent="0">
                  <a:buNone/>
                </a:pPr>
                <a:r>
                  <a:rPr lang="en-US" smtClean="0"/>
                  <a:t>Quan hệ là tập các bộ </a:t>
                </a:r>
                <a14:m>
                  <m:oMath xmlns:m="http://schemas.openxmlformats.org/officeDocument/2006/math">
                    <m:r>
                      <a:rPr lang="en-US" i="1" smtClean="0">
                        <a:latin typeface="Cambria Math"/>
                      </a:rPr>
                      <m:t>𝑡</m:t>
                    </m:r>
                  </m:oMath>
                </a14:m>
                <a:r>
                  <a:rPr lang="en-US" smtClean="0"/>
                  <a:t>, ký hiệu là </a:t>
                </a:r>
              </a:p>
              <a:p>
                <a:pPr marL="0" indent="0">
                  <a:buNone/>
                </a:pPr>
                <a14:m>
                  <m:oMathPara xmlns:m="http://schemas.openxmlformats.org/officeDocument/2006/math">
                    <m:oMathParaPr>
                      <m:jc m:val="centerGroup"/>
                    </m:oMathParaPr>
                    <m:oMath xmlns:m="http://schemas.openxmlformats.org/officeDocument/2006/math">
                      <m:r>
                        <a:rPr lang="en-US" i="1" smtClean="0">
                          <a:latin typeface="Cambria Math"/>
                        </a:rPr>
                        <m:t>𝑟</m:t>
                      </m:r>
                      <m:r>
                        <a:rPr lang="en-US" b="0" i="1" smtClean="0">
                          <a:latin typeface="Cambria Math"/>
                        </a:rPr>
                        <m:t>=</m:t>
                      </m:r>
                      <m:r>
                        <a:rPr lang="en-US" b="0" i="1" smtClean="0">
                          <a:latin typeface="Cambria Math"/>
                        </a:rPr>
                        <m:t>𝑟</m:t>
                      </m:r>
                      <m:d>
                        <m:dPr>
                          <m:ctrlPr>
                            <a:rPr lang="en-US" b="0" i="1" smtClean="0">
                              <a:latin typeface="Cambria Math" panose="02040503050406030204" pitchFamily="18" charset="0"/>
                            </a:rPr>
                          </m:ctrlPr>
                        </m:dPr>
                        <m:e>
                          <m:r>
                            <a:rPr lang="en-US" b="0" i="1" smtClean="0">
                              <a:latin typeface="Cambria Math"/>
                            </a:rPr>
                            <m:t>𝑅</m:t>
                          </m:r>
                        </m:e>
                      </m:d>
                      <m:r>
                        <a:rPr lang="en-US" b="0" i="1" smtClean="0">
                          <a:latin typeface="Cambria Math"/>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𝑚</m:t>
                              </m:r>
                            </m:sub>
                          </m:sSub>
                        </m:e>
                      </m:d>
                      <m:r>
                        <a:rPr lang="en-US" b="0" i="1" smtClean="0">
                          <a:latin typeface="Cambria Math"/>
                        </a:rPr>
                        <m:t> </m:t>
                      </m:r>
                    </m:oMath>
                  </m:oMathPara>
                </a14:m>
                <a:endParaRPr lang="en-US" smtClean="0"/>
              </a:p>
              <a:p>
                <a:pPr marL="0" indent="0">
                  <a:buNone/>
                </a:pPr>
                <a:r>
                  <a:rPr lang="en-US" smtClean="0"/>
                  <a:t>Mỗi bộ t là tập các giá trị của thuộc tính, ký hiệu</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𝑡</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r>
                        <a:rPr lang="en-US" b="0" i="1" smtClean="0">
                          <a:latin typeface="Cambria Math"/>
                        </a:rPr>
                        <m:t>)</m:t>
                      </m:r>
                    </m:oMath>
                  </m:oMathPara>
                </a14:m>
                <a:endParaRPr lang="en-US" smtClean="0"/>
              </a:p>
              <a:p>
                <a:pPr marL="0" indent="0">
                  <a:buNone/>
                </a:pPr>
                <a:r>
                  <a:rPr lang="en-US" smtClean="0"/>
                  <a:t>Trong đó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𝑡</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𝑎</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𝐷</m:t>
                          </m:r>
                        </m:e>
                        <m:sub>
                          <m:r>
                            <a:rPr lang="en-US" b="0" i="1" smtClean="0">
                              <a:latin typeface="Cambria Math"/>
                            </a:rPr>
                            <m:t>𝑖</m:t>
                          </m:r>
                        </m:sub>
                      </m:sSub>
                      <m:r>
                        <a:rPr lang="en-US" b="0" i="1" smtClean="0">
                          <a:latin typeface="Cambria Math"/>
                        </a:rPr>
                        <m:t>      (∀1≤</m:t>
                      </m:r>
                      <m:r>
                        <a:rPr lang="en-US" b="0" i="1" smtClean="0">
                          <a:latin typeface="Cambria Math"/>
                        </a:rPr>
                        <m:t>𝑖</m:t>
                      </m:r>
                      <m:r>
                        <a:rPr lang="en-US" b="0" i="1" smtClean="0">
                          <a:latin typeface="Cambria Math"/>
                        </a:rPr>
                        <m:t>≤</m:t>
                      </m:r>
                      <m:r>
                        <a:rPr lang="en-US" b="0" i="1" smtClean="0">
                          <a:latin typeface="Cambria Math"/>
                        </a:rPr>
                        <m:t>𝑛</m:t>
                      </m:r>
                      <m:r>
                        <a:rPr lang="en-US" b="0" i="1" smtClean="0">
                          <a:latin typeface="Cambria Math"/>
                        </a:rPr>
                        <m:t>)</m:t>
                      </m:r>
                    </m:oMath>
                  </m:oMathPara>
                </a14:m>
                <a:endParaRPr lang="en-US"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4953000"/>
              </a:xfrm>
              <a:blipFill rotWithShape="1">
                <a:blip r:embed="rId2"/>
                <a:stretch>
                  <a:fillRect l="-1481" t="-1232"/>
                </a:stretch>
              </a:blipFill>
            </p:spPr>
            <p:txBody>
              <a:bodyPr/>
              <a:lstStyle/>
              <a:p>
                <a:r>
                  <a:rPr lang="en-US">
                    <a:noFill/>
                  </a:rPr>
                  <a:t> </a:t>
                </a:r>
              </a:p>
            </p:txBody>
          </p:sp>
        </mc:Fallback>
      </mc:AlternateContent>
    </p:spTree>
    <p:extLst>
      <p:ext uri="{BB962C8B-B14F-4D97-AF65-F5344CB8AC3E}">
        <p14:creationId xmlns:p14="http://schemas.microsoft.com/office/powerpoint/2010/main" val="1646071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(Khóa và siêu khóa)</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181600"/>
              </a:xfrm>
            </p:spPr>
            <p:txBody>
              <a:bodyPr>
                <a:normAutofit lnSpcReduction="10000"/>
              </a:bodyPr>
              <a:lstStyle/>
              <a:p>
                <a:pPr marL="0" indent="0">
                  <a:buNone/>
                </a:pPr>
                <a:r>
                  <a:rPr lang="en-US" smtClean="0"/>
                  <a:t>Siêu khóa: Là tập các thuộc tính trong quan hệ mà nếu giá trị của tập thuộc tính này của 2 bộ bất kỳ trong quan hệ giống nhau thì cả 2 bộ đó giống nhau.</a:t>
                </a:r>
              </a:p>
              <a:p>
                <a:pPr marL="0" indent="0">
                  <a:buNone/>
                </a:pPr>
                <a:r>
                  <a:rPr lang="en-US" smtClean="0"/>
                  <a:t>Cho quan hệ </a:t>
                </a:r>
                <a14:m>
                  <m:oMath xmlns:m="http://schemas.openxmlformats.org/officeDocument/2006/math">
                    <m:r>
                      <a:rPr lang="en-US" b="0" i="1" smtClean="0">
                        <a:latin typeface="Cambria Math"/>
                      </a:rPr>
                      <m:t>𝑟</m:t>
                    </m:r>
                    <m:d>
                      <m:dPr>
                        <m:ctrlPr>
                          <a:rPr lang="en-US" b="0" i="1" smtClean="0">
                            <a:latin typeface="Cambria Math" panose="02040503050406030204" pitchFamily="18" charset="0"/>
                          </a:rPr>
                        </m:ctrlPr>
                      </m:dPr>
                      <m:e>
                        <m:r>
                          <a:rPr lang="en-US" b="0" i="1" smtClean="0">
                            <a:latin typeface="Cambria Math"/>
                          </a:rPr>
                          <m:t>𝑅</m:t>
                        </m:r>
                      </m:e>
                    </m:d>
                  </m:oMath>
                </a14:m>
                <a:r>
                  <a:rPr lang="en-US" smtClean="0"/>
                  <a:t> và </a:t>
                </a:r>
                <a14:m>
                  <m:oMath xmlns:m="http://schemas.openxmlformats.org/officeDocument/2006/math">
                    <m:r>
                      <a:rPr lang="en-US" b="0" i="1" smtClean="0">
                        <a:latin typeface="Cambria Math"/>
                      </a:rPr>
                      <m:t>𝐾</m:t>
                    </m:r>
                    <m:r>
                      <a:rPr lang="en-US" b="0" i="1" smtClean="0">
                        <a:latin typeface="Cambria Math"/>
                      </a:rPr>
                      <m:t>⊂</m:t>
                    </m:r>
                    <m:r>
                      <a:rPr lang="en-US" b="0" i="1" smtClean="0">
                        <a:latin typeface="Cambria Math"/>
                      </a:rPr>
                      <m:t>𝑅</m:t>
                    </m:r>
                  </m:oMath>
                </a14:m>
                <a:r>
                  <a:rPr lang="en-US" smtClean="0"/>
                  <a:t>, ta gọi </a:t>
                </a:r>
                <a14:m>
                  <m:oMath xmlns:m="http://schemas.openxmlformats.org/officeDocument/2006/math">
                    <m:r>
                      <a:rPr lang="en-US" i="1" smtClean="0">
                        <a:latin typeface="Cambria Math"/>
                      </a:rPr>
                      <m:t>𝐾</m:t>
                    </m:r>
                    <m:r>
                      <a:rPr lang="en-US" i="1" smtClean="0">
                        <a:latin typeface="Cambria Math"/>
                      </a:rPr>
                      <m:t> </m:t>
                    </m:r>
                  </m:oMath>
                </a14:m>
                <a:r>
                  <a:rPr lang="en-US" smtClean="0"/>
                  <a:t>là siêu khóa nếu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r>
                        <a:rPr lang="en-US" b="0" i="1" smtClean="0">
                          <a:latin typeface="Cambria Math"/>
                        </a:rPr>
                        <m:t>𝑟</m:t>
                      </m:r>
                      <m:r>
                        <a:rPr lang="en-US" b="0" i="1" smtClean="0">
                          <a:latin typeface="Cambria Math"/>
                        </a:rPr>
                        <m:t>, ∀ </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r>
                        <a:rPr lang="en-US" b="0" i="1" smtClean="0">
                          <a:latin typeface="Cambria Math"/>
                        </a:rPr>
                        <m:t>𝐾</m:t>
                      </m:r>
                      <m:r>
                        <a:rPr lang="en-US" b="0" i="1" smtClean="0">
                          <a:latin typeface="Cambria Math"/>
                        </a:rPr>
                        <m:t> </m:t>
                      </m:r>
                      <m:r>
                        <a:rPr lang="en-US" b="0" i="1" smtClean="0">
                          <a:latin typeface="Cambria Math"/>
                        </a:rPr>
                        <m:t>𝑛</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𝑡𝑎</m:t>
                      </m:r>
                      <m:r>
                        <a:rPr lang="en-US" b="0" i="1" smtClean="0">
                          <a:latin typeface="Cambria Math"/>
                        </a:rPr>
                        <m:t> </m:t>
                      </m:r>
                      <m:r>
                        <a:rPr lang="en-US" b="0" i="1" smtClean="0">
                          <a:latin typeface="Cambria Math"/>
                        </a:rPr>
                        <m:t>𝑐</m:t>
                      </m:r>
                      <m:r>
                        <a:rPr lang="en-US" b="0" i="1" smtClean="0">
                          <a:latin typeface="Cambria Math"/>
                        </a:rPr>
                        <m:t>ó </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oMath>
                  </m:oMathPara>
                </a14:m>
                <a:endParaRPr lang="en-US" smtClean="0"/>
              </a:p>
              <a:p>
                <a:pPr marL="0" indent="0">
                  <a:buNone/>
                </a:pPr>
                <a:endParaRPr lang="en-US" smtClean="0"/>
              </a:p>
              <a:p>
                <a:pPr marL="0" indent="0">
                  <a:buNone/>
                </a:pPr>
                <a:r>
                  <a:rPr lang="en-US" smtClean="0"/>
                  <a:t>Khóa: Là một siêu khóa và không tồn tại tập thuộc tính con nào khác trong siêu khóa mà cũng là một siêu khóa.</a:t>
                </a:r>
              </a:p>
              <a:p>
                <a:pPr marL="0" indent="0">
                  <a:buNone/>
                </a:pPr>
                <a:r>
                  <a:rPr lang="en-US"/>
                  <a:t>Cho quan hệ </a:t>
                </a:r>
                <a14:m>
                  <m:oMath xmlns:m="http://schemas.openxmlformats.org/officeDocument/2006/math">
                    <m:r>
                      <a:rPr lang="en-US" i="1">
                        <a:latin typeface="Cambria Math"/>
                      </a:rPr>
                      <m:t>𝑟</m:t>
                    </m:r>
                    <m:d>
                      <m:dPr>
                        <m:ctrlPr>
                          <a:rPr lang="en-US" i="1">
                            <a:latin typeface="Cambria Math" panose="02040503050406030204" pitchFamily="18" charset="0"/>
                          </a:rPr>
                        </m:ctrlPr>
                      </m:dPr>
                      <m:e>
                        <m:r>
                          <a:rPr lang="en-US" i="1">
                            <a:latin typeface="Cambria Math"/>
                          </a:rPr>
                          <m:t>𝑅</m:t>
                        </m:r>
                      </m:e>
                    </m:d>
                  </m:oMath>
                </a14:m>
                <a:r>
                  <a:rPr lang="en-US"/>
                  <a:t> và </a:t>
                </a:r>
                <a14:m>
                  <m:oMath xmlns:m="http://schemas.openxmlformats.org/officeDocument/2006/math">
                    <m:r>
                      <a:rPr lang="en-US" i="1">
                        <a:latin typeface="Cambria Math"/>
                      </a:rPr>
                      <m:t>𝐾</m:t>
                    </m:r>
                    <m:r>
                      <a:rPr lang="en-US" i="1">
                        <a:latin typeface="Cambria Math"/>
                      </a:rPr>
                      <m:t>⊂</m:t>
                    </m:r>
                    <m:r>
                      <a:rPr lang="en-US" i="1">
                        <a:latin typeface="Cambria Math"/>
                      </a:rPr>
                      <m:t>𝑅</m:t>
                    </m:r>
                  </m:oMath>
                </a14:m>
                <a:r>
                  <a:rPr lang="en-US"/>
                  <a:t>, ta gọi </a:t>
                </a:r>
                <a14:m>
                  <m:oMath xmlns:m="http://schemas.openxmlformats.org/officeDocument/2006/math">
                    <m:r>
                      <a:rPr lang="en-US" i="1" smtClean="0">
                        <a:latin typeface="Cambria Math"/>
                      </a:rPr>
                      <m:t>𝐾</m:t>
                    </m:r>
                  </m:oMath>
                </a14:m>
                <a:r>
                  <a:rPr lang="en-US"/>
                  <a:t> là </a:t>
                </a:r>
                <a:r>
                  <a:rPr lang="en-US" smtClean="0"/>
                  <a:t>khóa </a:t>
                </a:r>
                <a:r>
                  <a:rPr lang="en-US"/>
                  <a:t>nếu </a:t>
                </a:r>
              </a:p>
              <a:p>
                <a:pPr marL="0" indent="0">
                  <a:buNone/>
                </a:pPr>
                <a14:m>
                  <m:oMathPara xmlns:m="http://schemas.openxmlformats.org/officeDocument/2006/math">
                    <m:oMathParaPr>
                      <m:jc m:val="centerGroup"/>
                    </m:oMathParaPr>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rPr>
                            <m:t>𝑡</m:t>
                          </m:r>
                        </m:e>
                        <m:sub>
                          <m:r>
                            <a:rPr lang="en-US" i="1">
                              <a:latin typeface="Cambria Math"/>
                            </a:rPr>
                            <m:t>1</m:t>
                          </m:r>
                        </m:sub>
                      </m:sSub>
                      <m:r>
                        <a:rPr lang="en-US" i="1">
                          <a:latin typeface="Cambria Math"/>
                        </a:rPr>
                        <m:t>, </m:t>
                      </m:r>
                      <m:sSub>
                        <m:sSubPr>
                          <m:ctrlPr>
                            <a:rPr lang="en-US" i="1">
                              <a:latin typeface="Cambria Math" panose="02040503050406030204" pitchFamily="18" charset="0"/>
                            </a:rPr>
                          </m:ctrlPr>
                        </m:sSubPr>
                        <m:e>
                          <m:r>
                            <a:rPr lang="en-US" i="1">
                              <a:latin typeface="Cambria Math"/>
                            </a:rPr>
                            <m:t>𝑡</m:t>
                          </m:r>
                        </m:e>
                        <m:sub>
                          <m:r>
                            <a:rPr lang="en-US" i="1">
                              <a:latin typeface="Cambria Math"/>
                            </a:rPr>
                            <m:t>2</m:t>
                          </m:r>
                        </m:sub>
                      </m:sSub>
                      <m:r>
                        <a:rPr lang="en-US" i="1">
                          <a:latin typeface="Cambria Math"/>
                        </a:rPr>
                        <m:t>∈</m:t>
                      </m:r>
                      <m:r>
                        <a:rPr lang="en-US" i="1">
                          <a:latin typeface="Cambria Math"/>
                        </a:rPr>
                        <m:t>𝑟</m:t>
                      </m:r>
                      <m:r>
                        <a:rPr lang="en-US" i="1">
                          <a:latin typeface="Cambria Math"/>
                        </a:rPr>
                        <m:t>, ∀ </m:t>
                      </m:r>
                      <m:sSub>
                        <m:sSubPr>
                          <m:ctrlPr>
                            <a:rPr lang="en-US" i="1">
                              <a:latin typeface="Cambria Math" panose="02040503050406030204" pitchFamily="18" charset="0"/>
                            </a:rPr>
                          </m:ctrlPr>
                        </m:sSubPr>
                        <m:e>
                          <m:r>
                            <a:rPr lang="en-US" i="1">
                              <a:latin typeface="Cambria Math"/>
                            </a:rPr>
                            <m:t>𝐴</m:t>
                          </m:r>
                        </m:e>
                        <m:sub>
                          <m:r>
                            <a:rPr lang="en-US" i="1">
                              <a:latin typeface="Cambria Math"/>
                            </a:rPr>
                            <m:t>𝑖</m:t>
                          </m:r>
                        </m:sub>
                      </m:sSub>
                      <m:r>
                        <a:rPr lang="en-US" i="1">
                          <a:latin typeface="Cambria Math"/>
                        </a:rPr>
                        <m:t>∈</m:t>
                      </m:r>
                      <m:r>
                        <a:rPr lang="en-US" i="1">
                          <a:latin typeface="Cambria Math"/>
                        </a:rPr>
                        <m:t>𝐾</m:t>
                      </m:r>
                      <m:r>
                        <a:rPr lang="en-US" i="1">
                          <a:latin typeface="Cambria Math"/>
                        </a:rPr>
                        <m:t> </m:t>
                      </m:r>
                      <m:r>
                        <a:rPr lang="en-US" i="1">
                          <a:latin typeface="Cambria Math"/>
                        </a:rPr>
                        <m:t>𝑛</m:t>
                      </m:r>
                      <m:r>
                        <a:rPr lang="en-US" i="1">
                          <a:latin typeface="Cambria Math"/>
                        </a:rPr>
                        <m:t>ế</m:t>
                      </m:r>
                      <m:r>
                        <a:rPr lang="en-US" i="1">
                          <a:latin typeface="Cambria Math"/>
                        </a:rPr>
                        <m:t>𝑢</m:t>
                      </m:r>
                      <m:r>
                        <a:rPr lang="en-US" i="1">
                          <a:latin typeface="Cambria Math"/>
                        </a:rPr>
                        <m:t> </m:t>
                      </m:r>
                      <m:r>
                        <a:rPr lang="en-US" i="1">
                          <a:latin typeface="Cambria Math"/>
                        </a:rPr>
                        <m:t>𝑡𝑎</m:t>
                      </m:r>
                      <m:r>
                        <a:rPr lang="en-US" i="1">
                          <a:latin typeface="Cambria Math"/>
                        </a:rPr>
                        <m:t> </m:t>
                      </m:r>
                      <m:r>
                        <a:rPr lang="en-US" i="1">
                          <a:latin typeface="Cambria Math"/>
                        </a:rPr>
                        <m:t>𝑐</m:t>
                      </m:r>
                      <m:r>
                        <a:rPr lang="en-US" i="1">
                          <a:latin typeface="Cambria Math"/>
                        </a:rPr>
                        <m:t>ó </m:t>
                      </m:r>
                      <m:sSub>
                        <m:sSubPr>
                          <m:ctrlPr>
                            <a:rPr lang="en-US" i="1">
                              <a:latin typeface="Cambria Math" panose="02040503050406030204" pitchFamily="18" charset="0"/>
                            </a:rPr>
                          </m:ctrlPr>
                        </m:sSubPr>
                        <m:e>
                          <m:r>
                            <a:rPr lang="en-US" i="1">
                              <a:latin typeface="Cambria Math"/>
                            </a:rPr>
                            <m:t>𝑡</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𝑖</m:t>
                          </m:r>
                        </m:sub>
                      </m:sSub>
                      <m:r>
                        <a:rPr lang="en-US" i="1">
                          <a:latin typeface="Cambria Math"/>
                        </a:rPr>
                        <m:t>=</m:t>
                      </m:r>
                      <m:sSub>
                        <m:sSubPr>
                          <m:ctrlPr>
                            <a:rPr lang="en-US" i="1">
                              <a:latin typeface="Cambria Math" panose="02040503050406030204" pitchFamily="18" charset="0"/>
                            </a:rPr>
                          </m:ctrlPr>
                        </m:sSubPr>
                        <m:e>
                          <m:r>
                            <a:rPr lang="en-US" i="1">
                              <a:latin typeface="Cambria Math"/>
                            </a:rPr>
                            <m:t>𝑡</m:t>
                          </m:r>
                        </m:e>
                        <m:sub>
                          <m:r>
                            <a:rPr lang="en-US" i="1">
                              <a:latin typeface="Cambria Math"/>
                            </a:rPr>
                            <m:t>2</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𝑖</m:t>
                          </m:r>
                        </m:sub>
                      </m:sSub>
                      <m:r>
                        <a:rPr lang="en-US" i="1">
                          <a:latin typeface="Cambria Math"/>
                        </a:rPr>
                        <m:t>⇒</m:t>
                      </m:r>
                      <m:sSub>
                        <m:sSubPr>
                          <m:ctrlPr>
                            <a:rPr lang="en-US" i="1">
                              <a:latin typeface="Cambria Math" panose="02040503050406030204" pitchFamily="18" charset="0"/>
                            </a:rPr>
                          </m:ctrlPr>
                        </m:sSubPr>
                        <m:e>
                          <m:r>
                            <a:rPr lang="en-US" i="1">
                              <a:latin typeface="Cambria Math"/>
                            </a:rPr>
                            <m:t>𝑡</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𝑡</m:t>
                          </m:r>
                        </m:e>
                        <m:sub>
                          <m:r>
                            <a:rPr lang="en-US" i="1">
                              <a:latin typeface="Cambria Math"/>
                            </a:rPr>
                            <m:t>2</m:t>
                          </m:r>
                        </m:sub>
                      </m:sSub>
                    </m:oMath>
                  </m:oMathPara>
                </a14:m>
                <a:endParaRPr lang="en-US" smtClean="0"/>
              </a:p>
              <a:p>
                <a:pPr marL="0" indent="0">
                  <a:buNone/>
                </a:pPr>
                <a:r>
                  <a:rPr lang="en-US" smtClean="0"/>
                  <a:t>Và không tồn tại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𝐾</m:t>
                        </m:r>
                      </m:e>
                      <m:sup>
                        <m:r>
                          <a:rPr lang="en-US" b="0" i="1" smtClean="0">
                            <a:latin typeface="Cambria Math"/>
                          </a:rPr>
                          <m:t>′</m:t>
                        </m:r>
                      </m:sup>
                    </m:sSup>
                    <m:r>
                      <a:rPr lang="en-US" b="0" i="1" smtClean="0">
                        <a:latin typeface="Cambria Math"/>
                      </a:rPr>
                      <m:t>∈</m:t>
                    </m:r>
                    <m:r>
                      <a:rPr lang="en-US" b="0" i="1" smtClean="0">
                        <a:latin typeface="Cambria Math"/>
                      </a:rPr>
                      <m:t>𝐾</m:t>
                    </m:r>
                  </m:oMath>
                </a14:m>
                <a:r>
                  <a:rPr lang="en-US" smtClean="0"/>
                  <a:t> mà </a:t>
                </a:r>
                <a14:m>
                  <m:oMath xmlns:m="http://schemas.openxmlformats.org/officeDocument/2006/math">
                    <m:r>
                      <a:rPr lang="en-US" i="1" smtClean="0">
                        <a:latin typeface="Cambria Math"/>
                      </a:rPr>
                      <m:t>𝐾</m:t>
                    </m:r>
                    <m:r>
                      <a:rPr lang="en-US" i="1" smtClean="0">
                        <a:latin typeface="Cambria Math"/>
                      </a:rPr>
                      <m:t>’</m:t>
                    </m:r>
                  </m:oMath>
                </a14:m>
                <a:r>
                  <a:rPr lang="en-US" smtClean="0"/>
                  <a:t> cũng là siêu khóa.</a:t>
                </a: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181600"/>
              </a:xfrm>
              <a:blipFill rotWithShape="1">
                <a:blip r:embed="rId3"/>
                <a:stretch>
                  <a:fillRect l="-1415" t="-2000" r="-495"/>
                </a:stretch>
              </a:blipFill>
            </p:spPr>
            <p:txBody>
              <a:bodyPr/>
              <a:lstStyle/>
              <a:p>
                <a:r>
                  <a:rPr lang="en-US">
                    <a:noFill/>
                  </a:rPr>
                  <a:t> </a:t>
                </a:r>
              </a:p>
            </p:txBody>
          </p:sp>
        </mc:Fallback>
      </mc:AlternateContent>
    </p:spTree>
    <p:extLst>
      <p:ext uri="{BB962C8B-B14F-4D97-AF65-F5344CB8AC3E}">
        <p14:creationId xmlns:p14="http://schemas.microsoft.com/office/powerpoint/2010/main" val="1431799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(Khóa và siêu khóa)</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10600" cy="5181600"/>
              </a:xfrm>
            </p:spPr>
            <p:txBody>
              <a:bodyPr>
                <a:normAutofit/>
              </a:bodyPr>
              <a:lstStyle/>
              <a:p>
                <a:pPr marL="0" indent="0">
                  <a:buNone/>
                </a:pPr>
                <a:r>
                  <a:rPr lang="en-US" sz="2400" smtClean="0"/>
                  <a:t>Cho quan hệ </a:t>
                </a:r>
                <a14:m>
                  <m:oMath xmlns:m="http://schemas.openxmlformats.org/officeDocument/2006/math">
                    <m:r>
                      <a:rPr lang="en-US" sz="2400" i="1" smtClean="0">
                        <a:latin typeface="Cambria Math"/>
                      </a:rPr>
                      <m:t>𝑠𝑖𝑛h𝑣𝑖𝑒𝑛</m:t>
                    </m:r>
                    <m:r>
                      <a:rPr lang="en-US" sz="2400" i="1" smtClean="0">
                        <a:latin typeface="Cambria Math"/>
                      </a:rPr>
                      <m:t>(</m:t>
                    </m:r>
                    <m:r>
                      <a:rPr lang="en-US" sz="2400" i="1" smtClean="0">
                        <a:latin typeface="Cambria Math"/>
                      </a:rPr>
                      <m:t>𝑚𝑎𝑠𝑣</m:t>
                    </m:r>
                    <m:r>
                      <a:rPr lang="en-US" sz="2400" i="1" smtClean="0">
                        <a:latin typeface="Cambria Math"/>
                      </a:rPr>
                      <m:t>, </m:t>
                    </m:r>
                    <m:r>
                      <a:rPr lang="en-US" sz="2400" i="1" smtClean="0">
                        <a:latin typeface="Cambria Math"/>
                      </a:rPr>
                      <m:t>𝑠𝑐𝑚𝑛𝑑</m:t>
                    </m:r>
                    <m:r>
                      <a:rPr lang="en-US" sz="2400" i="1" smtClean="0">
                        <a:latin typeface="Cambria Math"/>
                      </a:rPr>
                      <m:t>, </m:t>
                    </m:r>
                    <m:r>
                      <a:rPr lang="en-US" sz="2400" i="1" smtClean="0">
                        <a:latin typeface="Cambria Math"/>
                      </a:rPr>
                      <m:t>h𝑜𝑡𝑒𝑛</m:t>
                    </m:r>
                    <m:r>
                      <a:rPr lang="en-US" sz="2400" i="1" smtClean="0">
                        <a:latin typeface="Cambria Math"/>
                      </a:rPr>
                      <m:t>, </m:t>
                    </m:r>
                    <m:r>
                      <a:rPr lang="en-US" sz="2400" i="1" smtClean="0">
                        <a:latin typeface="Cambria Math"/>
                      </a:rPr>
                      <m:t>𝑛𝑔𝑎𝑦𝑠𝑖𝑛h</m:t>
                    </m:r>
                    <m:r>
                      <a:rPr lang="en-US" sz="2400" i="1" smtClean="0">
                        <a:latin typeface="Cambria Math"/>
                      </a:rPr>
                      <m:t> )</m:t>
                    </m:r>
                  </m:oMath>
                </a14:m>
                <a:endParaRPr lang="en-US" sz="2400" smtClean="0"/>
              </a:p>
              <a:p>
                <a:pPr marL="0" indent="0">
                  <a:buNone/>
                </a:pPr>
                <a:r>
                  <a:rPr lang="en-US" sz="2400" smtClean="0"/>
                  <a:t>Bản thân ta có thể chủ quan cho là một bộ gồm </a:t>
                </a:r>
                <a14:m>
                  <m:oMath xmlns:m="http://schemas.openxmlformats.org/officeDocument/2006/math">
                    <m:r>
                      <a:rPr lang="en-US" sz="2400" i="1" smtClean="0">
                        <a:latin typeface="Cambria Math"/>
                      </a:rPr>
                      <m:t>{</m:t>
                    </m:r>
                    <m:r>
                      <a:rPr lang="en-US" sz="2400" i="1" smtClean="0">
                        <a:latin typeface="Cambria Math"/>
                      </a:rPr>
                      <m:t>𝑚𝑎𝑠𝑣</m:t>
                    </m:r>
                    <m:r>
                      <a:rPr lang="en-US" sz="2400" i="1" smtClean="0">
                        <a:latin typeface="Cambria Math"/>
                      </a:rPr>
                      <m:t>,</m:t>
                    </m:r>
                    <m:r>
                      <a:rPr lang="en-US" sz="2400" i="1" smtClean="0">
                        <a:latin typeface="Cambria Math"/>
                      </a:rPr>
                      <m:t>𝑠𝑐𝑚𝑛𝑑</m:t>
                    </m:r>
                    <m:r>
                      <a:rPr lang="en-US" sz="2400" i="1" smtClean="0">
                        <a:latin typeface="Cambria Math"/>
                      </a:rPr>
                      <m:t>}</m:t>
                    </m:r>
                  </m:oMath>
                </a14:m>
                <a:r>
                  <a:rPr lang="en-US" sz="2400" smtClean="0"/>
                  <a:t> là một siêu khóa.</a:t>
                </a:r>
              </a:p>
              <a:p>
                <a:pPr marL="0" indent="0">
                  <a:buNone/>
                </a:pPr>
                <a:r>
                  <a:rPr lang="en-US" sz="2400" smtClean="0"/>
                  <a:t>Tuy nhiên, </a:t>
                </a:r>
                <a14:m>
                  <m:oMath xmlns:m="http://schemas.openxmlformats.org/officeDocument/2006/math">
                    <m:r>
                      <a:rPr lang="en-US" sz="2400" i="1" smtClean="0">
                        <a:latin typeface="Cambria Math"/>
                      </a:rPr>
                      <m:t>{</m:t>
                    </m:r>
                    <m:r>
                      <a:rPr lang="en-US" sz="2400" i="1">
                        <a:latin typeface="Cambria Math"/>
                      </a:rPr>
                      <m:t>𝑚𝑎𝑠𝑣</m:t>
                    </m:r>
                    <m:r>
                      <a:rPr lang="en-US" sz="2400" i="1">
                        <a:latin typeface="Cambria Math"/>
                      </a:rPr>
                      <m:t>,</m:t>
                    </m:r>
                    <m:r>
                      <a:rPr lang="en-US" sz="2400" i="1">
                        <a:latin typeface="Cambria Math"/>
                      </a:rPr>
                      <m:t>𝑠𝑐𝑚𝑛𝑑</m:t>
                    </m:r>
                    <m:r>
                      <a:rPr lang="en-US" sz="2400" i="1" smtClean="0">
                        <a:latin typeface="Cambria Math"/>
                      </a:rPr>
                      <m:t>} </m:t>
                    </m:r>
                  </m:oMath>
                </a14:m>
                <a:r>
                  <a:rPr lang="en-US" sz="2400" smtClean="0"/>
                  <a:t>không là khóa. Mà chính </a:t>
                </a:r>
                <a14:m>
                  <m:oMath xmlns:m="http://schemas.openxmlformats.org/officeDocument/2006/math">
                    <m:r>
                      <a:rPr lang="en-US" sz="2400" i="1" smtClean="0">
                        <a:latin typeface="Cambria Math"/>
                      </a:rPr>
                      <m:t>{</m:t>
                    </m:r>
                    <m:r>
                      <a:rPr lang="en-US" sz="2400" i="1" smtClean="0">
                        <a:latin typeface="Cambria Math"/>
                      </a:rPr>
                      <m:t>𝑚𝑎𝑠𝑣</m:t>
                    </m:r>
                    <m:r>
                      <a:rPr lang="en-US" sz="2400" i="1" smtClean="0">
                        <a:latin typeface="Cambria Math"/>
                      </a:rPr>
                      <m:t>} </m:t>
                    </m:r>
                  </m:oMath>
                </a14:m>
                <a:r>
                  <a:rPr lang="en-US" sz="2400" smtClean="0"/>
                  <a:t>là một siêu </a:t>
                </a:r>
                <a:r>
                  <a:rPr lang="en-US" sz="2400" smtClean="0"/>
                  <a:t>khóa, khóa </a:t>
                </a:r>
                <a:r>
                  <a:rPr lang="en-US" sz="2400" smtClean="0"/>
                  <a:t>hay </a:t>
                </a:r>
                <a14:m>
                  <m:oMath xmlns:m="http://schemas.openxmlformats.org/officeDocument/2006/math">
                    <m:d>
                      <m:dPr>
                        <m:begChr m:val="{"/>
                        <m:endChr m:val="}"/>
                        <m:ctrlPr>
                          <a:rPr lang="en-US" sz="2400" i="1" smtClean="0">
                            <a:latin typeface="Cambria Math" panose="02040503050406030204" pitchFamily="18" charset="0"/>
                          </a:rPr>
                        </m:ctrlPr>
                      </m:dPr>
                      <m:e>
                        <m:r>
                          <a:rPr lang="en-US" sz="2400" i="1" smtClean="0">
                            <a:latin typeface="Cambria Math"/>
                          </a:rPr>
                          <m:t>𝑠𝑐𝑚𝑛𝑑</m:t>
                        </m:r>
                      </m:e>
                    </m:d>
                    <m:r>
                      <a:rPr lang="en-US" sz="2400" i="1" smtClean="0">
                        <a:latin typeface="Cambria Math"/>
                      </a:rPr>
                      <m:t> </m:t>
                    </m:r>
                  </m:oMath>
                </a14:m>
                <a:r>
                  <a:rPr lang="en-US" sz="2400" smtClean="0"/>
                  <a:t>là một siêu </a:t>
                </a:r>
                <a:r>
                  <a:rPr lang="en-US" sz="2400" smtClean="0"/>
                  <a:t>khóa, khóa.</a:t>
                </a:r>
                <a:endParaRPr lang="en-US" sz="2400" smtClean="0"/>
              </a:p>
              <a:p>
                <a:pPr marL="0" indent="0">
                  <a:buNone/>
                </a:pPr>
                <a:endParaRPr lang="en-US" sz="2400" smtClean="0"/>
              </a:p>
              <a:p>
                <a:pPr marL="0" indent="0">
                  <a:buNone/>
                </a:pPr>
                <a:r>
                  <a:rPr lang="en-US" smtClean="0"/>
                  <a:t>Để kiểm tra tập </a:t>
                </a:r>
                <a14:m>
                  <m:oMath xmlns:m="http://schemas.openxmlformats.org/officeDocument/2006/math">
                    <m:r>
                      <a:rPr lang="en-US" i="1" smtClean="0">
                        <a:latin typeface="Cambria Math"/>
                      </a:rPr>
                      <m:t>𝐾</m:t>
                    </m:r>
                  </m:oMath>
                </a14:m>
                <a:r>
                  <a:rPr lang="en-US" smtClean="0"/>
                  <a:t> là siêu khóa với một thể hiện </a:t>
                </a:r>
                <a14:m>
                  <m:oMath xmlns:m="http://schemas.openxmlformats.org/officeDocument/2006/math">
                    <m:r>
                      <a:rPr lang="en-US" i="1" smtClean="0">
                        <a:latin typeface="Cambria Math"/>
                      </a:rPr>
                      <m:t>𝑡</m:t>
                    </m:r>
                    <m:r>
                      <a:rPr lang="en-US" i="1" smtClean="0">
                        <a:latin typeface="Cambria Math"/>
                      </a:rPr>
                      <m:t> </m:t>
                    </m:r>
                  </m:oMath>
                </a14:m>
                <a:r>
                  <a:rPr lang="en-US" smtClean="0"/>
                  <a:t>của quan hệ </a:t>
                </a:r>
                <a14:m>
                  <m:oMath xmlns:m="http://schemas.openxmlformats.org/officeDocument/2006/math">
                    <m:r>
                      <a:rPr lang="en-US" i="1" smtClean="0">
                        <a:latin typeface="Cambria Math"/>
                      </a:rPr>
                      <m:t>𝑟</m:t>
                    </m:r>
                    <m:r>
                      <a:rPr lang="en-US" i="1" smtClean="0">
                        <a:latin typeface="Cambria Math"/>
                      </a:rPr>
                      <m:t>(</m:t>
                    </m:r>
                    <m:r>
                      <a:rPr lang="en-US" i="1" smtClean="0">
                        <a:latin typeface="Cambria Math"/>
                      </a:rPr>
                      <m:t>𝑅</m:t>
                    </m:r>
                    <m:r>
                      <a:rPr lang="en-US" i="1" smtClean="0">
                        <a:latin typeface="Cambria Math"/>
                      </a:rPr>
                      <m:t>)</m:t>
                    </m:r>
                  </m:oMath>
                </a14:m>
                <a:r>
                  <a:rPr lang="en-US" smtClean="0"/>
                  <a:t> ta làm các bước sau:</a:t>
                </a:r>
              </a:p>
              <a:p>
                <a:pPr marL="461963" indent="-461963">
                  <a:buAutoNum type="arabicPeriod"/>
                </a:pPr>
                <a:r>
                  <a:rPr lang="en-US" sz="2400" smtClean="0"/>
                  <a:t>Lấy ra một quan hệ </a:t>
                </a:r>
                <a14:m>
                  <m:oMath xmlns:m="http://schemas.openxmlformats.org/officeDocument/2006/math">
                    <m:r>
                      <a:rPr lang="en-US" sz="2400" i="1" smtClean="0">
                        <a:latin typeface="Cambria Math"/>
                      </a:rPr>
                      <m:t>𝑟</m:t>
                    </m:r>
                    <m:r>
                      <a:rPr lang="en-US" sz="2400" i="1" smtClean="0">
                        <a:latin typeface="Cambria Math"/>
                      </a:rPr>
                      <m:t>’</m:t>
                    </m:r>
                  </m:oMath>
                </a14:m>
                <a:r>
                  <a:rPr lang="en-US" sz="2400" smtClean="0"/>
                  <a:t> với các thuộc tính </a:t>
                </a:r>
                <a14:m>
                  <m:oMath xmlns:m="http://schemas.openxmlformats.org/officeDocument/2006/math">
                    <m:r>
                      <a:rPr lang="en-US" sz="2400" i="1" smtClean="0">
                        <a:latin typeface="Cambria Math"/>
                      </a:rPr>
                      <m:t>𝐾</m:t>
                    </m:r>
                  </m:oMath>
                </a14:m>
                <a:r>
                  <a:rPr lang="en-US" sz="2400" smtClean="0"/>
                  <a:t>: </a:t>
                </a:r>
                <a14:m>
                  <m:oMath xmlns:m="http://schemas.openxmlformats.org/officeDocument/2006/math">
                    <m:r>
                      <a:rPr lang="en-US" sz="2400" b="0" i="1" smtClean="0">
                        <a:latin typeface="Cambria Math"/>
                      </a:rPr>
                      <m:t>{</m:t>
                    </m:r>
                    <m:r>
                      <a:rPr lang="en-US" sz="2400" b="0" i="1" smtClean="0">
                        <a:latin typeface="Cambria Math"/>
                      </a:rPr>
                      <m:t>𝑡</m:t>
                    </m:r>
                    <m:r>
                      <a:rPr lang="en-US" sz="2400" b="0" i="1" smtClean="0">
                        <a:latin typeface="Cambria Math"/>
                      </a:rPr>
                      <m:t>.</m:t>
                    </m:r>
                    <m:r>
                      <a:rPr lang="en-US" sz="2400" b="0" i="1" smtClean="0">
                        <a:latin typeface="Cambria Math"/>
                      </a:rPr>
                      <m:t>𝐾</m:t>
                    </m:r>
                    <m:r>
                      <a:rPr lang="en-US" sz="2400" b="0" i="1" smtClean="0">
                        <a:latin typeface="Cambria Math"/>
                      </a:rPr>
                      <m:t>|</m:t>
                    </m:r>
                    <m:r>
                      <a:rPr lang="en-US" sz="2400" b="0" i="1" smtClean="0">
                        <a:latin typeface="Cambria Math"/>
                      </a:rPr>
                      <m:t>𝑡</m:t>
                    </m:r>
                    <m:r>
                      <a:rPr lang="en-US" sz="2400" b="0" i="1" smtClean="0">
                        <a:latin typeface="Cambria Math"/>
                      </a:rPr>
                      <m:t>∈</m:t>
                    </m:r>
                    <m:r>
                      <a:rPr lang="en-US" sz="2400" b="0" i="1" smtClean="0">
                        <a:latin typeface="Cambria Math"/>
                      </a:rPr>
                      <m:t>𝑟</m:t>
                    </m:r>
                    <m:r>
                      <a:rPr lang="en-US" sz="2400" b="0" i="1" smtClean="0">
                        <a:latin typeface="Cambria Math"/>
                      </a:rPr>
                      <m:t>}</m:t>
                    </m:r>
                  </m:oMath>
                </a14:m>
                <a:endParaRPr lang="en-US" sz="2400" smtClean="0"/>
              </a:p>
              <a:p>
                <a:pPr marL="461963" indent="-461963">
                  <a:buAutoNum type="arabicPeriod"/>
                </a:pPr>
                <a:r>
                  <a:rPr lang="en-US" sz="2400" smtClean="0"/>
                  <a:t>Nếu độ lớn của </a:t>
                </a:r>
                <a14:m>
                  <m:oMath xmlns:m="http://schemas.openxmlformats.org/officeDocument/2006/math">
                    <m:r>
                      <a:rPr lang="en-US" sz="2400" i="1" smtClean="0">
                        <a:latin typeface="Cambria Math"/>
                      </a:rPr>
                      <m:t>𝑟</m:t>
                    </m:r>
                  </m:oMath>
                </a14:m>
                <a:r>
                  <a:rPr lang="en-US" sz="2400" smtClean="0"/>
                  <a:t> và </a:t>
                </a:r>
                <a14:m>
                  <m:oMath xmlns:m="http://schemas.openxmlformats.org/officeDocument/2006/math">
                    <m:r>
                      <a:rPr lang="en-US" sz="2400" i="1" smtClean="0">
                        <a:latin typeface="Cambria Math"/>
                      </a:rPr>
                      <m:t>𝑟</m:t>
                    </m:r>
                    <m:r>
                      <a:rPr lang="en-US" sz="2400" i="1" smtClean="0">
                        <a:latin typeface="Cambria Math"/>
                      </a:rPr>
                      <m:t>’</m:t>
                    </m:r>
                  </m:oMath>
                </a14:m>
                <a:r>
                  <a:rPr lang="en-US" sz="2400" smtClean="0"/>
                  <a:t> bằng nhau (ký hiệu: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a:rPr>
                          <m:t>𝑟</m:t>
                        </m:r>
                      </m:e>
                    </m:d>
                    <m:r>
                      <a:rPr lang="en-US" sz="2400" b="0" i="1" smtClean="0">
                        <a:latin typeface="Cambria Math"/>
                      </a:rPr>
                      <m:t>=|</m:t>
                    </m:r>
                    <m:r>
                      <a:rPr lang="en-US" sz="2400" b="0" i="1" smtClean="0">
                        <a:latin typeface="Cambria Math"/>
                      </a:rPr>
                      <m:t>𝑟</m:t>
                    </m:r>
                    <m:r>
                      <a:rPr lang="en-US" sz="2400" b="0" i="1" smtClean="0">
                        <a:latin typeface="Cambria Math"/>
                      </a:rPr>
                      <m:t>′|</m:t>
                    </m:r>
                  </m:oMath>
                </a14:m>
                <a:r>
                  <a:rPr lang="en-US" sz="2400" smtClean="0"/>
                  <a:t>) thì </a:t>
                </a:r>
                <a14:m>
                  <m:oMath xmlns:m="http://schemas.openxmlformats.org/officeDocument/2006/math">
                    <m:r>
                      <a:rPr lang="en-US" sz="2400" i="1" smtClean="0">
                        <a:latin typeface="Cambria Math"/>
                      </a:rPr>
                      <m:t>𝐾</m:t>
                    </m:r>
                  </m:oMath>
                </a14:m>
                <a:r>
                  <a:rPr lang="en-US" sz="2400" smtClean="0"/>
                  <a:t> là siêu khóa</a:t>
                </a:r>
                <a:endParaRPr lang="en-US" sz="24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181600"/>
              </a:xfrm>
              <a:blipFill rotWithShape="0">
                <a:blip r:embed="rId3"/>
                <a:stretch>
                  <a:fillRect l="-1415" t="-941" r="-1274"/>
                </a:stretch>
              </a:blipFill>
            </p:spPr>
            <p:txBody>
              <a:bodyPr/>
              <a:lstStyle/>
              <a:p>
                <a:r>
                  <a:rPr lang="en-US">
                    <a:noFill/>
                  </a:rPr>
                  <a:t> </a:t>
                </a:r>
              </a:p>
            </p:txBody>
          </p:sp>
        </mc:Fallback>
      </mc:AlternateContent>
    </p:spTree>
    <p:extLst>
      <p:ext uri="{BB962C8B-B14F-4D97-AF65-F5344CB8AC3E}">
        <p14:creationId xmlns:p14="http://schemas.microsoft.com/office/powerpoint/2010/main" val="4277263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(Lược đồ cơ sở dữ liệu)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buNone/>
                </a:pPr>
                <a:r>
                  <a:rPr lang="en-US" sz="2400" smtClean="0"/>
                  <a:t>Lược đồ cơ sở dữ liệu </a:t>
                </a:r>
                <a14:m>
                  <m:oMath xmlns:m="http://schemas.openxmlformats.org/officeDocument/2006/math">
                    <m:r>
                      <a:rPr lang="en-US" sz="2400" i="1" smtClean="0">
                        <a:latin typeface="Cambria Math"/>
                      </a:rPr>
                      <m:t>𝐷</m:t>
                    </m:r>
                  </m:oMath>
                </a14:m>
                <a:r>
                  <a:rPr lang="en-US" sz="2400" smtClean="0"/>
                  <a:t> trên </a:t>
                </a:r>
                <a14:m>
                  <m:oMath xmlns:m="http://schemas.openxmlformats.org/officeDocument/2006/math">
                    <m:r>
                      <a:rPr lang="en-US" sz="2400" i="1" smtClean="0">
                        <a:latin typeface="Cambria Math"/>
                      </a:rPr>
                      <m:t>𝑈</m:t>
                    </m:r>
                  </m:oMath>
                </a14:m>
                <a:r>
                  <a:rPr lang="en-US" sz="2400" smtClean="0"/>
                  <a:t> là một tập các lược đồ quan hệ</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a:rPr>
                        <m:t>𝐷</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2</m:t>
                          </m:r>
                        </m:sub>
                      </m:sSub>
                      <m:r>
                        <a:rPr lang="en-US" sz="2400" b="0" i="1" smtClean="0">
                          <a:latin typeface="Cambria Math"/>
                        </a:rPr>
                        <m:t>,…, </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𝑛</m:t>
                          </m:r>
                        </m:sub>
                      </m:sSub>
                      <m:r>
                        <a:rPr lang="en-US" sz="2400" b="0" i="1" smtClean="0">
                          <a:latin typeface="Cambria Math"/>
                        </a:rPr>
                        <m:t>}</m:t>
                      </m:r>
                    </m:oMath>
                  </m:oMathPara>
                </a14:m>
                <a:endParaRPr lang="en-US" sz="2400" smtClean="0"/>
              </a:p>
              <a:p>
                <a:pPr marL="0" indent="0">
                  <a:buNone/>
                </a:pPr>
                <a:r>
                  <a:rPr lang="en-US" sz="2400" smtClean="0"/>
                  <a:t>Trong đó </a:t>
                </a:r>
                <a14:m>
                  <m:oMath xmlns:m="http://schemas.openxmlformats.org/officeDocument/2006/math">
                    <m:r>
                      <a:rPr lang="en-US" sz="2400" i="1" smtClean="0">
                        <a:latin typeface="Cambria Math"/>
                      </a:rPr>
                      <m:t>𝑈</m:t>
                    </m:r>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1</m:t>
                        </m:r>
                      </m:sub>
                    </m:sSub>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2</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𝑛</m:t>
                        </m:r>
                      </m:sub>
                    </m:sSub>
                  </m:oMath>
                </a14:m>
                <a:endParaRPr lang="en-US" sz="2400" smtClean="0"/>
              </a:p>
              <a:p>
                <a:pPr marL="0" indent="0">
                  <a:buNone/>
                </a:pPr>
                <a:r>
                  <a:rPr lang="en-US" sz="2400" smtClean="0"/>
                  <a:t>Cơ sở dữ liệu </a:t>
                </a:r>
                <a14:m>
                  <m:oMath xmlns:m="http://schemas.openxmlformats.org/officeDocument/2006/math">
                    <m:r>
                      <a:rPr lang="en-US" sz="2400" i="1" smtClean="0">
                        <a:latin typeface="Cambria Math"/>
                      </a:rPr>
                      <m:t>𝑑</m:t>
                    </m:r>
                  </m:oMath>
                </a14:m>
                <a:r>
                  <a:rPr lang="en-US" sz="2400" smtClean="0"/>
                  <a:t> là một tập hợp các quan hệ </a:t>
                </a:r>
                <a14:m>
                  <m:oMath xmlns:m="http://schemas.openxmlformats.org/officeDocument/2006/math">
                    <m:sSub>
                      <m:sSubPr>
                        <m:ctrlPr>
                          <a:rPr lang="en-US" sz="2400" b="0" i="1" smtClean="0">
                            <a:latin typeface="Cambria Math" panose="02040503050406030204" pitchFamily="18" charset="0"/>
                          </a:rPr>
                        </m:ctrlPr>
                      </m:sSubPr>
                      <m:e>
                        <m:r>
                          <a:rPr lang="en-US" sz="2400" i="1" smtClean="0">
                            <a:latin typeface="Cambria Math"/>
                          </a:rPr>
                          <m:t>𝑟</m:t>
                        </m:r>
                      </m:e>
                      <m:sub>
                        <m:r>
                          <a:rPr lang="en-US" sz="2400" b="0" i="1" smtClean="0">
                            <a:latin typeface="Cambria Math"/>
                          </a:rPr>
                          <m:t>𝑖</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𝑖</m:t>
                        </m:r>
                      </m:sub>
                    </m:sSub>
                    <m:r>
                      <a:rPr lang="en-US" sz="2400" b="0" i="1" smtClean="0">
                        <a:latin typeface="Cambria Math"/>
                      </a:rPr>
                      <m:t>)</m:t>
                    </m:r>
                  </m:oMath>
                </a14:m>
                <a:r>
                  <a:rPr lang="en-US" sz="2400" smtClean="0"/>
                  <a:t>, ký hiệu</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a:rPr>
                        <m:t>𝑑</m:t>
                      </m:r>
                      <m:r>
                        <a:rPr lang="en-US" sz="2400" b="0" i="1" smtClean="0">
                          <a:latin typeface="Cambria Math"/>
                        </a:rPr>
                        <m:t>=</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a:rPr>
                                <m:t>𝑟</m:t>
                              </m:r>
                            </m:e>
                            <m:sub>
                              <m:r>
                                <a:rPr lang="en-US" sz="2400" b="0" i="1" smtClean="0">
                                  <a:latin typeface="Cambria Math"/>
                                </a:rPr>
                                <m:t>1</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𝑟</m:t>
                              </m:r>
                            </m:e>
                            <m:sub>
                              <m:r>
                                <a:rPr lang="en-US" sz="2400" b="0" i="1" smtClean="0">
                                  <a:latin typeface="Cambria Math"/>
                                </a:rPr>
                                <m:t>2</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𝑟</m:t>
                              </m:r>
                            </m:e>
                            <m:sub>
                              <m:r>
                                <a:rPr lang="en-US" sz="2400" b="0" i="1" smtClean="0">
                                  <a:latin typeface="Cambria Math"/>
                                </a:rPr>
                                <m:t>𝑛</m:t>
                              </m:r>
                            </m:sub>
                          </m:sSub>
                        </m:e>
                      </m:d>
                    </m:oMath>
                  </m:oMathPara>
                </a14:m>
                <a:endParaRPr lang="en-US" sz="2400" smtClean="0"/>
              </a:p>
              <a:p>
                <a:pPr marL="0" indent="0">
                  <a:buNone/>
                </a:pPr>
                <a:r>
                  <a:rPr lang="en-US" sz="2400" smtClean="0"/>
                  <a:t>Ví dụ:</a:t>
                </a:r>
              </a:p>
              <a:p>
                <a:pPr marL="0" indent="0">
                  <a:buNone/>
                </a:pPr>
                <a:r>
                  <a:rPr lang="en-US" sz="2400" smtClean="0"/>
                  <a:t>Cho 2 lược đồ quan hệ </a:t>
                </a:r>
              </a:p>
              <a:p>
                <a:pPr marL="0" indent="0">
                  <a:buNone/>
                </a:pPr>
                <a14:m>
                  <m:oMathPara xmlns:m="http://schemas.openxmlformats.org/officeDocument/2006/math">
                    <m:oMathParaPr>
                      <m:jc m:val="centerGroup"/>
                    </m:oMathParaPr>
                    <m:oMath xmlns:m="http://schemas.openxmlformats.org/officeDocument/2006/math">
                      <m:r>
                        <a:rPr lang="en-US" sz="2200" i="1" smtClean="0">
                          <a:latin typeface="Cambria Math"/>
                        </a:rPr>
                        <m:t>𝑆𝐼𝑁𝐻𝑉𝐼𝐸𝑁</m:t>
                      </m:r>
                      <m:r>
                        <a:rPr lang="en-US" sz="2200" i="1" smtClean="0">
                          <a:latin typeface="Cambria Math"/>
                        </a:rPr>
                        <m:t>(</m:t>
                      </m:r>
                      <m:r>
                        <a:rPr lang="en-US" sz="2200" i="1" smtClean="0">
                          <a:latin typeface="Cambria Math"/>
                        </a:rPr>
                        <m:t>𝑚𝑎</m:t>
                      </m:r>
                      <m:r>
                        <a:rPr lang="en-US" sz="2200" i="1" smtClean="0">
                          <a:latin typeface="Cambria Math"/>
                        </a:rPr>
                        <m:t>,</m:t>
                      </m:r>
                      <m:r>
                        <a:rPr lang="en-US" sz="2200" i="1" smtClean="0">
                          <a:latin typeface="Cambria Math"/>
                        </a:rPr>
                        <m:t>𝑡𝑒𝑛</m:t>
                      </m:r>
                      <m:r>
                        <a:rPr lang="en-US" sz="2200" i="1" smtClean="0">
                          <a:latin typeface="Cambria Math"/>
                        </a:rPr>
                        <m:t>,</m:t>
                      </m:r>
                      <m:r>
                        <a:rPr lang="en-US" sz="2200" i="1" smtClean="0">
                          <a:latin typeface="Cambria Math"/>
                        </a:rPr>
                        <m:t>𝑚𝑎𝑙𝑜𝑝</m:t>
                      </m:r>
                      <m:r>
                        <a:rPr lang="en-US" sz="2200" i="1" smtClean="0">
                          <a:latin typeface="Cambria Math"/>
                        </a:rPr>
                        <m:t>;{</m:t>
                      </m:r>
                      <m:r>
                        <a:rPr lang="en-US" sz="2200" i="1" smtClean="0">
                          <a:latin typeface="Cambria Math"/>
                        </a:rPr>
                        <m:t>𝑚𝑎</m:t>
                      </m:r>
                      <m:r>
                        <a:rPr lang="en-US" sz="2200" i="1" smtClean="0">
                          <a:latin typeface="Cambria Math"/>
                        </a:rPr>
                        <m:t>}) </m:t>
                      </m:r>
                      <m:r>
                        <a:rPr lang="en-US" sz="2200" i="1" smtClean="0">
                          <a:latin typeface="Cambria Math"/>
                        </a:rPr>
                        <m:t>𝐿𝑂𝑃𝐻𝑂𝐶</m:t>
                      </m:r>
                      <m:r>
                        <a:rPr lang="en-US" sz="2200" i="1" smtClean="0">
                          <a:latin typeface="Cambria Math"/>
                        </a:rPr>
                        <m:t>(</m:t>
                      </m:r>
                      <m:r>
                        <a:rPr lang="en-US" sz="2200" i="1" smtClean="0">
                          <a:latin typeface="Cambria Math"/>
                        </a:rPr>
                        <m:t>𝑚𝑎𝑙𝑜𝑝</m:t>
                      </m:r>
                      <m:r>
                        <a:rPr lang="en-US" sz="2200" i="1" smtClean="0">
                          <a:latin typeface="Cambria Math"/>
                        </a:rPr>
                        <m:t>,</m:t>
                      </m:r>
                      <m:r>
                        <a:rPr lang="en-US" sz="2200" i="1" smtClean="0">
                          <a:latin typeface="Cambria Math"/>
                        </a:rPr>
                        <m:t>𝑡𝑒𝑛𝑙𝑜𝑝</m:t>
                      </m:r>
                      <m:r>
                        <a:rPr lang="en-US" sz="2200" i="1" smtClean="0">
                          <a:latin typeface="Cambria Math"/>
                        </a:rPr>
                        <m:t>;{</m:t>
                      </m:r>
                      <m:r>
                        <a:rPr lang="en-US" sz="2200" i="1" smtClean="0">
                          <a:latin typeface="Cambria Math"/>
                        </a:rPr>
                        <m:t>𝑚𝑎𝑙𝑜𝑝</m:t>
                      </m:r>
                      <m:r>
                        <a:rPr lang="en-US" sz="2200" i="1" smtClean="0">
                          <a:latin typeface="Cambria Math"/>
                        </a:rPr>
                        <m:t>})</m:t>
                      </m:r>
                    </m:oMath>
                  </m:oMathPara>
                </a14:m>
                <a:endParaRPr lang="en-US" sz="2200" smtClean="0"/>
              </a:p>
              <a:p>
                <a:pPr marL="0" indent="0">
                  <a:buNone/>
                </a:pPr>
                <a:r>
                  <a:rPr lang="en-US" sz="2400" smtClean="0"/>
                  <a:t>Cho 2 quan hệ </a:t>
                </a:r>
                <a14:m>
                  <m:oMath xmlns:m="http://schemas.openxmlformats.org/officeDocument/2006/math">
                    <m:r>
                      <a:rPr lang="en-US" sz="2400" i="1" smtClean="0">
                        <a:latin typeface="Cambria Math"/>
                      </a:rPr>
                      <m:t>𝑠𝑣</m:t>
                    </m:r>
                    <m:r>
                      <a:rPr lang="en-US" sz="2400" i="1" smtClean="0">
                        <a:latin typeface="Cambria Math"/>
                      </a:rPr>
                      <m:t>(</m:t>
                    </m:r>
                    <m:r>
                      <a:rPr lang="en-US" sz="2400" i="1" smtClean="0">
                        <a:latin typeface="Cambria Math"/>
                      </a:rPr>
                      <m:t>𝑚𝑎</m:t>
                    </m:r>
                    <m:r>
                      <a:rPr lang="en-US" sz="2400" i="1" smtClean="0">
                        <a:latin typeface="Cambria Math"/>
                      </a:rPr>
                      <m:t>, </m:t>
                    </m:r>
                    <m:r>
                      <a:rPr lang="en-US" sz="2400" i="1" smtClean="0">
                        <a:latin typeface="Cambria Math"/>
                      </a:rPr>
                      <m:t>𝑡𝑒𝑛</m:t>
                    </m:r>
                    <m:r>
                      <a:rPr lang="en-US" sz="2400" i="1" smtClean="0">
                        <a:latin typeface="Cambria Math"/>
                      </a:rPr>
                      <m:t>, </m:t>
                    </m:r>
                    <m:r>
                      <a:rPr lang="en-US" sz="2400" i="1" smtClean="0">
                        <a:latin typeface="Cambria Math"/>
                      </a:rPr>
                      <m:t>𝑚𝑎𝑙𝑜𝑝</m:t>
                    </m:r>
                    <m:r>
                      <a:rPr lang="en-US" sz="2400" i="1" smtClean="0">
                        <a:latin typeface="Cambria Math"/>
                      </a:rPr>
                      <m:t>) </m:t>
                    </m:r>
                  </m:oMath>
                </a14:m>
                <a:r>
                  <a:rPr lang="en-US" sz="2400" smtClean="0"/>
                  <a:t>và </a:t>
                </a:r>
                <a14:m>
                  <m:oMath xmlns:m="http://schemas.openxmlformats.org/officeDocument/2006/math">
                    <m:r>
                      <a:rPr lang="en-US" sz="2400" i="1" smtClean="0">
                        <a:latin typeface="Cambria Math"/>
                      </a:rPr>
                      <m:t>𝑙𝑜𝑝</m:t>
                    </m:r>
                    <m:r>
                      <a:rPr lang="en-US" sz="2400" i="1" smtClean="0">
                        <a:latin typeface="Cambria Math"/>
                      </a:rPr>
                      <m:t>(</m:t>
                    </m:r>
                    <m:r>
                      <a:rPr lang="en-US" sz="2400" i="1" smtClean="0">
                        <a:latin typeface="Cambria Math"/>
                      </a:rPr>
                      <m:t>𝑚𝑎𝑙𝑜𝑝</m:t>
                    </m:r>
                    <m:r>
                      <a:rPr lang="en-US" sz="2400" i="1" smtClean="0">
                        <a:latin typeface="Cambria Math"/>
                      </a:rPr>
                      <m:t>, </m:t>
                    </m:r>
                    <m:r>
                      <a:rPr lang="en-US" sz="2400" i="1" smtClean="0">
                        <a:latin typeface="Cambria Math"/>
                      </a:rPr>
                      <m:t>𝑡𝑒𝑛𝑙𝑜𝑝</m:t>
                    </m:r>
                    <m:r>
                      <a:rPr lang="en-US" sz="2400" i="1" smtClean="0">
                        <a:latin typeface="Cambria Math"/>
                      </a:rPr>
                      <m:t>)</m:t>
                    </m:r>
                  </m:oMath>
                </a14:m>
                <a:endParaRPr lang="en-US" sz="2400" smtClean="0"/>
              </a:p>
              <a:p>
                <a:pPr marL="0" indent="0">
                  <a:buNone/>
                </a:pPr>
                <a:r>
                  <a:rPr lang="en-US" sz="2400" smtClean="0"/>
                  <a:t>Ta có lược đồ cơ sở dữ liệu </a:t>
                </a:r>
                <a14:m>
                  <m:oMath xmlns:m="http://schemas.openxmlformats.org/officeDocument/2006/math">
                    <m:r>
                      <a:rPr lang="en-US" sz="2400" i="1" smtClean="0">
                        <a:latin typeface="Cambria Math"/>
                      </a:rPr>
                      <m:t>𝑄𝐿𝑆𝑉</m:t>
                    </m:r>
                    <m:r>
                      <a:rPr lang="en-US" sz="2400" i="1" smtClean="0">
                        <a:latin typeface="Cambria Math"/>
                      </a:rPr>
                      <m:t>={</m:t>
                    </m:r>
                    <m:r>
                      <a:rPr lang="en-US" sz="2400" i="1" smtClean="0">
                        <a:latin typeface="Cambria Math"/>
                      </a:rPr>
                      <m:t>𝑆𝐼𝑁𝐻𝑉𝐼𝐸𝑁</m:t>
                    </m:r>
                    <m:r>
                      <a:rPr lang="en-US" sz="2400" i="1" smtClean="0">
                        <a:latin typeface="Cambria Math"/>
                      </a:rPr>
                      <m:t>, </m:t>
                    </m:r>
                    <m:r>
                      <a:rPr lang="en-US" sz="2400" i="1" smtClean="0">
                        <a:latin typeface="Cambria Math"/>
                      </a:rPr>
                      <m:t>𝐿𝑂𝑃𝐻𝑂𝐶</m:t>
                    </m:r>
                    <m:r>
                      <a:rPr lang="en-US" sz="2400" i="1" smtClean="0">
                        <a:latin typeface="Cambria Math"/>
                      </a:rPr>
                      <m:t>}</m:t>
                    </m:r>
                  </m:oMath>
                </a14:m>
                <a:endParaRPr lang="en-US" sz="2400" smtClean="0"/>
              </a:p>
              <a:p>
                <a:pPr marL="0" indent="0">
                  <a:buNone/>
                </a:pPr>
                <a:r>
                  <a:rPr lang="en-US" sz="2400" smtClean="0"/>
                  <a:t>Ta có cơ sở dữ liệu </a:t>
                </a:r>
                <a14:m>
                  <m:oMath xmlns:m="http://schemas.openxmlformats.org/officeDocument/2006/math">
                    <m:r>
                      <a:rPr lang="en-US" sz="2400" i="1" smtClean="0">
                        <a:latin typeface="Cambria Math"/>
                      </a:rPr>
                      <m:t>𝑞𝑙𝑠𝑣</m:t>
                    </m:r>
                    <m:r>
                      <a:rPr lang="en-US" sz="2400" i="1" smtClean="0">
                        <a:latin typeface="Cambria Math"/>
                      </a:rPr>
                      <m:t>={</m:t>
                    </m:r>
                    <m:r>
                      <a:rPr lang="en-US" sz="2400" i="1" smtClean="0">
                        <a:latin typeface="Cambria Math"/>
                      </a:rPr>
                      <m:t>𝑠𝑣</m:t>
                    </m:r>
                    <m:r>
                      <a:rPr lang="en-US" sz="2400" i="1" smtClean="0">
                        <a:latin typeface="Cambria Math"/>
                      </a:rPr>
                      <m:t>,</m:t>
                    </m:r>
                    <m:r>
                      <a:rPr lang="en-US" sz="2400" i="1" smtClean="0">
                        <a:latin typeface="Cambria Math"/>
                      </a:rPr>
                      <m:t>𝑙𝑜𝑝</m:t>
                    </m:r>
                    <m:r>
                      <a:rPr lang="en-US" sz="2400" i="1" smtClean="0">
                        <a:latin typeface="Cambria Math"/>
                      </a:rPr>
                      <m:t>}</m:t>
                    </m:r>
                  </m:oMath>
                </a14:m>
                <a:endParaRPr lang="en-US" sz="24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3"/>
                <a:stretch>
                  <a:fillRect l="-1053" t="-941"/>
                </a:stretch>
              </a:blipFill>
            </p:spPr>
            <p:txBody>
              <a:bodyPr/>
              <a:lstStyle/>
              <a:p>
                <a:r>
                  <a:rPr lang="en-US">
                    <a:noFill/>
                  </a:rPr>
                  <a:t> </a:t>
                </a:r>
              </a:p>
            </p:txBody>
          </p:sp>
        </mc:Fallback>
      </mc:AlternateContent>
    </p:spTree>
    <p:extLst>
      <p:ext uri="{BB962C8B-B14F-4D97-AF65-F5344CB8AC3E}">
        <p14:creationId xmlns:p14="http://schemas.microsoft.com/office/powerpoint/2010/main" val="21789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(Lược đồ cơ sở dữ liệu)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buNone/>
                </a:pPr>
                <a:r>
                  <a:rPr lang="en-US" sz="2400" smtClean="0"/>
                  <a:t>Cho 2 lược đồ quan hệ </a:t>
                </a:r>
              </a:p>
              <a:p>
                <a:pPr marL="0" indent="0">
                  <a:buNone/>
                </a:pPr>
                <a14:m>
                  <m:oMathPara xmlns:m="http://schemas.openxmlformats.org/officeDocument/2006/math">
                    <m:oMathParaPr>
                      <m:jc m:val="centerGroup"/>
                    </m:oMathParaPr>
                    <m:oMath xmlns:m="http://schemas.openxmlformats.org/officeDocument/2006/math">
                      <m:r>
                        <a:rPr lang="en-US" sz="2200" i="1" smtClean="0">
                          <a:latin typeface="Cambria Math"/>
                        </a:rPr>
                        <m:t>𝑆𝐼𝑁𝐻𝑉𝐼𝐸𝑁</m:t>
                      </m:r>
                      <m:r>
                        <a:rPr lang="en-US" sz="2200" i="1" smtClean="0">
                          <a:latin typeface="Cambria Math"/>
                        </a:rPr>
                        <m:t>(</m:t>
                      </m:r>
                      <m:r>
                        <a:rPr lang="en-US" sz="2200" i="1" smtClean="0">
                          <a:latin typeface="Cambria Math"/>
                        </a:rPr>
                        <m:t>𝑚𝑎</m:t>
                      </m:r>
                      <m:r>
                        <a:rPr lang="en-US" sz="2200" i="1" smtClean="0">
                          <a:latin typeface="Cambria Math"/>
                        </a:rPr>
                        <m:t>,</m:t>
                      </m:r>
                      <m:r>
                        <a:rPr lang="en-US" sz="2200" i="1" smtClean="0">
                          <a:latin typeface="Cambria Math"/>
                        </a:rPr>
                        <m:t>𝑡𝑒𝑛</m:t>
                      </m:r>
                      <m:r>
                        <a:rPr lang="en-US" sz="2200" i="1" smtClean="0">
                          <a:latin typeface="Cambria Math"/>
                        </a:rPr>
                        <m:t>,</m:t>
                      </m:r>
                      <m:r>
                        <a:rPr lang="en-US" sz="2200" i="1" smtClean="0">
                          <a:latin typeface="Cambria Math"/>
                        </a:rPr>
                        <m:t>𝑚𝑎𝑙𝑜𝑝</m:t>
                      </m:r>
                      <m:r>
                        <a:rPr lang="en-US" sz="2200" i="1" smtClean="0">
                          <a:latin typeface="Cambria Math"/>
                        </a:rPr>
                        <m:t>;{</m:t>
                      </m:r>
                      <m:r>
                        <a:rPr lang="en-US" sz="2200" i="1" smtClean="0">
                          <a:latin typeface="Cambria Math"/>
                        </a:rPr>
                        <m:t>𝑚𝑎</m:t>
                      </m:r>
                      <m:r>
                        <a:rPr lang="en-US" sz="2200" i="1" smtClean="0">
                          <a:latin typeface="Cambria Math"/>
                        </a:rPr>
                        <m:t>}) </m:t>
                      </m:r>
                      <m:r>
                        <a:rPr lang="en-US" sz="2200" i="1" smtClean="0">
                          <a:latin typeface="Cambria Math"/>
                        </a:rPr>
                        <m:t>𝐿𝑂𝑃𝐻𝑂𝐶</m:t>
                      </m:r>
                      <m:r>
                        <a:rPr lang="en-US" sz="2200" i="1" smtClean="0">
                          <a:latin typeface="Cambria Math"/>
                        </a:rPr>
                        <m:t>(</m:t>
                      </m:r>
                      <m:r>
                        <a:rPr lang="en-US" sz="2200" i="1" smtClean="0">
                          <a:latin typeface="Cambria Math"/>
                        </a:rPr>
                        <m:t>𝑚𝑎𝑙𝑜𝑝</m:t>
                      </m:r>
                      <m:r>
                        <a:rPr lang="en-US" sz="2200" i="1" smtClean="0">
                          <a:latin typeface="Cambria Math"/>
                        </a:rPr>
                        <m:t>,</m:t>
                      </m:r>
                      <m:r>
                        <a:rPr lang="en-US" sz="2200" i="1" smtClean="0">
                          <a:latin typeface="Cambria Math"/>
                        </a:rPr>
                        <m:t>𝑡𝑒𝑛𝑙𝑜𝑝</m:t>
                      </m:r>
                      <m:r>
                        <a:rPr lang="en-US" sz="2200" i="1" smtClean="0">
                          <a:latin typeface="Cambria Math"/>
                        </a:rPr>
                        <m:t>;{</m:t>
                      </m:r>
                      <m:r>
                        <a:rPr lang="en-US" sz="2200" i="1" smtClean="0">
                          <a:latin typeface="Cambria Math"/>
                        </a:rPr>
                        <m:t>𝑚𝑎𝑙𝑜𝑝</m:t>
                      </m:r>
                      <m:r>
                        <a:rPr lang="en-US" sz="2200" i="1" smtClean="0">
                          <a:latin typeface="Cambria Math"/>
                        </a:rPr>
                        <m:t>})</m:t>
                      </m:r>
                    </m:oMath>
                  </m:oMathPara>
                </a14:m>
                <a:endParaRPr lang="en-US" sz="2200" smtClean="0"/>
              </a:p>
              <a:p>
                <a:pPr marL="0" indent="0">
                  <a:buNone/>
                </a:pPr>
                <a:r>
                  <a:rPr lang="en-US" sz="2400" smtClean="0"/>
                  <a:t>Cho 2 quan hệ </a:t>
                </a:r>
                <a14:m>
                  <m:oMath xmlns:m="http://schemas.openxmlformats.org/officeDocument/2006/math">
                    <m:r>
                      <a:rPr lang="en-US" sz="2400" i="1" smtClean="0">
                        <a:latin typeface="Cambria Math"/>
                      </a:rPr>
                      <m:t>𝑠𝑣</m:t>
                    </m:r>
                    <m:r>
                      <a:rPr lang="en-US" sz="2400" i="1" smtClean="0">
                        <a:latin typeface="Cambria Math"/>
                      </a:rPr>
                      <m:t>(</m:t>
                    </m:r>
                    <m:r>
                      <a:rPr lang="en-US" sz="2400" i="1" smtClean="0">
                        <a:latin typeface="Cambria Math"/>
                      </a:rPr>
                      <m:t>𝑚𝑎</m:t>
                    </m:r>
                    <m:r>
                      <a:rPr lang="en-US" sz="2400" i="1" smtClean="0">
                        <a:latin typeface="Cambria Math"/>
                      </a:rPr>
                      <m:t>, </m:t>
                    </m:r>
                    <m:r>
                      <a:rPr lang="en-US" sz="2400" i="1" smtClean="0">
                        <a:latin typeface="Cambria Math"/>
                      </a:rPr>
                      <m:t>𝑡𝑒𝑛</m:t>
                    </m:r>
                    <m:r>
                      <a:rPr lang="en-US" sz="2400" i="1" smtClean="0">
                        <a:latin typeface="Cambria Math"/>
                      </a:rPr>
                      <m:t>, </m:t>
                    </m:r>
                    <m:r>
                      <a:rPr lang="en-US" sz="2400" i="1" smtClean="0">
                        <a:latin typeface="Cambria Math"/>
                      </a:rPr>
                      <m:t>𝑚𝑎𝑙𝑜𝑝</m:t>
                    </m:r>
                    <m:r>
                      <a:rPr lang="en-US" sz="2400" i="1" smtClean="0">
                        <a:latin typeface="Cambria Math"/>
                      </a:rPr>
                      <m:t>) </m:t>
                    </m:r>
                  </m:oMath>
                </a14:m>
                <a:r>
                  <a:rPr lang="en-US" sz="2400" smtClean="0"/>
                  <a:t>và </a:t>
                </a:r>
                <a14:m>
                  <m:oMath xmlns:m="http://schemas.openxmlformats.org/officeDocument/2006/math">
                    <m:r>
                      <a:rPr lang="en-US" sz="2400" i="1" smtClean="0">
                        <a:latin typeface="Cambria Math"/>
                      </a:rPr>
                      <m:t>𝑙𝑜𝑝</m:t>
                    </m:r>
                    <m:r>
                      <a:rPr lang="en-US" sz="2400" i="1" smtClean="0">
                        <a:latin typeface="Cambria Math"/>
                      </a:rPr>
                      <m:t>(</m:t>
                    </m:r>
                    <m:r>
                      <a:rPr lang="en-US" sz="2400" i="1" smtClean="0">
                        <a:latin typeface="Cambria Math"/>
                      </a:rPr>
                      <m:t>𝑚𝑎𝑙𝑜𝑝</m:t>
                    </m:r>
                    <m:r>
                      <a:rPr lang="en-US" sz="2400" i="1" smtClean="0">
                        <a:latin typeface="Cambria Math"/>
                      </a:rPr>
                      <m:t>, </m:t>
                    </m:r>
                    <m:r>
                      <a:rPr lang="en-US" sz="2400" i="1" smtClean="0">
                        <a:latin typeface="Cambria Math"/>
                      </a:rPr>
                      <m:t>𝑡𝑒𝑛𝑙𝑜𝑝</m:t>
                    </m:r>
                    <m:r>
                      <a:rPr lang="en-US" sz="2400" i="1" smtClean="0">
                        <a:latin typeface="Cambria Math"/>
                      </a:rPr>
                      <m:t>)</m:t>
                    </m:r>
                  </m:oMath>
                </a14:m>
                <a:endParaRPr lang="en-US" sz="2400" smtClean="0"/>
              </a:p>
              <a:p>
                <a:pPr marL="0" indent="0">
                  <a:buNone/>
                </a:pPr>
                <a:r>
                  <a:rPr lang="en-US" sz="2400" smtClean="0"/>
                  <a:t>Ta có lược đồ cơ sở dữ liệu </a:t>
                </a:r>
                <a14:m>
                  <m:oMath xmlns:m="http://schemas.openxmlformats.org/officeDocument/2006/math">
                    <m:r>
                      <a:rPr lang="en-US" sz="2400" i="1" smtClean="0">
                        <a:latin typeface="Cambria Math"/>
                      </a:rPr>
                      <m:t>𝑄𝐿𝑆𝑉</m:t>
                    </m:r>
                    <m:r>
                      <a:rPr lang="en-US" sz="2400" i="1" smtClean="0">
                        <a:latin typeface="Cambria Math"/>
                      </a:rPr>
                      <m:t>={</m:t>
                    </m:r>
                    <m:r>
                      <a:rPr lang="en-US" sz="2400" i="1" smtClean="0">
                        <a:latin typeface="Cambria Math"/>
                      </a:rPr>
                      <m:t>𝑆𝐼𝑁𝐻𝑉𝐼𝐸𝑁</m:t>
                    </m:r>
                    <m:r>
                      <a:rPr lang="en-US" sz="2400" i="1" smtClean="0">
                        <a:latin typeface="Cambria Math"/>
                      </a:rPr>
                      <m:t>, </m:t>
                    </m:r>
                    <m:r>
                      <a:rPr lang="en-US" sz="2400" i="1" smtClean="0">
                        <a:latin typeface="Cambria Math"/>
                      </a:rPr>
                      <m:t>𝐿𝑂𝑃𝐻𝑂𝐶</m:t>
                    </m:r>
                    <m:r>
                      <a:rPr lang="en-US" sz="2400" i="1" smtClean="0">
                        <a:latin typeface="Cambria Math"/>
                      </a:rPr>
                      <m:t>}</m:t>
                    </m:r>
                  </m:oMath>
                </a14:m>
                <a:endParaRPr lang="en-US" sz="2400" smtClean="0"/>
              </a:p>
              <a:p>
                <a:pPr marL="0" indent="0">
                  <a:buNone/>
                </a:pPr>
                <a:r>
                  <a:rPr lang="en-US" sz="2400" smtClean="0"/>
                  <a:t>Ta có cơ sở dữ liệu </a:t>
                </a:r>
                <a14:m>
                  <m:oMath xmlns:m="http://schemas.openxmlformats.org/officeDocument/2006/math">
                    <m:r>
                      <a:rPr lang="en-US" sz="2400" i="1" smtClean="0">
                        <a:latin typeface="Cambria Math"/>
                      </a:rPr>
                      <m:t>𝑞𝑙𝑠𝑣</m:t>
                    </m:r>
                    <m:r>
                      <a:rPr lang="en-US" sz="2400" i="1" smtClean="0">
                        <a:latin typeface="Cambria Math"/>
                      </a:rPr>
                      <m:t>={</m:t>
                    </m:r>
                    <m:r>
                      <a:rPr lang="en-US" sz="2400" i="1" smtClean="0">
                        <a:latin typeface="Cambria Math"/>
                      </a:rPr>
                      <m:t>𝑠𝑣</m:t>
                    </m:r>
                    <m:r>
                      <a:rPr lang="en-US" sz="2400" i="1" smtClean="0">
                        <a:latin typeface="Cambria Math"/>
                      </a:rPr>
                      <m:t>,</m:t>
                    </m:r>
                    <m:r>
                      <a:rPr lang="en-US" sz="2400" i="1" smtClean="0">
                        <a:latin typeface="Cambria Math"/>
                      </a:rPr>
                      <m:t>𝑙𝑜𝑝</m:t>
                    </m:r>
                    <m:r>
                      <a:rPr lang="en-US" sz="2400" i="1" smtClean="0">
                        <a:latin typeface="Cambria Math"/>
                      </a:rPr>
                      <m:t>}</m:t>
                    </m:r>
                  </m:oMath>
                </a14:m>
                <a:endParaRPr lang="en-US" sz="24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3"/>
                <a:stretch>
                  <a:fillRect l="-1053" t="-941"/>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313130056"/>
              </p:ext>
            </p:extLst>
          </p:nvPr>
        </p:nvGraphicFramePr>
        <p:xfrm>
          <a:off x="609600" y="3810000"/>
          <a:ext cx="3048001" cy="2225040"/>
        </p:xfrm>
        <a:graphic>
          <a:graphicData uri="http://schemas.openxmlformats.org/drawingml/2006/table">
            <a:tbl>
              <a:tblPr firstRow="1" bandRow="1">
                <a:tableStyleId>{5C22544A-7EE6-4342-B048-85BDC9FD1C3A}</a:tableStyleId>
              </a:tblPr>
              <a:tblGrid>
                <a:gridCol w="703385"/>
                <a:gridCol w="703385"/>
                <a:gridCol w="1055077"/>
                <a:gridCol w="586154"/>
              </a:tblGrid>
              <a:tr h="370840">
                <a:tc>
                  <a:txBody>
                    <a:bodyPr/>
                    <a:lstStyle/>
                    <a:p>
                      <a:r>
                        <a:rPr lang="en-US" smtClean="0">
                          <a:solidFill>
                            <a:schemeClr val="tx1"/>
                          </a:solidFill>
                        </a:rPr>
                        <a:t>sv</a:t>
                      </a:r>
                      <a:endParaRPr lang="en-US">
                        <a:solidFill>
                          <a:schemeClr val="tx1"/>
                        </a:solidFill>
                      </a:endParaRPr>
                    </a:p>
                  </a:txBody>
                  <a:tcPr>
                    <a:noFill/>
                  </a:tcPr>
                </a:tc>
                <a:tc>
                  <a:txBody>
                    <a:bodyPr/>
                    <a:lstStyle/>
                    <a:p>
                      <a:r>
                        <a:rPr lang="en-US" smtClean="0"/>
                        <a:t>ma</a:t>
                      </a:r>
                      <a:endParaRPr lang="en-US"/>
                    </a:p>
                  </a:txBody>
                  <a:tcPr/>
                </a:tc>
                <a:tc>
                  <a:txBody>
                    <a:bodyPr/>
                    <a:lstStyle/>
                    <a:p>
                      <a:r>
                        <a:rPr lang="en-US" smtClean="0"/>
                        <a:t>ten</a:t>
                      </a:r>
                      <a:endParaRPr lang="en-US"/>
                    </a:p>
                  </a:txBody>
                  <a:tcPr/>
                </a:tc>
                <a:tc>
                  <a:txBody>
                    <a:bodyPr/>
                    <a:lstStyle/>
                    <a:p>
                      <a:r>
                        <a:rPr lang="en-US" smtClean="0"/>
                        <a:t>lop</a:t>
                      </a:r>
                      <a:endParaRPr lang="en-US"/>
                    </a:p>
                  </a:txBody>
                  <a:tcPr/>
                </a:tc>
              </a:tr>
              <a:tr h="370840">
                <a:tc rowSpan="5">
                  <a:txBody>
                    <a:bodyPr/>
                    <a:lstStyle/>
                    <a:p>
                      <a:endParaRPr lang="en-US"/>
                    </a:p>
                  </a:txBody>
                  <a:tcPr>
                    <a:noFill/>
                  </a:tcPr>
                </a:tc>
                <a:tc>
                  <a:txBody>
                    <a:bodyPr/>
                    <a:lstStyle/>
                    <a:p>
                      <a:r>
                        <a:rPr lang="en-US" smtClean="0"/>
                        <a:t>S1</a:t>
                      </a:r>
                      <a:endParaRPr lang="en-US"/>
                    </a:p>
                  </a:txBody>
                  <a:tcPr/>
                </a:tc>
                <a:tc>
                  <a:txBody>
                    <a:bodyPr/>
                    <a:lstStyle/>
                    <a:p>
                      <a:r>
                        <a:rPr lang="en-US" smtClean="0"/>
                        <a:t>Hoàng</a:t>
                      </a:r>
                      <a:endParaRPr lang="en-US"/>
                    </a:p>
                  </a:txBody>
                  <a:tcPr/>
                </a:tc>
                <a:tc>
                  <a:txBody>
                    <a:bodyPr/>
                    <a:lstStyle/>
                    <a:p>
                      <a:r>
                        <a:rPr lang="en-US" smtClean="0"/>
                        <a:t>TO</a:t>
                      </a:r>
                      <a:endParaRPr lang="en-US"/>
                    </a:p>
                  </a:txBody>
                  <a:tcPr/>
                </a:tc>
              </a:tr>
              <a:tr h="370840">
                <a:tc vMerge="1">
                  <a:txBody>
                    <a:bodyPr/>
                    <a:lstStyle/>
                    <a:p>
                      <a:endParaRPr lang="en-US"/>
                    </a:p>
                  </a:txBody>
                  <a:tcPr/>
                </a:tc>
                <a:tc>
                  <a:txBody>
                    <a:bodyPr/>
                    <a:lstStyle/>
                    <a:p>
                      <a:r>
                        <a:rPr lang="en-US" smtClean="0"/>
                        <a:t>S2</a:t>
                      </a:r>
                      <a:endParaRPr lang="en-US"/>
                    </a:p>
                  </a:txBody>
                  <a:tcPr/>
                </a:tc>
                <a:tc>
                  <a:txBody>
                    <a:bodyPr/>
                    <a:lstStyle/>
                    <a:p>
                      <a:r>
                        <a:rPr lang="en-US" smtClean="0"/>
                        <a:t>Nhân</a:t>
                      </a:r>
                      <a:endParaRPr lang="en-US"/>
                    </a:p>
                  </a:txBody>
                  <a:tcPr/>
                </a:tc>
                <a:tc>
                  <a:txBody>
                    <a:bodyPr/>
                    <a:lstStyle/>
                    <a:p>
                      <a:r>
                        <a:rPr lang="en-US" smtClean="0"/>
                        <a:t>TO</a:t>
                      </a:r>
                      <a:endParaRPr lang="en-US"/>
                    </a:p>
                  </a:txBody>
                  <a:tcPr/>
                </a:tc>
              </a:tr>
              <a:tr h="370840">
                <a:tc vMerge="1">
                  <a:txBody>
                    <a:bodyPr/>
                    <a:lstStyle/>
                    <a:p>
                      <a:endParaRPr lang="en-US"/>
                    </a:p>
                  </a:txBody>
                  <a:tcPr/>
                </a:tc>
                <a:tc>
                  <a:txBody>
                    <a:bodyPr/>
                    <a:lstStyle/>
                    <a:p>
                      <a:r>
                        <a:rPr lang="en-US" smtClean="0"/>
                        <a:t>S3</a:t>
                      </a:r>
                      <a:endParaRPr lang="en-US"/>
                    </a:p>
                  </a:txBody>
                  <a:tcPr/>
                </a:tc>
                <a:tc>
                  <a:txBody>
                    <a:bodyPr/>
                    <a:lstStyle/>
                    <a:p>
                      <a:r>
                        <a:rPr lang="en-US" smtClean="0"/>
                        <a:t>Vân</a:t>
                      </a:r>
                      <a:endParaRPr lang="en-US"/>
                    </a:p>
                  </a:txBody>
                  <a:tcPr/>
                </a:tc>
                <a:tc>
                  <a:txBody>
                    <a:bodyPr/>
                    <a:lstStyle/>
                    <a:p>
                      <a:r>
                        <a:rPr lang="en-US" smtClean="0"/>
                        <a:t>TH</a:t>
                      </a:r>
                      <a:endParaRPr lang="en-US"/>
                    </a:p>
                  </a:txBody>
                  <a:tcPr/>
                </a:tc>
              </a:tr>
              <a:tr h="370840">
                <a:tc vMerge="1">
                  <a:txBody>
                    <a:bodyPr/>
                    <a:lstStyle/>
                    <a:p>
                      <a:endParaRPr lang="en-US"/>
                    </a:p>
                  </a:txBody>
                  <a:tcPr/>
                </a:tc>
                <a:tc>
                  <a:txBody>
                    <a:bodyPr/>
                    <a:lstStyle/>
                    <a:p>
                      <a:r>
                        <a:rPr lang="en-US" smtClean="0"/>
                        <a:t>S4</a:t>
                      </a:r>
                      <a:endParaRPr lang="en-US"/>
                    </a:p>
                  </a:txBody>
                  <a:tcPr/>
                </a:tc>
                <a:tc>
                  <a:txBody>
                    <a:bodyPr/>
                    <a:lstStyle/>
                    <a:p>
                      <a:r>
                        <a:rPr lang="en-US" smtClean="0"/>
                        <a:t>Hương</a:t>
                      </a:r>
                      <a:endParaRPr lang="en-US"/>
                    </a:p>
                  </a:txBody>
                  <a:tcPr/>
                </a:tc>
                <a:tc>
                  <a:txBody>
                    <a:bodyPr/>
                    <a:lstStyle/>
                    <a:p>
                      <a:r>
                        <a:rPr lang="en-US" smtClean="0"/>
                        <a:t>TH</a:t>
                      </a:r>
                      <a:endParaRPr lang="en-US"/>
                    </a:p>
                  </a:txBody>
                  <a:tcPr/>
                </a:tc>
              </a:tr>
              <a:tr h="370840">
                <a:tc vMerge="1">
                  <a:txBody>
                    <a:bodyPr/>
                    <a:lstStyle/>
                    <a:p>
                      <a:endParaRPr lang="en-US"/>
                    </a:p>
                  </a:txBody>
                  <a:tcPr/>
                </a:tc>
                <a:tc>
                  <a:txBody>
                    <a:bodyPr/>
                    <a:lstStyle/>
                    <a:p>
                      <a:r>
                        <a:rPr lang="en-US" smtClean="0"/>
                        <a:t>S5</a:t>
                      </a:r>
                      <a:endParaRPr lang="en-US"/>
                    </a:p>
                  </a:txBody>
                  <a:tcPr/>
                </a:tc>
                <a:tc>
                  <a:txBody>
                    <a:bodyPr/>
                    <a:lstStyle/>
                    <a:p>
                      <a:r>
                        <a:rPr lang="en-US" smtClean="0"/>
                        <a:t>Linh</a:t>
                      </a:r>
                      <a:endParaRPr lang="en-US"/>
                    </a:p>
                  </a:txBody>
                  <a:tcPr/>
                </a:tc>
                <a:tc>
                  <a:txBody>
                    <a:bodyPr/>
                    <a:lstStyle/>
                    <a:p>
                      <a:r>
                        <a:rPr lang="en-US" smtClean="0"/>
                        <a:t>TO</a:t>
                      </a:r>
                      <a:endParaRPr lang="en-US"/>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096555121"/>
              </p:ext>
            </p:extLst>
          </p:nvPr>
        </p:nvGraphicFramePr>
        <p:xfrm>
          <a:off x="4953000" y="3810000"/>
          <a:ext cx="2514600" cy="1483360"/>
        </p:xfrm>
        <a:graphic>
          <a:graphicData uri="http://schemas.openxmlformats.org/drawingml/2006/table">
            <a:tbl>
              <a:tblPr firstRow="1" bandRow="1">
                <a:tableStyleId>{5C22544A-7EE6-4342-B048-85BDC9FD1C3A}</a:tableStyleId>
              </a:tblPr>
              <a:tblGrid>
                <a:gridCol w="609600"/>
                <a:gridCol w="914400"/>
                <a:gridCol w="990600"/>
              </a:tblGrid>
              <a:tr h="370840">
                <a:tc>
                  <a:txBody>
                    <a:bodyPr/>
                    <a:lstStyle/>
                    <a:p>
                      <a:r>
                        <a:rPr lang="en-US" smtClean="0">
                          <a:solidFill>
                            <a:schemeClr val="tx1"/>
                          </a:solidFill>
                        </a:rPr>
                        <a:t>lop</a:t>
                      </a:r>
                      <a:endParaRPr lang="en-US">
                        <a:solidFill>
                          <a:schemeClr val="tx1"/>
                        </a:solidFill>
                      </a:endParaRPr>
                    </a:p>
                  </a:txBody>
                  <a:tcPr>
                    <a:noFill/>
                  </a:tcPr>
                </a:tc>
                <a:tc>
                  <a:txBody>
                    <a:bodyPr/>
                    <a:lstStyle/>
                    <a:p>
                      <a:r>
                        <a:rPr lang="en-US" smtClean="0"/>
                        <a:t>maLop</a:t>
                      </a:r>
                      <a:endParaRPr lang="en-US"/>
                    </a:p>
                  </a:txBody>
                  <a:tcPr/>
                </a:tc>
                <a:tc>
                  <a:txBody>
                    <a:bodyPr/>
                    <a:lstStyle/>
                    <a:p>
                      <a:r>
                        <a:rPr lang="en-US" smtClean="0"/>
                        <a:t>Tenlop</a:t>
                      </a:r>
                      <a:endParaRPr lang="en-US"/>
                    </a:p>
                  </a:txBody>
                  <a:tcPr/>
                </a:tc>
              </a:tr>
              <a:tr h="370840">
                <a:tc rowSpan="3">
                  <a:txBody>
                    <a:bodyPr/>
                    <a:lstStyle/>
                    <a:p>
                      <a:endParaRPr lang="en-US"/>
                    </a:p>
                  </a:txBody>
                  <a:tcPr>
                    <a:noFill/>
                  </a:tcPr>
                </a:tc>
                <a:tc>
                  <a:txBody>
                    <a:bodyPr/>
                    <a:lstStyle/>
                    <a:p>
                      <a:r>
                        <a:rPr lang="en-US" smtClean="0"/>
                        <a:t>TO</a:t>
                      </a:r>
                      <a:endParaRPr lang="en-US"/>
                    </a:p>
                  </a:txBody>
                  <a:tcPr/>
                </a:tc>
                <a:tc>
                  <a:txBody>
                    <a:bodyPr/>
                    <a:lstStyle/>
                    <a:p>
                      <a:r>
                        <a:rPr lang="en-US" smtClean="0"/>
                        <a:t>Toán</a:t>
                      </a:r>
                      <a:endParaRPr lang="en-US"/>
                    </a:p>
                  </a:txBody>
                  <a:tcPr/>
                </a:tc>
              </a:tr>
              <a:tr h="370840">
                <a:tc vMerge="1">
                  <a:txBody>
                    <a:bodyPr/>
                    <a:lstStyle/>
                    <a:p>
                      <a:endParaRPr lang="en-US"/>
                    </a:p>
                  </a:txBody>
                  <a:tcPr/>
                </a:tc>
                <a:tc>
                  <a:txBody>
                    <a:bodyPr/>
                    <a:lstStyle/>
                    <a:p>
                      <a:r>
                        <a:rPr lang="en-US" smtClean="0"/>
                        <a:t>QT</a:t>
                      </a:r>
                      <a:endParaRPr lang="en-US"/>
                    </a:p>
                  </a:txBody>
                  <a:tcPr/>
                </a:tc>
                <a:tc>
                  <a:txBody>
                    <a:bodyPr/>
                    <a:lstStyle/>
                    <a:p>
                      <a:r>
                        <a:rPr lang="en-US" smtClean="0"/>
                        <a:t>Quản</a:t>
                      </a:r>
                      <a:r>
                        <a:rPr lang="en-US" baseline="0" smtClean="0"/>
                        <a:t> trị</a:t>
                      </a:r>
                      <a:endParaRPr lang="en-US"/>
                    </a:p>
                  </a:txBody>
                  <a:tcPr/>
                </a:tc>
              </a:tr>
              <a:tr h="370840">
                <a:tc vMerge="1">
                  <a:txBody>
                    <a:bodyPr/>
                    <a:lstStyle/>
                    <a:p>
                      <a:endParaRPr lang="en-US"/>
                    </a:p>
                  </a:txBody>
                  <a:tcPr/>
                </a:tc>
                <a:tc>
                  <a:txBody>
                    <a:bodyPr/>
                    <a:lstStyle/>
                    <a:p>
                      <a:r>
                        <a:rPr lang="en-US" smtClean="0"/>
                        <a:t>TH</a:t>
                      </a:r>
                      <a:endParaRPr lang="en-US"/>
                    </a:p>
                  </a:txBody>
                  <a:tcPr/>
                </a:tc>
                <a:tc>
                  <a:txBody>
                    <a:bodyPr/>
                    <a:lstStyle/>
                    <a:p>
                      <a:r>
                        <a:rPr lang="en-US" smtClean="0"/>
                        <a:t>Tin học</a:t>
                      </a:r>
                      <a:endParaRPr lang="en-US"/>
                    </a:p>
                  </a:txBody>
                  <a:tcPr/>
                </a:tc>
              </a:tr>
            </a:tbl>
          </a:graphicData>
        </a:graphic>
      </p:graphicFrame>
    </p:spTree>
    <p:extLst>
      <p:ext uri="{BB962C8B-B14F-4D97-AF65-F5344CB8AC3E}">
        <p14:creationId xmlns:p14="http://schemas.microsoft.com/office/powerpoint/2010/main" val="19417653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(Ràng buộc toàn vẹn)</a:t>
            </a:r>
            <a:endParaRPr lang="en-US"/>
          </a:p>
        </p:txBody>
      </p:sp>
      <p:sp>
        <p:nvSpPr>
          <p:cNvPr id="3" name="Content Placeholder 2"/>
          <p:cNvSpPr>
            <a:spLocks noGrp="1"/>
          </p:cNvSpPr>
          <p:nvPr>
            <p:ph idx="1"/>
          </p:nvPr>
        </p:nvSpPr>
        <p:spPr>
          <a:xfrm>
            <a:off x="457200" y="1600200"/>
            <a:ext cx="8686800" cy="5181600"/>
          </a:xfrm>
        </p:spPr>
        <p:txBody>
          <a:bodyPr>
            <a:normAutofit/>
          </a:bodyPr>
          <a:lstStyle/>
          <a:p>
            <a:pPr marL="0" indent="0" algn="just">
              <a:buNone/>
            </a:pPr>
            <a:r>
              <a:rPr lang="en-US" sz="2400" smtClean="0"/>
              <a:t>Trong cơ sở dữ liệu, luôn tồn tại những quy tắc không đổi để đảm bảo tính hợp lý của cơ sở dữ liệu, đây được gọi là </a:t>
            </a:r>
            <a:r>
              <a:rPr lang="en-US" sz="2400" b="1" smtClean="0"/>
              <a:t>ràng buộc toàn vẹn</a:t>
            </a:r>
            <a:r>
              <a:rPr lang="en-US" sz="2400" smtClean="0"/>
              <a:t>.</a:t>
            </a:r>
          </a:p>
          <a:p>
            <a:pPr marL="0" indent="0" algn="just">
              <a:buNone/>
            </a:pPr>
            <a:r>
              <a:rPr lang="en-US" sz="2400" smtClean="0"/>
              <a:t>Để mô tả được ảnh hưởng lên các ràng buộc toàn vẹn từ các tác động thêm xóa sửa, người ta dùng một bảng gọi là </a:t>
            </a:r>
            <a:r>
              <a:rPr lang="en-US" sz="2400" b="1" smtClean="0"/>
              <a:t>bảng tầm ảnh hưởng</a:t>
            </a:r>
            <a:r>
              <a:rPr lang="en-US" sz="2400" smtClean="0"/>
              <a:t>.</a:t>
            </a:r>
          </a:p>
          <a:p>
            <a:pPr marL="0" indent="0" algn="just">
              <a:buNone/>
            </a:pPr>
            <a:r>
              <a:rPr lang="en-US" sz="2400" smtClean="0"/>
              <a:t>Bản thân trong các định nghĩa của lược đồ cơ sở dữ liệu đã bao gồm các mô tả những ràng buộc toàn vẹn, như </a:t>
            </a:r>
            <a:r>
              <a:rPr lang="en-US" sz="2400" b="1" smtClean="0"/>
              <a:t>ràng buộc khóa</a:t>
            </a:r>
            <a:r>
              <a:rPr lang="en-US" sz="2400"/>
              <a:t> </a:t>
            </a:r>
            <a:r>
              <a:rPr lang="en-US" sz="2400" smtClean="0"/>
              <a:t>(các giá trị của trường khóa thì không bao giờ có sự lặp lại trong một thể hiện)</a:t>
            </a:r>
          </a:p>
          <a:p>
            <a:pPr marL="0" indent="0" algn="just">
              <a:buNone/>
            </a:pPr>
            <a:r>
              <a:rPr lang="en-US" sz="2400" smtClean="0"/>
              <a:t>Chính những ràng buộc toàn vẹn liên quan giữa các quan hệ trong cơ sở dữ liệu sẽ tạo nên mối quan hệ có nghĩa trong cơ sở dữ liệu.</a:t>
            </a:r>
          </a:p>
          <a:p>
            <a:pPr marL="0" indent="0" algn="just">
              <a:buNone/>
            </a:pPr>
            <a:endParaRPr lang="en-US" sz="2400" smtClean="0"/>
          </a:p>
        </p:txBody>
      </p:sp>
    </p:spTree>
    <p:extLst>
      <p:ext uri="{BB962C8B-B14F-4D97-AF65-F5344CB8AC3E}">
        <p14:creationId xmlns:p14="http://schemas.microsoft.com/office/powerpoint/2010/main" val="4211494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(Ràng buộc toàn vẹn trên một quan hệ)</a:t>
            </a:r>
            <a:endParaRPr lang="en-US"/>
          </a:p>
        </p:txBody>
      </p:sp>
      <p:sp>
        <p:nvSpPr>
          <p:cNvPr id="3" name="Content Placeholder 2"/>
          <p:cNvSpPr>
            <a:spLocks noGrp="1"/>
          </p:cNvSpPr>
          <p:nvPr>
            <p:ph idx="1"/>
          </p:nvPr>
        </p:nvSpPr>
        <p:spPr>
          <a:xfrm>
            <a:off x="457200" y="1600200"/>
            <a:ext cx="8686800" cy="5181600"/>
          </a:xfrm>
        </p:spPr>
        <p:txBody>
          <a:bodyPr>
            <a:normAutofit/>
          </a:bodyPr>
          <a:lstStyle/>
          <a:p>
            <a:pPr marL="0" indent="0" algn="just">
              <a:buNone/>
            </a:pPr>
            <a:r>
              <a:rPr lang="en-US" sz="2400" b="1" u="sng" smtClean="0"/>
              <a:t>Ràng buộc khác rổng</a:t>
            </a:r>
            <a:r>
              <a:rPr lang="en-US" sz="2400" smtClean="0"/>
              <a:t>: Một thuộc tính nào đó có buộc phải có giá trị khác rổng.</a:t>
            </a:r>
          </a:p>
          <a:p>
            <a:pPr marL="0" indent="0" algn="just">
              <a:buNone/>
            </a:pPr>
            <a:endParaRPr lang="en-US" sz="2400" b="1" u="sng" smtClean="0"/>
          </a:p>
          <a:p>
            <a:pPr marL="0" indent="0" algn="just">
              <a:buNone/>
            </a:pPr>
            <a:r>
              <a:rPr lang="en-US" sz="2400" b="1" u="sng" smtClean="0"/>
              <a:t>Ràng buộc miền giá trị</a:t>
            </a:r>
            <a:r>
              <a:rPr lang="en-US" sz="2400" smtClean="0"/>
              <a:t>: Đây là một trong những giới hạn về giá trị của thuộc tính (tùy theo từng tình huống của cơ sở dữ liệu)</a:t>
            </a:r>
          </a:p>
          <a:p>
            <a:pPr marL="0" indent="0" algn="just">
              <a:buNone/>
            </a:pPr>
            <a:endParaRPr lang="en-US" sz="2400" b="1" u="sng" smtClean="0"/>
          </a:p>
          <a:p>
            <a:pPr marL="0" indent="0" algn="just">
              <a:buNone/>
            </a:pPr>
            <a:r>
              <a:rPr lang="en-US" sz="2400" b="1" u="sng" smtClean="0"/>
              <a:t>Ràng buộc liên thuộc tính</a:t>
            </a:r>
            <a:r>
              <a:rPr lang="en-US" sz="2400" smtClean="0"/>
              <a:t>: Đây là những quy tắc đặt ra mà có liên quan đến những thuộc tính khác nhau trong quan hệ.</a:t>
            </a:r>
          </a:p>
          <a:p>
            <a:pPr marL="0" indent="0" algn="just">
              <a:buNone/>
            </a:pPr>
            <a:endParaRPr lang="en-US" sz="2400" b="1" u="sng" smtClean="0"/>
          </a:p>
          <a:p>
            <a:pPr marL="0" indent="0" algn="just">
              <a:buNone/>
            </a:pPr>
            <a:r>
              <a:rPr lang="en-US" sz="2400" b="1" u="sng" smtClean="0"/>
              <a:t>Ràng buộc liên bộ:</a:t>
            </a:r>
            <a:r>
              <a:rPr lang="en-US" sz="2400" smtClean="0"/>
              <a:t> Đây là quy tắc đặt ra cho nhiều dòng. </a:t>
            </a:r>
          </a:p>
          <a:p>
            <a:pPr marL="0" indent="0" algn="just">
              <a:buNone/>
            </a:pPr>
            <a:endParaRPr lang="en-US" sz="2400" smtClean="0"/>
          </a:p>
          <a:p>
            <a:pPr marL="0" indent="0" algn="just">
              <a:buNone/>
            </a:pPr>
            <a:endParaRPr lang="en-US" sz="2400" smtClean="0"/>
          </a:p>
        </p:txBody>
      </p:sp>
    </p:spTree>
    <p:extLst>
      <p:ext uri="{BB962C8B-B14F-4D97-AF65-F5344CB8AC3E}">
        <p14:creationId xmlns:p14="http://schemas.microsoft.com/office/powerpoint/2010/main" val="3269743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(Ràng buộc toàn vẹn trên một quan hệ)</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lgn="just">
                  <a:buNone/>
                </a:pPr>
                <a:r>
                  <a:rPr lang="en-US" sz="2400" smtClean="0"/>
                  <a:t>Ví dụ: Cho quan hệ </a:t>
                </a:r>
                <a14:m>
                  <m:oMath xmlns:m="http://schemas.openxmlformats.org/officeDocument/2006/math">
                    <m:r>
                      <a:rPr lang="en-US" sz="2200" i="1" smtClean="0">
                        <a:latin typeface="Cambria Math"/>
                      </a:rPr>
                      <m:t>𝑠𝑖𝑛h𝑣𝑖𝑒𝑛</m:t>
                    </m:r>
                    <m:r>
                      <a:rPr lang="en-US" sz="2200" i="1" smtClean="0">
                        <a:latin typeface="Cambria Math"/>
                      </a:rPr>
                      <m:t>(</m:t>
                    </m:r>
                    <m:r>
                      <a:rPr lang="en-US" sz="2200" i="1" smtClean="0">
                        <a:latin typeface="Cambria Math"/>
                      </a:rPr>
                      <m:t>𝑚𝑎𝑠𝑣</m:t>
                    </m:r>
                    <m:r>
                      <a:rPr lang="en-US" sz="2200" i="1" smtClean="0">
                        <a:latin typeface="Cambria Math"/>
                      </a:rPr>
                      <m:t>, </m:t>
                    </m:r>
                    <m:r>
                      <a:rPr lang="en-US" sz="2200" i="1" smtClean="0">
                        <a:latin typeface="Cambria Math"/>
                      </a:rPr>
                      <m:t>h𝑜𝑡𝑒𝑛</m:t>
                    </m:r>
                    <m:r>
                      <a:rPr lang="en-US" sz="2200" i="1" smtClean="0">
                        <a:latin typeface="Cambria Math"/>
                      </a:rPr>
                      <m:t>, </m:t>
                    </m:r>
                    <m:r>
                      <a:rPr lang="en-US" sz="2200" i="1" smtClean="0">
                        <a:latin typeface="Cambria Math"/>
                      </a:rPr>
                      <m:t>𝑚𝑎𝑙𝑜𝑝</m:t>
                    </m:r>
                    <m:r>
                      <a:rPr lang="en-US" sz="2200" i="1" smtClean="0">
                        <a:latin typeface="Cambria Math"/>
                      </a:rPr>
                      <m:t>, </m:t>
                    </m:r>
                    <m:r>
                      <a:rPr lang="en-US" sz="2200" i="1" smtClean="0">
                        <a:latin typeface="Cambria Math"/>
                      </a:rPr>
                      <m:t>𝑡𝑠𝑡𝑐𝑝h</m:t>
                    </m:r>
                    <m:r>
                      <a:rPr lang="en-US" sz="2200" i="1" smtClean="0">
                        <a:latin typeface="Cambria Math"/>
                      </a:rPr>
                      <m:t>, </m:t>
                    </m:r>
                    <m:r>
                      <a:rPr lang="en-US" sz="2200" i="1" smtClean="0">
                        <a:latin typeface="Cambria Math"/>
                      </a:rPr>
                      <m:t>𝑡𝑠𝑡𝑐𝑑h</m:t>
                    </m:r>
                    <m:r>
                      <a:rPr lang="en-US" sz="2200" i="1" smtClean="0">
                        <a:latin typeface="Cambria Math"/>
                      </a:rPr>
                      <m:t>)</m:t>
                    </m:r>
                  </m:oMath>
                </a14:m>
                <a:endParaRPr lang="en-US" sz="2200" smtClean="0"/>
              </a:p>
              <a:p>
                <a:pPr marL="0" indent="0" algn="just">
                  <a:buNone/>
                </a:pPr>
                <a:r>
                  <a:rPr lang="en-US" sz="2200" i="1" smtClean="0"/>
                  <a:t>	tstcph: tổng số tín chỉ phải học; tstcdh: tổng số tín chỉ đã học</a:t>
                </a:r>
              </a:p>
              <a:p>
                <a:pPr marL="0" indent="0" algn="just">
                  <a:buNone/>
                </a:pPr>
                <a:endParaRPr lang="en-US" sz="2400" smtClean="0"/>
              </a:p>
              <a:p>
                <a:pPr marL="0" indent="0" algn="just">
                  <a:buNone/>
                </a:pPr>
                <a:r>
                  <a:rPr lang="en-US" sz="2400" smtClean="0"/>
                  <a:t>RB1: </a:t>
                </a:r>
                <a14:m>
                  <m:oMath xmlns:m="http://schemas.openxmlformats.org/officeDocument/2006/math">
                    <m:r>
                      <a:rPr lang="en-US" sz="2200" i="1" smtClean="0">
                        <a:latin typeface="Cambria Math"/>
                      </a:rPr>
                      <m:t>h𝑜𝑡𝑒𝑛</m:t>
                    </m:r>
                  </m:oMath>
                </a14:m>
                <a:r>
                  <a:rPr lang="en-US" sz="2400" smtClean="0"/>
                  <a:t> phải luôn có giá trị khác rổng. Tương tự cho </a:t>
                </a:r>
                <a14:m>
                  <m:oMath xmlns:m="http://schemas.openxmlformats.org/officeDocument/2006/math">
                    <m:r>
                      <a:rPr lang="en-US" sz="2200" i="1" smtClean="0">
                        <a:latin typeface="Cambria Math"/>
                      </a:rPr>
                      <m:t>𝑚𝑎𝑠𝑣</m:t>
                    </m:r>
                  </m:oMath>
                </a14:m>
                <a:r>
                  <a:rPr lang="en-US" sz="2400" smtClean="0"/>
                  <a:t>.</a:t>
                </a:r>
              </a:p>
              <a:p>
                <a:pPr marL="0" indent="0" algn="just">
                  <a:buNone/>
                </a:pPr>
                <a:r>
                  <a:rPr lang="en-US" sz="2400" smtClean="0"/>
                  <a:t>RB2: </a:t>
                </a:r>
                <a14:m>
                  <m:oMath xmlns:m="http://schemas.openxmlformats.org/officeDocument/2006/math">
                    <m:r>
                      <a:rPr lang="en-US" sz="2200" i="1" smtClean="0">
                        <a:latin typeface="Cambria Math"/>
                      </a:rPr>
                      <m:t>𝑚𝑎𝑙𝑜𝑝</m:t>
                    </m:r>
                  </m:oMath>
                </a14:m>
                <a:r>
                  <a:rPr lang="en-US" sz="2400" smtClean="0"/>
                  <a:t> phải thuộc vào có 3 giá trị sau </a:t>
                </a:r>
                <a14:m>
                  <m:oMath xmlns:m="http://schemas.openxmlformats.org/officeDocument/2006/math">
                    <m:r>
                      <a:rPr lang="en-US" sz="2200" i="1" smtClean="0">
                        <a:latin typeface="Cambria Math"/>
                      </a:rPr>
                      <m:t>{“</m:t>
                    </m:r>
                    <m:r>
                      <a:rPr lang="en-US" sz="2200" i="1" smtClean="0">
                        <a:latin typeface="Cambria Math"/>
                      </a:rPr>
                      <m:t>𝑇𝐻</m:t>
                    </m:r>
                    <m:r>
                      <a:rPr lang="en-US" sz="2200" i="1" smtClean="0">
                        <a:latin typeface="Cambria Math"/>
                      </a:rPr>
                      <m:t>1”,”</m:t>
                    </m:r>
                    <m:r>
                      <a:rPr lang="en-US" sz="2200" i="1" smtClean="0">
                        <a:latin typeface="Cambria Math"/>
                      </a:rPr>
                      <m:t>𝑇𝐻</m:t>
                    </m:r>
                    <m:r>
                      <a:rPr lang="en-US" sz="2200" i="1" smtClean="0">
                        <a:latin typeface="Cambria Math"/>
                      </a:rPr>
                      <m:t>2”,”</m:t>
                    </m:r>
                    <m:r>
                      <a:rPr lang="en-US" sz="2200" i="1" smtClean="0">
                        <a:latin typeface="Cambria Math"/>
                      </a:rPr>
                      <m:t>𝑇𝐻</m:t>
                    </m:r>
                    <m:r>
                      <a:rPr lang="en-US" sz="2200" i="1" smtClean="0">
                        <a:latin typeface="Cambria Math"/>
                      </a:rPr>
                      <m:t>3”}</m:t>
                    </m:r>
                  </m:oMath>
                </a14:m>
                <a:endParaRPr lang="en-US" sz="2200" smtClean="0"/>
              </a:p>
              <a:p>
                <a:pPr marL="0" indent="0" algn="just">
                  <a:buNone/>
                </a:pPr>
                <a:r>
                  <a:rPr lang="en-US" sz="2400" smtClean="0"/>
                  <a:t>RB3: tổng số tín chỉ đã học phải nhỏ hơn hay bằng tổng số tín chỉ phải học: </a:t>
                </a:r>
                <a14:m>
                  <m:oMath xmlns:m="http://schemas.openxmlformats.org/officeDocument/2006/math">
                    <m:r>
                      <a:rPr lang="en-US" sz="2200" b="0" i="1" smtClean="0">
                        <a:latin typeface="Cambria Math"/>
                      </a:rPr>
                      <m:t>𝑡𝑠𝑡𝑐𝑑h</m:t>
                    </m:r>
                    <m:r>
                      <a:rPr lang="en-US" sz="2200" b="0" i="1" smtClean="0">
                        <a:latin typeface="Cambria Math"/>
                      </a:rPr>
                      <m:t>≤</m:t>
                    </m:r>
                    <m:r>
                      <a:rPr lang="en-US" sz="2200" b="0" i="1" smtClean="0">
                        <a:latin typeface="Cambria Math"/>
                      </a:rPr>
                      <m:t>𝑡𝑠𝑡𝑐𝑝h</m:t>
                    </m:r>
                  </m:oMath>
                </a14:m>
                <a:endParaRPr lang="en-US" sz="2200" smtClean="0"/>
              </a:p>
              <a:p>
                <a:pPr marL="0" indent="0" algn="just">
                  <a:buNone/>
                </a:pPr>
                <a:r>
                  <a:rPr lang="en-US" sz="2400" smtClean="0"/>
                  <a:t>RB4: một lớp học tối đa chỉ có 50 sinh viên</a:t>
                </a:r>
              </a:p>
              <a:p>
                <a:pPr marL="0" indent="0" algn="just">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sSub>
                            <m:sSubPr>
                              <m:ctrlPr>
                                <a:rPr lang="en-US" sz="2400" b="0" i="1" smtClean="0">
                                  <a:latin typeface="Cambria Math" panose="02040503050406030204" pitchFamily="18" charset="0"/>
                                </a:rPr>
                              </m:ctrlPr>
                            </m:sSubPr>
                            <m:e/>
                            <m:sub>
                              <m:r>
                                <a:rPr lang="en-US" sz="2400" b="0" i="1" smtClean="0">
                                  <a:latin typeface="Cambria Math"/>
                                </a:rPr>
                                <m:t>𝑚𝑎𝑙𝑜𝑝</m:t>
                              </m:r>
                            </m:sub>
                          </m:sSub>
                          <m:r>
                            <a:rPr lang="en-US" sz="2400" b="0" i="1" smtClean="0">
                              <a:latin typeface="Cambria Math"/>
                            </a:rPr>
                            <m:t>𝐺</m:t>
                          </m:r>
                        </m:e>
                        <m:sub>
                          <m:r>
                            <a:rPr lang="en-US" sz="2400" b="0" i="1" smtClean="0">
                              <a:latin typeface="Cambria Math"/>
                            </a:rPr>
                            <m:t>𝐶</m:t>
                          </m:r>
                          <m:r>
                            <a:rPr lang="en-US" sz="2400" b="0" i="1" smtClean="0">
                              <a:latin typeface="Cambria Math"/>
                            </a:rPr>
                            <m:t>=</m:t>
                          </m:r>
                          <m:r>
                            <a:rPr lang="en-US" sz="2400" b="0" i="1" smtClean="0">
                              <a:latin typeface="Cambria Math"/>
                            </a:rPr>
                            <m:t>𝑐𝑜𝑢𝑛𝑡</m:t>
                          </m:r>
                          <m:d>
                            <m:dPr>
                              <m:ctrlPr>
                                <a:rPr lang="en-US" sz="2400" b="0" i="1" smtClean="0">
                                  <a:latin typeface="Cambria Math" panose="02040503050406030204" pitchFamily="18" charset="0"/>
                                </a:rPr>
                              </m:ctrlPr>
                            </m:dPr>
                            <m:e>
                              <m:r>
                                <a:rPr lang="en-US" sz="2400" b="0" i="1" smtClean="0">
                                  <a:latin typeface="Cambria Math"/>
                                </a:rPr>
                                <m:t>𝑚𝑎𝑠𝑣</m:t>
                              </m:r>
                            </m:e>
                          </m:d>
                        </m:sub>
                      </m:sSub>
                      <m:d>
                        <m:dPr>
                          <m:ctrlPr>
                            <a:rPr lang="en-US" sz="2400" b="0" i="1" smtClean="0">
                              <a:latin typeface="Cambria Math" panose="02040503050406030204" pitchFamily="18" charset="0"/>
                            </a:rPr>
                          </m:ctrlPr>
                        </m:dPr>
                        <m:e>
                          <m:r>
                            <a:rPr lang="en-US" sz="2400" b="0" i="1" smtClean="0">
                              <a:latin typeface="Cambria Math"/>
                            </a:rPr>
                            <m:t>𝑠𝑖𝑛h𝑣𝑖𝑒𝑛</m:t>
                          </m:r>
                        </m:e>
                      </m:d>
                      <m:r>
                        <a:rPr lang="en-US" sz="2400" b="0" i="1" smtClean="0">
                          <a:latin typeface="Cambria Math"/>
                        </a:rPr>
                        <m:t>≤50</m:t>
                      </m:r>
                    </m:oMath>
                  </m:oMathPara>
                </a14:m>
                <a:endParaRPr lang="en-US" sz="2400" smtClean="0"/>
              </a:p>
              <a:p>
                <a:pPr marL="0" indent="0" algn="just">
                  <a:buNone/>
                </a:pPr>
                <a:endParaRPr lang="en-US" sz="2400" smtClean="0"/>
              </a:p>
              <a:p>
                <a:pPr marL="0" indent="0" algn="just">
                  <a:buNone/>
                </a:pPr>
                <a:endParaRPr lang="en-US" sz="2400" smtClean="0"/>
              </a:p>
              <a:p>
                <a:pPr marL="0" indent="0" algn="just">
                  <a:buNone/>
                </a:pPr>
                <a:endParaRPr lang="en-US" sz="24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3"/>
                <a:stretch>
                  <a:fillRect l="-1053" t="-941" r="-1053"/>
                </a:stretch>
              </a:blipFill>
            </p:spPr>
            <p:txBody>
              <a:bodyPr/>
              <a:lstStyle/>
              <a:p>
                <a:r>
                  <a:rPr lang="en-US">
                    <a:noFill/>
                  </a:rPr>
                  <a:t> </a:t>
                </a:r>
              </a:p>
            </p:txBody>
          </p:sp>
        </mc:Fallback>
      </mc:AlternateContent>
    </p:spTree>
    <p:extLst>
      <p:ext uri="{BB962C8B-B14F-4D97-AF65-F5344CB8AC3E}">
        <p14:creationId xmlns:p14="http://schemas.microsoft.com/office/powerpoint/2010/main" val="1361346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(Ràng buộc toàn vẹn trên nhiều quan hệ)</a:t>
            </a:r>
            <a:endParaRPr lang="en-US"/>
          </a:p>
        </p:txBody>
      </p:sp>
      <p:sp>
        <p:nvSpPr>
          <p:cNvPr id="3" name="Content Placeholder 2"/>
          <p:cNvSpPr>
            <a:spLocks noGrp="1"/>
          </p:cNvSpPr>
          <p:nvPr>
            <p:ph idx="1"/>
          </p:nvPr>
        </p:nvSpPr>
        <p:spPr>
          <a:xfrm>
            <a:off x="457200" y="1600200"/>
            <a:ext cx="8686800" cy="5181600"/>
          </a:xfrm>
        </p:spPr>
        <p:txBody>
          <a:bodyPr>
            <a:normAutofit/>
          </a:bodyPr>
          <a:lstStyle/>
          <a:p>
            <a:pPr marL="0" indent="0" algn="just">
              <a:buNone/>
            </a:pPr>
            <a:r>
              <a:rPr lang="en-US" sz="2400" b="1" u="sng" smtClean="0"/>
              <a:t>Ràng buộc tồn tại</a:t>
            </a:r>
            <a:r>
              <a:rPr lang="en-US" sz="2400" smtClean="0"/>
              <a:t>: việc xuất hiện của một thể hiện này phụ thuộc vào sự xuất hiện của một thể hiện khác.</a:t>
            </a:r>
          </a:p>
          <a:p>
            <a:pPr marL="0" indent="0" algn="just">
              <a:buNone/>
            </a:pPr>
            <a:endParaRPr lang="en-US" sz="2400" smtClean="0"/>
          </a:p>
          <a:p>
            <a:pPr marL="0" indent="0" algn="just">
              <a:buNone/>
            </a:pPr>
            <a:r>
              <a:rPr lang="en-US" sz="2400" b="1" u="sng" smtClean="0"/>
              <a:t>Ràng buộc khóa ngoại:</a:t>
            </a:r>
            <a:r>
              <a:rPr lang="en-US" sz="2400" smtClean="0"/>
              <a:t> Xét về giá trị của một hay một vài thuộc tính của lược đồ đang xét buộc phải tồn tại trong một hay một vài thuộc tính trong lược đồ khác.</a:t>
            </a:r>
          </a:p>
          <a:p>
            <a:pPr marL="0" indent="0" algn="just">
              <a:buNone/>
            </a:pPr>
            <a:endParaRPr lang="en-US" sz="2400" smtClean="0"/>
          </a:p>
          <a:p>
            <a:pPr marL="0" indent="0" algn="just">
              <a:buNone/>
            </a:pPr>
            <a:r>
              <a:rPr lang="en-US" sz="2400" b="1" u="sng" smtClean="0"/>
              <a:t>Ràng buộc liên quan hệ, liên thuộc tính</a:t>
            </a:r>
            <a:r>
              <a:rPr lang="en-US" sz="2400" smtClean="0"/>
              <a:t>: đây là quy tắc có liên quan nhiều thuộc tính ở nhiều quan hệ với nhau.</a:t>
            </a:r>
          </a:p>
          <a:p>
            <a:pPr marL="0" indent="0" algn="just">
              <a:buNone/>
            </a:pPr>
            <a:endParaRPr lang="en-US" sz="2400"/>
          </a:p>
          <a:p>
            <a:pPr marL="0" indent="0" algn="just">
              <a:buNone/>
            </a:pPr>
            <a:r>
              <a:rPr lang="en-US" sz="2400" b="1" u="sng"/>
              <a:t>Ràng buộc liên quan hệ, liên bộ</a:t>
            </a:r>
            <a:r>
              <a:rPr lang="en-US" sz="2400"/>
              <a:t>: đây là quy tắc có liên quan nhiều thuộc </a:t>
            </a:r>
            <a:r>
              <a:rPr lang="en-US" sz="2400" smtClean="0"/>
              <a:t>tính với nhiều bộ </a:t>
            </a:r>
            <a:r>
              <a:rPr lang="en-US" sz="2400"/>
              <a:t>ở nhiều quan hệ với nhau.</a:t>
            </a:r>
            <a:endParaRPr lang="en-US" sz="2400" smtClean="0"/>
          </a:p>
          <a:p>
            <a:pPr marL="0" indent="0" algn="just">
              <a:buNone/>
            </a:pPr>
            <a:endParaRPr lang="en-US" sz="2400" smtClean="0"/>
          </a:p>
          <a:p>
            <a:pPr marL="0" indent="0" algn="just">
              <a:buNone/>
            </a:pPr>
            <a:endParaRPr lang="en-US" sz="2400" smtClean="0"/>
          </a:p>
        </p:txBody>
      </p:sp>
    </p:spTree>
    <p:extLst>
      <p:ext uri="{BB962C8B-B14F-4D97-AF65-F5344CB8AC3E}">
        <p14:creationId xmlns:p14="http://schemas.microsoft.com/office/powerpoint/2010/main" val="775188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Mô hình cơ sở dữ liệu quan hệ</a:t>
            </a:r>
            <a:br>
              <a:rPr lang="en-US" smtClean="0"/>
            </a:br>
            <a:r>
              <a:rPr lang="en-US" smtClean="0"/>
              <a:t>(Ràng buộc toàn vẹn trên nhiều quan hệ)</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buNone/>
                </a:pPr>
                <a14:m>
                  <m:oMath xmlns:m="http://schemas.openxmlformats.org/officeDocument/2006/math">
                    <m:r>
                      <a:rPr lang="en-US" sz="2200" i="1" smtClean="0">
                        <a:latin typeface="Cambria Math"/>
                      </a:rPr>
                      <m:t>𝑠𝑖𝑛h𝑣𝑖𝑒𝑛</m:t>
                    </m:r>
                    <m:r>
                      <a:rPr lang="en-US" sz="2200" i="1" smtClean="0">
                        <a:latin typeface="Cambria Math"/>
                      </a:rPr>
                      <m:t>({</m:t>
                    </m:r>
                    <m:r>
                      <a:rPr lang="en-US" sz="2200" b="0" i="1" smtClean="0">
                        <a:latin typeface="Cambria Math"/>
                      </a:rPr>
                      <m:t>𝑚𝑎𝑠𝑣</m:t>
                    </m:r>
                    <m:r>
                      <a:rPr lang="en-US" sz="2200" b="0" i="1" smtClean="0">
                        <a:latin typeface="Cambria Math"/>
                      </a:rPr>
                      <m:t>}, </m:t>
                    </m:r>
                    <m:r>
                      <a:rPr lang="en-US" sz="2200" i="1" smtClean="0">
                        <a:latin typeface="Cambria Math"/>
                      </a:rPr>
                      <m:t>h𝑜𝑡𝑒𝑛</m:t>
                    </m:r>
                    <m:r>
                      <a:rPr lang="en-US" sz="2200" i="1" smtClean="0">
                        <a:latin typeface="Cambria Math"/>
                      </a:rPr>
                      <m:t>, </m:t>
                    </m:r>
                    <m:r>
                      <a:rPr lang="en-US" sz="2200" i="1" smtClean="0">
                        <a:latin typeface="Cambria Math"/>
                      </a:rPr>
                      <m:t>𝑚𝑎𝑙𝑜𝑝</m:t>
                    </m:r>
                    <m:r>
                      <a:rPr lang="en-US" sz="2200" i="1" smtClean="0">
                        <a:latin typeface="Cambria Math"/>
                      </a:rPr>
                      <m:t>, </m:t>
                    </m:r>
                    <m:r>
                      <a:rPr lang="en-US" sz="2200" i="1" smtClean="0">
                        <a:latin typeface="Cambria Math"/>
                      </a:rPr>
                      <m:t>𝑡𝑠𝑡𝑐𝑝h</m:t>
                    </m:r>
                    <m:r>
                      <a:rPr lang="en-US" sz="2200" i="1" smtClean="0">
                        <a:latin typeface="Cambria Math"/>
                      </a:rPr>
                      <m:t>, </m:t>
                    </m:r>
                    <m:r>
                      <a:rPr lang="en-US" sz="2200" i="1" smtClean="0">
                        <a:latin typeface="Cambria Math"/>
                      </a:rPr>
                      <m:t>𝑡𝑠𝑡𝑐𝑑h</m:t>
                    </m:r>
                    <m:r>
                      <a:rPr lang="en-US" sz="2200" b="0" i="1" smtClean="0">
                        <a:latin typeface="Cambria Math"/>
                      </a:rPr>
                      <m:t>,</m:t>
                    </m:r>
                    <m:r>
                      <a:rPr lang="en-US" sz="2200" b="0" i="1" smtClean="0">
                        <a:latin typeface="Cambria Math"/>
                      </a:rPr>
                      <m:t>𝑛𝑎𝑚𝑡h𝑢</m:t>
                    </m:r>
                    <m:r>
                      <a:rPr lang="en-US" sz="2200" i="1" smtClean="0">
                        <a:latin typeface="Cambria Math"/>
                      </a:rPr>
                      <m:t>)</m:t>
                    </m:r>
                  </m:oMath>
                </a14:m>
                <a:r>
                  <a:rPr lang="en-US" sz="2200" smtClean="0"/>
                  <a:t>; </a:t>
                </a:r>
                <a14:m>
                  <m:oMath xmlns:m="http://schemas.openxmlformats.org/officeDocument/2006/math">
                    <m:r>
                      <a:rPr lang="en-US" sz="2200" i="1" smtClean="0">
                        <a:latin typeface="Cambria Math"/>
                      </a:rPr>
                      <m:t>𝑙𝑜𝑝h𝑜𝑐</m:t>
                    </m:r>
                    <m:r>
                      <a:rPr lang="en-US" sz="2200" i="1" smtClean="0">
                        <a:latin typeface="Cambria Math"/>
                      </a:rPr>
                      <m:t>({</m:t>
                    </m:r>
                    <m:r>
                      <a:rPr lang="en-US" sz="2200" i="1" smtClean="0">
                        <a:latin typeface="Cambria Math"/>
                      </a:rPr>
                      <m:t>𝑚𝑎𝑙𝑜𝑝</m:t>
                    </m:r>
                    <m:r>
                      <a:rPr lang="en-US" sz="2200" i="1" smtClean="0">
                        <a:latin typeface="Cambria Math"/>
                      </a:rPr>
                      <m:t>},</m:t>
                    </m:r>
                    <m:r>
                      <a:rPr lang="en-US" sz="2200" i="1" smtClean="0">
                        <a:latin typeface="Cambria Math"/>
                      </a:rPr>
                      <m:t>𝑡𝑒𝑛𝑙𝑜𝑝</m:t>
                    </m:r>
                    <m:r>
                      <a:rPr lang="en-US" sz="2200" i="1" smtClean="0">
                        <a:latin typeface="Cambria Math"/>
                      </a:rPr>
                      <m:t>)</m:t>
                    </m:r>
                  </m:oMath>
                </a14:m>
                <a:r>
                  <a:rPr lang="en-US" sz="2200" smtClean="0"/>
                  <a:t>; </a:t>
                </a:r>
                <a14:m>
                  <m:oMath xmlns:m="http://schemas.openxmlformats.org/officeDocument/2006/math">
                    <m:r>
                      <a:rPr lang="en-US" sz="2200" i="1" smtClean="0">
                        <a:latin typeface="Cambria Math"/>
                      </a:rPr>
                      <m:t>h𝑜𝑐𝑝h𝑎𝑛</m:t>
                    </m:r>
                    <m:r>
                      <a:rPr lang="en-US" sz="2200" i="1" smtClean="0">
                        <a:latin typeface="Cambria Math"/>
                      </a:rPr>
                      <m:t>({</m:t>
                    </m:r>
                    <m:r>
                      <a:rPr lang="en-US" sz="2200" i="1" smtClean="0">
                        <a:latin typeface="Cambria Math"/>
                      </a:rPr>
                      <m:t>𝑚𝑎h𝑝</m:t>
                    </m:r>
                    <m:r>
                      <a:rPr lang="en-US" sz="2200" i="1" smtClean="0">
                        <a:latin typeface="Cambria Math"/>
                      </a:rPr>
                      <m:t>},</m:t>
                    </m:r>
                    <m:r>
                      <a:rPr lang="en-US" sz="2200" i="1" smtClean="0">
                        <a:latin typeface="Cambria Math"/>
                      </a:rPr>
                      <m:t>𝑚𝑎𝑚𝑜𝑛</m:t>
                    </m:r>
                    <m:r>
                      <a:rPr lang="en-US" sz="2200" i="1" smtClean="0">
                        <a:latin typeface="Cambria Math"/>
                      </a:rPr>
                      <m:t>,</m:t>
                    </m:r>
                    <m:r>
                      <a:rPr lang="en-US" sz="2200" i="1" smtClean="0">
                        <a:latin typeface="Cambria Math"/>
                      </a:rPr>
                      <m:t>𝑚𝑎𝑔𝑣</m:t>
                    </m:r>
                    <m:r>
                      <a:rPr lang="en-US" sz="2200" i="1" smtClean="0">
                        <a:latin typeface="Cambria Math"/>
                      </a:rPr>
                      <m:t>,…,</m:t>
                    </m:r>
                    <m:r>
                      <a:rPr lang="en-US" sz="2200" b="0" i="1" smtClean="0">
                        <a:latin typeface="Cambria Math"/>
                      </a:rPr>
                      <m:t>𝑡𝑜𝑛𝑔𝑠𝑜</m:t>
                    </m:r>
                    <m:r>
                      <a:rPr lang="en-US" sz="2200" b="0" i="1" smtClean="0">
                        <a:latin typeface="Cambria Math"/>
                      </a:rPr>
                      <m:t>,</m:t>
                    </m:r>
                    <m:r>
                      <a:rPr lang="en-US" sz="2200" b="0" i="1" smtClean="0">
                        <a:latin typeface="Cambria Math"/>
                      </a:rPr>
                      <m:t>𝑛𝑎𝑚𝑡𝑜𝑖𝑡h𝑖𝑒𝑢</m:t>
                    </m:r>
                    <m:r>
                      <a:rPr lang="en-US" sz="2200" i="1" smtClean="0">
                        <a:latin typeface="Cambria Math"/>
                      </a:rPr>
                      <m:t>)</m:t>
                    </m:r>
                  </m:oMath>
                </a14:m>
                <a:r>
                  <a:rPr lang="en-US" sz="2200" smtClean="0"/>
                  <a:t>; </a:t>
                </a:r>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𝑑𝑎𝑛𝑔𝑘𝑦</m:t>
                      </m:r>
                      <m:r>
                        <a:rPr lang="en-US" sz="2200" i="1" smtClean="0">
                          <a:latin typeface="Cambria Math"/>
                        </a:rPr>
                        <m:t>(</m:t>
                      </m:r>
                      <m:r>
                        <a:rPr lang="en-US" sz="2200" i="1" smtClean="0">
                          <a:latin typeface="Cambria Math"/>
                        </a:rPr>
                        <m:t>𝑚𝑎h𝑝</m:t>
                      </m:r>
                      <m:r>
                        <a:rPr lang="en-US" sz="2200" i="1" smtClean="0">
                          <a:latin typeface="Cambria Math"/>
                        </a:rPr>
                        <m:t>,</m:t>
                      </m:r>
                      <m:r>
                        <a:rPr lang="en-US" sz="2200" i="1" smtClean="0">
                          <a:latin typeface="Cambria Math"/>
                        </a:rPr>
                        <m:t>𝑚𝑎𝑠𝑣</m:t>
                      </m:r>
                      <m:r>
                        <a:rPr lang="en-US" sz="2200" i="1" smtClean="0">
                          <a:latin typeface="Cambria Math"/>
                        </a:rPr>
                        <m:t>)</m:t>
                      </m:r>
                    </m:oMath>
                  </m:oMathPara>
                </a14:m>
                <a:endParaRPr lang="en-US" sz="2200" smtClean="0"/>
              </a:p>
              <a:p>
                <a:pPr marL="0" indent="0" algn="just">
                  <a:buNone/>
                </a:pPr>
                <a:r>
                  <a:rPr lang="en-US" sz="2200" smtClean="0"/>
                  <a:t>RB1: một bộ trong quan hệ </a:t>
                </a:r>
                <a14:m>
                  <m:oMath xmlns:m="http://schemas.openxmlformats.org/officeDocument/2006/math">
                    <m:r>
                      <a:rPr lang="en-US" sz="2200" i="1" smtClean="0">
                        <a:latin typeface="Cambria Math"/>
                      </a:rPr>
                      <m:t>h𝑜𝑐𝑝h𝑎𝑛</m:t>
                    </m:r>
                  </m:oMath>
                </a14:m>
                <a:r>
                  <a:rPr lang="en-US" sz="2200" smtClean="0"/>
                  <a:t> tồn tại được khi phải tồn tại ít nhất là 15 bộ trong quan hệ </a:t>
                </a:r>
                <a14:m>
                  <m:oMath xmlns:m="http://schemas.openxmlformats.org/officeDocument/2006/math">
                    <m:r>
                      <a:rPr lang="en-US" sz="2200" i="1" smtClean="0">
                        <a:latin typeface="Cambria Math"/>
                      </a:rPr>
                      <m:t>𝑑𝑎𝑛𝑔𝑘𝑦</m:t>
                    </m:r>
                  </m:oMath>
                </a14:m>
                <a:r>
                  <a:rPr lang="en-US" sz="2200" smtClean="0"/>
                  <a:t> với học phần đó.</a:t>
                </a:r>
              </a:p>
              <a:p>
                <a:pPr marL="0" indent="0" algn="just">
                  <a:buNone/>
                </a:pPr>
                <a:r>
                  <a:rPr lang="en-US" sz="2200" smtClean="0"/>
                  <a:t>RB2: Thuộc tính </a:t>
                </a:r>
                <a14:m>
                  <m:oMath xmlns:m="http://schemas.openxmlformats.org/officeDocument/2006/math">
                    <m:r>
                      <a:rPr lang="en-US" sz="2200" i="1" smtClean="0">
                        <a:latin typeface="Cambria Math"/>
                      </a:rPr>
                      <m:t>𝑚𝑎𝑙𝑜𝑝</m:t>
                    </m:r>
                  </m:oMath>
                </a14:m>
                <a:r>
                  <a:rPr lang="en-US" sz="2200" smtClean="0"/>
                  <a:t> trong lược đồ </a:t>
                </a:r>
                <a14:m>
                  <m:oMath xmlns:m="http://schemas.openxmlformats.org/officeDocument/2006/math">
                    <m:r>
                      <a:rPr lang="en-US" sz="2200" i="1" smtClean="0">
                        <a:latin typeface="Cambria Math"/>
                      </a:rPr>
                      <m:t>𝑠𝑖𝑛h𝑣𝑖𝑒𝑛</m:t>
                    </m:r>
                  </m:oMath>
                </a14:m>
                <a:r>
                  <a:rPr lang="en-US" sz="2200" smtClean="0"/>
                  <a:t> phải có giá trị trong những giá trị của thuộc tính </a:t>
                </a:r>
                <a14:m>
                  <m:oMath xmlns:m="http://schemas.openxmlformats.org/officeDocument/2006/math">
                    <m:r>
                      <a:rPr lang="en-US" sz="2200" i="1" smtClean="0">
                        <a:latin typeface="Cambria Math"/>
                      </a:rPr>
                      <m:t>𝑚𝑎𝑙𝑜𝑝</m:t>
                    </m:r>
                  </m:oMath>
                </a14:m>
                <a:r>
                  <a:rPr lang="en-US" sz="2200" smtClean="0"/>
                  <a:t> trong lược đồ </a:t>
                </a:r>
                <a14:m>
                  <m:oMath xmlns:m="http://schemas.openxmlformats.org/officeDocument/2006/math">
                    <m:r>
                      <a:rPr lang="en-US" sz="2200" i="1" smtClean="0">
                        <a:latin typeface="Cambria Math"/>
                      </a:rPr>
                      <m:t>𝑙𝑜𝑝h𝑜𝑐</m:t>
                    </m:r>
                  </m:oMath>
                </a14:m>
                <a:endParaRPr lang="en-US" sz="2200" smtClean="0"/>
              </a:p>
              <a:p>
                <a:pPr marL="0" indent="0" algn="just">
                  <a:buNone/>
                </a:pPr>
                <a:r>
                  <a:rPr lang="en-US" sz="2200" smtClean="0"/>
                  <a:t>RB3:  Mỗi một sinh viên đều có một nhãn ghi năm thứ mấy (VD: sinh viên năm 3). Mỗi một lần đăng ký một học phần, thì mỗi học phần đều quy định số năm tối thiểu để được phép đăng ký. Vậy một đăng ký phải thỏa là </a:t>
                </a:r>
                <a:r>
                  <a:rPr lang="en-US" sz="2200" i="1" u="sng" smtClean="0"/>
                  <a:t>năm thứ của sinh viên phải lớn hơn bằng năm tối thiểu của học phần</a:t>
                </a:r>
              </a:p>
              <a:p>
                <a:pPr marL="0" indent="0" algn="just">
                  <a:buNone/>
                </a:pPr>
                <a:r>
                  <a:rPr lang="en-US" sz="2200" smtClean="0"/>
                  <a:t>RB4: Thuộc tính </a:t>
                </a:r>
                <a14:m>
                  <m:oMath xmlns:m="http://schemas.openxmlformats.org/officeDocument/2006/math">
                    <m:r>
                      <a:rPr lang="en-US" sz="2200" i="1" smtClean="0">
                        <a:latin typeface="Cambria Math"/>
                      </a:rPr>
                      <m:t>𝑡𝑜𝑛𝑔𝑠𝑜</m:t>
                    </m:r>
                  </m:oMath>
                </a14:m>
                <a:r>
                  <a:rPr lang="en-US" sz="2200" smtClean="0"/>
                  <a:t> phải có giá trị bằng tổng số những đăng ký với mã học phần đó và phải lớn hơn hay bằng 15.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3"/>
                <a:stretch>
                  <a:fillRect l="-842" t="-706" r="-912"/>
                </a:stretch>
              </a:blipFill>
            </p:spPr>
            <p:txBody>
              <a:bodyPr/>
              <a:lstStyle/>
              <a:p>
                <a:r>
                  <a:rPr lang="en-US">
                    <a:noFill/>
                  </a:rPr>
                  <a:t> </a:t>
                </a:r>
              </a:p>
            </p:txBody>
          </p:sp>
        </mc:Fallback>
      </mc:AlternateContent>
    </p:spTree>
    <p:extLst>
      <p:ext uri="{BB962C8B-B14F-4D97-AF65-F5344CB8AC3E}">
        <p14:creationId xmlns:p14="http://schemas.microsoft.com/office/powerpoint/2010/main" val="4230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Mô hình cơ sở dữ liệu quan hệ</a:t>
            </a:r>
          </a:p>
        </p:txBody>
      </p:sp>
      <p:sp>
        <p:nvSpPr>
          <p:cNvPr id="3" name="Content Placeholder 2"/>
          <p:cNvSpPr>
            <a:spLocks noGrp="1"/>
          </p:cNvSpPr>
          <p:nvPr>
            <p:ph idx="1"/>
          </p:nvPr>
        </p:nvSpPr>
        <p:spPr>
          <a:xfrm>
            <a:off x="457200" y="1600200"/>
            <a:ext cx="8686800" cy="5105400"/>
          </a:xfrm>
        </p:spPr>
        <p:txBody>
          <a:bodyPr>
            <a:normAutofit/>
          </a:bodyPr>
          <a:lstStyle/>
          <a:p>
            <a:pPr marL="0" indent="0" algn="just">
              <a:buNone/>
            </a:pPr>
            <a:r>
              <a:rPr lang="en-US" smtClean="0"/>
              <a:t>Chính những ràng buộc đã tạo nên mối quan hệ có nghĩa trong cơ sở dữ liệu. Trong đó </a:t>
            </a:r>
            <a:r>
              <a:rPr lang="en-US" b="1" smtClean="0"/>
              <a:t>ràng buộc khóa ngoại </a:t>
            </a:r>
            <a:r>
              <a:rPr lang="en-US" smtClean="0"/>
              <a:t>được hầu hết các Hệ quản trị cơ sở dữ liệu (HQTCSDL) thể hiện như một </a:t>
            </a:r>
            <a:r>
              <a:rPr lang="en-US" b="1" smtClean="0"/>
              <a:t>quan hệ chính thức</a:t>
            </a:r>
            <a:r>
              <a:rPr lang="en-US" smtClean="0"/>
              <a:t> (gần như phải có) giữa các quan hệ khi hiện thực một lược đồ cơ sở dữ liệu trên HQTCSDL.</a:t>
            </a:r>
          </a:p>
          <a:p>
            <a:pPr marL="0" indent="0">
              <a:buNone/>
            </a:pPr>
            <a:endParaRPr lang="en-US" smtClean="0"/>
          </a:p>
          <a:p>
            <a:pPr marL="0" indent="0">
              <a:buNone/>
            </a:pPr>
            <a:endParaRPr lang="en-US" smtClean="0"/>
          </a:p>
          <a:p>
            <a:pPr marL="0" indent="0">
              <a:buNone/>
            </a:pPr>
            <a:r>
              <a:rPr lang="en-US" i="1" u="sng" smtClean="0"/>
              <a:t>Xem xét một vài ví dụ về cơ sở dữ liệu để thấy các ràng buộc liên quan.</a:t>
            </a:r>
            <a:endParaRPr lang="en-US" i="1" u="sng"/>
          </a:p>
        </p:txBody>
      </p:sp>
    </p:spTree>
    <p:extLst>
      <p:ext uri="{BB962C8B-B14F-4D97-AF65-F5344CB8AC3E}">
        <p14:creationId xmlns:p14="http://schemas.microsoft.com/office/powerpoint/2010/main" val="31482099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smtClean="0"/>
              <a:t>PHỤ THUỘC HÀM</a:t>
            </a:r>
            <a:br>
              <a:rPr lang="en-US" sz="4000" smtClean="0"/>
            </a:br>
            <a:endParaRPr lang="en-US" sz="4000"/>
          </a:p>
        </p:txBody>
      </p:sp>
    </p:spTree>
    <p:extLst>
      <p:ext uri="{BB962C8B-B14F-4D97-AF65-F5344CB8AC3E}">
        <p14:creationId xmlns:p14="http://schemas.microsoft.com/office/powerpoint/2010/main" val="611937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endParaRPr lang="en-US"/>
          </a:p>
        </p:txBody>
      </p:sp>
      <p:sp>
        <p:nvSpPr>
          <p:cNvPr id="3" name="Content Placeholder 2"/>
          <p:cNvSpPr>
            <a:spLocks noGrp="1"/>
          </p:cNvSpPr>
          <p:nvPr>
            <p:ph idx="1"/>
          </p:nvPr>
        </p:nvSpPr>
        <p:spPr>
          <a:xfrm>
            <a:off x="457200" y="1600200"/>
            <a:ext cx="8610600" cy="5257800"/>
          </a:xfrm>
        </p:spPr>
        <p:txBody>
          <a:bodyPr/>
          <a:lstStyle/>
          <a:p>
            <a:pPr marL="0" indent="0">
              <a:buNone/>
            </a:pPr>
            <a:r>
              <a:rPr lang="en-US" smtClean="0"/>
              <a:t>Với những ràng buộc liên thuộc tính có thể trên 1 hay nhiều quan hệ cho chúng ta thấy sự phụ thuộc lẫn nhau giữa các thuộc tính. </a:t>
            </a:r>
          </a:p>
          <a:p>
            <a:pPr marL="0" indent="0">
              <a:buNone/>
            </a:pPr>
            <a:r>
              <a:rPr lang="en-US" smtClean="0"/>
              <a:t>Sự phụ thuộc này có thể lỏng (không có sự suy diễn lẫn nhau) hay chặt (có khả năng tính toán và suy diễn lẫn nhau).</a:t>
            </a:r>
          </a:p>
          <a:p>
            <a:pPr marL="0" indent="0">
              <a:buNone/>
            </a:pPr>
            <a:r>
              <a:rPr lang="en-US" sz="2400" smtClean="0"/>
              <a:t>Lấy ví dụ: trong quan hệ sinh viên với hai thuộc tính là ngày sinh và tuổi. Giữa hai thuộc tính này có quan hệ ràng buộc chặt và tuổi được tính từ ngày sinh.</a:t>
            </a:r>
          </a:p>
          <a:p>
            <a:pPr marL="0" indent="0">
              <a:buNone/>
            </a:pPr>
            <a:r>
              <a:rPr lang="en-US" smtClean="0"/>
              <a:t>Chính quan hệ ràng buộc chặt này tạo nên khái niệm gọi là </a:t>
            </a:r>
            <a:r>
              <a:rPr lang="en-US" b="1" smtClean="0"/>
              <a:t>phụ thuộc hàm</a:t>
            </a:r>
            <a:r>
              <a:rPr lang="en-US" smtClean="0"/>
              <a:t>.</a:t>
            </a:r>
            <a:endParaRPr lang="en-US"/>
          </a:p>
        </p:txBody>
      </p:sp>
    </p:spTree>
    <p:extLst>
      <p:ext uri="{BB962C8B-B14F-4D97-AF65-F5344CB8AC3E}">
        <p14:creationId xmlns:p14="http://schemas.microsoft.com/office/powerpoint/2010/main" val="1554680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lgn="just">
                  <a:buNone/>
                </a:pPr>
                <a:r>
                  <a:rPr lang="en-US" sz="2400" smtClean="0"/>
                  <a:t>Như vậy, trong thực tế có rất rất nhiều các quan hệ chặt (phụ thuộc hàm) như vậy. Tuy nhiên không phải bất kỳ phụ thuộc hàm nào cũng được đưa ra thành một quan hệ mới, mà đôi khi phải ngầm hiểu và không nên ghi những phụ thuộc thành thuộc tính trong quan hệ (trừ khi rất cần thiết) và nên cho vào những thủ tục tính toán.</a:t>
                </a:r>
              </a:p>
              <a:p>
                <a:pPr marL="0" indent="0" algn="just">
                  <a:buNone/>
                </a:pPr>
                <a:r>
                  <a:rPr lang="en-US" sz="2400" smtClean="0"/>
                  <a:t>Ví dụ: cho quan hệ </a:t>
                </a:r>
                <a14:m>
                  <m:oMath xmlns:m="http://schemas.openxmlformats.org/officeDocument/2006/math">
                    <m:r>
                      <a:rPr lang="en-US" sz="2200" i="1" smtClean="0">
                        <a:latin typeface="Cambria Math"/>
                      </a:rPr>
                      <m:t>𝑠𝑣</m:t>
                    </m:r>
                    <m:r>
                      <a:rPr lang="en-US" sz="2200" i="1" smtClean="0">
                        <a:latin typeface="Cambria Math"/>
                      </a:rPr>
                      <m:t>(</m:t>
                    </m:r>
                    <m:r>
                      <a:rPr lang="en-US" sz="2200" i="1" smtClean="0">
                        <a:latin typeface="Cambria Math"/>
                      </a:rPr>
                      <m:t>𝑚𝑎</m:t>
                    </m:r>
                    <m:r>
                      <a:rPr lang="en-US" sz="2200" i="1" smtClean="0">
                        <a:latin typeface="Cambria Math"/>
                      </a:rPr>
                      <m:t>, </m:t>
                    </m:r>
                    <m:r>
                      <a:rPr lang="en-US" sz="2200" i="1" smtClean="0">
                        <a:latin typeface="Cambria Math"/>
                      </a:rPr>
                      <m:t>h𝑜𝑡𝑒𝑛</m:t>
                    </m:r>
                    <m:r>
                      <a:rPr lang="en-US" sz="2200" i="1" smtClean="0">
                        <a:latin typeface="Cambria Math"/>
                      </a:rPr>
                      <m:t>, </m:t>
                    </m:r>
                    <m:r>
                      <a:rPr lang="en-US" sz="2200" i="1" smtClean="0">
                        <a:latin typeface="Cambria Math"/>
                      </a:rPr>
                      <m:t>𝑛𝑔𝑎𝑦𝑠𝑖𝑛h</m:t>
                    </m:r>
                    <m:r>
                      <a:rPr lang="en-US" sz="2200" i="1" smtClean="0">
                        <a:latin typeface="Cambria Math"/>
                      </a:rPr>
                      <m:t>, </m:t>
                    </m:r>
                    <m:r>
                      <a:rPr lang="en-US" sz="2200" i="1" smtClean="0">
                        <a:latin typeface="Cambria Math"/>
                      </a:rPr>
                      <m:t>𝑡𝑢𝑜𝑖</m:t>
                    </m:r>
                    <m:r>
                      <a:rPr lang="en-US" sz="2200" i="1" smtClean="0">
                        <a:latin typeface="Cambria Math"/>
                      </a:rPr>
                      <m:t>, </m:t>
                    </m:r>
                    <m:r>
                      <a:rPr lang="en-US" sz="2200" i="1" smtClean="0">
                        <a:latin typeface="Cambria Math"/>
                      </a:rPr>
                      <m:t>𝑚𝑎𝑙𝑜𝑝</m:t>
                    </m:r>
                    <m:r>
                      <a:rPr lang="en-US" sz="2200" i="1" smtClean="0">
                        <a:latin typeface="Cambria Math"/>
                      </a:rPr>
                      <m:t>, </m:t>
                    </m:r>
                    <m:r>
                      <a:rPr lang="en-US" sz="2200" i="1" smtClean="0">
                        <a:latin typeface="Cambria Math"/>
                      </a:rPr>
                      <m:t>𝑡𝑒𝑛𝑙𝑜𝑝</m:t>
                    </m:r>
                    <m:r>
                      <a:rPr lang="en-US" sz="2200" i="1" smtClean="0">
                        <a:latin typeface="Cambria Math"/>
                      </a:rPr>
                      <m:t>)</m:t>
                    </m:r>
                  </m:oMath>
                </a14:m>
                <a:endParaRPr lang="en-US" sz="2200" smtClean="0"/>
              </a:p>
              <a:p>
                <a:pPr marL="0" indent="0" algn="just">
                  <a:buNone/>
                </a:pPr>
                <a:r>
                  <a:rPr lang="en-US" sz="2400" smtClean="0"/>
                  <a:t>Nhìn vào quan hệ này, ta có thể nhận thấy (chủ quan) có: ngaysinh xác định tuoi (ký hiệu: </a:t>
                </a:r>
                <a14:m>
                  <m:oMath xmlns:m="http://schemas.openxmlformats.org/officeDocument/2006/math">
                    <m:r>
                      <a:rPr lang="en-US" sz="2200" i="1" smtClean="0">
                        <a:latin typeface="Cambria Math"/>
                      </a:rPr>
                      <m:t>𝑛𝑔𝑎𝑦𝑠𝑖𝑛h</m:t>
                    </m:r>
                    <m:r>
                      <a:rPr lang="en-US" sz="2200" i="1" smtClean="0">
                        <a:latin typeface="Cambria Math"/>
                      </a:rPr>
                      <m:t> −&gt; </m:t>
                    </m:r>
                    <m:r>
                      <a:rPr lang="en-US" sz="2200" i="1" smtClean="0">
                        <a:latin typeface="Cambria Math"/>
                      </a:rPr>
                      <m:t>𝑡𝑢𝑜𝑖</m:t>
                    </m:r>
                  </m:oMath>
                </a14:m>
                <a:r>
                  <a:rPr lang="en-US" sz="2400" smtClean="0"/>
                  <a:t>); đồng thời nhận thấy malop xác định tenlop (Vì: </a:t>
                </a:r>
                <a:r>
                  <a:rPr lang="en-US" sz="2400" b="1" i="1" u="sng" smtClean="0"/>
                  <a:t>mỗi một lớp thì chỉ có duy nhất 1 và chỉ 1 tên, nếu mã lớp giống nhau thì chắc chắn tên lớp giống nhau</a:t>
                </a:r>
                <a:r>
                  <a:rPr lang="en-US" sz="2400" smtClean="0"/>
                  <a:t>).</a:t>
                </a:r>
              </a:p>
              <a:p>
                <a:pPr marL="0" indent="0" algn="just">
                  <a:buNone/>
                </a:pPr>
                <a:r>
                  <a:rPr lang="en-US" sz="2400" smtClean="0"/>
                  <a:t>Tuy nhiên, nhìn vào thể hiện của quan hệ sv đó, ta thấy sự lặp lại các giá trị giống nhau của tên lớp. Với trường hợp này ta thử làm 2 việc sau:</a:t>
                </a:r>
                <a:endParaRPr lang="en-US" sz="24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2"/>
                <a:stretch>
                  <a:fillRect l="-1062" t="-928" r="-991"/>
                </a:stretch>
              </a:blipFill>
            </p:spPr>
            <p:txBody>
              <a:bodyPr/>
              <a:lstStyle/>
              <a:p>
                <a:r>
                  <a:rPr lang="en-US">
                    <a:noFill/>
                  </a:rPr>
                  <a:t> </a:t>
                </a:r>
              </a:p>
            </p:txBody>
          </p:sp>
        </mc:Fallback>
      </mc:AlternateContent>
    </p:spTree>
    <p:extLst>
      <p:ext uri="{BB962C8B-B14F-4D97-AF65-F5344CB8AC3E}">
        <p14:creationId xmlns:p14="http://schemas.microsoft.com/office/powerpoint/2010/main" val="406411636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endParaRPr lang="en-US"/>
          </a:p>
        </p:txBody>
      </p:sp>
      <p:sp>
        <p:nvSpPr>
          <p:cNvPr id="3" name="Content Placeholder 2"/>
          <p:cNvSpPr>
            <a:spLocks noGrp="1"/>
          </p:cNvSpPr>
          <p:nvPr>
            <p:ph idx="1"/>
          </p:nvPr>
        </p:nvSpPr>
        <p:spPr>
          <a:xfrm>
            <a:off x="457200" y="1600200"/>
            <a:ext cx="8686800" cy="5181600"/>
          </a:xfrm>
        </p:spPr>
        <p:txBody>
          <a:bodyPr>
            <a:normAutofit/>
          </a:bodyPr>
          <a:lstStyle/>
          <a:p>
            <a:pPr marL="0" indent="0">
              <a:buNone/>
            </a:pPr>
            <a:r>
              <a:rPr lang="en-US" sz="2400" smtClean="0"/>
              <a:t>Năm hiện tại là 2015, chúng ta tác ra làm 3 quan hệ</a:t>
            </a:r>
          </a:p>
          <a:p>
            <a:pPr marL="0" indent="0">
              <a:buNone/>
            </a:pPr>
            <a:endParaRPr lang="en-US" sz="2400"/>
          </a:p>
          <a:p>
            <a:pPr marL="0" indent="0">
              <a:buNone/>
            </a:pPr>
            <a:endParaRPr lang="en-US" sz="2400" smtClean="0"/>
          </a:p>
          <a:p>
            <a:pPr marL="0" indent="0">
              <a:buNone/>
            </a:pPr>
            <a:endParaRPr lang="en-US" sz="2400"/>
          </a:p>
          <a:p>
            <a:pPr marL="0" indent="0">
              <a:buNone/>
            </a:pPr>
            <a:endParaRPr lang="en-US" sz="2400" smtClean="0"/>
          </a:p>
          <a:p>
            <a:pPr marL="0" indent="0">
              <a:buNone/>
            </a:pPr>
            <a:endParaRPr lang="en-US" sz="2400"/>
          </a:p>
          <a:p>
            <a:pPr marL="0" indent="0">
              <a:buNone/>
            </a:pPr>
            <a:endParaRPr lang="en-US" sz="2400" smtClean="0"/>
          </a:p>
          <a:p>
            <a:pPr marL="0" indent="0">
              <a:buNone/>
            </a:pPr>
            <a:endParaRPr lang="en-US" sz="2400" smtClean="0"/>
          </a:p>
          <a:p>
            <a:pPr marL="0" indent="0">
              <a:buNone/>
            </a:pPr>
            <a:endParaRPr lang="en-US" sz="2400"/>
          </a:p>
        </p:txBody>
      </p:sp>
      <p:graphicFrame>
        <p:nvGraphicFramePr>
          <p:cNvPr id="4" name="Table 3"/>
          <p:cNvGraphicFramePr>
            <a:graphicFrameLocks noGrp="1"/>
          </p:cNvGraphicFramePr>
          <p:nvPr>
            <p:extLst>
              <p:ext uri="{D42A27DB-BD31-4B8C-83A1-F6EECF244321}">
                <p14:modId xmlns:p14="http://schemas.microsoft.com/office/powerpoint/2010/main" val="2133808935"/>
              </p:ext>
            </p:extLst>
          </p:nvPr>
        </p:nvGraphicFramePr>
        <p:xfrm>
          <a:off x="533400" y="2057400"/>
          <a:ext cx="6019800" cy="2225040"/>
        </p:xfrm>
        <a:graphic>
          <a:graphicData uri="http://schemas.openxmlformats.org/drawingml/2006/table">
            <a:tbl>
              <a:tblPr firstRow="1" bandRow="1">
                <a:tableStyleId>{5C22544A-7EE6-4342-B048-85BDC9FD1C3A}</a:tableStyleId>
              </a:tblPr>
              <a:tblGrid>
                <a:gridCol w="381000"/>
                <a:gridCol w="533400"/>
                <a:gridCol w="838200"/>
                <a:gridCol w="838200"/>
                <a:gridCol w="914400"/>
                <a:gridCol w="1410110"/>
                <a:gridCol w="1104490"/>
              </a:tblGrid>
              <a:tr h="370840">
                <a:tc>
                  <a:txBody>
                    <a:bodyPr/>
                    <a:lstStyle/>
                    <a:p>
                      <a:r>
                        <a:rPr lang="en-US" smtClean="0">
                          <a:solidFill>
                            <a:schemeClr val="tx1"/>
                          </a:solidFill>
                        </a:rPr>
                        <a:t>sv</a:t>
                      </a:r>
                      <a:endParaRPr lang="en-US">
                        <a:solidFill>
                          <a:schemeClr val="tx1"/>
                        </a:solidFill>
                      </a:endParaRPr>
                    </a:p>
                  </a:txBody>
                  <a:tcPr>
                    <a:noFill/>
                  </a:tcPr>
                </a:tc>
                <a:tc>
                  <a:txBody>
                    <a:bodyPr/>
                    <a:lstStyle/>
                    <a:p>
                      <a:r>
                        <a:rPr lang="en-US" smtClean="0"/>
                        <a:t>ma</a:t>
                      </a:r>
                      <a:endParaRPr lang="en-US"/>
                    </a:p>
                  </a:txBody>
                  <a:tcPr/>
                </a:tc>
                <a:tc>
                  <a:txBody>
                    <a:bodyPr/>
                    <a:lstStyle/>
                    <a:p>
                      <a:r>
                        <a:rPr lang="en-US" smtClean="0"/>
                        <a:t>hoten</a:t>
                      </a:r>
                      <a:endParaRPr lang="en-US"/>
                    </a:p>
                  </a:txBody>
                  <a:tcPr/>
                </a:tc>
                <a:tc>
                  <a:txBody>
                    <a:bodyPr/>
                    <a:lstStyle/>
                    <a:p>
                      <a:r>
                        <a:rPr lang="en-US" smtClean="0"/>
                        <a:t>malop</a:t>
                      </a:r>
                      <a:endParaRPr lang="en-US"/>
                    </a:p>
                  </a:txBody>
                  <a:tcPr/>
                </a:tc>
                <a:tc>
                  <a:txBody>
                    <a:bodyPr/>
                    <a:lstStyle/>
                    <a:p>
                      <a:r>
                        <a:rPr lang="en-US" smtClean="0"/>
                        <a:t>tenlop</a:t>
                      </a:r>
                      <a:endParaRPr lang="en-US"/>
                    </a:p>
                  </a:txBody>
                  <a:tcPr/>
                </a:tc>
                <a:tc>
                  <a:txBody>
                    <a:bodyPr/>
                    <a:lstStyle/>
                    <a:p>
                      <a:r>
                        <a:rPr lang="en-US" smtClean="0"/>
                        <a:t>ngaysinh</a:t>
                      </a:r>
                      <a:endParaRPr lang="en-US"/>
                    </a:p>
                  </a:txBody>
                  <a:tcPr/>
                </a:tc>
                <a:tc>
                  <a:txBody>
                    <a:bodyPr/>
                    <a:lstStyle/>
                    <a:p>
                      <a:r>
                        <a:rPr lang="en-US" smtClean="0"/>
                        <a:t>tuoi</a:t>
                      </a:r>
                      <a:endParaRPr lang="en-US"/>
                    </a:p>
                  </a:txBody>
                  <a:tcPr/>
                </a:tc>
              </a:tr>
              <a:tr h="370840">
                <a:tc rowSpan="5">
                  <a:txBody>
                    <a:bodyPr/>
                    <a:lstStyle/>
                    <a:p>
                      <a:endParaRPr lang="en-US"/>
                    </a:p>
                  </a:txBody>
                  <a:tcPr>
                    <a:noFill/>
                  </a:tcPr>
                </a:tc>
                <a:tc>
                  <a:txBody>
                    <a:bodyPr/>
                    <a:lstStyle/>
                    <a:p>
                      <a:r>
                        <a:rPr lang="en-US" smtClean="0"/>
                        <a:t>S1</a:t>
                      </a:r>
                      <a:endParaRPr lang="en-US"/>
                    </a:p>
                  </a:txBody>
                  <a:tcPr/>
                </a:tc>
                <a:tc>
                  <a:txBody>
                    <a:bodyPr/>
                    <a:lstStyle/>
                    <a:p>
                      <a:r>
                        <a:rPr lang="en-US" smtClean="0"/>
                        <a:t>Hoàng</a:t>
                      </a:r>
                      <a:endParaRPr lang="en-US"/>
                    </a:p>
                  </a:txBody>
                  <a:tcPr/>
                </a:tc>
                <a:tc>
                  <a:txBody>
                    <a:bodyPr/>
                    <a:lstStyle/>
                    <a:p>
                      <a:r>
                        <a:rPr lang="en-US" smtClean="0"/>
                        <a:t>TO</a:t>
                      </a:r>
                      <a:endParaRPr lang="en-US"/>
                    </a:p>
                  </a:txBody>
                  <a:tcPr/>
                </a:tc>
                <a:tc>
                  <a:txBody>
                    <a:bodyPr/>
                    <a:lstStyle/>
                    <a:p>
                      <a:r>
                        <a:rPr lang="en-US" smtClean="0"/>
                        <a:t>Toán</a:t>
                      </a:r>
                      <a:endParaRPr lang="en-US"/>
                    </a:p>
                  </a:txBody>
                  <a:tcPr/>
                </a:tc>
                <a:tc>
                  <a:txBody>
                    <a:bodyPr/>
                    <a:lstStyle/>
                    <a:p>
                      <a:r>
                        <a:rPr lang="en-US" smtClean="0"/>
                        <a:t>1/1/1995</a:t>
                      </a:r>
                      <a:endParaRPr lang="en-US"/>
                    </a:p>
                  </a:txBody>
                  <a:tcPr/>
                </a:tc>
                <a:tc>
                  <a:txBody>
                    <a:bodyPr/>
                    <a:lstStyle/>
                    <a:p>
                      <a:r>
                        <a:rPr lang="en-US" smtClean="0"/>
                        <a:t>20</a:t>
                      </a:r>
                      <a:endParaRPr lang="en-US"/>
                    </a:p>
                  </a:txBody>
                  <a:tcPr/>
                </a:tc>
              </a:tr>
              <a:tr h="370840">
                <a:tc vMerge="1">
                  <a:txBody>
                    <a:bodyPr/>
                    <a:lstStyle/>
                    <a:p>
                      <a:endParaRPr lang="en-US"/>
                    </a:p>
                  </a:txBody>
                  <a:tcPr/>
                </a:tc>
                <a:tc>
                  <a:txBody>
                    <a:bodyPr/>
                    <a:lstStyle/>
                    <a:p>
                      <a:r>
                        <a:rPr lang="en-US" smtClean="0"/>
                        <a:t>S2</a:t>
                      </a:r>
                      <a:endParaRPr lang="en-US"/>
                    </a:p>
                  </a:txBody>
                  <a:tcPr/>
                </a:tc>
                <a:tc>
                  <a:txBody>
                    <a:bodyPr/>
                    <a:lstStyle/>
                    <a:p>
                      <a:r>
                        <a:rPr lang="en-US" smtClean="0"/>
                        <a:t>Nhân</a:t>
                      </a:r>
                      <a:endParaRPr lang="en-US"/>
                    </a:p>
                  </a:txBody>
                  <a:tcPr/>
                </a:tc>
                <a:tc>
                  <a:txBody>
                    <a:bodyPr/>
                    <a:lstStyle/>
                    <a:p>
                      <a:r>
                        <a:rPr lang="en-US" smtClean="0"/>
                        <a:t>TO</a:t>
                      </a:r>
                      <a:endParaRPr lang="en-US"/>
                    </a:p>
                  </a:txBody>
                  <a:tcPr/>
                </a:tc>
                <a:tc>
                  <a:txBody>
                    <a:bodyPr/>
                    <a:lstStyle/>
                    <a:p>
                      <a:r>
                        <a:rPr lang="en-US" smtClean="0"/>
                        <a:t>Toán</a:t>
                      </a:r>
                      <a:endParaRPr lang="en-US"/>
                    </a:p>
                  </a:txBody>
                  <a:tcPr/>
                </a:tc>
                <a:tc>
                  <a:txBody>
                    <a:bodyPr/>
                    <a:lstStyle/>
                    <a:p>
                      <a:r>
                        <a:rPr lang="en-US" smtClean="0"/>
                        <a:t>18/1/1995</a:t>
                      </a:r>
                      <a:endParaRPr lang="en-US"/>
                    </a:p>
                  </a:txBody>
                  <a:tcPr/>
                </a:tc>
                <a:tc>
                  <a:txBody>
                    <a:bodyPr/>
                    <a:lstStyle/>
                    <a:p>
                      <a:r>
                        <a:rPr lang="en-US" smtClean="0"/>
                        <a:t>20</a:t>
                      </a:r>
                      <a:endParaRPr lang="en-US"/>
                    </a:p>
                  </a:txBody>
                  <a:tcPr/>
                </a:tc>
              </a:tr>
              <a:tr h="370840">
                <a:tc vMerge="1">
                  <a:txBody>
                    <a:bodyPr/>
                    <a:lstStyle/>
                    <a:p>
                      <a:endParaRPr lang="en-US"/>
                    </a:p>
                  </a:txBody>
                  <a:tcPr/>
                </a:tc>
                <a:tc>
                  <a:txBody>
                    <a:bodyPr/>
                    <a:lstStyle/>
                    <a:p>
                      <a:r>
                        <a:rPr lang="en-US" smtClean="0"/>
                        <a:t>S3</a:t>
                      </a:r>
                      <a:endParaRPr lang="en-US"/>
                    </a:p>
                  </a:txBody>
                  <a:tcPr/>
                </a:tc>
                <a:tc>
                  <a:txBody>
                    <a:bodyPr/>
                    <a:lstStyle/>
                    <a:p>
                      <a:r>
                        <a:rPr lang="en-US" smtClean="0"/>
                        <a:t>Vân</a:t>
                      </a:r>
                      <a:endParaRPr lang="en-US"/>
                    </a:p>
                  </a:txBody>
                  <a:tcPr/>
                </a:tc>
                <a:tc>
                  <a:txBody>
                    <a:bodyPr/>
                    <a:lstStyle/>
                    <a:p>
                      <a:r>
                        <a:rPr lang="en-US" smtClean="0"/>
                        <a:t>TH</a:t>
                      </a:r>
                      <a:endParaRPr lang="en-US"/>
                    </a:p>
                  </a:txBody>
                  <a:tcPr/>
                </a:tc>
                <a:tc>
                  <a:txBody>
                    <a:bodyPr/>
                    <a:lstStyle/>
                    <a:p>
                      <a:r>
                        <a:rPr lang="en-US" smtClean="0"/>
                        <a:t>Tinhoc</a:t>
                      </a:r>
                      <a:endParaRPr lang="en-US"/>
                    </a:p>
                  </a:txBody>
                  <a:tcPr/>
                </a:tc>
                <a:tc>
                  <a:txBody>
                    <a:bodyPr/>
                    <a:lstStyle/>
                    <a:p>
                      <a:r>
                        <a:rPr lang="en-US" smtClean="0"/>
                        <a:t>25/6/1994</a:t>
                      </a:r>
                      <a:endParaRPr lang="en-US"/>
                    </a:p>
                  </a:txBody>
                  <a:tcPr/>
                </a:tc>
                <a:tc>
                  <a:txBody>
                    <a:bodyPr/>
                    <a:lstStyle/>
                    <a:p>
                      <a:r>
                        <a:rPr lang="en-US" smtClean="0"/>
                        <a:t>21</a:t>
                      </a:r>
                      <a:endParaRPr lang="en-US"/>
                    </a:p>
                  </a:txBody>
                  <a:tcPr/>
                </a:tc>
              </a:tr>
              <a:tr h="370840">
                <a:tc vMerge="1">
                  <a:txBody>
                    <a:bodyPr/>
                    <a:lstStyle/>
                    <a:p>
                      <a:endParaRPr lang="en-US"/>
                    </a:p>
                  </a:txBody>
                  <a:tcPr/>
                </a:tc>
                <a:tc>
                  <a:txBody>
                    <a:bodyPr/>
                    <a:lstStyle/>
                    <a:p>
                      <a:r>
                        <a:rPr lang="en-US" smtClean="0"/>
                        <a:t>S4</a:t>
                      </a:r>
                      <a:endParaRPr lang="en-US"/>
                    </a:p>
                  </a:txBody>
                  <a:tcPr/>
                </a:tc>
                <a:tc>
                  <a:txBody>
                    <a:bodyPr/>
                    <a:lstStyle/>
                    <a:p>
                      <a:r>
                        <a:rPr lang="en-US" smtClean="0"/>
                        <a:t>Hương</a:t>
                      </a:r>
                      <a:endParaRPr lang="en-US"/>
                    </a:p>
                  </a:txBody>
                  <a:tcPr/>
                </a:tc>
                <a:tc>
                  <a:txBody>
                    <a:bodyPr/>
                    <a:lstStyle/>
                    <a:p>
                      <a:r>
                        <a:rPr lang="en-US" smtClean="0"/>
                        <a:t>TH</a:t>
                      </a:r>
                      <a:endParaRPr lang="en-US"/>
                    </a:p>
                  </a:txBody>
                  <a:tcPr/>
                </a:tc>
                <a:tc>
                  <a:txBody>
                    <a:bodyPr/>
                    <a:lstStyle/>
                    <a:p>
                      <a:r>
                        <a:rPr lang="en-US" smtClean="0"/>
                        <a:t>Tinhoc</a:t>
                      </a:r>
                      <a:endParaRPr lang="en-US"/>
                    </a:p>
                  </a:txBody>
                  <a:tcPr/>
                </a:tc>
                <a:tc>
                  <a:txBody>
                    <a:bodyPr/>
                    <a:lstStyle/>
                    <a:p>
                      <a:r>
                        <a:rPr lang="en-US" smtClean="0"/>
                        <a:t>17/9/1994</a:t>
                      </a:r>
                      <a:endParaRPr lang="en-US"/>
                    </a:p>
                  </a:txBody>
                  <a:tcPr/>
                </a:tc>
                <a:tc>
                  <a:txBody>
                    <a:bodyPr/>
                    <a:lstStyle/>
                    <a:p>
                      <a:r>
                        <a:rPr lang="en-US" smtClean="0"/>
                        <a:t>21</a:t>
                      </a:r>
                      <a:endParaRPr lang="en-US"/>
                    </a:p>
                  </a:txBody>
                  <a:tcPr/>
                </a:tc>
              </a:tr>
              <a:tr h="370840">
                <a:tc vMerge="1">
                  <a:txBody>
                    <a:bodyPr/>
                    <a:lstStyle/>
                    <a:p>
                      <a:endParaRPr lang="en-US"/>
                    </a:p>
                  </a:txBody>
                  <a:tcPr/>
                </a:tc>
                <a:tc>
                  <a:txBody>
                    <a:bodyPr/>
                    <a:lstStyle/>
                    <a:p>
                      <a:r>
                        <a:rPr lang="en-US" smtClean="0"/>
                        <a:t>S5</a:t>
                      </a:r>
                      <a:endParaRPr lang="en-US"/>
                    </a:p>
                  </a:txBody>
                  <a:tcPr/>
                </a:tc>
                <a:tc>
                  <a:txBody>
                    <a:bodyPr/>
                    <a:lstStyle/>
                    <a:p>
                      <a:r>
                        <a:rPr lang="en-US" smtClean="0"/>
                        <a:t>Linh</a:t>
                      </a:r>
                      <a:endParaRPr lang="en-US"/>
                    </a:p>
                  </a:txBody>
                  <a:tcPr/>
                </a:tc>
                <a:tc>
                  <a:txBody>
                    <a:bodyPr/>
                    <a:lstStyle/>
                    <a:p>
                      <a:r>
                        <a:rPr lang="en-US" smtClean="0"/>
                        <a:t>TO</a:t>
                      </a:r>
                      <a:endParaRPr lang="en-US"/>
                    </a:p>
                  </a:txBody>
                  <a:tcPr/>
                </a:tc>
                <a:tc>
                  <a:txBody>
                    <a:bodyPr/>
                    <a:lstStyle/>
                    <a:p>
                      <a:r>
                        <a:rPr lang="en-US" smtClean="0"/>
                        <a:t>Toan</a:t>
                      </a:r>
                      <a:endParaRPr lang="en-US"/>
                    </a:p>
                  </a:txBody>
                  <a:tcPr/>
                </a:tc>
                <a:tc>
                  <a:txBody>
                    <a:bodyPr/>
                    <a:lstStyle/>
                    <a:p>
                      <a:r>
                        <a:rPr lang="en-US" smtClean="0"/>
                        <a:t>20/4/1993</a:t>
                      </a:r>
                      <a:endParaRPr lang="en-US"/>
                    </a:p>
                  </a:txBody>
                  <a:tcPr/>
                </a:tc>
                <a:tc>
                  <a:txBody>
                    <a:bodyPr/>
                    <a:lstStyle/>
                    <a:p>
                      <a:r>
                        <a:rPr lang="en-US" smtClean="0"/>
                        <a:t>22</a:t>
                      </a:r>
                      <a:endParaRPr lang="en-US"/>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709706408"/>
              </p:ext>
            </p:extLst>
          </p:nvPr>
        </p:nvGraphicFramePr>
        <p:xfrm>
          <a:off x="549312" y="4419600"/>
          <a:ext cx="4191000" cy="2225040"/>
        </p:xfrm>
        <a:graphic>
          <a:graphicData uri="http://schemas.openxmlformats.org/drawingml/2006/table">
            <a:tbl>
              <a:tblPr firstRow="1" bandRow="1">
                <a:tableStyleId>{5C22544A-7EE6-4342-B048-85BDC9FD1C3A}</a:tableStyleId>
              </a:tblPr>
              <a:tblGrid>
                <a:gridCol w="589936"/>
                <a:gridCol w="589936"/>
                <a:gridCol w="884903"/>
                <a:gridCol w="830825"/>
                <a:gridCol w="1295400"/>
              </a:tblGrid>
              <a:tr h="370840">
                <a:tc>
                  <a:txBody>
                    <a:bodyPr/>
                    <a:lstStyle/>
                    <a:p>
                      <a:r>
                        <a:rPr lang="en-US" smtClean="0">
                          <a:solidFill>
                            <a:schemeClr val="tx1"/>
                          </a:solidFill>
                        </a:rPr>
                        <a:t>sv</a:t>
                      </a:r>
                      <a:endParaRPr lang="en-US">
                        <a:solidFill>
                          <a:schemeClr val="tx1"/>
                        </a:solidFill>
                      </a:endParaRPr>
                    </a:p>
                  </a:txBody>
                  <a:tcPr>
                    <a:noFill/>
                  </a:tcPr>
                </a:tc>
                <a:tc>
                  <a:txBody>
                    <a:bodyPr/>
                    <a:lstStyle/>
                    <a:p>
                      <a:r>
                        <a:rPr lang="en-US" smtClean="0"/>
                        <a:t>ma</a:t>
                      </a:r>
                      <a:endParaRPr lang="en-US"/>
                    </a:p>
                  </a:txBody>
                  <a:tcPr/>
                </a:tc>
                <a:tc>
                  <a:txBody>
                    <a:bodyPr/>
                    <a:lstStyle/>
                    <a:p>
                      <a:r>
                        <a:rPr lang="en-US" smtClean="0"/>
                        <a:t>hoten</a:t>
                      </a:r>
                      <a:endParaRPr lang="en-US"/>
                    </a:p>
                  </a:txBody>
                  <a:tcPr/>
                </a:tc>
                <a:tc>
                  <a:txBody>
                    <a:bodyPr/>
                    <a:lstStyle/>
                    <a:p>
                      <a:r>
                        <a:rPr lang="en-US" smtClean="0"/>
                        <a:t>malop</a:t>
                      </a:r>
                      <a:endParaRPr lang="en-US"/>
                    </a:p>
                  </a:txBody>
                  <a:tcPr/>
                </a:tc>
                <a:tc>
                  <a:txBody>
                    <a:bodyPr/>
                    <a:lstStyle/>
                    <a:p>
                      <a:r>
                        <a:rPr lang="en-US" smtClean="0"/>
                        <a:t>ngaysinh</a:t>
                      </a:r>
                      <a:endParaRPr lang="en-US"/>
                    </a:p>
                  </a:txBody>
                  <a:tcPr/>
                </a:tc>
              </a:tr>
              <a:tr h="370840">
                <a:tc rowSpan="5">
                  <a:txBody>
                    <a:bodyPr/>
                    <a:lstStyle/>
                    <a:p>
                      <a:endParaRPr lang="en-US"/>
                    </a:p>
                  </a:txBody>
                  <a:tcPr>
                    <a:noFill/>
                  </a:tcPr>
                </a:tc>
                <a:tc>
                  <a:txBody>
                    <a:bodyPr/>
                    <a:lstStyle/>
                    <a:p>
                      <a:r>
                        <a:rPr lang="en-US" smtClean="0"/>
                        <a:t>S1</a:t>
                      </a:r>
                      <a:endParaRPr lang="en-US"/>
                    </a:p>
                  </a:txBody>
                  <a:tcPr/>
                </a:tc>
                <a:tc>
                  <a:txBody>
                    <a:bodyPr/>
                    <a:lstStyle/>
                    <a:p>
                      <a:r>
                        <a:rPr lang="en-US" smtClean="0"/>
                        <a:t>Hoàng</a:t>
                      </a:r>
                      <a:endParaRPr lang="en-US"/>
                    </a:p>
                  </a:txBody>
                  <a:tcPr/>
                </a:tc>
                <a:tc>
                  <a:txBody>
                    <a:bodyPr/>
                    <a:lstStyle/>
                    <a:p>
                      <a:r>
                        <a:rPr lang="en-US" smtClean="0"/>
                        <a:t>TO</a:t>
                      </a:r>
                      <a:endParaRPr lang="en-US"/>
                    </a:p>
                  </a:txBody>
                  <a:tcPr/>
                </a:tc>
                <a:tc>
                  <a:txBody>
                    <a:bodyPr/>
                    <a:lstStyle/>
                    <a:p>
                      <a:r>
                        <a:rPr lang="en-US" smtClean="0"/>
                        <a:t>1/1/1995</a:t>
                      </a:r>
                      <a:endParaRPr lang="en-US"/>
                    </a:p>
                  </a:txBody>
                  <a:tcPr/>
                </a:tc>
              </a:tr>
              <a:tr h="370840">
                <a:tc vMerge="1">
                  <a:txBody>
                    <a:bodyPr/>
                    <a:lstStyle/>
                    <a:p>
                      <a:endParaRPr lang="en-US"/>
                    </a:p>
                  </a:txBody>
                  <a:tcPr/>
                </a:tc>
                <a:tc>
                  <a:txBody>
                    <a:bodyPr/>
                    <a:lstStyle/>
                    <a:p>
                      <a:r>
                        <a:rPr lang="en-US" smtClean="0"/>
                        <a:t>S2</a:t>
                      </a:r>
                      <a:endParaRPr lang="en-US"/>
                    </a:p>
                  </a:txBody>
                  <a:tcPr/>
                </a:tc>
                <a:tc>
                  <a:txBody>
                    <a:bodyPr/>
                    <a:lstStyle/>
                    <a:p>
                      <a:r>
                        <a:rPr lang="en-US" smtClean="0"/>
                        <a:t>Nhân</a:t>
                      </a:r>
                      <a:endParaRPr lang="en-US"/>
                    </a:p>
                  </a:txBody>
                  <a:tcPr/>
                </a:tc>
                <a:tc>
                  <a:txBody>
                    <a:bodyPr/>
                    <a:lstStyle/>
                    <a:p>
                      <a:r>
                        <a:rPr lang="en-US" smtClean="0"/>
                        <a:t>TO</a:t>
                      </a:r>
                      <a:endParaRPr lang="en-US"/>
                    </a:p>
                  </a:txBody>
                  <a:tcPr/>
                </a:tc>
                <a:tc>
                  <a:txBody>
                    <a:bodyPr/>
                    <a:lstStyle/>
                    <a:p>
                      <a:r>
                        <a:rPr lang="en-US" smtClean="0"/>
                        <a:t>18/1/1995</a:t>
                      </a:r>
                      <a:endParaRPr lang="en-US"/>
                    </a:p>
                  </a:txBody>
                  <a:tcPr/>
                </a:tc>
              </a:tr>
              <a:tr h="370840">
                <a:tc vMerge="1">
                  <a:txBody>
                    <a:bodyPr/>
                    <a:lstStyle/>
                    <a:p>
                      <a:endParaRPr lang="en-US"/>
                    </a:p>
                  </a:txBody>
                  <a:tcPr/>
                </a:tc>
                <a:tc>
                  <a:txBody>
                    <a:bodyPr/>
                    <a:lstStyle/>
                    <a:p>
                      <a:r>
                        <a:rPr lang="en-US" smtClean="0"/>
                        <a:t>S3</a:t>
                      </a:r>
                      <a:endParaRPr lang="en-US"/>
                    </a:p>
                  </a:txBody>
                  <a:tcPr/>
                </a:tc>
                <a:tc>
                  <a:txBody>
                    <a:bodyPr/>
                    <a:lstStyle/>
                    <a:p>
                      <a:r>
                        <a:rPr lang="en-US" smtClean="0"/>
                        <a:t>Vân</a:t>
                      </a:r>
                      <a:endParaRPr lang="en-US"/>
                    </a:p>
                  </a:txBody>
                  <a:tcPr/>
                </a:tc>
                <a:tc>
                  <a:txBody>
                    <a:bodyPr/>
                    <a:lstStyle/>
                    <a:p>
                      <a:r>
                        <a:rPr lang="en-US" smtClean="0"/>
                        <a:t>TH</a:t>
                      </a:r>
                      <a:endParaRPr lang="en-US"/>
                    </a:p>
                  </a:txBody>
                  <a:tcPr/>
                </a:tc>
                <a:tc>
                  <a:txBody>
                    <a:bodyPr/>
                    <a:lstStyle/>
                    <a:p>
                      <a:r>
                        <a:rPr lang="en-US" smtClean="0"/>
                        <a:t>25/6/1994</a:t>
                      </a:r>
                      <a:endParaRPr lang="en-US"/>
                    </a:p>
                  </a:txBody>
                  <a:tcPr/>
                </a:tc>
              </a:tr>
              <a:tr h="370840">
                <a:tc vMerge="1">
                  <a:txBody>
                    <a:bodyPr/>
                    <a:lstStyle/>
                    <a:p>
                      <a:endParaRPr lang="en-US"/>
                    </a:p>
                  </a:txBody>
                  <a:tcPr/>
                </a:tc>
                <a:tc>
                  <a:txBody>
                    <a:bodyPr/>
                    <a:lstStyle/>
                    <a:p>
                      <a:r>
                        <a:rPr lang="en-US" smtClean="0"/>
                        <a:t>S4</a:t>
                      </a:r>
                      <a:endParaRPr lang="en-US"/>
                    </a:p>
                  </a:txBody>
                  <a:tcPr/>
                </a:tc>
                <a:tc>
                  <a:txBody>
                    <a:bodyPr/>
                    <a:lstStyle/>
                    <a:p>
                      <a:r>
                        <a:rPr lang="en-US" smtClean="0"/>
                        <a:t>Hương</a:t>
                      </a:r>
                      <a:endParaRPr lang="en-US"/>
                    </a:p>
                  </a:txBody>
                  <a:tcPr/>
                </a:tc>
                <a:tc>
                  <a:txBody>
                    <a:bodyPr/>
                    <a:lstStyle/>
                    <a:p>
                      <a:r>
                        <a:rPr lang="en-US" smtClean="0"/>
                        <a:t>TH</a:t>
                      </a:r>
                      <a:endParaRPr lang="en-US"/>
                    </a:p>
                  </a:txBody>
                  <a:tcPr/>
                </a:tc>
                <a:tc>
                  <a:txBody>
                    <a:bodyPr/>
                    <a:lstStyle/>
                    <a:p>
                      <a:r>
                        <a:rPr lang="en-US" smtClean="0"/>
                        <a:t>17/9/1994</a:t>
                      </a:r>
                      <a:endParaRPr lang="en-US"/>
                    </a:p>
                  </a:txBody>
                  <a:tcPr/>
                </a:tc>
              </a:tr>
              <a:tr h="370840">
                <a:tc vMerge="1">
                  <a:txBody>
                    <a:bodyPr/>
                    <a:lstStyle/>
                    <a:p>
                      <a:endParaRPr lang="en-US"/>
                    </a:p>
                  </a:txBody>
                  <a:tcPr/>
                </a:tc>
                <a:tc>
                  <a:txBody>
                    <a:bodyPr/>
                    <a:lstStyle/>
                    <a:p>
                      <a:r>
                        <a:rPr lang="en-US" smtClean="0"/>
                        <a:t>S5</a:t>
                      </a:r>
                      <a:endParaRPr lang="en-US"/>
                    </a:p>
                  </a:txBody>
                  <a:tcPr/>
                </a:tc>
                <a:tc>
                  <a:txBody>
                    <a:bodyPr/>
                    <a:lstStyle/>
                    <a:p>
                      <a:r>
                        <a:rPr lang="en-US" smtClean="0"/>
                        <a:t>Linh</a:t>
                      </a:r>
                      <a:endParaRPr lang="en-US"/>
                    </a:p>
                  </a:txBody>
                  <a:tcPr/>
                </a:tc>
                <a:tc>
                  <a:txBody>
                    <a:bodyPr/>
                    <a:lstStyle/>
                    <a:p>
                      <a:r>
                        <a:rPr lang="en-US" smtClean="0"/>
                        <a:t>TO</a:t>
                      </a:r>
                      <a:endParaRPr lang="en-US"/>
                    </a:p>
                  </a:txBody>
                  <a:tcPr/>
                </a:tc>
                <a:tc>
                  <a:txBody>
                    <a:bodyPr/>
                    <a:lstStyle/>
                    <a:p>
                      <a:r>
                        <a:rPr lang="en-US" smtClean="0"/>
                        <a:t>20/4/1993</a:t>
                      </a:r>
                      <a:endParaRPr lang="en-US"/>
                    </a:p>
                  </a:txBody>
                  <a:tcPr/>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09404234"/>
              </p:ext>
            </p:extLst>
          </p:nvPr>
        </p:nvGraphicFramePr>
        <p:xfrm>
          <a:off x="4892712" y="4439696"/>
          <a:ext cx="1981200" cy="1112520"/>
        </p:xfrm>
        <a:graphic>
          <a:graphicData uri="http://schemas.openxmlformats.org/drawingml/2006/table">
            <a:tbl>
              <a:tblPr firstRow="1" bandRow="1">
                <a:tableStyleId>{5C22544A-7EE6-4342-B048-85BDC9FD1C3A}</a:tableStyleId>
              </a:tblPr>
              <a:tblGrid>
                <a:gridCol w="304800"/>
                <a:gridCol w="838200"/>
                <a:gridCol w="838200"/>
              </a:tblGrid>
              <a:tr h="370840">
                <a:tc>
                  <a:txBody>
                    <a:bodyPr/>
                    <a:lstStyle/>
                    <a:p>
                      <a:r>
                        <a:rPr lang="en-US" smtClean="0">
                          <a:solidFill>
                            <a:schemeClr val="tx1"/>
                          </a:solidFill>
                        </a:rPr>
                        <a:t>L</a:t>
                      </a:r>
                    </a:p>
                  </a:txBody>
                  <a:tcPr>
                    <a:noFill/>
                  </a:tcPr>
                </a:tc>
                <a:tc>
                  <a:txBody>
                    <a:bodyPr/>
                    <a:lstStyle/>
                    <a:p>
                      <a:r>
                        <a:rPr lang="en-US" smtClean="0"/>
                        <a:t>malop</a:t>
                      </a:r>
                      <a:endParaRPr lang="en-US"/>
                    </a:p>
                  </a:txBody>
                  <a:tcPr/>
                </a:tc>
                <a:tc>
                  <a:txBody>
                    <a:bodyPr/>
                    <a:lstStyle/>
                    <a:p>
                      <a:r>
                        <a:rPr lang="en-US" smtClean="0"/>
                        <a:t>Tenlop</a:t>
                      </a:r>
                      <a:endParaRPr lang="en-US"/>
                    </a:p>
                  </a:txBody>
                  <a:tcPr/>
                </a:tc>
              </a:tr>
              <a:tr h="370840">
                <a:tc rowSpan="2">
                  <a:txBody>
                    <a:bodyPr/>
                    <a:lstStyle/>
                    <a:p>
                      <a:endParaRPr lang="en-US"/>
                    </a:p>
                  </a:txBody>
                  <a:tcPr>
                    <a:noFill/>
                  </a:tcPr>
                </a:tc>
                <a:tc>
                  <a:txBody>
                    <a:bodyPr/>
                    <a:lstStyle/>
                    <a:p>
                      <a:r>
                        <a:rPr lang="en-US" smtClean="0"/>
                        <a:t>TO</a:t>
                      </a:r>
                      <a:endParaRPr lang="en-US"/>
                    </a:p>
                  </a:txBody>
                  <a:tcPr/>
                </a:tc>
                <a:tc>
                  <a:txBody>
                    <a:bodyPr/>
                    <a:lstStyle/>
                    <a:p>
                      <a:r>
                        <a:rPr lang="en-US" smtClean="0"/>
                        <a:t>Toán</a:t>
                      </a:r>
                      <a:endParaRPr lang="en-US"/>
                    </a:p>
                  </a:txBody>
                  <a:tcPr/>
                </a:tc>
              </a:tr>
              <a:tr h="370840">
                <a:tc vMerge="1">
                  <a:txBody>
                    <a:bodyPr/>
                    <a:lstStyle/>
                    <a:p>
                      <a:endParaRPr lang="en-US"/>
                    </a:p>
                  </a:txBody>
                  <a:tcPr/>
                </a:tc>
                <a:tc>
                  <a:txBody>
                    <a:bodyPr/>
                    <a:lstStyle/>
                    <a:p>
                      <a:r>
                        <a:rPr lang="en-US" smtClean="0"/>
                        <a:t>TH</a:t>
                      </a:r>
                      <a:endParaRPr lang="en-US"/>
                    </a:p>
                  </a:txBody>
                  <a:tcPr/>
                </a:tc>
                <a:tc>
                  <a:txBody>
                    <a:bodyPr/>
                    <a:lstStyle/>
                    <a:p>
                      <a:r>
                        <a:rPr lang="en-US" smtClean="0"/>
                        <a:t>Tinhoc</a:t>
                      </a:r>
                      <a:endParaRPr lang="en-US"/>
                    </a:p>
                  </a:txBody>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900683856"/>
              </p:ext>
            </p:extLst>
          </p:nvPr>
        </p:nvGraphicFramePr>
        <p:xfrm>
          <a:off x="7016264" y="4439696"/>
          <a:ext cx="1981200" cy="2225040"/>
        </p:xfrm>
        <a:graphic>
          <a:graphicData uri="http://schemas.openxmlformats.org/drawingml/2006/table">
            <a:tbl>
              <a:tblPr firstRow="1" bandRow="1">
                <a:tableStyleId>{5C22544A-7EE6-4342-B048-85BDC9FD1C3A}</a:tableStyleId>
              </a:tblPr>
              <a:tblGrid>
                <a:gridCol w="228600"/>
                <a:gridCol w="1219200"/>
                <a:gridCol w="533400"/>
              </a:tblGrid>
              <a:tr h="370840">
                <a:tc>
                  <a:txBody>
                    <a:bodyPr/>
                    <a:lstStyle/>
                    <a:p>
                      <a:r>
                        <a:rPr lang="en-US" smtClean="0">
                          <a:solidFill>
                            <a:schemeClr val="tx1"/>
                          </a:solidFill>
                        </a:rPr>
                        <a:t>t</a:t>
                      </a:r>
                      <a:endParaRPr lang="en-US">
                        <a:solidFill>
                          <a:schemeClr val="tx1"/>
                        </a:solidFill>
                      </a:endParaRPr>
                    </a:p>
                  </a:txBody>
                  <a:tcPr>
                    <a:noFill/>
                  </a:tcPr>
                </a:tc>
                <a:tc>
                  <a:txBody>
                    <a:bodyPr/>
                    <a:lstStyle/>
                    <a:p>
                      <a:r>
                        <a:rPr lang="en-US" smtClean="0"/>
                        <a:t>ns</a:t>
                      </a:r>
                      <a:endParaRPr lang="en-US"/>
                    </a:p>
                  </a:txBody>
                  <a:tcPr/>
                </a:tc>
                <a:tc>
                  <a:txBody>
                    <a:bodyPr/>
                    <a:lstStyle/>
                    <a:p>
                      <a:r>
                        <a:rPr lang="en-US" smtClean="0"/>
                        <a:t>t</a:t>
                      </a:r>
                      <a:endParaRPr lang="en-US"/>
                    </a:p>
                  </a:txBody>
                  <a:tcPr/>
                </a:tc>
              </a:tr>
              <a:tr h="370840">
                <a:tc rowSpan="5">
                  <a:txBody>
                    <a:bodyPr/>
                    <a:lstStyle/>
                    <a:p>
                      <a:endParaRPr lang="en-US"/>
                    </a:p>
                  </a:txBody>
                  <a:tcPr>
                    <a:noFill/>
                  </a:tcPr>
                </a:tc>
                <a:tc>
                  <a:txBody>
                    <a:bodyPr/>
                    <a:lstStyle/>
                    <a:p>
                      <a:r>
                        <a:rPr lang="en-US" smtClean="0"/>
                        <a:t>1/1/1995</a:t>
                      </a:r>
                      <a:endParaRPr lang="en-US"/>
                    </a:p>
                  </a:txBody>
                  <a:tcPr/>
                </a:tc>
                <a:tc>
                  <a:txBody>
                    <a:bodyPr/>
                    <a:lstStyle/>
                    <a:p>
                      <a:r>
                        <a:rPr lang="en-US" smtClean="0"/>
                        <a:t>20</a:t>
                      </a:r>
                      <a:endParaRPr lang="en-US"/>
                    </a:p>
                  </a:txBody>
                  <a:tcPr/>
                </a:tc>
              </a:tr>
              <a:tr h="370840">
                <a:tc vMerge="1">
                  <a:txBody>
                    <a:bodyPr/>
                    <a:lstStyle/>
                    <a:p>
                      <a:endParaRPr lang="en-US"/>
                    </a:p>
                  </a:txBody>
                  <a:tcPr/>
                </a:tc>
                <a:tc>
                  <a:txBody>
                    <a:bodyPr/>
                    <a:lstStyle/>
                    <a:p>
                      <a:r>
                        <a:rPr lang="en-US" smtClean="0"/>
                        <a:t>18/1/1995</a:t>
                      </a:r>
                      <a:endParaRPr lang="en-US"/>
                    </a:p>
                  </a:txBody>
                  <a:tcPr/>
                </a:tc>
                <a:tc>
                  <a:txBody>
                    <a:bodyPr/>
                    <a:lstStyle/>
                    <a:p>
                      <a:r>
                        <a:rPr lang="en-US" smtClean="0"/>
                        <a:t>20</a:t>
                      </a:r>
                      <a:endParaRPr lang="en-US"/>
                    </a:p>
                  </a:txBody>
                  <a:tcPr/>
                </a:tc>
              </a:tr>
              <a:tr h="370840">
                <a:tc vMerge="1">
                  <a:txBody>
                    <a:bodyPr/>
                    <a:lstStyle/>
                    <a:p>
                      <a:endParaRPr lang="en-US"/>
                    </a:p>
                  </a:txBody>
                  <a:tcPr/>
                </a:tc>
                <a:tc>
                  <a:txBody>
                    <a:bodyPr/>
                    <a:lstStyle/>
                    <a:p>
                      <a:r>
                        <a:rPr lang="en-US" smtClean="0"/>
                        <a:t>25/6/1994</a:t>
                      </a:r>
                      <a:endParaRPr lang="en-US"/>
                    </a:p>
                  </a:txBody>
                  <a:tcPr/>
                </a:tc>
                <a:tc>
                  <a:txBody>
                    <a:bodyPr/>
                    <a:lstStyle/>
                    <a:p>
                      <a:r>
                        <a:rPr lang="en-US" smtClean="0"/>
                        <a:t>21</a:t>
                      </a:r>
                      <a:endParaRPr lang="en-US"/>
                    </a:p>
                  </a:txBody>
                  <a:tcPr/>
                </a:tc>
              </a:tr>
              <a:tr h="370840">
                <a:tc vMerge="1">
                  <a:txBody>
                    <a:bodyPr/>
                    <a:lstStyle/>
                    <a:p>
                      <a:endParaRPr lang="en-US"/>
                    </a:p>
                  </a:txBody>
                  <a:tcPr/>
                </a:tc>
                <a:tc>
                  <a:txBody>
                    <a:bodyPr/>
                    <a:lstStyle/>
                    <a:p>
                      <a:r>
                        <a:rPr lang="en-US" smtClean="0"/>
                        <a:t>17/9/1994</a:t>
                      </a:r>
                      <a:endParaRPr lang="en-US"/>
                    </a:p>
                  </a:txBody>
                  <a:tcPr/>
                </a:tc>
                <a:tc>
                  <a:txBody>
                    <a:bodyPr/>
                    <a:lstStyle/>
                    <a:p>
                      <a:r>
                        <a:rPr lang="en-US" smtClean="0"/>
                        <a:t>21</a:t>
                      </a:r>
                      <a:endParaRPr lang="en-US"/>
                    </a:p>
                  </a:txBody>
                  <a:tcPr/>
                </a:tc>
              </a:tr>
              <a:tr h="370840">
                <a:tc vMerge="1">
                  <a:txBody>
                    <a:bodyPr/>
                    <a:lstStyle/>
                    <a:p>
                      <a:endParaRPr lang="en-US"/>
                    </a:p>
                  </a:txBody>
                  <a:tcPr/>
                </a:tc>
                <a:tc>
                  <a:txBody>
                    <a:bodyPr/>
                    <a:lstStyle/>
                    <a:p>
                      <a:r>
                        <a:rPr lang="en-US" smtClean="0"/>
                        <a:t>20/4/1993</a:t>
                      </a:r>
                      <a:endParaRPr lang="en-US"/>
                    </a:p>
                  </a:txBody>
                  <a:tcPr/>
                </a:tc>
                <a:tc>
                  <a:txBody>
                    <a:bodyPr/>
                    <a:lstStyle/>
                    <a:p>
                      <a:r>
                        <a:rPr lang="en-US" smtClean="0"/>
                        <a:t>22</a:t>
                      </a:r>
                      <a:endParaRPr lang="en-US"/>
                    </a:p>
                  </a:txBody>
                  <a:tcPr/>
                </a:tc>
              </a:tr>
            </a:tbl>
          </a:graphicData>
        </a:graphic>
      </p:graphicFrame>
    </p:spTree>
    <p:extLst>
      <p:ext uri="{BB962C8B-B14F-4D97-AF65-F5344CB8AC3E}">
        <p14:creationId xmlns:p14="http://schemas.microsoft.com/office/powerpoint/2010/main" val="5961845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257800"/>
              </a:xfrm>
            </p:spPr>
            <p:txBody>
              <a:bodyPr/>
              <a:lstStyle/>
              <a:p>
                <a:pPr marL="0" indent="0">
                  <a:buNone/>
                </a:pPr>
                <a:r>
                  <a:rPr lang="en-US" smtClean="0"/>
                  <a:t>Nhận thấy việc chia quan hệ ra thì quan hệ </a:t>
                </a:r>
                <a14:m>
                  <m:oMath xmlns:m="http://schemas.openxmlformats.org/officeDocument/2006/math">
                    <m:r>
                      <a:rPr lang="en-US" i="1" smtClean="0">
                        <a:latin typeface="Cambria Math"/>
                      </a:rPr>
                      <m:t>𝑠𝑣</m:t>
                    </m:r>
                  </m:oMath>
                </a14:m>
                <a:r>
                  <a:rPr lang="en-US" smtClean="0"/>
                  <a:t> sẽ không có sự lặp lại dữ liệu, tuy nhiên quan hệ </a:t>
                </a:r>
                <a14:m>
                  <m:oMath xmlns:m="http://schemas.openxmlformats.org/officeDocument/2006/math">
                    <m:r>
                      <a:rPr lang="en-US" i="1" smtClean="0">
                        <a:latin typeface="Cambria Math"/>
                      </a:rPr>
                      <m:t>𝑙</m:t>
                    </m:r>
                  </m:oMath>
                </a14:m>
                <a:r>
                  <a:rPr lang="en-US" smtClean="0"/>
                  <a:t> mới xuất hiện là hợp lý, nhưng quan hệ</a:t>
                </a:r>
                <a14:m>
                  <m:oMath xmlns:m="http://schemas.openxmlformats.org/officeDocument/2006/math">
                    <m:r>
                      <a:rPr lang="en-US" i="1" smtClean="0">
                        <a:latin typeface="Cambria Math"/>
                      </a:rPr>
                      <m:t> </m:t>
                    </m:r>
                    <m:r>
                      <a:rPr lang="en-US" i="1" smtClean="0">
                        <a:latin typeface="Cambria Math"/>
                      </a:rPr>
                      <m:t>𝑡</m:t>
                    </m:r>
                    <m:r>
                      <a:rPr lang="en-US" i="1" smtClean="0">
                        <a:latin typeface="Cambria Math"/>
                      </a:rPr>
                      <m:t> </m:t>
                    </m:r>
                  </m:oMath>
                </a14:m>
                <a:r>
                  <a:rPr lang="en-US" smtClean="0"/>
                  <a:t>thì nhìn thấy vẫn dư thừa nhiều lắm. Thực tế ta có thể bỏ hẳn thuộc tính </a:t>
                </a:r>
                <a14:m>
                  <m:oMath xmlns:m="http://schemas.openxmlformats.org/officeDocument/2006/math">
                    <m:r>
                      <a:rPr lang="en-US" i="1" smtClean="0">
                        <a:latin typeface="Cambria Math"/>
                      </a:rPr>
                      <m:t>𝑡𝑢𝑜𝑖</m:t>
                    </m:r>
                  </m:oMath>
                </a14:m>
                <a:r>
                  <a:rPr lang="en-US" smtClean="0"/>
                  <a:t> (vì điều này vẫn có thể tính toán ra, và giá trị của tuổi sẽ thay đổi theo thời gian).</a:t>
                </a:r>
              </a:p>
              <a:p>
                <a:pPr marL="0" indent="0">
                  <a:buNone/>
                </a:pPr>
                <a:r>
                  <a:rPr lang="en-US" smtClean="0"/>
                  <a:t>Như vậy </a:t>
                </a:r>
                <a:r>
                  <a:rPr lang="en-US"/>
                  <a:t>quan hệ </a:t>
                </a:r>
                <a14:m>
                  <m:oMath xmlns:m="http://schemas.openxmlformats.org/officeDocument/2006/math">
                    <m:r>
                      <a:rPr lang="en-US" i="1">
                        <a:latin typeface="Cambria Math"/>
                      </a:rPr>
                      <m:t>𝑠𝑣</m:t>
                    </m:r>
                    <m:r>
                      <a:rPr lang="en-US" i="1">
                        <a:latin typeface="Cambria Math"/>
                      </a:rPr>
                      <m:t>(</m:t>
                    </m:r>
                    <m:r>
                      <a:rPr lang="en-US" i="1">
                        <a:latin typeface="Cambria Math"/>
                      </a:rPr>
                      <m:t>𝑚𝑎</m:t>
                    </m:r>
                    <m:r>
                      <a:rPr lang="en-US" i="1">
                        <a:latin typeface="Cambria Math"/>
                      </a:rPr>
                      <m:t>, </m:t>
                    </m:r>
                    <m:r>
                      <a:rPr lang="en-US" i="1">
                        <a:latin typeface="Cambria Math"/>
                      </a:rPr>
                      <m:t>h𝑜𝑡𝑒𝑛</m:t>
                    </m:r>
                    <m:r>
                      <a:rPr lang="en-US" i="1">
                        <a:latin typeface="Cambria Math"/>
                      </a:rPr>
                      <m:t>, </m:t>
                    </m:r>
                    <m:r>
                      <a:rPr lang="en-US" i="1">
                        <a:latin typeface="Cambria Math"/>
                      </a:rPr>
                      <m:t>𝑛𝑔𝑎𝑦𝑠𝑖𝑛h</m:t>
                    </m:r>
                    <m:r>
                      <a:rPr lang="en-US" i="1">
                        <a:latin typeface="Cambria Math"/>
                      </a:rPr>
                      <m:t>, </m:t>
                    </m:r>
                    <m:r>
                      <a:rPr lang="en-US" i="1">
                        <a:latin typeface="Cambria Math"/>
                      </a:rPr>
                      <m:t>𝑡𝑢𝑜𝑖</m:t>
                    </m:r>
                    <m:r>
                      <a:rPr lang="en-US" i="1">
                        <a:latin typeface="Cambria Math"/>
                      </a:rPr>
                      <m:t>, </m:t>
                    </m:r>
                    <m:r>
                      <a:rPr lang="en-US" i="1">
                        <a:latin typeface="Cambria Math"/>
                      </a:rPr>
                      <m:t>𝑚𝑎𝑙𝑜𝑝</m:t>
                    </m:r>
                    <m:r>
                      <a:rPr lang="en-US" i="1">
                        <a:latin typeface="Cambria Math"/>
                      </a:rPr>
                      <m:t>, </m:t>
                    </m:r>
                    <m:r>
                      <a:rPr lang="en-US" i="1">
                        <a:latin typeface="Cambria Math"/>
                      </a:rPr>
                      <m:t>𝑡𝑒𝑛𝑙𝑜𝑝</m:t>
                    </m:r>
                    <m:r>
                      <a:rPr lang="en-US" i="1">
                        <a:latin typeface="Cambria Math"/>
                      </a:rPr>
                      <m:t>)</m:t>
                    </m:r>
                  </m:oMath>
                </a14:m>
                <a:r>
                  <a:rPr lang="en-US" smtClean="0"/>
                  <a:t> </a:t>
                </a:r>
                <a:r>
                  <a:rPr lang="en-US" smtClean="0"/>
                  <a:t>chứa nhiều dư thừa. Do nó không đạt được một số yêu cầu (gọi là dạng chuẩn). Nên tách nó ra để mỗi cái riêng đạt yêu cầu và dữ liệu không thừa và lặp lại.</a:t>
                </a:r>
                <a:endParaRPr lang="en-US"/>
              </a:p>
              <a:p>
                <a:pPr marL="0" indent="0">
                  <a:buNone/>
                </a:pPr>
                <a:endParaRPr lang="en-US"/>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0">
                <a:blip r:embed="rId2"/>
                <a:stretch>
                  <a:fillRect l="-1404" t="-1276" r="-1684"/>
                </a:stretch>
              </a:blipFill>
            </p:spPr>
            <p:txBody>
              <a:bodyPr/>
              <a:lstStyle/>
              <a:p>
                <a:r>
                  <a:rPr lang="en-US">
                    <a:noFill/>
                  </a:rPr>
                  <a:t> </a:t>
                </a:r>
              </a:p>
            </p:txBody>
          </p:sp>
        </mc:Fallback>
      </mc:AlternateContent>
    </p:spTree>
    <p:extLst>
      <p:ext uri="{BB962C8B-B14F-4D97-AF65-F5344CB8AC3E}">
        <p14:creationId xmlns:p14="http://schemas.microsoft.com/office/powerpoint/2010/main" val="39910484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(Định nghĩa – Lý thuyết)</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fontScale="92500" lnSpcReduction="10000"/>
              </a:bodyPr>
              <a:lstStyle/>
              <a:p>
                <a:pPr marL="0" indent="0">
                  <a:buNone/>
                </a:pPr>
                <a:r>
                  <a:rPr lang="en-US" smtClean="0"/>
                  <a:t>Cho quan hệ </a:t>
                </a:r>
                <a14:m>
                  <m:oMath xmlns:m="http://schemas.openxmlformats.org/officeDocument/2006/math">
                    <m:r>
                      <a:rPr lang="en-US" i="1" smtClean="0">
                        <a:latin typeface="Cambria Math"/>
                      </a:rPr>
                      <m:t>𝑟</m:t>
                    </m:r>
                    <m:r>
                      <a:rPr lang="en-US" i="1" smtClean="0">
                        <a:latin typeface="Cambria Math"/>
                      </a:rPr>
                      <m:t>(</m:t>
                    </m:r>
                    <m:r>
                      <a:rPr lang="en-US" i="1" smtClean="0">
                        <a:latin typeface="Cambria Math"/>
                      </a:rPr>
                      <m:t>𝑅</m:t>
                    </m:r>
                    <m:r>
                      <a:rPr lang="en-US" i="1" smtClean="0">
                        <a:latin typeface="Cambria Math"/>
                      </a:rPr>
                      <m:t>)</m:t>
                    </m:r>
                  </m:oMath>
                </a14:m>
                <a:r>
                  <a:rPr lang="en-US" smtClean="0"/>
                  <a:t> và </a:t>
                </a:r>
                <a14:m>
                  <m:oMath xmlns:m="http://schemas.openxmlformats.org/officeDocument/2006/math">
                    <m:r>
                      <a:rPr lang="en-US" i="1" smtClean="0">
                        <a:latin typeface="Cambria Math"/>
                      </a:rPr>
                      <m:t>𝑋</m:t>
                    </m:r>
                    <m:r>
                      <a:rPr lang="en-US" i="1" smtClean="0">
                        <a:latin typeface="Cambria Math"/>
                      </a:rPr>
                      <m:t>,</m:t>
                    </m:r>
                    <m:r>
                      <a:rPr lang="en-US" i="1" smtClean="0">
                        <a:latin typeface="Cambria Math"/>
                      </a:rPr>
                      <m:t>𝑌</m:t>
                    </m:r>
                    <m:r>
                      <a:rPr lang="en-US" b="0" i="1" smtClean="0">
                        <a:latin typeface="Cambria Math"/>
                      </a:rPr>
                      <m:t>∈</m:t>
                    </m:r>
                    <m:r>
                      <a:rPr lang="en-US" b="0" i="1" smtClean="0">
                        <a:latin typeface="Cambria Math"/>
                      </a:rPr>
                      <m:t>𝑅</m:t>
                    </m:r>
                  </m:oMath>
                </a14:m>
                <a:r>
                  <a:rPr lang="en-US" smtClean="0"/>
                  <a:t>. </a:t>
                </a:r>
              </a:p>
              <a:p>
                <a:pPr marL="0" indent="0">
                  <a:buNone/>
                </a:pPr>
                <a:r>
                  <a:rPr lang="en-US" smtClean="0"/>
                  <a:t>Ta nói </a:t>
                </a:r>
                <a14:m>
                  <m:oMath xmlns:m="http://schemas.openxmlformats.org/officeDocument/2006/math">
                    <m:r>
                      <a:rPr lang="en-US" i="1" smtClean="0">
                        <a:latin typeface="Cambria Math"/>
                      </a:rPr>
                      <m:t>𝑟</m:t>
                    </m:r>
                  </m:oMath>
                </a14:m>
                <a:r>
                  <a:rPr lang="en-US" smtClean="0"/>
                  <a:t> thỏa phụ thuộc hàm </a:t>
                </a:r>
                <a14:m>
                  <m:oMath xmlns:m="http://schemas.openxmlformats.org/officeDocument/2006/math">
                    <m:r>
                      <a:rPr lang="en-US" i="1" smtClean="0">
                        <a:latin typeface="Cambria Math"/>
                      </a:rPr>
                      <m:t>𝑋</m:t>
                    </m:r>
                    <m:r>
                      <a:rPr lang="en-US" b="0" i="1" smtClean="0">
                        <a:latin typeface="Cambria Math"/>
                      </a:rPr>
                      <m:t>→</m:t>
                    </m:r>
                    <m:r>
                      <a:rPr lang="en-US" b="0" i="1" smtClean="0">
                        <a:latin typeface="Cambria Math"/>
                      </a:rPr>
                      <m:t>𝑌</m:t>
                    </m:r>
                  </m:oMath>
                </a14:m>
                <a:r>
                  <a:rPr lang="en-US" smtClean="0"/>
                  <a:t> nếu như</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r>
                        <a:rPr lang="en-US" b="0" i="1" smtClean="0">
                          <a:latin typeface="Cambria Math"/>
                        </a:rPr>
                        <m:t>𝑟</m:t>
                      </m:r>
                      <m:r>
                        <a:rPr lang="en-US" b="0" i="1" smtClean="0">
                          <a:latin typeface="Cambria Math"/>
                        </a:rPr>
                        <m:t> </m:t>
                      </m:r>
                      <m:r>
                        <a:rPr lang="en-US" b="0" i="1" smtClean="0">
                          <a:latin typeface="Cambria Math"/>
                        </a:rPr>
                        <m:t>𝑛</m:t>
                      </m:r>
                      <m:r>
                        <a:rPr lang="en-US" b="0" i="1" smtClean="0">
                          <a:latin typeface="Cambria Math"/>
                        </a:rPr>
                        <m:t>ế</m:t>
                      </m:r>
                      <m:r>
                        <a:rPr lang="en-US" b="0" i="1" smtClean="0">
                          <a:latin typeface="Cambria Math"/>
                        </a:rPr>
                        <m:t>𝑢</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1</m:t>
                          </m:r>
                        </m:sub>
                      </m:sSub>
                      <m:r>
                        <a:rPr lang="en-US" b="0" i="1" smtClean="0">
                          <a:latin typeface="Cambria Math"/>
                        </a:rPr>
                        <m:t>.</m:t>
                      </m:r>
                      <m:r>
                        <a:rPr lang="en-US" b="0" i="1" smtClean="0">
                          <a:latin typeface="Cambria Math"/>
                        </a:rPr>
                        <m:t>𝑌</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𝑡</m:t>
                          </m:r>
                        </m:e>
                        <m:sub>
                          <m:r>
                            <a:rPr lang="en-US" b="0" i="1" smtClean="0">
                              <a:latin typeface="Cambria Math"/>
                            </a:rPr>
                            <m:t>2</m:t>
                          </m:r>
                        </m:sub>
                      </m:sSub>
                      <m:r>
                        <a:rPr lang="en-US" b="0" i="1" smtClean="0">
                          <a:latin typeface="Cambria Math"/>
                        </a:rPr>
                        <m:t>.</m:t>
                      </m:r>
                      <m:r>
                        <a:rPr lang="en-US" b="0" i="1" smtClean="0">
                          <a:latin typeface="Cambria Math"/>
                        </a:rPr>
                        <m:t>𝑌</m:t>
                      </m:r>
                    </m:oMath>
                  </m:oMathPara>
                </a14:m>
                <a:endParaRPr lang="en-US" smtClean="0"/>
              </a:p>
              <a:p>
                <a:pPr marL="0" indent="0">
                  <a:buNone/>
                </a:pPr>
                <a:r>
                  <a:rPr lang="en-US" smtClean="0"/>
                  <a:t>Ta nói </a:t>
                </a:r>
                <a14:m>
                  <m:oMath xmlns:m="http://schemas.openxmlformats.org/officeDocument/2006/math">
                    <m:r>
                      <a:rPr lang="en-US" i="1" smtClean="0">
                        <a:latin typeface="Cambria Math"/>
                      </a:rPr>
                      <m:t>𝑆𝐴</m:t>
                    </m:r>
                    <m:sSub>
                      <m:sSubPr>
                        <m:ctrlPr>
                          <a:rPr lang="en-US" b="0" i="1" smtClean="0">
                            <a:latin typeface="Cambria Math" panose="02040503050406030204" pitchFamily="18" charset="0"/>
                          </a:rPr>
                        </m:ctrlPr>
                      </m:sSubPr>
                      <m:e>
                        <m:r>
                          <a:rPr lang="en-US" i="1" smtClean="0">
                            <a:latin typeface="Cambria Math"/>
                          </a:rPr>
                          <m:t>𝑇</m:t>
                        </m:r>
                      </m:e>
                      <m:sub>
                        <m:r>
                          <a:rPr lang="en-US" b="0" i="1" smtClean="0">
                            <a:latin typeface="Cambria Math"/>
                          </a:rPr>
                          <m:t>𝑅</m:t>
                        </m:r>
                      </m:sub>
                    </m:sSub>
                    <m:r>
                      <a:rPr lang="en-US" i="1" smtClean="0">
                        <a:latin typeface="Cambria Math"/>
                      </a:rPr>
                      <m:t>(</m:t>
                    </m:r>
                    <m:r>
                      <a:rPr lang="en-US" i="1" smtClean="0">
                        <a:latin typeface="Cambria Math"/>
                      </a:rPr>
                      <m:t>𝐹</m:t>
                    </m:r>
                    <m:r>
                      <a:rPr lang="en-US" i="1" smtClean="0">
                        <a:latin typeface="Cambria Math"/>
                      </a:rPr>
                      <m:t>)</m:t>
                    </m:r>
                  </m:oMath>
                </a14:m>
                <a:r>
                  <a:rPr lang="en-US" smtClean="0"/>
                  <a:t> là tập tất cả các quan hệ </a:t>
                </a:r>
                <a14:m>
                  <m:oMath xmlns:m="http://schemas.openxmlformats.org/officeDocument/2006/math">
                    <m:r>
                      <a:rPr lang="en-US" i="1" smtClean="0">
                        <a:latin typeface="Cambria Math"/>
                      </a:rPr>
                      <m:t>𝑟</m:t>
                    </m:r>
                    <m:r>
                      <a:rPr lang="en-US" i="1" smtClean="0">
                        <a:latin typeface="Cambria Math"/>
                      </a:rPr>
                      <m:t>(</m:t>
                    </m:r>
                    <m:r>
                      <a:rPr lang="en-US" b="0" i="1" smtClean="0">
                        <a:latin typeface="Cambria Math"/>
                      </a:rPr>
                      <m:t>𝑅</m:t>
                    </m:r>
                    <m:r>
                      <a:rPr lang="en-US" b="0" i="1" smtClean="0">
                        <a:latin typeface="Cambria Math"/>
                      </a:rPr>
                      <m:t>)</m:t>
                    </m:r>
                  </m:oMath>
                </a14:m>
                <a:r>
                  <a:rPr lang="en-US" smtClean="0"/>
                  <a:t> mà quan hệ </a:t>
                </a:r>
                <a14:m>
                  <m:oMath xmlns:m="http://schemas.openxmlformats.org/officeDocument/2006/math">
                    <m:r>
                      <a:rPr lang="en-US" i="1" smtClean="0">
                        <a:latin typeface="Cambria Math"/>
                      </a:rPr>
                      <m:t>𝑟</m:t>
                    </m:r>
                  </m:oMath>
                </a14:m>
                <a:r>
                  <a:rPr lang="en-US" smtClean="0"/>
                  <a:t> này thỏa tập phụ thuộc hàm </a:t>
                </a:r>
                <a14:m>
                  <m:oMath xmlns:m="http://schemas.openxmlformats.org/officeDocument/2006/math">
                    <m:r>
                      <a:rPr lang="en-US" i="1" smtClean="0">
                        <a:latin typeface="Cambria Math"/>
                      </a:rPr>
                      <m:t>𝐹</m:t>
                    </m:r>
                  </m:oMath>
                </a14:m>
                <a:endParaRPr lang="en-US" smtClean="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𝑆𝐴</m:t>
                      </m:r>
                      <m:sSub>
                        <m:sSubPr>
                          <m:ctrlPr>
                            <a:rPr lang="en-US" b="0" i="1" smtClean="0">
                              <a:latin typeface="Cambria Math" panose="02040503050406030204" pitchFamily="18" charset="0"/>
                            </a:rPr>
                          </m:ctrlPr>
                        </m:sSubPr>
                        <m:e>
                          <m:r>
                            <a:rPr lang="en-US" b="0" i="1" smtClean="0">
                              <a:latin typeface="Cambria Math"/>
                            </a:rPr>
                            <m:t>𝑇</m:t>
                          </m:r>
                        </m:e>
                        <m:sub>
                          <m:r>
                            <a:rPr lang="en-US" b="0" i="1" smtClean="0">
                              <a:latin typeface="Cambria Math"/>
                            </a:rPr>
                            <m:t>𝑅</m:t>
                          </m:r>
                        </m:sub>
                      </m:sSub>
                      <m:d>
                        <m:dPr>
                          <m:ctrlPr>
                            <a:rPr lang="en-US" b="0" i="1" smtClean="0">
                              <a:latin typeface="Cambria Math" panose="02040503050406030204" pitchFamily="18" charset="0"/>
                            </a:rPr>
                          </m:ctrlPr>
                        </m:dPr>
                        <m:e>
                          <m:r>
                            <a:rPr lang="en-US" b="0" i="1" smtClean="0">
                              <a:latin typeface="Cambria Math"/>
                            </a:rPr>
                            <m:t>𝐹</m:t>
                          </m:r>
                        </m:e>
                      </m:d>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𝑟</m:t>
                          </m:r>
                          <m:d>
                            <m:dPr>
                              <m:ctrlPr>
                                <a:rPr lang="en-US" b="0" i="1" smtClean="0">
                                  <a:latin typeface="Cambria Math" panose="02040503050406030204" pitchFamily="18" charset="0"/>
                                </a:rPr>
                              </m:ctrlPr>
                            </m:dPr>
                            <m:e>
                              <m:r>
                                <a:rPr lang="en-US" b="0" i="1" smtClean="0">
                                  <a:latin typeface="Cambria Math"/>
                                </a:rPr>
                                <m:t>𝑅</m:t>
                              </m:r>
                            </m:e>
                          </m:d>
                        </m:e>
                        <m:e>
                          <m:r>
                            <a:rPr lang="en-US" b="0" i="1" smtClean="0">
                              <a:latin typeface="Cambria Math"/>
                            </a:rPr>
                            <m:t>𝑟</m:t>
                          </m:r>
                          <m:r>
                            <a:rPr lang="en-US" b="0" i="1" smtClean="0">
                              <a:latin typeface="Cambria Math"/>
                            </a:rPr>
                            <m:t> </m:t>
                          </m:r>
                          <m:r>
                            <a:rPr lang="en-US" b="0" i="1" smtClean="0">
                              <a:latin typeface="Cambria Math"/>
                            </a:rPr>
                            <m:t>𝑡h</m:t>
                          </m:r>
                          <m:r>
                            <a:rPr lang="en-US" b="0" i="1" smtClean="0">
                              <a:latin typeface="Cambria Math"/>
                            </a:rPr>
                            <m:t>ỏ</m:t>
                          </m:r>
                          <m:r>
                            <a:rPr lang="en-US" b="0" i="1" smtClean="0">
                              <a:latin typeface="Cambria Math"/>
                            </a:rPr>
                            <m:t>𝑎</m:t>
                          </m:r>
                          <m:r>
                            <a:rPr lang="en-US" b="0" i="1" smtClean="0">
                              <a:latin typeface="Cambria Math"/>
                            </a:rPr>
                            <m:t> </m:t>
                          </m:r>
                          <m:r>
                            <a:rPr lang="en-US" b="0" i="1" smtClean="0">
                              <a:latin typeface="Cambria Math"/>
                            </a:rPr>
                            <m:t>𝐹</m:t>
                          </m:r>
                        </m:e>
                      </m:d>
                    </m:oMath>
                  </m:oMathPara>
                </a14:m>
                <a:endParaRPr lang="en-US" b="0" smtClean="0"/>
              </a:p>
              <a:p>
                <a:pPr marL="0" indent="0">
                  <a:buNone/>
                </a:pPr>
                <a:endParaRPr lang="en-US"/>
              </a:p>
              <a:p>
                <a:pPr marL="0" indent="0">
                  <a:buNone/>
                </a:pPr>
                <a:r>
                  <a:rPr lang="en-US" smtClean="0"/>
                  <a:t>Vấn đề: kiểm tra tập phụ thuộc hàm </a:t>
                </a:r>
                <a14:m>
                  <m:oMath xmlns:m="http://schemas.openxmlformats.org/officeDocument/2006/math">
                    <m:r>
                      <a:rPr lang="en-US" i="1" smtClean="0">
                        <a:latin typeface="Cambria Math"/>
                      </a:rPr>
                      <m:t>𝐹</m:t>
                    </m:r>
                  </m:oMath>
                </a14:m>
                <a:r>
                  <a:rPr lang="en-US" smtClean="0"/>
                  <a:t> có thỏa điều kiện: mọi quan hệ </a:t>
                </a:r>
                <a14:m>
                  <m:oMath xmlns:m="http://schemas.openxmlformats.org/officeDocument/2006/math">
                    <m:r>
                      <a:rPr lang="en-US" i="1" smtClean="0">
                        <a:latin typeface="Cambria Math"/>
                      </a:rPr>
                      <m:t>𝑟</m:t>
                    </m:r>
                    <m:r>
                      <a:rPr lang="en-US" b="0" i="1" smtClean="0">
                        <a:latin typeface="Cambria Math"/>
                      </a:rPr>
                      <m:t>∈</m:t>
                    </m:r>
                    <m:r>
                      <a:rPr lang="en-US" b="0" i="1" smtClean="0">
                        <a:latin typeface="Cambria Math"/>
                      </a:rPr>
                      <m:t>𝑆𝐴𝑇</m:t>
                    </m:r>
                    <m:r>
                      <a:rPr lang="en-US" b="0" i="1" smtClean="0">
                        <a:latin typeface="Cambria Math"/>
                      </a:rPr>
                      <m:t>(</m:t>
                    </m:r>
                    <m:r>
                      <a:rPr lang="en-US" b="0" i="1" smtClean="0">
                        <a:latin typeface="Cambria Math"/>
                      </a:rPr>
                      <m:t>𝐹</m:t>
                    </m:r>
                    <m:r>
                      <a:rPr lang="en-US" b="0" i="1" smtClean="0">
                        <a:latin typeface="Cambria Math"/>
                      </a:rPr>
                      <m:t>)</m:t>
                    </m:r>
                  </m:oMath>
                </a14:m>
                <a:r>
                  <a:rPr lang="en-US" smtClean="0"/>
                  <a:t> có thỏa </a:t>
                </a:r>
                <a14:m>
                  <m:oMath xmlns:m="http://schemas.openxmlformats.org/officeDocument/2006/math">
                    <m:r>
                      <a:rPr lang="en-US" i="1" smtClean="0">
                        <a:latin typeface="Cambria Math"/>
                      </a:rPr>
                      <m:t>𝑓</m:t>
                    </m:r>
                    <m:r>
                      <a:rPr lang="en-US" i="1" smtClean="0">
                        <a:latin typeface="Cambria Math"/>
                      </a:rPr>
                      <m:t> (</m:t>
                    </m:r>
                    <m:r>
                      <a:rPr lang="en-US" i="1" smtClean="0">
                        <a:latin typeface="Cambria Math"/>
                      </a:rPr>
                      <m:t>𝑓</m:t>
                    </m:r>
                    <m:r>
                      <a:rPr lang="en-US" b="0" i="1" smtClean="0">
                        <a:latin typeface="Cambria Math"/>
                      </a:rPr>
                      <m:t>∈</m:t>
                    </m:r>
                    <m:r>
                      <a:rPr lang="en-US" i="1" smtClean="0">
                        <a:latin typeface="Cambria Math"/>
                      </a:rPr>
                      <m:t>𝐹</m:t>
                    </m:r>
                    <m:r>
                      <a:rPr lang="en-US" i="1" smtClean="0">
                        <a:latin typeface="Cambria Math"/>
                      </a:rPr>
                      <m:t>)</m:t>
                    </m:r>
                  </m:oMath>
                </a14:m>
                <a:r>
                  <a:rPr lang="en-US" smtClean="0"/>
                  <a:t> hay không ??</a:t>
                </a:r>
              </a:p>
              <a:p>
                <a:pPr marL="0" indent="0">
                  <a:buNone/>
                </a:pPr>
                <a:r>
                  <a:rPr lang="en-US" i="1" smtClean="0"/>
                  <a:t>Nếu ta xét từng quan hệ r (đây là thể hiện dữ liệu thật) thì thật sự là không tưởng. Do đó cần có cách khác để xác định việc này.</a:t>
                </a:r>
                <a:endParaRPr lang="en-US" i="1"/>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2"/>
                <a:stretch>
                  <a:fillRect l="-1193" t="-1765"/>
                </a:stretch>
              </a:blipFill>
            </p:spPr>
            <p:txBody>
              <a:bodyPr/>
              <a:lstStyle/>
              <a:p>
                <a:r>
                  <a:rPr lang="en-US">
                    <a:noFill/>
                  </a:rPr>
                  <a:t> </a:t>
                </a:r>
              </a:p>
            </p:txBody>
          </p:sp>
        </mc:Fallback>
      </mc:AlternateContent>
    </p:spTree>
    <p:extLst>
      <p:ext uri="{BB962C8B-B14F-4D97-AF65-F5344CB8AC3E}">
        <p14:creationId xmlns:p14="http://schemas.microsoft.com/office/powerpoint/2010/main" val="846880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(Luật dẫn - Hệ tiên đề Armstrong)</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buNone/>
                </a:pPr>
                <a:r>
                  <a:rPr lang="en-US" smtClean="0"/>
                  <a:t>R1: phản xạ:	</a:t>
                </a:r>
                <a14:m>
                  <m:oMath xmlns:m="http://schemas.openxmlformats.org/officeDocument/2006/math">
                    <m:r>
                      <m:rPr>
                        <m:sty m:val="p"/>
                      </m:rPr>
                      <a:rPr lang="en-US" b="0" i="0" smtClean="0">
                        <a:latin typeface="Cambria Math"/>
                      </a:rPr>
                      <m:t>N</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𝑌</m:t>
                    </m:r>
                    <m:r>
                      <a:rPr lang="en-US" b="0" i="1" smtClean="0">
                        <a:latin typeface="Cambria Math"/>
                      </a:rPr>
                      <m:t>⊆</m:t>
                    </m:r>
                    <m:r>
                      <a:rPr lang="en-US" b="0" i="1" smtClean="0">
                        <a:latin typeface="Cambria Math"/>
                      </a:rPr>
                      <m:t>𝑋</m:t>
                    </m:r>
                    <m:r>
                      <a:rPr lang="en-US" b="0" i="1" smtClean="0">
                        <a:latin typeface="Cambria Math"/>
                      </a:rPr>
                      <m:t> </m:t>
                    </m:r>
                    <m:r>
                      <a:rPr lang="en-US" b="0" i="1" smtClean="0">
                        <a:latin typeface="Cambria Math"/>
                      </a:rPr>
                      <m:t>𝑡h</m:t>
                    </m:r>
                    <m:r>
                      <a:rPr lang="en-US" b="0" i="1" smtClean="0">
                        <a:latin typeface="Cambria Math"/>
                      </a:rPr>
                      <m:t>ì </m:t>
                    </m:r>
                    <m:r>
                      <a:rPr lang="en-US" b="0" i="1" smtClean="0">
                        <a:latin typeface="Cambria Math"/>
                      </a:rPr>
                      <m:t>𝑋</m:t>
                    </m:r>
                    <m:r>
                      <a:rPr lang="en-US" b="0" i="1" smtClean="0">
                        <a:latin typeface="Cambria Math"/>
                      </a:rPr>
                      <m:t>→</m:t>
                    </m:r>
                    <m:r>
                      <a:rPr lang="en-US" b="0" i="1" smtClean="0">
                        <a:latin typeface="Cambria Math"/>
                      </a:rPr>
                      <m:t>𝑌</m:t>
                    </m:r>
                  </m:oMath>
                </a14:m>
                <a:endParaRPr lang="en-US" smtClean="0"/>
              </a:p>
              <a:p>
                <a:pPr marL="0" indent="0">
                  <a:buNone/>
                </a:pPr>
                <a:r>
                  <a:rPr lang="en-US" smtClean="0"/>
                  <a:t>R2: thêm: </a:t>
                </a:r>
                <a14:m>
                  <m:oMath xmlns:m="http://schemas.openxmlformats.org/officeDocument/2006/math">
                    <m:r>
                      <a:rPr lang="en-US" b="0" i="1" smtClean="0">
                        <a:latin typeface="Cambria Math"/>
                      </a:rPr>
                      <m:t>𝑁</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𝑋</m:t>
                    </m:r>
                    <m:r>
                      <a:rPr lang="en-US" b="0" i="1" smtClean="0">
                        <a:latin typeface="Cambria Math"/>
                      </a:rPr>
                      <m:t>→</m:t>
                    </m:r>
                    <m:r>
                      <a:rPr lang="en-US" b="0" i="1" smtClean="0">
                        <a:latin typeface="Cambria Math"/>
                      </a:rPr>
                      <m:t>𝑌</m:t>
                    </m:r>
                    <m:r>
                      <a:rPr lang="en-US" b="0" i="1" smtClean="0">
                        <a:latin typeface="Cambria Math"/>
                      </a:rPr>
                      <m:t> </m:t>
                    </m:r>
                    <m:r>
                      <a:rPr lang="en-US" b="0" i="1" smtClean="0">
                        <a:latin typeface="Cambria Math"/>
                      </a:rPr>
                      <m:t>𝑡h</m:t>
                    </m:r>
                    <m:r>
                      <a:rPr lang="en-US" b="0" i="1" smtClean="0">
                        <a:latin typeface="Cambria Math"/>
                      </a:rPr>
                      <m:t>ì </m:t>
                    </m:r>
                    <m:r>
                      <a:rPr lang="en-US" b="0" i="1" smtClean="0">
                        <a:latin typeface="Cambria Math"/>
                      </a:rPr>
                      <m:t>𝑋𝑍</m:t>
                    </m:r>
                    <m:r>
                      <a:rPr lang="en-US" b="0" i="1" smtClean="0">
                        <a:latin typeface="Cambria Math"/>
                      </a:rPr>
                      <m:t>→</m:t>
                    </m:r>
                    <m:r>
                      <a:rPr lang="en-US" b="0" i="1" smtClean="0">
                        <a:latin typeface="Cambria Math"/>
                      </a:rPr>
                      <m:t>𝑌𝑍</m:t>
                    </m:r>
                  </m:oMath>
                </a14:m>
                <a:endParaRPr lang="en-US" smtClean="0"/>
              </a:p>
              <a:p>
                <a:pPr marL="0" indent="0">
                  <a:buNone/>
                </a:pPr>
                <a:r>
                  <a:rPr lang="en-US" smtClean="0"/>
                  <a:t>R3: </a:t>
                </a:r>
                <a:r>
                  <a:rPr lang="en-US"/>
                  <a:t>bắc cầu: </a:t>
                </a:r>
                <a14:m>
                  <m:oMath xmlns:m="http://schemas.openxmlformats.org/officeDocument/2006/math">
                    <m:r>
                      <a:rPr lang="en-US" i="1">
                        <a:latin typeface="Cambria Math"/>
                      </a:rPr>
                      <m:t>𝑁</m:t>
                    </m:r>
                    <m:r>
                      <a:rPr lang="en-US" i="1">
                        <a:latin typeface="Cambria Math"/>
                      </a:rPr>
                      <m:t>ế</m:t>
                    </m:r>
                    <m:r>
                      <a:rPr lang="en-US" i="1">
                        <a:latin typeface="Cambria Math"/>
                      </a:rPr>
                      <m:t>𝑢</m:t>
                    </m:r>
                    <m:r>
                      <a:rPr lang="en-US" i="1">
                        <a:latin typeface="Cambria Math"/>
                      </a:rPr>
                      <m:t> </m:t>
                    </m:r>
                    <m:r>
                      <a:rPr lang="en-US" i="1">
                        <a:latin typeface="Cambria Math"/>
                      </a:rPr>
                      <m:t>𝑋</m:t>
                    </m:r>
                    <m:r>
                      <a:rPr lang="en-US" i="1">
                        <a:latin typeface="Cambria Math"/>
                      </a:rPr>
                      <m:t>→</m:t>
                    </m:r>
                    <m:r>
                      <a:rPr lang="en-US" i="1">
                        <a:latin typeface="Cambria Math"/>
                      </a:rPr>
                      <m:t>𝑌</m:t>
                    </m:r>
                    <m:r>
                      <a:rPr lang="en-US" i="1">
                        <a:latin typeface="Cambria Math"/>
                      </a:rPr>
                      <m:t> </m:t>
                    </m:r>
                    <m:r>
                      <a:rPr lang="en-US" i="1">
                        <a:latin typeface="Cambria Math"/>
                      </a:rPr>
                      <m:t>𝑣</m:t>
                    </m:r>
                    <m:r>
                      <a:rPr lang="en-US" i="1">
                        <a:latin typeface="Cambria Math"/>
                      </a:rPr>
                      <m:t>à </m:t>
                    </m:r>
                    <m:r>
                      <a:rPr lang="en-US" i="1">
                        <a:latin typeface="Cambria Math"/>
                      </a:rPr>
                      <m:t>𝑌</m:t>
                    </m:r>
                    <m:r>
                      <a:rPr lang="en-US" i="1">
                        <a:latin typeface="Cambria Math"/>
                      </a:rPr>
                      <m:t>→</m:t>
                    </m:r>
                    <m:r>
                      <a:rPr lang="en-US" i="1">
                        <a:latin typeface="Cambria Math"/>
                      </a:rPr>
                      <m:t>𝑍</m:t>
                    </m:r>
                    <m:r>
                      <a:rPr lang="en-US" i="1">
                        <a:latin typeface="Cambria Math"/>
                      </a:rPr>
                      <m:t> </m:t>
                    </m:r>
                    <m:r>
                      <a:rPr lang="en-US" i="1">
                        <a:latin typeface="Cambria Math"/>
                      </a:rPr>
                      <m:t>𝑡h</m:t>
                    </m:r>
                    <m:r>
                      <a:rPr lang="en-US" i="1">
                        <a:latin typeface="Cambria Math"/>
                      </a:rPr>
                      <m:t>ì </m:t>
                    </m:r>
                    <m:r>
                      <a:rPr lang="en-US" i="1">
                        <a:latin typeface="Cambria Math"/>
                      </a:rPr>
                      <m:t>𝑋</m:t>
                    </m:r>
                    <m:r>
                      <a:rPr lang="en-US" i="1">
                        <a:latin typeface="Cambria Math"/>
                      </a:rPr>
                      <m:t>→</m:t>
                    </m:r>
                    <m:r>
                      <a:rPr lang="en-US" i="1">
                        <a:latin typeface="Cambria Math"/>
                      </a:rPr>
                      <m:t>𝑍</m:t>
                    </m:r>
                  </m:oMath>
                </a14:m>
                <a:endParaRPr lang="en-US" smtClean="0"/>
              </a:p>
              <a:p>
                <a:pPr marL="0" indent="0">
                  <a:buNone/>
                </a:pPr>
                <a:r>
                  <a:rPr lang="en-US" smtClean="0"/>
                  <a:t>R4: hội: </a:t>
                </a:r>
                <a14:m>
                  <m:oMath xmlns:m="http://schemas.openxmlformats.org/officeDocument/2006/math">
                    <m:r>
                      <a:rPr lang="en-US" b="0" i="1" smtClean="0">
                        <a:latin typeface="Cambria Math"/>
                      </a:rPr>
                      <m:t>𝑁</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𝑋</m:t>
                    </m:r>
                    <m:r>
                      <a:rPr lang="en-US" b="0" i="1" smtClean="0">
                        <a:latin typeface="Cambria Math"/>
                      </a:rPr>
                      <m:t>→</m:t>
                    </m:r>
                    <m:r>
                      <a:rPr lang="en-US" b="0" i="1" smtClean="0">
                        <a:latin typeface="Cambria Math"/>
                      </a:rPr>
                      <m:t>𝑌</m:t>
                    </m:r>
                    <m:r>
                      <a:rPr lang="en-US" b="0" i="1" smtClean="0">
                        <a:latin typeface="Cambria Math"/>
                      </a:rPr>
                      <m:t> </m:t>
                    </m:r>
                    <m:r>
                      <a:rPr lang="en-US" b="0" i="1" smtClean="0">
                        <a:latin typeface="Cambria Math"/>
                      </a:rPr>
                      <m:t>𝑣</m:t>
                    </m:r>
                    <m:r>
                      <a:rPr lang="en-US" b="0" i="1" smtClean="0">
                        <a:latin typeface="Cambria Math"/>
                      </a:rPr>
                      <m:t>à </m:t>
                    </m:r>
                    <m:r>
                      <a:rPr lang="en-US" b="0" i="1" smtClean="0">
                        <a:latin typeface="Cambria Math"/>
                      </a:rPr>
                      <m:t>𝑋</m:t>
                    </m:r>
                    <m:r>
                      <a:rPr lang="en-US" b="0" i="1" smtClean="0">
                        <a:latin typeface="Cambria Math"/>
                      </a:rPr>
                      <m:t> →</m:t>
                    </m:r>
                    <m:r>
                      <a:rPr lang="en-US" b="0" i="1" smtClean="0">
                        <a:latin typeface="Cambria Math"/>
                      </a:rPr>
                      <m:t>𝑍</m:t>
                    </m:r>
                    <m:r>
                      <a:rPr lang="en-US" b="0" i="1" smtClean="0">
                        <a:latin typeface="Cambria Math"/>
                      </a:rPr>
                      <m:t> </m:t>
                    </m:r>
                    <m:r>
                      <a:rPr lang="en-US" b="0" i="1" smtClean="0">
                        <a:latin typeface="Cambria Math"/>
                      </a:rPr>
                      <m:t>𝑡h</m:t>
                    </m:r>
                    <m:r>
                      <a:rPr lang="en-US" b="0" i="1" smtClean="0">
                        <a:latin typeface="Cambria Math"/>
                      </a:rPr>
                      <m:t>ì </m:t>
                    </m:r>
                    <m:r>
                      <a:rPr lang="en-US" b="0" i="1" smtClean="0">
                        <a:latin typeface="Cambria Math"/>
                      </a:rPr>
                      <m:t>𝑋</m:t>
                    </m:r>
                    <m:r>
                      <a:rPr lang="en-US" b="0" i="1" smtClean="0">
                        <a:latin typeface="Cambria Math"/>
                      </a:rPr>
                      <m:t> →</m:t>
                    </m:r>
                    <m:r>
                      <a:rPr lang="en-US" b="0" i="1" smtClean="0">
                        <a:latin typeface="Cambria Math"/>
                      </a:rPr>
                      <m:t>𝑌𝑍</m:t>
                    </m:r>
                  </m:oMath>
                </a14:m>
                <a:endParaRPr lang="en-US" smtClean="0"/>
              </a:p>
              <a:p>
                <a:pPr marL="0" indent="0">
                  <a:buNone/>
                </a:pPr>
                <a:r>
                  <a:rPr lang="en-US" smtClean="0"/>
                  <a:t>R5: phân rã: </a:t>
                </a:r>
                <a14:m>
                  <m:oMath xmlns:m="http://schemas.openxmlformats.org/officeDocument/2006/math">
                    <m:r>
                      <a:rPr lang="en-US" b="0" i="1" smtClean="0">
                        <a:latin typeface="Cambria Math"/>
                      </a:rPr>
                      <m:t>𝑁</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𝑋</m:t>
                    </m:r>
                    <m:r>
                      <a:rPr lang="en-US" b="0" i="1" smtClean="0">
                        <a:latin typeface="Cambria Math"/>
                      </a:rPr>
                      <m:t>→</m:t>
                    </m:r>
                    <m:r>
                      <a:rPr lang="en-US" b="0" i="1" smtClean="0">
                        <a:latin typeface="Cambria Math"/>
                      </a:rPr>
                      <m:t>𝑌𝑍</m:t>
                    </m:r>
                    <m:r>
                      <a:rPr lang="en-US" b="0" i="1" smtClean="0">
                        <a:latin typeface="Cambria Math"/>
                      </a:rPr>
                      <m:t> </m:t>
                    </m:r>
                    <m:r>
                      <a:rPr lang="en-US" b="0" i="1" smtClean="0">
                        <a:latin typeface="Cambria Math"/>
                      </a:rPr>
                      <m:t>𝑡h</m:t>
                    </m:r>
                    <m:r>
                      <a:rPr lang="en-US" b="0" i="1" smtClean="0">
                        <a:latin typeface="Cambria Math"/>
                      </a:rPr>
                      <m:t>ì </m:t>
                    </m:r>
                    <m:r>
                      <a:rPr lang="en-US" b="0" i="1" smtClean="0">
                        <a:latin typeface="Cambria Math"/>
                      </a:rPr>
                      <m:t>𝑋</m:t>
                    </m:r>
                    <m:r>
                      <a:rPr lang="en-US" b="0" i="1" smtClean="0">
                        <a:latin typeface="Cambria Math"/>
                      </a:rPr>
                      <m:t> →</m:t>
                    </m:r>
                    <m:r>
                      <a:rPr lang="en-US" b="0" i="1" smtClean="0">
                        <a:latin typeface="Cambria Math"/>
                      </a:rPr>
                      <m:t>𝑌</m:t>
                    </m:r>
                    <m:r>
                      <a:rPr lang="en-US" b="0" i="1" smtClean="0">
                        <a:latin typeface="Cambria Math"/>
                      </a:rPr>
                      <m:t> </m:t>
                    </m:r>
                    <m:r>
                      <a:rPr lang="en-US" b="0" i="1" smtClean="0">
                        <a:latin typeface="Cambria Math"/>
                      </a:rPr>
                      <m:t>𝑣</m:t>
                    </m:r>
                    <m:r>
                      <a:rPr lang="en-US" b="0" i="1" smtClean="0">
                        <a:latin typeface="Cambria Math"/>
                      </a:rPr>
                      <m:t>à </m:t>
                    </m:r>
                    <m:r>
                      <a:rPr lang="en-US" b="0" i="1" smtClean="0">
                        <a:latin typeface="Cambria Math"/>
                      </a:rPr>
                      <m:t>𝑋</m:t>
                    </m:r>
                    <m:r>
                      <a:rPr lang="en-US" b="0" i="1" smtClean="0">
                        <a:latin typeface="Cambria Math"/>
                      </a:rPr>
                      <m:t> →</m:t>
                    </m:r>
                    <m:r>
                      <a:rPr lang="en-US" b="0" i="1" smtClean="0">
                        <a:latin typeface="Cambria Math"/>
                      </a:rPr>
                      <m:t>𝑍</m:t>
                    </m:r>
                  </m:oMath>
                </a14:m>
                <a:endParaRPr lang="en-US" smtClean="0"/>
              </a:p>
              <a:p>
                <a:pPr marL="0" indent="0">
                  <a:buNone/>
                </a:pPr>
                <a:r>
                  <a:rPr lang="en-US" smtClean="0"/>
                  <a:t>R6: bắc cầu giả: </a:t>
                </a:r>
                <a14:m>
                  <m:oMath xmlns:m="http://schemas.openxmlformats.org/officeDocument/2006/math">
                    <m:r>
                      <a:rPr lang="en-US" b="0" i="1" smtClean="0">
                        <a:latin typeface="Cambria Math"/>
                      </a:rPr>
                      <m:t>𝑁</m:t>
                    </m:r>
                    <m:r>
                      <a:rPr lang="en-US" b="0" i="1" smtClean="0">
                        <a:latin typeface="Cambria Math"/>
                      </a:rPr>
                      <m:t>ế</m:t>
                    </m:r>
                    <m:r>
                      <a:rPr lang="en-US" b="0" i="1" smtClean="0">
                        <a:latin typeface="Cambria Math"/>
                      </a:rPr>
                      <m:t>𝑢</m:t>
                    </m:r>
                    <m:r>
                      <a:rPr lang="en-US" b="0" i="1" smtClean="0">
                        <a:latin typeface="Cambria Math"/>
                      </a:rPr>
                      <m:t> </m:t>
                    </m:r>
                    <m:r>
                      <a:rPr lang="en-US" b="0" i="1" smtClean="0">
                        <a:latin typeface="Cambria Math"/>
                      </a:rPr>
                      <m:t>𝑋</m:t>
                    </m:r>
                    <m:r>
                      <a:rPr lang="en-US" b="0" i="1" smtClean="0">
                        <a:latin typeface="Cambria Math"/>
                      </a:rPr>
                      <m:t>→</m:t>
                    </m:r>
                    <m:r>
                      <a:rPr lang="en-US" b="0" i="1" smtClean="0">
                        <a:latin typeface="Cambria Math"/>
                      </a:rPr>
                      <m:t>𝑌</m:t>
                    </m:r>
                    <m:r>
                      <a:rPr lang="en-US" b="0" i="1" smtClean="0">
                        <a:latin typeface="Cambria Math"/>
                      </a:rPr>
                      <m:t> </m:t>
                    </m:r>
                    <m:r>
                      <a:rPr lang="en-US" b="0" i="1" smtClean="0">
                        <a:latin typeface="Cambria Math"/>
                      </a:rPr>
                      <m:t>𝑣</m:t>
                    </m:r>
                    <m:r>
                      <a:rPr lang="en-US" b="0" i="1" smtClean="0">
                        <a:latin typeface="Cambria Math"/>
                      </a:rPr>
                      <m:t>à </m:t>
                    </m:r>
                    <m:r>
                      <a:rPr lang="en-US" b="0" i="1" smtClean="0">
                        <a:latin typeface="Cambria Math"/>
                      </a:rPr>
                      <m:t>𝑌𝑍</m:t>
                    </m:r>
                    <m:r>
                      <a:rPr lang="en-US" b="0" i="1" smtClean="0">
                        <a:latin typeface="Cambria Math"/>
                      </a:rPr>
                      <m:t>→</m:t>
                    </m:r>
                    <m:r>
                      <a:rPr lang="en-US" b="0" i="1" smtClean="0">
                        <a:latin typeface="Cambria Math"/>
                      </a:rPr>
                      <m:t>𝑊</m:t>
                    </m:r>
                    <m:r>
                      <a:rPr lang="en-US" b="0" i="1" smtClean="0">
                        <a:latin typeface="Cambria Math"/>
                      </a:rPr>
                      <m:t> </m:t>
                    </m:r>
                    <m:r>
                      <a:rPr lang="en-US" b="0" i="1" smtClean="0">
                        <a:latin typeface="Cambria Math"/>
                      </a:rPr>
                      <m:t>𝑡h</m:t>
                    </m:r>
                    <m:r>
                      <a:rPr lang="en-US" b="0" i="1" smtClean="0">
                        <a:latin typeface="Cambria Math"/>
                      </a:rPr>
                      <m:t>ì </m:t>
                    </m:r>
                    <m:r>
                      <a:rPr lang="en-US" b="0" i="1" smtClean="0">
                        <a:latin typeface="Cambria Math"/>
                      </a:rPr>
                      <m:t>𝑋𝑍</m:t>
                    </m:r>
                    <m:r>
                      <a:rPr lang="en-US" b="0" i="1" smtClean="0">
                        <a:latin typeface="Cambria Math"/>
                      </a:rPr>
                      <m:t>→</m:t>
                    </m:r>
                    <m:r>
                      <a:rPr lang="en-US" b="0" i="1" smtClean="0">
                        <a:latin typeface="Cambria Math"/>
                      </a:rPr>
                      <m:t>𝑊</m:t>
                    </m:r>
                  </m:oMath>
                </a14:m>
                <a:endParaRPr lang="en-US" b="0" smtClean="0"/>
              </a:p>
              <a:p>
                <a:pPr marL="0" indent="0">
                  <a:buNone/>
                </a:pPr>
                <a:endParaRPr lang="en-US" smtClean="0"/>
              </a:p>
              <a:p>
                <a:pPr marL="0" indent="0">
                  <a:buNone/>
                </a:pPr>
                <a:r>
                  <a:rPr lang="en-US" smtClean="0"/>
                  <a:t>Hệ tiên đề ArmStrong là bộ gồm 3 luật R1,R2,R3</a:t>
                </a:r>
              </a:p>
              <a:p>
                <a:pPr marL="0" indent="0">
                  <a:buNone/>
                </a:pPr>
                <a:r>
                  <a:rPr lang="en-US" smtClean="0"/>
                  <a:t>Với hệ tiên đề này thì mọi luật còn lại thì được suy diễn ra</a:t>
                </a:r>
              </a:p>
              <a:p>
                <a:pPr marL="0" indent="0">
                  <a:buNone/>
                </a:pPr>
                <a:r>
                  <a:rPr lang="en-US" smtClean="0"/>
                  <a:t>Trong bộ 3 luật đó, không tồn tại 2 luật nào suy luật còn lại</a:t>
                </a:r>
                <a:endParaRPr lang="en-US"/>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2"/>
                <a:stretch>
                  <a:fillRect l="-1404" t="-1176" r="-351" b="-2118"/>
                </a:stretch>
              </a:blipFill>
            </p:spPr>
            <p:txBody>
              <a:bodyPr/>
              <a:lstStyle/>
              <a:p>
                <a:r>
                  <a:rPr lang="en-US">
                    <a:noFill/>
                  </a:rPr>
                  <a:t> </a:t>
                </a:r>
              </a:p>
            </p:txBody>
          </p:sp>
        </mc:Fallback>
      </mc:AlternateContent>
    </p:spTree>
    <p:extLst>
      <p:ext uri="{BB962C8B-B14F-4D97-AF65-F5344CB8AC3E}">
        <p14:creationId xmlns:p14="http://schemas.microsoft.com/office/powerpoint/2010/main" val="2355503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(Luật dẫn - Hệ tiên đề Armstrong)</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a:bodyPr>
              <a:lstStyle/>
              <a:p>
                <a:pPr marL="0" indent="0">
                  <a:buNone/>
                </a:pPr>
                <a:r>
                  <a:rPr lang="en-US" sz="2400" smtClean="0"/>
                  <a:t>R4: hội: </a:t>
                </a:r>
                <a14:m>
                  <m:oMath xmlns:m="http://schemas.openxmlformats.org/officeDocument/2006/math">
                    <m:r>
                      <a:rPr lang="en-US" sz="2400" b="0" i="1" smtClean="0">
                        <a:latin typeface="Cambria Math"/>
                      </a:rPr>
                      <m:t>𝑁</m:t>
                    </m:r>
                    <m:r>
                      <a:rPr lang="en-US" sz="2400" b="0" i="1" smtClean="0">
                        <a:latin typeface="Cambria Math"/>
                      </a:rPr>
                      <m:t>ế</m:t>
                    </m:r>
                    <m:r>
                      <a:rPr lang="en-US" sz="2400" b="0" i="1" smtClean="0">
                        <a:latin typeface="Cambria Math"/>
                      </a:rPr>
                      <m:t>𝑢</m:t>
                    </m:r>
                    <m:r>
                      <a:rPr lang="en-US" sz="2400" b="0" i="1" smtClean="0">
                        <a:latin typeface="Cambria Math"/>
                      </a:rPr>
                      <m:t> </m:t>
                    </m:r>
                    <m:r>
                      <a:rPr lang="en-US" sz="2400" b="0" i="1" smtClean="0">
                        <a:latin typeface="Cambria Math"/>
                      </a:rPr>
                      <m:t>𝑋</m:t>
                    </m:r>
                    <m:r>
                      <a:rPr lang="en-US" sz="2400" b="0" i="1" smtClean="0">
                        <a:latin typeface="Cambria Math"/>
                      </a:rPr>
                      <m:t>→</m:t>
                    </m:r>
                    <m:r>
                      <a:rPr lang="en-US" sz="2400" b="0" i="1" smtClean="0">
                        <a:latin typeface="Cambria Math"/>
                      </a:rPr>
                      <m:t>𝑌</m:t>
                    </m:r>
                    <m:r>
                      <a:rPr lang="en-US" sz="2400" b="0" i="1" smtClean="0">
                        <a:latin typeface="Cambria Math"/>
                      </a:rPr>
                      <m:t> </m:t>
                    </m:r>
                    <m:r>
                      <a:rPr lang="en-US" sz="2400" b="0" i="1" smtClean="0">
                        <a:latin typeface="Cambria Math"/>
                      </a:rPr>
                      <m:t>𝑣</m:t>
                    </m:r>
                    <m:r>
                      <a:rPr lang="en-US" sz="2400" b="0" i="1" smtClean="0">
                        <a:latin typeface="Cambria Math"/>
                      </a:rPr>
                      <m:t>à </m:t>
                    </m:r>
                    <m:r>
                      <a:rPr lang="en-US" sz="2400" b="0" i="1" smtClean="0">
                        <a:latin typeface="Cambria Math"/>
                      </a:rPr>
                      <m:t>𝑋</m:t>
                    </m:r>
                    <m:r>
                      <a:rPr lang="en-US" sz="2400" b="0" i="1" smtClean="0">
                        <a:latin typeface="Cambria Math"/>
                      </a:rPr>
                      <m:t> →</m:t>
                    </m:r>
                    <m:r>
                      <a:rPr lang="en-US" sz="2400" b="0" i="1" smtClean="0">
                        <a:latin typeface="Cambria Math"/>
                      </a:rPr>
                      <m:t>𝑍</m:t>
                    </m:r>
                    <m:r>
                      <a:rPr lang="en-US" sz="2400" b="0" i="1" smtClean="0">
                        <a:latin typeface="Cambria Math"/>
                      </a:rPr>
                      <m:t> </m:t>
                    </m:r>
                    <m:r>
                      <a:rPr lang="en-US" sz="2400" b="0" i="1" smtClean="0">
                        <a:latin typeface="Cambria Math"/>
                      </a:rPr>
                      <m:t>𝑡h</m:t>
                    </m:r>
                    <m:r>
                      <a:rPr lang="en-US" sz="2400" b="0" i="1" smtClean="0">
                        <a:latin typeface="Cambria Math"/>
                      </a:rPr>
                      <m:t>ì </m:t>
                    </m:r>
                    <m:r>
                      <a:rPr lang="en-US" sz="2400" b="0" i="1" smtClean="0">
                        <a:latin typeface="Cambria Math"/>
                      </a:rPr>
                      <m:t>𝑋</m:t>
                    </m:r>
                    <m:r>
                      <a:rPr lang="en-US" sz="2400" b="0" i="1" smtClean="0">
                        <a:latin typeface="Cambria Math"/>
                      </a:rPr>
                      <m:t> →</m:t>
                    </m:r>
                    <m:r>
                      <a:rPr lang="en-US" sz="2400" b="0" i="1" smtClean="0">
                        <a:latin typeface="Cambria Math"/>
                      </a:rPr>
                      <m:t>𝑌𝑍</m:t>
                    </m:r>
                  </m:oMath>
                </a14:m>
                <a:endParaRPr lang="en-US" sz="2400" smtClean="0"/>
              </a:p>
              <a:p>
                <a:pPr marL="0" indent="0">
                  <a:buNone/>
                </a:pPr>
                <a:r>
                  <a:rPr lang="en-US" sz="2400" smtClean="0"/>
                  <a:t>CM: 	áp dụng (2) </a:t>
                </a:r>
                <a14:m>
                  <m:oMath xmlns:m="http://schemas.openxmlformats.org/officeDocument/2006/math">
                    <m:r>
                      <a:rPr lang="en-US" sz="2400" b="0" i="1" smtClean="0">
                        <a:latin typeface="Cambria Math"/>
                      </a:rPr>
                      <m:t>𝑋𝑋</m:t>
                    </m:r>
                    <m:r>
                      <a:rPr lang="en-US" sz="2400" b="0" i="1" smtClean="0">
                        <a:latin typeface="Cambria Math"/>
                      </a:rPr>
                      <m:t>→</m:t>
                    </m:r>
                    <m:r>
                      <a:rPr lang="en-US" sz="2400" b="0" i="1" smtClean="0">
                        <a:latin typeface="Cambria Math"/>
                      </a:rPr>
                      <m:t>𝑌𝑋</m:t>
                    </m:r>
                  </m:oMath>
                </a14:m>
                <a:r>
                  <a:rPr lang="en-US" sz="2400" smtClean="0"/>
                  <a:t> và </a:t>
                </a:r>
                <a14:m>
                  <m:oMath xmlns:m="http://schemas.openxmlformats.org/officeDocument/2006/math">
                    <m:r>
                      <a:rPr lang="en-US" sz="2400" b="0" i="1" smtClean="0">
                        <a:latin typeface="Cambria Math"/>
                      </a:rPr>
                      <m:t>𝑋𝑌</m:t>
                    </m:r>
                    <m:r>
                      <a:rPr lang="en-US" sz="2400" b="0" i="1" smtClean="0">
                        <a:latin typeface="Cambria Math"/>
                      </a:rPr>
                      <m:t>→</m:t>
                    </m:r>
                    <m:r>
                      <a:rPr lang="en-US" sz="2400" b="0" i="1" smtClean="0">
                        <a:latin typeface="Cambria Math"/>
                      </a:rPr>
                      <m:t>𝑍𝑌</m:t>
                    </m:r>
                  </m:oMath>
                </a14:m>
                <a:endParaRPr lang="en-US" sz="2400" smtClean="0"/>
              </a:p>
              <a:p>
                <a:pPr marL="0" indent="0">
                  <a:buNone/>
                </a:pPr>
                <a:r>
                  <a:rPr lang="en-US" sz="2400"/>
                  <a:t>	</a:t>
                </a:r>
                <a:r>
                  <a:rPr lang="en-US" sz="2400" smtClean="0"/>
                  <a:t>áp dụng (3) </a:t>
                </a:r>
                <a14:m>
                  <m:oMath xmlns:m="http://schemas.openxmlformats.org/officeDocument/2006/math">
                    <m:r>
                      <a:rPr lang="en-US" sz="2400" b="0" i="1" smtClean="0">
                        <a:latin typeface="Cambria Math"/>
                      </a:rPr>
                      <m:t>𝑋𝑋</m:t>
                    </m:r>
                    <m:r>
                      <a:rPr lang="en-US" sz="2400" b="0" i="1" smtClean="0">
                        <a:latin typeface="Cambria Math"/>
                      </a:rPr>
                      <m:t>→</m:t>
                    </m:r>
                    <m:r>
                      <a:rPr lang="en-US" sz="2400" b="0" i="1" smtClean="0">
                        <a:latin typeface="Cambria Math"/>
                      </a:rPr>
                      <m:t>𝑍𝑌</m:t>
                    </m:r>
                  </m:oMath>
                </a14:m>
                <a:r>
                  <a:rPr lang="en-US" sz="2400" smtClean="0"/>
                  <a:t> ta ghi lại </a:t>
                </a:r>
                <a14:m>
                  <m:oMath xmlns:m="http://schemas.openxmlformats.org/officeDocument/2006/math">
                    <m:r>
                      <a:rPr lang="en-US" sz="2400" i="1" smtClean="0">
                        <a:latin typeface="Cambria Math"/>
                      </a:rPr>
                      <m:t>𝑋𝑋</m:t>
                    </m:r>
                  </m:oMath>
                </a14:m>
                <a:r>
                  <a:rPr lang="en-US" sz="2400" smtClean="0"/>
                  <a:t> là </a:t>
                </a:r>
                <a14:m>
                  <m:oMath xmlns:m="http://schemas.openxmlformats.org/officeDocument/2006/math">
                    <m:r>
                      <a:rPr lang="en-US" sz="2400" b="1" i="1" smtClean="0">
                        <a:latin typeface="Cambria Math"/>
                      </a:rPr>
                      <m:t>𝑿</m:t>
                    </m:r>
                    <m:r>
                      <a:rPr lang="en-US" sz="2400" b="1" i="1" smtClean="0">
                        <a:latin typeface="Cambria Math"/>
                      </a:rPr>
                      <m:t>→</m:t>
                    </m:r>
                    <m:r>
                      <a:rPr lang="en-US" sz="2400" b="1" i="1" smtClean="0">
                        <a:latin typeface="Cambria Math"/>
                      </a:rPr>
                      <m:t>𝒁𝒀</m:t>
                    </m:r>
                  </m:oMath>
                </a14:m>
                <a:endParaRPr lang="en-US" sz="2400" b="1" smtClean="0"/>
              </a:p>
              <a:p>
                <a:pPr marL="0" indent="0">
                  <a:buNone/>
                </a:pPr>
                <a:endParaRPr lang="en-US" sz="2400" smtClean="0"/>
              </a:p>
              <a:p>
                <a:pPr marL="0" indent="0">
                  <a:buNone/>
                </a:pPr>
                <a:r>
                  <a:rPr lang="en-US" sz="2400" smtClean="0"/>
                  <a:t>R5: phân rã: </a:t>
                </a:r>
                <a14:m>
                  <m:oMath xmlns:m="http://schemas.openxmlformats.org/officeDocument/2006/math">
                    <m:r>
                      <a:rPr lang="en-US" sz="2400" b="0" i="1" smtClean="0">
                        <a:latin typeface="Cambria Math"/>
                      </a:rPr>
                      <m:t>𝑁</m:t>
                    </m:r>
                    <m:r>
                      <a:rPr lang="en-US" sz="2400" b="0" i="1" smtClean="0">
                        <a:latin typeface="Cambria Math"/>
                      </a:rPr>
                      <m:t>ế</m:t>
                    </m:r>
                    <m:r>
                      <a:rPr lang="en-US" sz="2400" b="0" i="1" smtClean="0">
                        <a:latin typeface="Cambria Math"/>
                      </a:rPr>
                      <m:t>𝑢</m:t>
                    </m:r>
                    <m:r>
                      <a:rPr lang="en-US" sz="2400" b="0" i="1" smtClean="0">
                        <a:latin typeface="Cambria Math"/>
                      </a:rPr>
                      <m:t> </m:t>
                    </m:r>
                    <m:r>
                      <a:rPr lang="en-US" sz="2400" b="0" i="1" smtClean="0">
                        <a:latin typeface="Cambria Math"/>
                      </a:rPr>
                      <m:t>𝑋</m:t>
                    </m:r>
                    <m:r>
                      <a:rPr lang="en-US" sz="2400" b="0" i="1" smtClean="0">
                        <a:latin typeface="Cambria Math"/>
                      </a:rPr>
                      <m:t>→</m:t>
                    </m:r>
                    <m:r>
                      <a:rPr lang="en-US" sz="2400" b="0" i="1" smtClean="0">
                        <a:latin typeface="Cambria Math"/>
                      </a:rPr>
                      <m:t>𝑌𝑍</m:t>
                    </m:r>
                    <m:r>
                      <a:rPr lang="en-US" sz="2400" b="0" i="1" smtClean="0">
                        <a:latin typeface="Cambria Math"/>
                      </a:rPr>
                      <m:t> </m:t>
                    </m:r>
                    <m:r>
                      <a:rPr lang="en-US" sz="2400" b="0" i="1" smtClean="0">
                        <a:latin typeface="Cambria Math"/>
                      </a:rPr>
                      <m:t>𝑡h</m:t>
                    </m:r>
                    <m:r>
                      <a:rPr lang="en-US" sz="2400" b="0" i="1" smtClean="0">
                        <a:latin typeface="Cambria Math"/>
                      </a:rPr>
                      <m:t>ì </m:t>
                    </m:r>
                    <m:r>
                      <a:rPr lang="en-US" sz="2400" b="0" i="1" smtClean="0">
                        <a:latin typeface="Cambria Math"/>
                      </a:rPr>
                      <m:t>𝑋</m:t>
                    </m:r>
                    <m:r>
                      <a:rPr lang="en-US" sz="2400" b="0" i="1" smtClean="0">
                        <a:latin typeface="Cambria Math"/>
                      </a:rPr>
                      <m:t> →</m:t>
                    </m:r>
                    <m:r>
                      <a:rPr lang="en-US" sz="2400" b="0" i="1" smtClean="0">
                        <a:latin typeface="Cambria Math"/>
                      </a:rPr>
                      <m:t>𝑌</m:t>
                    </m:r>
                    <m:r>
                      <a:rPr lang="en-US" sz="2400" b="0" i="1" smtClean="0">
                        <a:latin typeface="Cambria Math"/>
                      </a:rPr>
                      <m:t> </m:t>
                    </m:r>
                    <m:r>
                      <a:rPr lang="en-US" sz="2400" b="0" i="1" smtClean="0">
                        <a:latin typeface="Cambria Math"/>
                      </a:rPr>
                      <m:t>𝑣</m:t>
                    </m:r>
                    <m:r>
                      <a:rPr lang="en-US" sz="2400" b="0" i="1" smtClean="0">
                        <a:latin typeface="Cambria Math"/>
                      </a:rPr>
                      <m:t>à </m:t>
                    </m:r>
                    <m:r>
                      <a:rPr lang="en-US" sz="2400" b="0" i="1" smtClean="0">
                        <a:latin typeface="Cambria Math"/>
                      </a:rPr>
                      <m:t>𝑋</m:t>
                    </m:r>
                    <m:r>
                      <a:rPr lang="en-US" sz="2400" b="0" i="1" smtClean="0">
                        <a:latin typeface="Cambria Math"/>
                      </a:rPr>
                      <m:t> →</m:t>
                    </m:r>
                    <m:r>
                      <a:rPr lang="en-US" sz="2400" b="0" i="1" smtClean="0">
                        <a:latin typeface="Cambria Math"/>
                      </a:rPr>
                      <m:t>𝑍</m:t>
                    </m:r>
                  </m:oMath>
                </a14:m>
                <a:endParaRPr lang="en-US" sz="2400" smtClean="0"/>
              </a:p>
              <a:p>
                <a:pPr marL="0" indent="0">
                  <a:buNone/>
                </a:pPr>
                <a:r>
                  <a:rPr lang="en-US" sz="2400" smtClean="0"/>
                  <a:t>CM:	áp dụng (1) </a:t>
                </a:r>
                <a14:m>
                  <m:oMath xmlns:m="http://schemas.openxmlformats.org/officeDocument/2006/math">
                    <m:r>
                      <a:rPr lang="en-US" sz="2400" b="0" i="1" smtClean="0">
                        <a:latin typeface="Cambria Math"/>
                      </a:rPr>
                      <m:t>𝑌𝑍</m:t>
                    </m:r>
                    <m:r>
                      <a:rPr lang="en-US" sz="2400" b="0" i="1" smtClean="0">
                        <a:latin typeface="Cambria Math"/>
                      </a:rPr>
                      <m:t>→</m:t>
                    </m:r>
                    <m:r>
                      <a:rPr lang="en-US" sz="2400" b="0" i="1" smtClean="0">
                        <a:latin typeface="Cambria Math"/>
                      </a:rPr>
                      <m:t>𝑌</m:t>
                    </m:r>
                  </m:oMath>
                </a14:m>
                <a:r>
                  <a:rPr lang="en-US" sz="2400" smtClean="0"/>
                  <a:t> 		áp dụng (3) </a:t>
                </a:r>
                <a14:m>
                  <m:oMath xmlns:m="http://schemas.openxmlformats.org/officeDocument/2006/math">
                    <m:r>
                      <a:rPr lang="en-US" sz="2400" b="1" i="1" smtClean="0">
                        <a:latin typeface="Cambria Math"/>
                      </a:rPr>
                      <m:t>𝑿</m:t>
                    </m:r>
                    <m:r>
                      <a:rPr lang="en-US" sz="2400" b="1" i="1" smtClean="0">
                        <a:latin typeface="Cambria Math"/>
                      </a:rPr>
                      <m:t>→</m:t>
                    </m:r>
                    <m:r>
                      <a:rPr lang="en-US" sz="2400" b="1" i="1" smtClean="0">
                        <a:latin typeface="Cambria Math"/>
                      </a:rPr>
                      <m:t>𝒀</m:t>
                    </m:r>
                  </m:oMath>
                </a14:m>
                <a:endParaRPr lang="en-US" sz="2400" b="1" smtClean="0"/>
              </a:p>
              <a:p>
                <a:pPr marL="0" indent="0">
                  <a:buNone/>
                </a:pPr>
                <a:r>
                  <a:rPr lang="en-US" sz="2400" smtClean="0"/>
                  <a:t>	áp dụng (1</a:t>
                </a:r>
                <a:r>
                  <a:rPr lang="en-US" sz="2400"/>
                  <a:t>) </a:t>
                </a:r>
                <a14:m>
                  <m:oMath xmlns:m="http://schemas.openxmlformats.org/officeDocument/2006/math">
                    <m:r>
                      <a:rPr lang="en-US" sz="2400" i="1">
                        <a:latin typeface="Cambria Math"/>
                      </a:rPr>
                      <m:t>𝑌𝑍</m:t>
                    </m:r>
                    <m:r>
                      <a:rPr lang="en-US" sz="2400" i="1">
                        <a:latin typeface="Cambria Math"/>
                      </a:rPr>
                      <m:t>→</m:t>
                    </m:r>
                    <m:r>
                      <a:rPr lang="en-US" sz="2400" b="0" i="1" smtClean="0">
                        <a:latin typeface="Cambria Math"/>
                      </a:rPr>
                      <m:t>𝑍</m:t>
                    </m:r>
                  </m:oMath>
                </a14:m>
                <a:r>
                  <a:rPr lang="en-US" sz="2400"/>
                  <a:t> 		</a:t>
                </a:r>
                <a:r>
                  <a:rPr lang="en-US" sz="2400" smtClean="0"/>
                  <a:t>áp dụng (3</a:t>
                </a:r>
                <a:r>
                  <a:rPr lang="en-US" sz="2400"/>
                  <a:t>) </a:t>
                </a:r>
                <a14:m>
                  <m:oMath xmlns:m="http://schemas.openxmlformats.org/officeDocument/2006/math">
                    <m:r>
                      <a:rPr lang="en-US" sz="2400" b="1" i="1">
                        <a:latin typeface="Cambria Math"/>
                      </a:rPr>
                      <m:t>𝑿</m:t>
                    </m:r>
                    <m:r>
                      <a:rPr lang="en-US" sz="2400" b="1" i="1">
                        <a:latin typeface="Cambria Math"/>
                      </a:rPr>
                      <m:t>→</m:t>
                    </m:r>
                    <m:r>
                      <a:rPr lang="en-US" sz="2400" b="1" i="1" smtClean="0">
                        <a:latin typeface="Cambria Math"/>
                      </a:rPr>
                      <m:t>𝒁</m:t>
                    </m:r>
                  </m:oMath>
                </a14:m>
                <a:r>
                  <a:rPr lang="en-US" sz="2400" smtClean="0"/>
                  <a:t>		</a:t>
                </a:r>
              </a:p>
              <a:p>
                <a:pPr marL="0" indent="0">
                  <a:buNone/>
                </a:pPr>
                <a:endParaRPr lang="en-US" sz="2400" smtClean="0"/>
              </a:p>
              <a:p>
                <a:pPr marL="0" indent="0">
                  <a:buNone/>
                </a:pPr>
                <a:r>
                  <a:rPr lang="en-US" sz="2400" smtClean="0"/>
                  <a:t>R6: bắc cầu giả: </a:t>
                </a:r>
                <a14:m>
                  <m:oMath xmlns:m="http://schemas.openxmlformats.org/officeDocument/2006/math">
                    <m:r>
                      <a:rPr lang="en-US" sz="2400" b="0" i="1" smtClean="0">
                        <a:latin typeface="Cambria Math"/>
                      </a:rPr>
                      <m:t>𝑁</m:t>
                    </m:r>
                    <m:r>
                      <a:rPr lang="en-US" sz="2400" b="0" i="1" smtClean="0">
                        <a:latin typeface="Cambria Math"/>
                      </a:rPr>
                      <m:t>ế</m:t>
                    </m:r>
                    <m:r>
                      <a:rPr lang="en-US" sz="2400" b="0" i="1" smtClean="0">
                        <a:latin typeface="Cambria Math"/>
                      </a:rPr>
                      <m:t>𝑢</m:t>
                    </m:r>
                    <m:r>
                      <a:rPr lang="en-US" sz="2400" b="0" i="1" smtClean="0">
                        <a:latin typeface="Cambria Math"/>
                      </a:rPr>
                      <m:t> </m:t>
                    </m:r>
                    <m:r>
                      <a:rPr lang="en-US" sz="2400" b="0" i="1" smtClean="0">
                        <a:latin typeface="Cambria Math"/>
                      </a:rPr>
                      <m:t>𝑋</m:t>
                    </m:r>
                    <m:r>
                      <a:rPr lang="en-US" sz="2400" b="0" i="1" smtClean="0">
                        <a:latin typeface="Cambria Math"/>
                      </a:rPr>
                      <m:t>→</m:t>
                    </m:r>
                    <m:r>
                      <a:rPr lang="en-US" sz="2400" b="0" i="1" smtClean="0">
                        <a:latin typeface="Cambria Math"/>
                      </a:rPr>
                      <m:t>𝑌</m:t>
                    </m:r>
                    <m:r>
                      <a:rPr lang="en-US" sz="2400" b="0" i="1" smtClean="0">
                        <a:latin typeface="Cambria Math"/>
                      </a:rPr>
                      <m:t> </m:t>
                    </m:r>
                    <m:r>
                      <a:rPr lang="en-US" sz="2400" b="0" i="1" smtClean="0">
                        <a:latin typeface="Cambria Math"/>
                      </a:rPr>
                      <m:t>𝑣</m:t>
                    </m:r>
                    <m:r>
                      <a:rPr lang="en-US" sz="2400" b="0" i="1" smtClean="0">
                        <a:latin typeface="Cambria Math"/>
                      </a:rPr>
                      <m:t>à </m:t>
                    </m:r>
                    <m:r>
                      <a:rPr lang="en-US" sz="2400" b="0" i="1" smtClean="0">
                        <a:latin typeface="Cambria Math"/>
                      </a:rPr>
                      <m:t>𝑌𝑍</m:t>
                    </m:r>
                    <m:r>
                      <a:rPr lang="en-US" sz="2400" b="0" i="1" smtClean="0">
                        <a:latin typeface="Cambria Math"/>
                      </a:rPr>
                      <m:t>→</m:t>
                    </m:r>
                    <m:r>
                      <a:rPr lang="en-US" sz="2400" b="0" i="1" smtClean="0">
                        <a:latin typeface="Cambria Math"/>
                      </a:rPr>
                      <m:t>𝑊</m:t>
                    </m:r>
                    <m:r>
                      <a:rPr lang="en-US" sz="2400" b="0" i="1" smtClean="0">
                        <a:latin typeface="Cambria Math"/>
                      </a:rPr>
                      <m:t> </m:t>
                    </m:r>
                    <m:r>
                      <a:rPr lang="en-US" sz="2400" b="0" i="1" smtClean="0">
                        <a:latin typeface="Cambria Math"/>
                      </a:rPr>
                      <m:t>𝑡h</m:t>
                    </m:r>
                    <m:r>
                      <a:rPr lang="en-US" sz="2400" b="0" i="1" smtClean="0">
                        <a:latin typeface="Cambria Math"/>
                      </a:rPr>
                      <m:t>ì </m:t>
                    </m:r>
                    <m:r>
                      <a:rPr lang="en-US" sz="2400" b="0" i="1" smtClean="0">
                        <a:latin typeface="Cambria Math"/>
                      </a:rPr>
                      <m:t>𝑋𝑍</m:t>
                    </m:r>
                    <m:r>
                      <a:rPr lang="en-US" sz="2400" b="0" i="1" smtClean="0">
                        <a:latin typeface="Cambria Math"/>
                      </a:rPr>
                      <m:t>→</m:t>
                    </m:r>
                    <m:r>
                      <a:rPr lang="en-US" sz="2400" b="0" i="1" smtClean="0">
                        <a:latin typeface="Cambria Math"/>
                      </a:rPr>
                      <m:t>𝑊</m:t>
                    </m:r>
                  </m:oMath>
                </a14:m>
                <a:endParaRPr lang="en-US" sz="2400" b="0" smtClean="0"/>
              </a:p>
              <a:p>
                <a:pPr marL="0" indent="0">
                  <a:buNone/>
                </a:pPr>
                <a:r>
                  <a:rPr lang="en-US" sz="2400" smtClean="0"/>
                  <a:t>CM:</a:t>
                </a:r>
                <a:r>
                  <a:rPr lang="en-US" sz="2400"/>
                  <a:t>	</a:t>
                </a:r>
                <a:r>
                  <a:rPr lang="en-US" sz="2400" smtClean="0"/>
                  <a:t>áp dụng (2) </a:t>
                </a:r>
                <a14:m>
                  <m:oMath xmlns:m="http://schemas.openxmlformats.org/officeDocument/2006/math">
                    <m:r>
                      <a:rPr lang="en-US" sz="2400" b="0" i="1" smtClean="0">
                        <a:latin typeface="Cambria Math"/>
                      </a:rPr>
                      <m:t>𝑋𝑍</m:t>
                    </m:r>
                    <m:r>
                      <a:rPr lang="en-US" sz="2400" b="0" i="1" smtClean="0">
                        <a:latin typeface="Cambria Math"/>
                      </a:rPr>
                      <m:t>→</m:t>
                    </m:r>
                    <m:r>
                      <a:rPr lang="en-US" sz="2400" b="0" i="1" smtClean="0">
                        <a:latin typeface="Cambria Math"/>
                      </a:rPr>
                      <m:t>𝑌𝑍</m:t>
                    </m:r>
                  </m:oMath>
                </a14:m>
                <a:endParaRPr lang="en-US" sz="2400" b="0" smtClean="0"/>
              </a:p>
              <a:p>
                <a:pPr marL="0" indent="0">
                  <a:buNone/>
                </a:pPr>
                <a:r>
                  <a:rPr lang="en-US" sz="2400"/>
                  <a:t>	</a:t>
                </a:r>
                <a:r>
                  <a:rPr lang="en-US" sz="2400" smtClean="0"/>
                  <a:t>áp dụng (3) </a:t>
                </a:r>
                <a14:m>
                  <m:oMath xmlns:m="http://schemas.openxmlformats.org/officeDocument/2006/math">
                    <m:r>
                      <a:rPr lang="en-US" sz="2400" b="1" i="1" smtClean="0">
                        <a:latin typeface="Cambria Math"/>
                      </a:rPr>
                      <m:t>𝑿𝒁</m:t>
                    </m:r>
                    <m:r>
                      <a:rPr lang="en-US" sz="2400" b="1" i="1" smtClean="0">
                        <a:latin typeface="Cambria Math"/>
                      </a:rPr>
                      <m:t>→</m:t>
                    </m:r>
                    <m:r>
                      <a:rPr lang="en-US" sz="2400" b="1" i="1" smtClean="0">
                        <a:latin typeface="Cambria Math"/>
                      </a:rPr>
                      <m:t>𝑾</m:t>
                    </m:r>
                  </m:oMath>
                </a14:m>
                <a:endParaRPr lang="en-US" sz="2400" b="1" smtClean="0"/>
              </a:p>
              <a:p>
                <a:pPr marL="0" indent="0">
                  <a:buNone/>
                </a:pPr>
                <a:endParaRPr lang="en-US" sz="24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2"/>
                <a:stretch>
                  <a:fillRect l="-1053" t="-941"/>
                </a:stretch>
              </a:blipFill>
            </p:spPr>
            <p:txBody>
              <a:bodyPr/>
              <a:lstStyle/>
              <a:p>
                <a:r>
                  <a:rPr lang="en-US">
                    <a:noFill/>
                  </a:rPr>
                  <a:t> </a:t>
                </a:r>
              </a:p>
            </p:txBody>
          </p:sp>
        </mc:Fallback>
      </mc:AlternateContent>
    </p:spTree>
    <p:extLst>
      <p:ext uri="{BB962C8B-B14F-4D97-AF65-F5344CB8AC3E}">
        <p14:creationId xmlns:p14="http://schemas.microsoft.com/office/powerpoint/2010/main" val="451876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(Bao đóng)</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181600"/>
              </a:xfrm>
            </p:spPr>
            <p:txBody>
              <a:bodyPr>
                <a:normAutofit lnSpcReduction="10000"/>
              </a:bodyPr>
              <a:lstStyle/>
              <a:p>
                <a:pPr marL="0" indent="0">
                  <a:buNone/>
                </a:pPr>
                <a:r>
                  <a:rPr lang="en-US" sz="2200" smtClean="0"/>
                  <a:t>Với tập phụ thuộc hàm </a:t>
                </a:r>
                <a14:m>
                  <m:oMath xmlns:m="http://schemas.openxmlformats.org/officeDocument/2006/math">
                    <m:r>
                      <a:rPr lang="en-US" sz="2200" i="1" smtClean="0">
                        <a:latin typeface="Cambria Math"/>
                      </a:rPr>
                      <m:t>𝐹</m:t>
                    </m:r>
                  </m:oMath>
                </a14:m>
                <a:r>
                  <a:rPr lang="en-US" sz="2200" smtClean="0"/>
                  <a:t> và mọi </a:t>
                </a:r>
                <a14:m>
                  <m:oMath xmlns:m="http://schemas.openxmlformats.org/officeDocument/2006/math">
                    <m:r>
                      <a:rPr lang="en-US" sz="2200" b="0" i="1" smtClean="0">
                        <a:latin typeface="Cambria Math"/>
                      </a:rPr>
                      <m:t>𝑟</m:t>
                    </m:r>
                    <m:r>
                      <a:rPr lang="en-US" sz="2200" b="0" i="1" smtClean="0">
                        <a:latin typeface="Cambria Math"/>
                      </a:rPr>
                      <m:t>(</m:t>
                    </m:r>
                    <m:r>
                      <a:rPr lang="en-US" sz="2200" b="0" i="1" smtClean="0">
                        <a:latin typeface="Cambria Math"/>
                      </a:rPr>
                      <m:t>𝑅</m:t>
                    </m:r>
                    <m:r>
                      <a:rPr lang="en-US" sz="2200" b="0" i="1" smtClean="0">
                        <a:latin typeface="Cambria Math"/>
                      </a:rPr>
                      <m:t>)</m:t>
                    </m:r>
                  </m:oMath>
                </a14:m>
                <a:r>
                  <a:rPr lang="en-US" sz="2200" smtClean="0"/>
                  <a:t> thỏa phục thuộc hàm </a:t>
                </a:r>
                <a14:m>
                  <m:oMath xmlns:m="http://schemas.openxmlformats.org/officeDocument/2006/math">
                    <m:r>
                      <a:rPr lang="en-US" sz="2200" i="1" smtClean="0">
                        <a:latin typeface="Cambria Math"/>
                      </a:rPr>
                      <m:t>𝑓</m:t>
                    </m:r>
                    <m:r>
                      <a:rPr lang="en-US" sz="2200" b="0" i="1" smtClean="0">
                        <a:latin typeface="Cambria Math"/>
                      </a:rPr>
                      <m:t>∈</m:t>
                    </m:r>
                    <m:r>
                      <a:rPr lang="en-US" sz="2200" b="0" i="1" smtClean="0">
                        <a:latin typeface="Cambria Math"/>
                      </a:rPr>
                      <m:t>𝐹</m:t>
                    </m:r>
                  </m:oMath>
                </a14:m>
                <a:r>
                  <a:rPr lang="en-US" sz="2200" smtClean="0"/>
                  <a:t>, ta có thể xác định được những phụ thuộc hàm khác </a:t>
                </a:r>
                <a14:m>
                  <m:oMath xmlns:m="http://schemas.openxmlformats.org/officeDocument/2006/math">
                    <m:r>
                      <a:rPr lang="en-US" sz="2200" i="1" smtClean="0">
                        <a:latin typeface="Cambria Math"/>
                      </a:rPr>
                      <m:t>𝑓</m:t>
                    </m:r>
                    <m:r>
                      <a:rPr lang="en-US" sz="2200" i="1" smtClean="0">
                        <a:latin typeface="Cambria Math"/>
                      </a:rPr>
                      <m:t>’ </m:t>
                    </m:r>
                  </m:oMath>
                </a14:m>
                <a:r>
                  <a:rPr lang="en-US" sz="2200" smtClean="0"/>
                  <a:t>(đó là hệ quả, là suy diễn từ </a:t>
                </a:r>
                <a14:m>
                  <m:oMath xmlns:m="http://schemas.openxmlformats.org/officeDocument/2006/math">
                    <m:r>
                      <a:rPr lang="en-US" sz="2200" i="1" smtClean="0">
                        <a:latin typeface="Cambria Math"/>
                      </a:rPr>
                      <m:t>𝐹</m:t>
                    </m:r>
                  </m:oMath>
                </a14:m>
                <a:r>
                  <a:rPr lang="en-US" sz="2200" smtClean="0"/>
                  <a:t>). Tập tất cả các phụ thuộc hàm hệ quả từ </a:t>
                </a:r>
                <a14:m>
                  <m:oMath xmlns:m="http://schemas.openxmlformats.org/officeDocument/2006/math">
                    <m:r>
                      <a:rPr lang="en-US" sz="2200" i="1" smtClean="0">
                        <a:latin typeface="Cambria Math"/>
                      </a:rPr>
                      <m:t>𝐹</m:t>
                    </m:r>
                  </m:oMath>
                </a14:m>
                <a:r>
                  <a:rPr lang="en-US" sz="2200" smtClean="0"/>
                  <a:t> và tập phụ thuộc hàm </a:t>
                </a:r>
                <a14:m>
                  <m:oMath xmlns:m="http://schemas.openxmlformats.org/officeDocument/2006/math">
                    <m:r>
                      <a:rPr lang="en-US" sz="2200" i="1" smtClean="0">
                        <a:latin typeface="Cambria Math"/>
                      </a:rPr>
                      <m:t>𝐹</m:t>
                    </m:r>
                  </m:oMath>
                </a14:m>
                <a:r>
                  <a:rPr lang="en-US" sz="2200" smtClean="0"/>
                  <a:t> được gọi là bao đóng của </a:t>
                </a:r>
                <a14:m>
                  <m:oMath xmlns:m="http://schemas.openxmlformats.org/officeDocument/2006/math">
                    <m:r>
                      <a:rPr lang="en-US" sz="2200" i="1" smtClean="0">
                        <a:latin typeface="Cambria Math"/>
                      </a:rPr>
                      <m:t>𝐹</m:t>
                    </m:r>
                  </m:oMath>
                </a14:m>
                <a:r>
                  <a:rPr lang="en-US" sz="2200" smtClean="0"/>
                  <a:t>, ký hiệu là </a:t>
                </a:r>
                <a14:m>
                  <m:oMath xmlns:m="http://schemas.openxmlformats.org/officeDocument/2006/math">
                    <m:sSup>
                      <m:sSupPr>
                        <m:ctrlPr>
                          <a:rPr lang="en-US" sz="2200" b="0" i="1" smtClean="0">
                            <a:latin typeface="Cambria Math" panose="02040503050406030204" pitchFamily="18" charset="0"/>
                          </a:rPr>
                        </m:ctrlPr>
                      </m:sSupPr>
                      <m:e>
                        <m:r>
                          <a:rPr lang="en-US" sz="2200" i="1" smtClean="0">
                            <a:latin typeface="Cambria Math"/>
                          </a:rPr>
                          <m:t>𝐹</m:t>
                        </m:r>
                      </m:e>
                      <m:sup>
                        <m:r>
                          <a:rPr lang="en-US" sz="2200" b="0" i="1" smtClean="0">
                            <a:latin typeface="Cambria Math"/>
                          </a:rPr>
                          <m:t>+</m:t>
                        </m:r>
                      </m:sup>
                    </m:sSup>
                  </m:oMath>
                </a14:m>
                <a:r>
                  <a:rPr lang="en-US" sz="2200" smtClean="0"/>
                  <a:t>.</a:t>
                </a:r>
              </a:p>
              <a:p>
                <a:pPr marL="0" indent="0">
                  <a:buNone/>
                </a:pPr>
                <a:r>
                  <a:rPr lang="en-US" sz="2400" smtClean="0"/>
                  <a:t>Cho lược đồ quan hệ </a:t>
                </a:r>
                <a14:m>
                  <m:oMath xmlns:m="http://schemas.openxmlformats.org/officeDocument/2006/math">
                    <m:r>
                      <a:rPr lang="en-US" sz="2400" i="1" smtClean="0">
                        <a:latin typeface="Cambria Math"/>
                      </a:rPr>
                      <m:t>(</m:t>
                    </m:r>
                    <m:r>
                      <a:rPr lang="en-US" sz="2400" i="1" smtClean="0">
                        <a:latin typeface="Cambria Math"/>
                      </a:rPr>
                      <m:t>𝑅</m:t>
                    </m:r>
                    <m:r>
                      <a:rPr lang="en-US" sz="2400" i="1" smtClean="0">
                        <a:latin typeface="Cambria Math"/>
                      </a:rPr>
                      <m:t>, </m:t>
                    </m:r>
                    <m:r>
                      <a:rPr lang="en-US" sz="2400" i="1" smtClean="0">
                        <a:latin typeface="Cambria Math"/>
                      </a:rPr>
                      <m:t>𝐹</m:t>
                    </m:r>
                    <m:r>
                      <a:rPr lang="en-US" sz="2400" i="1" smtClean="0">
                        <a:latin typeface="Cambria Math"/>
                      </a:rPr>
                      <m:t>)</m:t>
                    </m:r>
                  </m:oMath>
                </a14:m>
                <a:r>
                  <a:rPr lang="en-US" sz="2400" smtClean="0"/>
                  <a:t> và </a:t>
                </a:r>
                <a14:m>
                  <m:oMath xmlns:m="http://schemas.openxmlformats.org/officeDocument/2006/math">
                    <m:r>
                      <a:rPr lang="en-US" sz="2400" i="1" smtClean="0">
                        <a:latin typeface="Cambria Math"/>
                      </a:rPr>
                      <m:t>𝑋</m:t>
                    </m:r>
                    <m:r>
                      <a:rPr lang="en-US" sz="2400" b="0" i="1" smtClean="0">
                        <a:latin typeface="Cambria Math"/>
                      </a:rPr>
                      <m:t>⊂</m:t>
                    </m:r>
                    <m:r>
                      <a:rPr lang="en-US" sz="2400" b="0" i="1" smtClean="0">
                        <a:latin typeface="Cambria Math"/>
                      </a:rPr>
                      <m:t>𝑅</m:t>
                    </m:r>
                  </m:oMath>
                </a14:m>
                <a:r>
                  <a:rPr lang="en-US" sz="2400" smtClean="0"/>
                  <a:t>, ta gọi bao đóng của </a:t>
                </a:r>
                <a14:m>
                  <m:oMath xmlns:m="http://schemas.openxmlformats.org/officeDocument/2006/math">
                    <m:r>
                      <a:rPr lang="en-US" sz="2400" i="1" smtClean="0">
                        <a:latin typeface="Cambria Math"/>
                      </a:rPr>
                      <m:t>𝑋</m:t>
                    </m:r>
                  </m:oMath>
                </a14:m>
                <a:endParaRPr lang="en-US" sz="2400" smtClean="0"/>
              </a:p>
              <a:p>
                <a:pPr marL="0" indent="0">
                  <a:buNone/>
                </a:pPr>
                <a14:m>
                  <m:oMathPara xmlns:m="http://schemas.openxmlformats.org/officeDocument/2006/math">
                    <m:oMathParaPr>
                      <m:jc m:val="centerGroup"/>
                    </m:oMathParaPr>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a:rPr>
                            <m:t>𝑋</m:t>
                          </m:r>
                        </m:e>
                        <m:sub>
                          <m:r>
                            <a:rPr lang="en-US" sz="2400" b="0" i="1" smtClean="0">
                              <a:latin typeface="Cambria Math"/>
                            </a:rPr>
                            <m:t>𝐹</m:t>
                          </m:r>
                        </m:sub>
                        <m:sup>
                          <m:r>
                            <a:rPr lang="en-US" sz="2400" b="0" i="1" smtClean="0">
                              <a:latin typeface="Cambria Math"/>
                            </a:rPr>
                            <m:t>+</m:t>
                          </m:r>
                        </m:sup>
                      </m:sSubSup>
                      <m:r>
                        <a:rPr lang="en-US" sz="2400" b="0" i="1" smtClean="0">
                          <a:latin typeface="Cambria Math"/>
                        </a:rPr>
                        <m:t>=</m:t>
                      </m:r>
                      <m:d>
                        <m:dPr>
                          <m:begChr m:val="{"/>
                          <m:endChr m:val="}"/>
                          <m:ctrlPr>
                            <a:rPr lang="en-US" sz="2400" b="0" i="1" smtClean="0">
                              <a:latin typeface="Cambria Math" panose="02040503050406030204" pitchFamily="18" charset="0"/>
                            </a:rPr>
                          </m:ctrlPr>
                        </m:dPr>
                        <m:e>
                          <m:r>
                            <a:rPr lang="en-US" sz="2400" b="0" i="1" smtClean="0">
                              <a:latin typeface="Cambria Math"/>
                            </a:rPr>
                            <m:t>𝐴</m:t>
                          </m:r>
                          <m:r>
                            <a:rPr lang="en-US" sz="2400" b="0" i="1" smtClean="0">
                              <a:latin typeface="Cambria Math"/>
                            </a:rPr>
                            <m:t>∈</m:t>
                          </m:r>
                          <m:r>
                            <a:rPr lang="en-US" sz="2400" b="0" i="1" smtClean="0">
                              <a:latin typeface="Cambria Math"/>
                            </a:rPr>
                            <m:t>𝑅</m:t>
                          </m:r>
                        </m:e>
                        <m:e>
                          <m:r>
                            <a:rPr lang="en-US" sz="2400" b="0" i="1" smtClean="0">
                              <a:latin typeface="Cambria Math"/>
                            </a:rPr>
                            <m:t>𝑋</m:t>
                          </m:r>
                          <m:r>
                            <a:rPr lang="en-US" sz="2400" b="0" i="1" smtClean="0">
                              <a:latin typeface="Cambria Math"/>
                            </a:rPr>
                            <m:t> →</m:t>
                          </m:r>
                          <m:r>
                            <a:rPr lang="en-US" sz="2400" b="0" i="1" smtClean="0">
                              <a:latin typeface="Cambria Math"/>
                            </a:rPr>
                            <m:t>𝐴</m:t>
                          </m:r>
                        </m:e>
                      </m:d>
                    </m:oMath>
                  </m:oMathPara>
                </a14:m>
                <a:endParaRPr lang="en-US" sz="2400" b="0" smtClean="0"/>
              </a:p>
              <a:p>
                <a:pPr marL="0" indent="0">
                  <a:buNone/>
                </a:pPr>
                <a:r>
                  <a:rPr lang="en-US" sz="2200" i="1" u="sng" smtClean="0"/>
                  <a:t>Thuật toán:</a:t>
                </a:r>
                <a:r>
                  <a:rPr lang="en-US" sz="2200" i="1" smtClean="0"/>
                  <a:t>		</a:t>
                </a:r>
                <a:r>
                  <a:rPr lang="en-US" sz="2200" smtClean="0"/>
                  <a:t>Đầu vào: </a:t>
                </a:r>
                <a14:m>
                  <m:oMath xmlns:m="http://schemas.openxmlformats.org/officeDocument/2006/math">
                    <m:r>
                      <a:rPr lang="en-US" sz="2200" i="1" smtClean="0">
                        <a:latin typeface="Cambria Math"/>
                      </a:rPr>
                      <m:t>𝑋</m:t>
                    </m:r>
                    <m:r>
                      <a:rPr lang="en-US" sz="2200" b="0" i="1" smtClean="0">
                        <a:latin typeface="Cambria Math"/>
                      </a:rPr>
                      <m:t> </m:t>
                    </m:r>
                    <m:r>
                      <a:rPr lang="en-US" sz="2200" b="0" i="1" smtClean="0">
                        <a:latin typeface="Cambria Math"/>
                      </a:rPr>
                      <m:t>𝑣</m:t>
                    </m:r>
                    <m:r>
                      <a:rPr lang="en-US" sz="2200" b="0" i="1" smtClean="0">
                        <a:latin typeface="Cambria Math"/>
                      </a:rPr>
                      <m:t>à (</m:t>
                    </m:r>
                    <m:r>
                      <a:rPr lang="en-US" sz="2200" b="0" i="1" smtClean="0">
                        <a:latin typeface="Cambria Math"/>
                      </a:rPr>
                      <m:t>𝑅</m:t>
                    </m:r>
                    <m:r>
                      <a:rPr lang="en-US" sz="2200" b="0" i="1" smtClean="0">
                        <a:latin typeface="Cambria Math"/>
                      </a:rPr>
                      <m:t>,</m:t>
                    </m:r>
                    <m:r>
                      <a:rPr lang="en-US" sz="2200" b="0" i="1" smtClean="0">
                        <a:latin typeface="Cambria Math"/>
                      </a:rPr>
                      <m:t>𝐹</m:t>
                    </m:r>
                    <m:r>
                      <a:rPr lang="en-US" sz="2200" b="0" i="1" smtClean="0">
                        <a:latin typeface="Cambria Math"/>
                      </a:rPr>
                      <m:t>)</m:t>
                    </m:r>
                  </m:oMath>
                </a14:m>
                <a:r>
                  <a:rPr lang="en-US" sz="2200" smtClean="0"/>
                  <a:t> 		Đầu ra: </a:t>
                </a:r>
                <a14:m>
                  <m:oMath xmlns:m="http://schemas.openxmlformats.org/officeDocument/2006/math">
                    <m:sSup>
                      <m:sSupPr>
                        <m:ctrlPr>
                          <a:rPr lang="en-US" sz="2200" b="0" i="1" smtClean="0">
                            <a:latin typeface="Cambria Math" panose="02040503050406030204" pitchFamily="18" charset="0"/>
                          </a:rPr>
                        </m:ctrlPr>
                      </m:sSupPr>
                      <m:e>
                        <m:r>
                          <a:rPr lang="en-US" sz="2200" i="1" smtClean="0">
                            <a:latin typeface="Cambria Math"/>
                          </a:rPr>
                          <m:t>𝑋</m:t>
                        </m:r>
                      </m:e>
                      <m:sup>
                        <m:r>
                          <a:rPr lang="en-US" sz="2200" b="0" i="1" smtClean="0">
                            <a:latin typeface="Cambria Math"/>
                          </a:rPr>
                          <m:t>+</m:t>
                        </m:r>
                      </m:sup>
                    </m:sSup>
                  </m:oMath>
                </a14:m>
                <a:endParaRPr lang="en-US" sz="2200" smtClean="0"/>
              </a:p>
              <a:p>
                <a:pPr marL="0" indent="0">
                  <a:buNone/>
                </a:pPr>
                <a14:m>
                  <m:oMathPara xmlns:m="http://schemas.openxmlformats.org/officeDocument/2006/math">
                    <m:oMathParaPr>
                      <m:jc m:val="left"/>
                    </m:oMathParaPr>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r>
                        <a:rPr lang="en-US" sz="2200" b="0" i="1" smtClean="0">
                          <a:latin typeface="Cambria Math"/>
                        </a:rPr>
                        <m:t>=</m:t>
                      </m:r>
                      <m:r>
                        <a:rPr lang="en-US" sz="2200" b="0" i="1" smtClean="0">
                          <a:latin typeface="Cambria Math"/>
                        </a:rPr>
                        <m:t>𝑋</m:t>
                      </m:r>
                    </m:oMath>
                  </m:oMathPara>
                </a14:m>
                <a:endParaRPr lang="en-US" sz="2200" smtClean="0"/>
              </a:p>
              <a:p>
                <a:pPr marL="0" indent="0">
                  <a:buNone/>
                </a:pPr>
                <a:r>
                  <a:rPr lang="en-US" sz="2200" smtClean="0"/>
                  <a:t>Lặp  {	</a:t>
                </a:r>
              </a:p>
              <a:p>
                <a:pPr marL="0" indent="0">
                  <a:buNone/>
                </a:pPr>
                <a:r>
                  <a:rPr lang="en-US" sz="2200"/>
                  <a:t>	</a:t>
                </a:r>
                <a14:m>
                  <m:oMath xmlns:m="http://schemas.openxmlformats.org/officeDocument/2006/math">
                    <m:r>
                      <a:rPr lang="en-US" sz="2200" i="1" smtClean="0">
                        <a:latin typeface="Cambria Math"/>
                      </a:rPr>
                      <m:t>𝑇</m:t>
                    </m:r>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oMath>
                </a14:m>
                <a:endParaRPr lang="en-US" sz="2200" smtClean="0"/>
              </a:p>
              <a:p>
                <a:pPr marL="0" indent="0">
                  <a:buNone/>
                </a:pPr>
                <a:r>
                  <a:rPr lang="en-US" sz="2200"/>
                  <a:t>	</a:t>
                </a:r>
                <a:r>
                  <a:rPr lang="en-US" sz="2200" smtClean="0"/>
                  <a:t>Lặp với mỗi luật </a:t>
                </a:r>
                <a14:m>
                  <m:oMath xmlns:m="http://schemas.openxmlformats.org/officeDocument/2006/math">
                    <m:d>
                      <m:dPr>
                        <m:ctrlPr>
                          <a:rPr lang="en-US" sz="2200" i="1" smtClean="0">
                            <a:latin typeface="Cambria Math" panose="02040503050406030204" pitchFamily="18" charset="0"/>
                          </a:rPr>
                        </m:ctrlPr>
                      </m:dPr>
                      <m:e>
                        <m:r>
                          <a:rPr lang="en-US" sz="2200" b="0" i="1" smtClean="0">
                            <a:latin typeface="Cambria Math"/>
                          </a:rPr>
                          <m:t>𝑉𝑇</m:t>
                        </m:r>
                        <m:r>
                          <a:rPr lang="en-US" sz="2200" b="0" i="1" smtClean="0">
                            <a:latin typeface="Cambria Math"/>
                          </a:rPr>
                          <m:t>→</m:t>
                        </m:r>
                        <m:r>
                          <a:rPr lang="en-US" sz="2200" b="0" i="1" smtClean="0">
                            <a:latin typeface="Cambria Math"/>
                          </a:rPr>
                          <m:t>𝑉𝑃</m:t>
                        </m:r>
                      </m:e>
                    </m:d>
                    <m:r>
                      <a:rPr lang="en-US" sz="2200" b="0" i="1" smtClean="0">
                        <a:latin typeface="Cambria Math"/>
                      </a:rPr>
                      <m:t>∈</m:t>
                    </m:r>
                    <m:r>
                      <a:rPr lang="en-US" sz="2200" b="0" i="1" smtClean="0">
                        <a:latin typeface="Cambria Math"/>
                      </a:rPr>
                      <m:t>𝐹</m:t>
                    </m:r>
                  </m:oMath>
                </a14:m>
                <a:r>
                  <a:rPr lang="en-US" sz="2200" smtClean="0"/>
                  <a:t>  </a:t>
                </a:r>
              </a:p>
              <a:p>
                <a:pPr marL="0" indent="0">
                  <a:buNone/>
                </a:pPr>
                <a:r>
                  <a:rPr lang="en-US" sz="2200"/>
                  <a:t>	</a:t>
                </a:r>
                <a:r>
                  <a:rPr lang="en-US" sz="2200" smtClean="0"/>
                  <a:t>	{ Nếu </a:t>
                </a:r>
                <a14:m>
                  <m:oMath xmlns:m="http://schemas.openxmlformats.org/officeDocument/2006/math">
                    <m:r>
                      <a:rPr lang="en-US" sz="2200" b="0" i="1" smtClean="0">
                        <a:latin typeface="Cambria Math"/>
                      </a:rPr>
                      <m:t>𝑉𝑇</m:t>
                    </m:r>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oMath>
                </a14:m>
                <a:r>
                  <a:rPr lang="en-US" sz="2200" smtClean="0"/>
                  <a:t> thì </a:t>
                </a:r>
                <a14:m>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r>
                      <a:rPr lang="en-US" sz="2200" b="0" i="1" smtClean="0">
                        <a:latin typeface="Cambria Math"/>
                      </a:rPr>
                      <m:t>∪</m:t>
                    </m:r>
                    <m:r>
                      <a:rPr lang="en-US" sz="2200" b="0" i="1" smtClean="0">
                        <a:latin typeface="Cambria Math"/>
                      </a:rPr>
                      <m:t>𝑉𝑃</m:t>
                    </m:r>
                  </m:oMath>
                </a14:m>
                <a:r>
                  <a:rPr lang="en-US" sz="2200" smtClean="0"/>
                  <a:t> }	</a:t>
                </a:r>
                <a:endParaRPr lang="en-US" sz="2200"/>
              </a:p>
              <a:p>
                <a:pPr marL="0" indent="0">
                  <a:buNone/>
                </a:pPr>
                <a:r>
                  <a:rPr lang="en-US" sz="2200" smtClean="0"/>
                  <a:t>} Lặp nếu </a:t>
                </a:r>
                <a14:m>
                  <m:oMath xmlns:m="http://schemas.openxmlformats.org/officeDocument/2006/math">
                    <m:r>
                      <a:rPr lang="en-US" sz="2200" b="0" i="1" smtClean="0">
                        <a:latin typeface="Cambria Math"/>
                      </a:rPr>
                      <m:t>(</m:t>
                    </m:r>
                    <m:r>
                      <a:rPr lang="en-US" sz="2200" b="0" i="1" smtClean="0">
                        <a:latin typeface="Cambria Math"/>
                      </a:rPr>
                      <m:t>𝑇</m:t>
                    </m:r>
                    <m:r>
                      <a:rPr lang="en-US" sz="2200" b="0" i="1" smtClean="0">
                        <a:latin typeface="Cambria Math"/>
                      </a:rPr>
                      <m:t> !=</m:t>
                    </m:r>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r>
                      <a:rPr lang="en-US" sz="2200" b="0" i="1" smtClean="0">
                        <a:latin typeface="Cambria Math"/>
                      </a:rPr>
                      <m:t>)</m:t>
                    </m:r>
                  </m:oMath>
                </a14:m>
                <a:endParaRPr lang="en-US" sz="2200" smtClean="0"/>
              </a:p>
              <a:p>
                <a:pPr marL="0" indent="0">
                  <a:buNone/>
                </a:pPr>
                <a:r>
                  <a:rPr lang="en-US" sz="2200" smtClean="0"/>
                  <a:t>Trả về </a:t>
                </a:r>
                <a14:m>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a:rPr>
                          <m:t>𝑋</m:t>
                        </m:r>
                      </m:e>
                      <m:sup>
                        <m:r>
                          <a:rPr lang="en-US" sz="2200" b="0" i="1" smtClean="0">
                            <a:latin typeface="Cambria Math"/>
                          </a:rPr>
                          <m:t>+</m:t>
                        </m:r>
                      </m:sup>
                    </m:sSup>
                  </m:oMath>
                </a14:m>
                <a:endParaRPr lang="en-US" sz="220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81600"/>
              </a:xfrm>
              <a:blipFill rotWithShape="1">
                <a:blip r:embed="rId3"/>
                <a:stretch>
                  <a:fillRect l="-1053" t="-1294"/>
                </a:stretch>
              </a:blipFill>
            </p:spPr>
            <p:txBody>
              <a:bodyPr/>
              <a:lstStyle/>
              <a:p>
                <a:r>
                  <a:rPr lang="en-US">
                    <a:noFill/>
                  </a:rPr>
                  <a:t> </a:t>
                </a:r>
              </a:p>
            </p:txBody>
          </p:sp>
        </mc:Fallback>
      </mc:AlternateContent>
    </p:spTree>
    <p:extLst>
      <p:ext uri="{BB962C8B-B14F-4D97-AF65-F5344CB8AC3E}">
        <p14:creationId xmlns:p14="http://schemas.microsoft.com/office/powerpoint/2010/main" val="1688654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(Sự dư thừa)</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400" smtClean="0"/>
                  <a:t>Xét một lược đồ quan hệ</a:t>
                </a:r>
                <a:r>
                  <a:rPr lang="en-US" sz="2400" smtClean="0"/>
                  <a:t> </a:t>
                </a:r>
                <a14:m>
                  <m:oMath xmlns:m="http://schemas.openxmlformats.org/officeDocument/2006/math">
                    <m:r>
                      <a:rPr lang="en-US" sz="2200" i="1" smtClean="0">
                        <a:latin typeface="Cambria Math"/>
                      </a:rPr>
                      <m:t>𝑠𝑖𝑛h𝑣𝑖𝑒𝑛</m:t>
                    </m:r>
                    <m:r>
                      <a:rPr lang="en-US" sz="2200" i="1" smtClean="0">
                        <a:latin typeface="Cambria Math"/>
                      </a:rPr>
                      <m:t>(</m:t>
                    </m:r>
                    <m:r>
                      <a:rPr lang="en-US" sz="2200" i="1" smtClean="0">
                        <a:latin typeface="Cambria Math"/>
                      </a:rPr>
                      <m:t>𝑚𝑎𝑠𝑣</m:t>
                    </m:r>
                    <m:r>
                      <a:rPr lang="en-US" sz="2200" i="1" smtClean="0">
                        <a:latin typeface="Cambria Math"/>
                      </a:rPr>
                      <m:t>,</m:t>
                    </m:r>
                    <m:r>
                      <a:rPr lang="en-US" sz="2200" i="1" smtClean="0">
                        <a:latin typeface="Cambria Math"/>
                      </a:rPr>
                      <m:t>h𝑜𝑡𝑒𝑛</m:t>
                    </m:r>
                    <m:r>
                      <a:rPr lang="en-US" sz="2200" i="1" smtClean="0">
                        <a:latin typeface="Cambria Math"/>
                      </a:rPr>
                      <m:t>,</m:t>
                    </m:r>
                    <m:r>
                      <a:rPr lang="en-US" sz="2200" i="1" smtClean="0">
                        <a:latin typeface="Cambria Math"/>
                      </a:rPr>
                      <m:t>𝑑𝑖𝑒𝑚</m:t>
                    </m:r>
                    <m:r>
                      <a:rPr lang="en-US" sz="2200" b="0" i="1" smtClean="0">
                        <a:latin typeface="Cambria Math"/>
                      </a:rPr>
                      <m:t>,</m:t>
                    </m:r>
                    <m:r>
                      <a:rPr lang="en-US" sz="2200" b="0" i="1" smtClean="0">
                        <a:latin typeface="Cambria Math"/>
                      </a:rPr>
                      <m:t>𝑚𝑎𝑙𝑜𝑝</m:t>
                    </m:r>
                    <m:r>
                      <a:rPr lang="en-US" sz="2200" b="0" i="1" smtClean="0">
                        <a:latin typeface="Cambria Math"/>
                      </a:rPr>
                      <m:t>,</m:t>
                    </m:r>
                    <m:r>
                      <a:rPr lang="en-US" sz="2200" b="0" i="1" smtClean="0">
                        <a:latin typeface="Cambria Math"/>
                      </a:rPr>
                      <m:t>𝑡𝑒𝑛𝑙𝑜𝑝</m:t>
                    </m:r>
                    <m:r>
                      <a:rPr lang="en-US" sz="2200" i="1" smtClean="0">
                        <a:latin typeface="Cambria Math"/>
                      </a:rPr>
                      <m:t>)</m:t>
                    </m:r>
                  </m:oMath>
                </a14:m>
                <a:r>
                  <a:rPr lang="en-US" sz="2400" smtClean="0"/>
                  <a:t>. </a:t>
                </a:r>
              </a:p>
              <a:p>
                <a:pPr marL="0" indent="0">
                  <a:buNone/>
                </a:pPr>
                <a:r>
                  <a:rPr lang="en-US" sz="2400" smtClean="0"/>
                  <a:t>Trong đó ta có thể thấy chủ quan phụ thuộc hàm</a:t>
                </a:r>
                <a:endParaRPr lang="en-US" sz="2400" smtClean="0"/>
              </a:p>
              <a:p>
                <a:pPr marL="0" indent="0">
                  <a:buNone/>
                </a:pPr>
                <a:r>
                  <a:rPr lang="en-US" sz="2000" b="0" smtClean="0"/>
                  <a:t>	</a:t>
                </a:r>
                <a14:m>
                  <m:oMath xmlns:m="http://schemas.openxmlformats.org/officeDocument/2006/math">
                    <m:r>
                      <a:rPr lang="en-US" sz="2000" b="0" i="1" smtClean="0">
                        <a:latin typeface="Cambria Math"/>
                      </a:rPr>
                      <m:t>{</m:t>
                    </m:r>
                    <m:r>
                      <a:rPr lang="en-US" sz="2000" b="0" i="1" smtClean="0">
                        <a:latin typeface="Cambria Math"/>
                      </a:rPr>
                      <m:t>𝑓</m:t>
                    </m:r>
                    <m:r>
                      <a:rPr lang="en-US" sz="2000" b="0" i="1" smtClean="0">
                        <a:latin typeface="Cambria Math"/>
                      </a:rPr>
                      <m:t>1:</m:t>
                    </m:r>
                    <m:r>
                      <a:rPr lang="en-US" sz="2000" b="0" i="1" smtClean="0">
                        <a:latin typeface="Cambria Math"/>
                      </a:rPr>
                      <m:t>𝑚𝑎𝑠𝑣</m:t>
                    </m:r>
                    <m:r>
                      <a:rPr lang="en-US" sz="2000" b="0" i="1" smtClean="0">
                        <a:latin typeface="Cambria Math"/>
                      </a:rPr>
                      <m:t>→</m:t>
                    </m:r>
                    <m:r>
                      <a:rPr lang="en-US" sz="2000" b="0" i="1" smtClean="0">
                        <a:latin typeface="Cambria Math"/>
                      </a:rPr>
                      <m:t>𝑑𝑖𝑒𝑚</m:t>
                    </m:r>
                    <m:r>
                      <a:rPr lang="en-US" sz="2000" b="0" i="1" smtClean="0">
                        <a:latin typeface="Cambria Math"/>
                      </a:rPr>
                      <m:t>;   </m:t>
                    </m:r>
                    <m:r>
                      <a:rPr lang="en-US" sz="2000" b="0" i="1" smtClean="0">
                        <a:latin typeface="Cambria Math"/>
                      </a:rPr>
                      <m:t>𝑓</m:t>
                    </m:r>
                    <m:r>
                      <a:rPr lang="en-US" sz="2000" b="0" i="1" smtClean="0">
                        <a:latin typeface="Cambria Math"/>
                      </a:rPr>
                      <m:t>2:</m:t>
                    </m:r>
                    <m:r>
                      <a:rPr lang="en-US" sz="2000" b="0" i="1" smtClean="0">
                        <a:latin typeface="Cambria Math"/>
                      </a:rPr>
                      <m:t>𝑚𝑎𝑠𝑣</m:t>
                    </m:r>
                    <m:r>
                      <a:rPr lang="en-US" sz="2000" b="0" i="1" smtClean="0">
                        <a:latin typeface="Cambria Math"/>
                      </a:rPr>
                      <m:t>,</m:t>
                    </m:r>
                    <m:r>
                      <a:rPr lang="en-US" sz="2000" b="0" i="1" smtClean="0">
                        <a:latin typeface="Cambria Math"/>
                      </a:rPr>
                      <m:t>h𝑜𝑡𝑒𝑛</m:t>
                    </m:r>
                    <m:r>
                      <a:rPr lang="en-US" sz="2000" b="0" i="1" smtClean="0">
                        <a:latin typeface="Cambria Math"/>
                      </a:rPr>
                      <m:t>→</m:t>
                    </m:r>
                    <m:r>
                      <a:rPr lang="en-US" sz="2000" b="0" i="1" smtClean="0">
                        <a:latin typeface="Cambria Math"/>
                      </a:rPr>
                      <m:t>𝑑𝑖𝑒𝑚</m:t>
                    </m:r>
                    <m:r>
                      <a:rPr lang="en-US" sz="2000" b="0" i="1" smtClean="0">
                        <a:latin typeface="Cambria Math"/>
                      </a:rPr>
                      <m:t>;  </m:t>
                    </m:r>
                  </m:oMath>
                </a14:m>
                <a:endParaRPr lang="en-US" sz="2000" b="0" i="1" smtClean="0">
                  <a:latin typeface="Cambria Math"/>
                </a:endParaRPr>
              </a:p>
              <a:p>
                <a:pPr marL="0" indent="0">
                  <a:buNone/>
                </a:pPr>
                <a:r>
                  <a:rPr lang="en-US" sz="2000" b="0" smtClean="0"/>
                  <a:t>	</a:t>
                </a:r>
                <a14:m>
                  <m:oMath xmlns:m="http://schemas.openxmlformats.org/officeDocument/2006/math">
                    <m:r>
                      <a:rPr lang="en-US" sz="2000" b="0" i="0" smtClean="0">
                        <a:latin typeface="Cambria Math"/>
                      </a:rPr>
                      <m:t> </m:t>
                    </m:r>
                    <m:r>
                      <a:rPr lang="en-US" sz="2000" b="0" i="1" smtClean="0">
                        <a:latin typeface="Cambria Math"/>
                      </a:rPr>
                      <m:t> </m:t>
                    </m:r>
                    <m:r>
                      <a:rPr lang="en-US" sz="2000" b="0" i="1" smtClean="0">
                        <a:latin typeface="Cambria Math"/>
                      </a:rPr>
                      <m:t>𝑓</m:t>
                    </m:r>
                    <m:r>
                      <a:rPr lang="en-US" sz="2000" b="0" i="1" smtClean="0">
                        <a:latin typeface="Cambria Math"/>
                      </a:rPr>
                      <m:t>3:</m:t>
                    </m:r>
                    <m:r>
                      <a:rPr lang="en-US" sz="2000" b="0" i="1" smtClean="0">
                        <a:latin typeface="Cambria Math"/>
                      </a:rPr>
                      <m:t>𝑚𝑎𝑙𝑜𝑝</m:t>
                    </m:r>
                    <m:r>
                      <a:rPr lang="en-US" sz="2000" b="0" i="1" smtClean="0">
                        <a:latin typeface="Cambria Math"/>
                      </a:rPr>
                      <m:t>→</m:t>
                    </m:r>
                    <m:r>
                      <a:rPr lang="en-US" sz="2000" b="0" i="1" smtClean="0">
                        <a:latin typeface="Cambria Math"/>
                      </a:rPr>
                      <m:t>𝑡𝑒𝑛𝑙𝑜𝑝</m:t>
                    </m:r>
                    <m:r>
                      <a:rPr lang="en-US" sz="2000" b="0" i="1" smtClean="0">
                        <a:latin typeface="Cambria Math"/>
                      </a:rPr>
                      <m:t>;   </m:t>
                    </m:r>
                    <m:r>
                      <a:rPr lang="en-US" sz="2000" b="0" i="1" smtClean="0">
                        <a:latin typeface="Cambria Math"/>
                      </a:rPr>
                      <m:t>𝑓</m:t>
                    </m:r>
                    <m:r>
                      <a:rPr lang="en-US" sz="2000" b="0" i="1" smtClean="0">
                        <a:latin typeface="Cambria Math"/>
                      </a:rPr>
                      <m:t>4:</m:t>
                    </m:r>
                    <m:r>
                      <a:rPr lang="en-US" sz="2000" b="0" i="1" smtClean="0">
                        <a:latin typeface="Cambria Math"/>
                      </a:rPr>
                      <m:t>𝑚𝑎𝑠𝑣</m:t>
                    </m:r>
                    <m:r>
                      <a:rPr lang="en-US" sz="2000" b="0" i="1" smtClean="0">
                        <a:latin typeface="Cambria Math"/>
                      </a:rPr>
                      <m:t>→</m:t>
                    </m:r>
                    <m:r>
                      <a:rPr lang="en-US" sz="2000" b="0" i="1" smtClean="0">
                        <a:latin typeface="Cambria Math"/>
                      </a:rPr>
                      <m:t>𝑚𝑎𝑙𝑜𝑝</m:t>
                    </m:r>
                    <m:r>
                      <a:rPr lang="en-US" sz="2000" b="0" i="1" smtClean="0">
                        <a:latin typeface="Cambria Math"/>
                      </a:rPr>
                      <m:t>;   </m:t>
                    </m:r>
                  </m:oMath>
                </a14:m>
                <a:endParaRPr lang="en-US" sz="2000" b="0" i="1" smtClean="0">
                  <a:latin typeface="Cambria Math"/>
                </a:endParaRPr>
              </a:p>
              <a:p>
                <a:pPr marL="0" indent="0">
                  <a:buNone/>
                </a:pPr>
                <a:r>
                  <a:rPr lang="en-US" sz="2000" b="0" smtClean="0"/>
                  <a:t>	  </a:t>
                </a:r>
                <a14:m>
                  <m:oMath xmlns:m="http://schemas.openxmlformats.org/officeDocument/2006/math">
                    <m:r>
                      <a:rPr lang="en-US" sz="2000" b="0" i="1" smtClean="0">
                        <a:latin typeface="Cambria Math"/>
                      </a:rPr>
                      <m:t>𝑓</m:t>
                    </m:r>
                    <m:r>
                      <a:rPr lang="en-US" sz="2000" b="0" i="1" smtClean="0">
                        <a:latin typeface="Cambria Math"/>
                      </a:rPr>
                      <m:t>5:</m:t>
                    </m:r>
                    <m:r>
                      <a:rPr lang="en-US" sz="2000" b="0" i="1" smtClean="0">
                        <a:latin typeface="Cambria Math"/>
                      </a:rPr>
                      <m:t>𝑚𝑎𝑠𝑣</m:t>
                    </m:r>
                    <m:r>
                      <a:rPr lang="en-US" sz="2000" b="0" i="1" smtClean="0">
                        <a:latin typeface="Cambria Math"/>
                      </a:rPr>
                      <m:t> →</m:t>
                    </m:r>
                    <m:r>
                      <a:rPr lang="en-US" sz="2000" b="0" i="1" smtClean="0">
                        <a:latin typeface="Cambria Math"/>
                      </a:rPr>
                      <m:t>𝑡𝑒𝑛𝑙𝑜𝑝</m:t>
                    </m:r>
                    <m:r>
                      <a:rPr lang="en-US" sz="2000" b="0" i="1" smtClean="0">
                        <a:latin typeface="Cambria Math"/>
                      </a:rPr>
                      <m:t> }</m:t>
                    </m:r>
                  </m:oMath>
                </a14:m>
                <a:endParaRPr lang="en-US" sz="2000" b="0" smtClean="0"/>
              </a:p>
              <a:p>
                <a:pPr marL="0" indent="0">
                  <a:buNone/>
                </a:pPr>
                <a:r>
                  <a:rPr lang="en-US" sz="2400" smtClean="0"/>
                  <a:t>Nhưng thật sự phụ thuộc hàm </a:t>
                </a:r>
                <a14:m>
                  <m:oMath xmlns:m="http://schemas.openxmlformats.org/officeDocument/2006/math">
                    <m:r>
                      <a:rPr lang="en-US" sz="2400" i="1" smtClean="0">
                        <a:latin typeface="Cambria Math"/>
                      </a:rPr>
                      <m:t>𝑓</m:t>
                    </m:r>
                    <m:r>
                      <a:rPr lang="en-US" sz="2400" i="1" smtClean="0">
                        <a:latin typeface="Cambria Math"/>
                      </a:rPr>
                      <m:t>2</m:t>
                    </m:r>
                  </m:oMath>
                </a14:m>
                <a:r>
                  <a:rPr lang="en-US" sz="2400" smtClean="0"/>
                  <a:t> bị dư thừa, </a:t>
                </a:r>
                <a14:m>
                  <m:oMath xmlns:m="http://schemas.openxmlformats.org/officeDocument/2006/math">
                    <m:r>
                      <a:rPr lang="en-US" sz="2400" i="1" smtClean="0">
                        <a:latin typeface="Cambria Math"/>
                      </a:rPr>
                      <m:t>𝑓</m:t>
                    </m:r>
                    <m:r>
                      <a:rPr lang="en-US" sz="2400" i="1" smtClean="0">
                        <a:latin typeface="Cambria Math"/>
                      </a:rPr>
                      <m:t>2</m:t>
                    </m:r>
                  </m:oMath>
                </a14:m>
                <a:r>
                  <a:rPr lang="en-US" sz="2400" smtClean="0"/>
                  <a:t> có thể tìm thấy được chỉ từ phụ thuộc hàm </a:t>
                </a:r>
                <a14:m>
                  <m:oMath xmlns:m="http://schemas.openxmlformats.org/officeDocument/2006/math">
                    <m:r>
                      <a:rPr lang="en-US" sz="2400" i="1" smtClean="0">
                        <a:latin typeface="Cambria Math"/>
                      </a:rPr>
                      <m:t>𝑓</m:t>
                    </m:r>
                    <m:r>
                      <a:rPr lang="en-US" sz="2400" i="1" smtClean="0">
                        <a:latin typeface="Cambria Math"/>
                      </a:rPr>
                      <m:t>1</m:t>
                    </m:r>
                  </m:oMath>
                </a14:m>
                <a:r>
                  <a:rPr lang="en-US" sz="2400" smtClean="0"/>
                  <a:t>. Do vậy có thể coi </a:t>
                </a:r>
                <a14:m>
                  <m:oMath xmlns:m="http://schemas.openxmlformats.org/officeDocument/2006/math">
                    <m:r>
                      <a:rPr lang="en-US" sz="2400" i="1" smtClean="0">
                        <a:latin typeface="Cambria Math"/>
                      </a:rPr>
                      <m:t>𝑓</m:t>
                    </m:r>
                    <m:r>
                      <a:rPr lang="en-US" sz="2400" i="1" smtClean="0">
                        <a:latin typeface="Cambria Math"/>
                      </a:rPr>
                      <m:t>2</m:t>
                    </m:r>
                  </m:oMath>
                </a14:m>
                <a:r>
                  <a:rPr lang="en-US" sz="2400" smtClean="0"/>
                  <a:t> như một dạng dư thừa</a:t>
                </a:r>
                <a:r>
                  <a:rPr lang="en-US" sz="2400" smtClean="0"/>
                  <a:t>. Đây là dạng đư thừa thứ 1.</a:t>
                </a:r>
                <a:endParaRPr lang="en-US" sz="2400"/>
              </a:p>
              <a:p>
                <a:pPr marL="0" indent="0">
                  <a:buNone/>
                </a:pPr>
                <a:r>
                  <a:rPr lang="en-US" sz="2400" smtClean="0"/>
                  <a:t>Trường hợp khác, ta thấy phụ thuộc hàm </a:t>
                </a:r>
                <a14:m>
                  <m:oMath xmlns:m="http://schemas.openxmlformats.org/officeDocument/2006/math">
                    <m:r>
                      <a:rPr lang="en-US" sz="2400" i="1" smtClean="0">
                        <a:latin typeface="Cambria Math"/>
                      </a:rPr>
                      <m:t>𝑓</m:t>
                    </m:r>
                    <m:r>
                      <a:rPr lang="en-US" sz="2400" i="1" smtClean="0">
                        <a:latin typeface="Cambria Math"/>
                      </a:rPr>
                      <m:t>5</m:t>
                    </m:r>
                  </m:oMath>
                </a14:m>
                <a:r>
                  <a:rPr lang="en-US" sz="2400" smtClean="0"/>
                  <a:t> có thể xác định được bởi áp dụng tính bắc cầu trên 2 phụ thuộc hàm </a:t>
                </a:r>
                <a14:m>
                  <m:oMath xmlns:m="http://schemas.openxmlformats.org/officeDocument/2006/math">
                    <m:r>
                      <a:rPr lang="en-US" sz="2400" i="1" smtClean="0">
                        <a:latin typeface="Cambria Math"/>
                      </a:rPr>
                      <m:t>𝑓</m:t>
                    </m:r>
                    <m:r>
                      <a:rPr lang="en-US" sz="2400" i="1" smtClean="0">
                        <a:latin typeface="Cambria Math"/>
                      </a:rPr>
                      <m:t>3</m:t>
                    </m:r>
                  </m:oMath>
                </a14:m>
                <a:r>
                  <a:rPr lang="en-US" sz="2400" smtClean="0"/>
                  <a:t> và </a:t>
                </a:r>
                <a14:m>
                  <m:oMath xmlns:m="http://schemas.openxmlformats.org/officeDocument/2006/math">
                    <m:r>
                      <a:rPr lang="en-US" sz="2400" i="1" smtClean="0">
                        <a:latin typeface="Cambria Math"/>
                      </a:rPr>
                      <m:t>𝑓</m:t>
                    </m:r>
                    <m:r>
                      <a:rPr lang="en-US" sz="2400" i="1" smtClean="0">
                        <a:latin typeface="Cambria Math"/>
                      </a:rPr>
                      <m:t>4</m:t>
                    </m:r>
                  </m:oMath>
                </a14:m>
                <a:r>
                  <a:rPr lang="en-US" sz="2400" smtClean="0"/>
                  <a:t>. Vì thế có thể coi </a:t>
                </a:r>
                <a14:m>
                  <m:oMath xmlns:m="http://schemas.openxmlformats.org/officeDocument/2006/math">
                    <m:r>
                      <a:rPr lang="en-US" sz="2400" i="1" smtClean="0">
                        <a:latin typeface="Cambria Math"/>
                      </a:rPr>
                      <m:t>𝑓</m:t>
                    </m:r>
                    <m:r>
                      <a:rPr lang="en-US" sz="2400" i="1" smtClean="0">
                        <a:latin typeface="Cambria Math"/>
                      </a:rPr>
                      <m:t>5</m:t>
                    </m:r>
                  </m:oMath>
                </a14:m>
                <a:r>
                  <a:rPr lang="en-US" sz="2400" smtClean="0"/>
                  <a:t> là một dạng dư thừa</a:t>
                </a:r>
                <a:r>
                  <a:rPr lang="en-US" sz="2400" smtClean="0"/>
                  <a:t>. Đây là dạng dư thừa thứ 2.</a:t>
                </a:r>
              </a:p>
              <a:p>
                <a:pPr marL="0" indent="0" algn="r">
                  <a:buNone/>
                </a:pPr>
                <a:r>
                  <a:rPr lang="en-US" sz="2200" b="1" i="1" smtClean="0"/>
                  <a:t>Lời giải ở cuối phần phủ tối tiểu.</a:t>
                </a:r>
                <a:endParaRPr lang="en-US" sz="2200" b="1" i="1" smtClean="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0">
                <a:blip r:embed="rId2"/>
                <a:stretch>
                  <a:fillRect l="-1062" t="-928" r="-1840"/>
                </a:stretch>
              </a:blipFill>
            </p:spPr>
            <p:txBody>
              <a:bodyPr/>
              <a:lstStyle/>
              <a:p>
                <a:r>
                  <a:rPr lang="en-US">
                    <a:noFill/>
                  </a:rPr>
                  <a:t> </a:t>
                </a:r>
              </a:p>
            </p:txBody>
          </p:sp>
        </mc:Fallback>
      </mc:AlternateContent>
    </p:spTree>
    <p:extLst>
      <p:ext uri="{BB962C8B-B14F-4D97-AF65-F5344CB8AC3E}">
        <p14:creationId xmlns:p14="http://schemas.microsoft.com/office/powerpoint/2010/main" val="3815279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(Phủ -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a:bodyPr>
              <a:lstStyle/>
              <a:p>
                <a:pPr marL="0" indent="0" algn="just">
                  <a:buNone/>
                </a:pPr>
                <a:r>
                  <a:rPr lang="en-US" sz="2400" b="1" u="sng" smtClean="0"/>
                  <a:t>Phủ:</a:t>
                </a:r>
                <a:r>
                  <a:rPr lang="en-US" sz="2400" smtClean="0"/>
                  <a:t> Cho lược đồ </a:t>
                </a:r>
                <a14:m>
                  <m:oMath xmlns:m="http://schemas.openxmlformats.org/officeDocument/2006/math">
                    <m:r>
                      <a:rPr lang="en-US" sz="2400" i="1" smtClean="0">
                        <a:latin typeface="Cambria Math"/>
                      </a:rPr>
                      <m:t>(</m:t>
                    </m:r>
                    <m:r>
                      <a:rPr lang="en-US" sz="2400" i="1" smtClean="0">
                        <a:latin typeface="Cambria Math"/>
                      </a:rPr>
                      <m:t>𝑅</m:t>
                    </m:r>
                    <m:r>
                      <a:rPr lang="en-US" sz="2400" i="1" smtClean="0">
                        <a:latin typeface="Cambria Math"/>
                      </a:rPr>
                      <m:t>,</m:t>
                    </m:r>
                    <m:r>
                      <a:rPr lang="en-US" sz="2400" i="1" smtClean="0">
                        <a:latin typeface="Cambria Math"/>
                      </a:rPr>
                      <m:t>𝐹</m:t>
                    </m:r>
                    <m:r>
                      <a:rPr lang="en-US" sz="2400" i="1" smtClean="0">
                        <a:latin typeface="Cambria Math"/>
                      </a:rPr>
                      <m:t>)</m:t>
                    </m:r>
                  </m:oMath>
                </a14:m>
                <a:r>
                  <a:rPr lang="en-US" sz="2400" smtClean="0"/>
                  <a:t>, ta gọi tập phụ thuộc hàm </a:t>
                </a:r>
                <a14:m>
                  <m:oMath xmlns:m="http://schemas.openxmlformats.org/officeDocument/2006/math">
                    <m:r>
                      <a:rPr lang="en-US" sz="2400" i="1" smtClean="0">
                        <a:latin typeface="Cambria Math"/>
                      </a:rPr>
                      <m:t>𝐺</m:t>
                    </m:r>
                  </m:oMath>
                </a14:m>
                <a:r>
                  <a:rPr lang="en-US" sz="2400" smtClean="0"/>
                  <a:t> là phủ của </a:t>
                </a:r>
                <a14:m>
                  <m:oMath xmlns:m="http://schemas.openxmlformats.org/officeDocument/2006/math">
                    <m:r>
                      <a:rPr lang="en-US" sz="2400" i="1" smtClean="0">
                        <a:latin typeface="Cambria Math"/>
                      </a:rPr>
                      <m:t>𝐹</m:t>
                    </m:r>
                  </m:oMath>
                </a14:m>
                <a:r>
                  <a:rPr lang="en-US" sz="2400" smtClean="0"/>
                  <a:t> nếu như </a:t>
                </a:r>
                <a14:m>
                  <m:oMath xmlns:m="http://schemas.openxmlformats.org/officeDocument/2006/math">
                    <m:r>
                      <a:rPr lang="en-US" sz="2400" i="1" smtClean="0">
                        <a:latin typeface="Cambria Math"/>
                      </a:rPr>
                      <m:t>𝐺</m:t>
                    </m:r>
                    <m:r>
                      <a:rPr lang="en-US" sz="2400" b="0" i="1" smtClean="0">
                        <a:latin typeface="Cambria Math"/>
                      </a:rPr>
                      <m:t>≡</m:t>
                    </m:r>
                    <m:r>
                      <a:rPr lang="en-US" sz="2400" b="0" i="1" smtClean="0">
                        <a:latin typeface="Cambria Math"/>
                      </a:rPr>
                      <m:t>𝐹</m:t>
                    </m:r>
                  </m:oMath>
                </a14:m>
                <a:r>
                  <a:rPr lang="en-US" sz="2400" smtClean="0"/>
                  <a:t>. Rỏ ràng </a:t>
                </a:r>
                <a14:m>
                  <m:oMath xmlns:m="http://schemas.openxmlformats.org/officeDocument/2006/math">
                    <m:r>
                      <a:rPr lang="en-US" sz="2400" i="1" smtClean="0">
                        <a:latin typeface="Cambria Math"/>
                      </a:rPr>
                      <m:t>𝐺</m:t>
                    </m:r>
                  </m:oMath>
                </a14:m>
                <a:r>
                  <a:rPr lang="en-US" sz="2400" smtClean="0"/>
                  <a:t> là phủ của </a:t>
                </a:r>
                <a14:m>
                  <m:oMath xmlns:m="http://schemas.openxmlformats.org/officeDocument/2006/math">
                    <m:r>
                      <a:rPr lang="en-US" sz="2400" i="1" smtClean="0">
                        <a:latin typeface="Cambria Math"/>
                      </a:rPr>
                      <m:t>𝐹</m:t>
                    </m:r>
                  </m:oMath>
                </a14:m>
                <a:r>
                  <a:rPr lang="en-US" sz="2400" smtClean="0"/>
                  <a:t> thì </a:t>
                </a:r>
                <a14:m>
                  <m:oMath xmlns:m="http://schemas.openxmlformats.org/officeDocument/2006/math">
                    <m:r>
                      <a:rPr lang="en-US" sz="2400" i="1" smtClean="0">
                        <a:latin typeface="Cambria Math"/>
                      </a:rPr>
                      <m:t>𝐹</m:t>
                    </m:r>
                  </m:oMath>
                </a14:m>
                <a:r>
                  <a:rPr lang="en-US" sz="2400" smtClean="0"/>
                  <a:t> cũng là phủ của </a:t>
                </a:r>
                <a14:m>
                  <m:oMath xmlns:m="http://schemas.openxmlformats.org/officeDocument/2006/math">
                    <m:r>
                      <a:rPr lang="en-US" sz="2400" i="1" smtClean="0">
                        <a:latin typeface="Cambria Math"/>
                      </a:rPr>
                      <m:t>𝐺</m:t>
                    </m:r>
                  </m:oMath>
                </a14:m>
                <a:r>
                  <a:rPr lang="en-US" sz="2400" smtClean="0"/>
                  <a:t>.</a:t>
                </a:r>
              </a:p>
              <a:p>
                <a:pPr marL="0" indent="0" algn="just">
                  <a:buNone/>
                </a:pPr>
                <a:r>
                  <a:rPr lang="en-US" sz="2400" b="1" u="sng" smtClean="0"/>
                  <a:t>Phụ thuộc hàm đầy đủ:</a:t>
                </a:r>
                <a:r>
                  <a:rPr lang="en-US" sz="2400" smtClean="0"/>
                  <a:t> Cho lược đồ </a:t>
                </a:r>
                <a14:m>
                  <m:oMath xmlns:m="http://schemas.openxmlformats.org/officeDocument/2006/math">
                    <m:r>
                      <a:rPr lang="en-US" sz="2400" i="1" smtClean="0">
                        <a:latin typeface="Cambria Math"/>
                      </a:rPr>
                      <m:t>(</m:t>
                    </m:r>
                    <m:r>
                      <a:rPr lang="en-US" sz="2400" i="1" smtClean="0">
                        <a:latin typeface="Cambria Math"/>
                      </a:rPr>
                      <m:t>𝑅</m:t>
                    </m:r>
                    <m:r>
                      <a:rPr lang="en-US" sz="2400" i="1" smtClean="0">
                        <a:latin typeface="Cambria Math"/>
                      </a:rPr>
                      <m:t>,</m:t>
                    </m:r>
                    <m:r>
                      <a:rPr lang="en-US" sz="2400" i="1" smtClean="0">
                        <a:latin typeface="Cambria Math"/>
                      </a:rPr>
                      <m:t>𝐹</m:t>
                    </m:r>
                    <m:r>
                      <a:rPr lang="en-US" sz="2400" i="1" smtClean="0">
                        <a:latin typeface="Cambria Math"/>
                      </a:rPr>
                      <m:t>)</m:t>
                    </m:r>
                  </m:oMath>
                </a14:m>
                <a:r>
                  <a:rPr lang="en-US" sz="2400" smtClean="0"/>
                  <a:t>, phụ thuộc hàm </a:t>
                </a:r>
                <a14:m>
                  <m:oMath xmlns:m="http://schemas.openxmlformats.org/officeDocument/2006/math">
                    <m:r>
                      <a:rPr lang="en-US" sz="2400" i="1" smtClean="0">
                        <a:latin typeface="Cambria Math"/>
                      </a:rPr>
                      <m:t>𝑋</m:t>
                    </m:r>
                    <m:r>
                      <a:rPr lang="en-US" sz="2400" b="0" i="1" smtClean="0">
                        <a:latin typeface="Cambria Math"/>
                      </a:rPr>
                      <m:t>→</m:t>
                    </m:r>
                    <m:r>
                      <a:rPr lang="en-US" sz="2400" b="0" i="1" smtClean="0">
                        <a:latin typeface="Cambria Math"/>
                      </a:rPr>
                      <m:t>𝑌</m:t>
                    </m:r>
                  </m:oMath>
                </a14:m>
                <a:r>
                  <a:rPr lang="en-US" sz="2400" smtClean="0"/>
                  <a:t> là thành viên của </a:t>
                </a:r>
                <a14:m>
                  <m:oMath xmlns:m="http://schemas.openxmlformats.org/officeDocument/2006/math">
                    <m:sSup>
                      <m:sSupPr>
                        <m:ctrlPr>
                          <a:rPr lang="en-US" sz="2400" b="0" i="1" smtClean="0">
                            <a:latin typeface="Cambria Math" panose="02040503050406030204" pitchFamily="18" charset="0"/>
                          </a:rPr>
                        </m:ctrlPr>
                      </m:sSupPr>
                      <m:e>
                        <m:r>
                          <a:rPr lang="en-US" sz="2400" i="1" smtClean="0">
                            <a:latin typeface="Cambria Math"/>
                          </a:rPr>
                          <m:t>𝐹</m:t>
                        </m:r>
                      </m:e>
                      <m:sup>
                        <m:r>
                          <a:rPr lang="en-US" sz="2400" b="0" i="1" smtClean="0">
                            <a:latin typeface="Cambria Math"/>
                          </a:rPr>
                          <m:t>+</m:t>
                        </m:r>
                      </m:sup>
                    </m:sSup>
                  </m:oMath>
                </a14:m>
                <a:r>
                  <a:rPr lang="en-US" sz="2400" smtClean="0"/>
                  <a:t>. Nếu mọi thuộc tính </a:t>
                </a:r>
                <a14:m>
                  <m:oMath xmlns:m="http://schemas.openxmlformats.org/officeDocument/2006/math">
                    <m:r>
                      <a:rPr lang="en-US" sz="2400" i="1" smtClean="0">
                        <a:latin typeface="Cambria Math"/>
                      </a:rPr>
                      <m:t>𝐴</m:t>
                    </m:r>
                  </m:oMath>
                </a14:m>
                <a:r>
                  <a:rPr lang="en-US" sz="2400" smtClean="0"/>
                  <a:t> thuộc </a:t>
                </a:r>
                <a14:m>
                  <m:oMath xmlns:m="http://schemas.openxmlformats.org/officeDocument/2006/math">
                    <m:r>
                      <a:rPr lang="en-US" sz="2400" i="1" smtClean="0">
                        <a:latin typeface="Cambria Math"/>
                      </a:rPr>
                      <m:t>𝑋</m:t>
                    </m:r>
                  </m:oMath>
                </a14:m>
                <a:r>
                  <a:rPr lang="en-US" sz="2400" smtClean="0"/>
                  <a:t> mà phụ thuộc hàm </a:t>
                </a:r>
                <a14:m>
                  <m:oMath xmlns:m="http://schemas.openxmlformats.org/officeDocument/2006/math">
                    <m:d>
                      <m:dPr>
                        <m:ctrlPr>
                          <a:rPr lang="en-US" sz="2400" i="1" smtClean="0">
                            <a:latin typeface="Cambria Math" panose="02040503050406030204" pitchFamily="18" charset="0"/>
                          </a:rPr>
                        </m:ctrlPr>
                      </m:dPr>
                      <m:e>
                        <m:r>
                          <a:rPr lang="en-US" sz="2400" i="1" smtClean="0">
                            <a:latin typeface="Cambria Math"/>
                          </a:rPr>
                          <m:t>𝑋</m:t>
                        </m:r>
                        <m:r>
                          <a:rPr lang="en-US" sz="2400" b="0" i="1" smtClean="0">
                            <a:latin typeface="Cambria Math"/>
                          </a:rPr>
                          <m:t>−</m:t>
                        </m:r>
                        <m:r>
                          <a:rPr lang="en-US" sz="2400" b="0" i="1" smtClean="0">
                            <a:latin typeface="Cambria Math"/>
                          </a:rPr>
                          <m:t>𝐴</m:t>
                        </m:r>
                      </m:e>
                    </m:d>
                    <m:r>
                      <a:rPr lang="en-US" sz="2400" b="0" i="1" smtClean="0">
                        <a:latin typeface="Cambria Math"/>
                      </a:rPr>
                      <m:t>→</m:t>
                    </m:r>
                    <m:r>
                      <a:rPr lang="en-US" sz="2400" b="0" i="1" smtClean="0">
                        <a:latin typeface="Cambria Math"/>
                      </a:rPr>
                      <m:t>𝑌</m:t>
                    </m:r>
                  </m:oMath>
                </a14:m>
                <a:r>
                  <a:rPr lang="en-US" sz="2400" smtClean="0"/>
                  <a:t> không thuộc </a:t>
                </a:r>
                <a14:m>
                  <m:oMath xmlns:m="http://schemas.openxmlformats.org/officeDocument/2006/math">
                    <m:sSup>
                      <m:sSupPr>
                        <m:ctrlPr>
                          <a:rPr lang="en-US" sz="2400" b="0" i="1" smtClean="0">
                            <a:latin typeface="Cambria Math" panose="02040503050406030204" pitchFamily="18" charset="0"/>
                          </a:rPr>
                        </m:ctrlPr>
                      </m:sSupPr>
                      <m:e>
                        <m:r>
                          <a:rPr lang="en-US" sz="2400" i="1" smtClean="0">
                            <a:latin typeface="Cambria Math"/>
                          </a:rPr>
                          <m:t>𝐹</m:t>
                        </m:r>
                      </m:e>
                      <m:sup>
                        <m:r>
                          <a:rPr lang="en-US" sz="2400" b="0" i="1" smtClean="0">
                            <a:latin typeface="Cambria Math"/>
                          </a:rPr>
                          <m:t>+</m:t>
                        </m:r>
                      </m:sup>
                    </m:sSup>
                  </m:oMath>
                </a14:m>
                <a:r>
                  <a:rPr lang="en-US" sz="2400" smtClean="0"/>
                  <a:t> thì </a:t>
                </a:r>
                <a14:m>
                  <m:oMath xmlns:m="http://schemas.openxmlformats.org/officeDocument/2006/math">
                    <m:r>
                      <a:rPr lang="en-US" sz="2400" b="0" i="1" smtClean="0">
                        <a:latin typeface="Cambria Math"/>
                      </a:rPr>
                      <m:t>𝑋</m:t>
                    </m:r>
                    <m:r>
                      <a:rPr lang="en-US" sz="2400" b="0" i="1" smtClean="0">
                        <a:latin typeface="Cambria Math"/>
                      </a:rPr>
                      <m:t>→</m:t>
                    </m:r>
                    <m:r>
                      <a:rPr lang="en-US" sz="2400" b="0" i="1" smtClean="0">
                        <a:latin typeface="Cambria Math"/>
                      </a:rPr>
                      <m:t>𝑌</m:t>
                    </m:r>
                  </m:oMath>
                </a14:m>
                <a:r>
                  <a:rPr lang="en-US" sz="2400" smtClean="0"/>
                  <a:t> là một phụ thuộc hàm đầy đủ trong lược đồ </a:t>
                </a:r>
                <a14:m>
                  <m:oMath xmlns:m="http://schemas.openxmlformats.org/officeDocument/2006/math">
                    <m:r>
                      <a:rPr lang="en-US" sz="2400" b="0" i="1" smtClean="0">
                        <a:latin typeface="Cambria Math"/>
                      </a:rPr>
                      <m:t>(</m:t>
                    </m:r>
                    <m:r>
                      <a:rPr lang="en-US" sz="2400" b="0" i="1" smtClean="0">
                        <a:latin typeface="Cambria Math"/>
                      </a:rPr>
                      <m:t>𝑅</m:t>
                    </m:r>
                    <m:r>
                      <a:rPr lang="en-US" sz="2400" b="0" i="1" smtClean="0">
                        <a:latin typeface="Cambria Math"/>
                      </a:rPr>
                      <m:t>,</m:t>
                    </m:r>
                    <m:r>
                      <a:rPr lang="en-US" sz="2400" b="0" i="1" smtClean="0">
                        <a:latin typeface="Cambria Math"/>
                      </a:rPr>
                      <m:t>𝐹</m:t>
                    </m:r>
                    <m:r>
                      <a:rPr lang="en-US" sz="2400" b="0" i="1" smtClean="0">
                        <a:latin typeface="Cambria Math"/>
                      </a:rPr>
                      <m:t>)</m:t>
                    </m:r>
                  </m:oMath>
                </a14:m>
                <a:r>
                  <a:rPr lang="en-US" sz="2400" smtClean="0"/>
                  <a:t> hay </a:t>
                </a:r>
                <a14:m>
                  <m:oMath xmlns:m="http://schemas.openxmlformats.org/officeDocument/2006/math">
                    <m:r>
                      <a:rPr lang="en-US" sz="2400" i="1" smtClean="0">
                        <a:latin typeface="Cambria Math"/>
                      </a:rPr>
                      <m:t>𝑌</m:t>
                    </m:r>
                  </m:oMath>
                </a14:m>
                <a:r>
                  <a:rPr lang="en-US" sz="2400" smtClean="0"/>
                  <a:t> phụ thuộc đầy đủ vào </a:t>
                </a:r>
                <a14:m>
                  <m:oMath xmlns:m="http://schemas.openxmlformats.org/officeDocument/2006/math">
                    <m:r>
                      <a:rPr lang="en-US" sz="2400" i="1" smtClean="0">
                        <a:latin typeface="Cambria Math"/>
                      </a:rPr>
                      <m:t>𝑋</m:t>
                    </m:r>
                  </m:oMath>
                </a14:m>
                <a:r>
                  <a:rPr lang="en-US" sz="2400" smtClean="0"/>
                  <a:t> dưới </a:t>
                </a:r>
                <a14:m>
                  <m:oMath xmlns:m="http://schemas.openxmlformats.org/officeDocument/2006/math">
                    <m:r>
                      <a:rPr lang="en-US" sz="2400" i="1" smtClean="0">
                        <a:latin typeface="Cambria Math"/>
                      </a:rPr>
                      <m:t>𝐹</m:t>
                    </m:r>
                  </m:oMath>
                </a14:m>
                <a:r>
                  <a:rPr lang="en-US" sz="2400" smtClean="0"/>
                  <a:t>. </a:t>
                </a:r>
                <a:endParaRPr lang="en-US" sz="2400"/>
              </a:p>
              <a:p>
                <a:pPr marL="0" indent="0" algn="just">
                  <a:buNone/>
                </a:pPr>
                <a:r>
                  <a:rPr lang="en-US" sz="2400" b="1" u="sng" smtClean="0"/>
                  <a:t>Phủ tối tiểu:</a:t>
                </a:r>
                <a:r>
                  <a:rPr lang="en-US" sz="2400" smtClean="0"/>
                  <a:t> Cho lược đồ </a:t>
                </a:r>
                <a14:m>
                  <m:oMath xmlns:m="http://schemas.openxmlformats.org/officeDocument/2006/math">
                    <m:r>
                      <a:rPr lang="en-US" sz="2400" i="1" smtClean="0">
                        <a:latin typeface="Cambria Math"/>
                      </a:rPr>
                      <m:t>(</m:t>
                    </m:r>
                    <m:r>
                      <a:rPr lang="en-US" sz="2400" i="1" smtClean="0">
                        <a:latin typeface="Cambria Math"/>
                      </a:rPr>
                      <m:t>𝑅</m:t>
                    </m:r>
                    <m:r>
                      <a:rPr lang="en-US" sz="2400" i="1" smtClean="0">
                        <a:latin typeface="Cambria Math"/>
                      </a:rPr>
                      <m:t>,</m:t>
                    </m:r>
                    <m:r>
                      <a:rPr lang="en-US" sz="2400" i="1" smtClean="0">
                        <a:latin typeface="Cambria Math"/>
                      </a:rPr>
                      <m:t>𝐹</m:t>
                    </m:r>
                    <m:r>
                      <a:rPr lang="en-US" sz="2400" i="1" smtClean="0">
                        <a:latin typeface="Cambria Math"/>
                      </a:rPr>
                      <m:t>)</m:t>
                    </m:r>
                  </m:oMath>
                </a14:m>
                <a:r>
                  <a:rPr lang="en-US" sz="2400" smtClean="0"/>
                  <a:t>, tập phụ thuộc hàm </a:t>
                </a:r>
                <a14:m>
                  <m:oMath xmlns:m="http://schemas.openxmlformats.org/officeDocument/2006/math">
                    <m:r>
                      <a:rPr lang="en-US" sz="2400" i="1" smtClean="0">
                        <a:latin typeface="Cambria Math"/>
                      </a:rPr>
                      <m:t>𝐹</m:t>
                    </m:r>
                    <m:r>
                      <a:rPr lang="en-US" sz="2400" i="1" smtClean="0">
                        <a:latin typeface="Cambria Math"/>
                      </a:rPr>
                      <m:t>’</m:t>
                    </m:r>
                  </m:oMath>
                </a14:m>
                <a:r>
                  <a:rPr lang="en-US" sz="2400" smtClean="0"/>
                  <a:t> gọi là phủ tối tiểu của lược đồ nếu thỏa các điều sau</a:t>
                </a:r>
              </a:p>
              <a:p>
                <a:pPr marL="457200" indent="-457200" algn="just">
                  <a:buAutoNum type="arabicPeriod"/>
                </a:pPr>
                <a14:m>
                  <m:oMath xmlns:m="http://schemas.openxmlformats.org/officeDocument/2006/math">
                    <m:r>
                      <a:rPr lang="en-US" sz="2400" b="0" i="1" smtClean="0">
                        <a:latin typeface="Cambria Math"/>
                      </a:rPr>
                      <m:t>𝐹</m:t>
                    </m:r>
                    <m:r>
                      <a:rPr lang="en-US" sz="2400" b="0" i="1" smtClean="0">
                        <a:latin typeface="Cambria Math"/>
                      </a:rPr>
                      <m:t>′</m:t>
                    </m:r>
                  </m:oMath>
                </a14:m>
                <a:r>
                  <a:rPr lang="en-US" sz="2400" smtClean="0"/>
                  <a:t> là phủ của </a:t>
                </a:r>
                <a14:m>
                  <m:oMath xmlns:m="http://schemas.openxmlformats.org/officeDocument/2006/math">
                    <m:r>
                      <a:rPr lang="en-US" sz="2400" i="1" smtClean="0">
                        <a:latin typeface="Cambria Math"/>
                      </a:rPr>
                      <m:t>𝐹</m:t>
                    </m:r>
                  </m:oMath>
                </a14:m>
                <a:endParaRPr lang="en-US" sz="2400" smtClean="0"/>
              </a:p>
              <a:p>
                <a:pPr marL="457200" indent="-457200" algn="just">
                  <a:buAutoNum type="arabicPeriod"/>
                </a:pPr>
                <a:r>
                  <a:rPr lang="en-US" sz="2400" smtClean="0"/>
                  <a:t>Tất cả các phụ thuộc hàm </a:t>
                </a:r>
                <a14:m>
                  <m:oMath xmlns:m="http://schemas.openxmlformats.org/officeDocument/2006/math">
                    <m:r>
                      <a:rPr lang="en-US" sz="2400" b="0" i="1" smtClean="0">
                        <a:latin typeface="Cambria Math"/>
                      </a:rPr>
                      <m:t>𝑓</m:t>
                    </m:r>
                    <m:r>
                      <a:rPr lang="en-US" sz="2400" b="0" i="1" smtClean="0">
                        <a:latin typeface="Cambria Math"/>
                      </a:rPr>
                      <m:t>∈</m:t>
                    </m:r>
                    <m:r>
                      <a:rPr lang="en-US" sz="2400" b="0" i="1" smtClean="0">
                        <a:latin typeface="Cambria Math"/>
                      </a:rPr>
                      <m:t>𝐹</m:t>
                    </m:r>
                    <m:r>
                      <a:rPr lang="en-US" sz="2400" b="0" i="1" smtClean="0">
                        <a:latin typeface="Cambria Math"/>
                      </a:rPr>
                      <m:t>′</m:t>
                    </m:r>
                  </m:oMath>
                </a14:m>
                <a:r>
                  <a:rPr lang="en-US" sz="2400" smtClean="0"/>
                  <a:t> có vế phải là một thuộc tính.</a:t>
                </a:r>
              </a:p>
              <a:p>
                <a:pPr marL="457200" indent="-457200" algn="just">
                  <a:buAutoNum type="arabicPeriod"/>
                </a:pPr>
                <a:r>
                  <a:rPr lang="en-US" sz="2400" smtClean="0"/>
                  <a:t>Tất cả các </a:t>
                </a:r>
                <a:r>
                  <a:rPr lang="en-US" sz="2400"/>
                  <a:t>phụ thuộc hàm </a:t>
                </a:r>
                <a14:m>
                  <m:oMath xmlns:m="http://schemas.openxmlformats.org/officeDocument/2006/math">
                    <m:r>
                      <a:rPr lang="en-US" sz="2400" i="1">
                        <a:latin typeface="Cambria Math"/>
                      </a:rPr>
                      <m:t>𝑓</m:t>
                    </m:r>
                    <m:r>
                      <a:rPr lang="en-US" sz="2400" i="1">
                        <a:latin typeface="Cambria Math"/>
                      </a:rPr>
                      <m:t>∈</m:t>
                    </m:r>
                    <m:r>
                      <a:rPr lang="en-US" sz="2400" i="1">
                        <a:latin typeface="Cambria Math"/>
                      </a:rPr>
                      <m:t>𝐹</m:t>
                    </m:r>
                    <m:r>
                      <a:rPr lang="en-US" sz="2400" i="1">
                        <a:latin typeface="Cambria Math"/>
                      </a:rPr>
                      <m:t>′</m:t>
                    </m:r>
                  </m:oMath>
                </a14:m>
                <a:r>
                  <a:rPr lang="en-US" sz="2400" smtClean="0"/>
                  <a:t> là phụ thuộc hàm đầy đủ </a:t>
                </a:r>
              </a:p>
              <a:p>
                <a:pPr marL="457200" indent="-457200" algn="just">
                  <a:buAutoNum type="arabicPeriod"/>
                </a:pPr>
                <a:r>
                  <a:rPr lang="en-US" sz="2400" smtClean="0"/>
                  <a:t>Nếu ta có </a:t>
                </a:r>
                <a14:m>
                  <m:oMath xmlns:m="http://schemas.openxmlformats.org/officeDocument/2006/math">
                    <m:sSup>
                      <m:sSupPr>
                        <m:ctrlPr>
                          <a:rPr lang="en-US" sz="2400" b="0" i="1" smtClean="0">
                            <a:latin typeface="Cambria Math" panose="02040503050406030204" pitchFamily="18" charset="0"/>
                          </a:rPr>
                        </m:ctrlPr>
                      </m:sSupPr>
                      <m:e>
                        <m:r>
                          <a:rPr lang="en-US" sz="2400" i="1" smtClean="0">
                            <a:latin typeface="Cambria Math"/>
                          </a:rPr>
                          <m:t>𝐹</m:t>
                        </m:r>
                      </m:e>
                      <m:sup>
                        <m:r>
                          <a:rPr lang="en-US" sz="2400" b="0" i="1" smtClean="0">
                            <a:latin typeface="Cambria Math"/>
                          </a:rPr>
                          <m:t>′′</m:t>
                        </m:r>
                      </m:sup>
                    </m:sSup>
                    <m:r>
                      <a:rPr lang="en-US" sz="2400" b="0" i="1" smtClean="0">
                        <a:latin typeface="Cambria Math"/>
                      </a:rPr>
                      <m:t>=</m:t>
                    </m:r>
                    <m:sSup>
                      <m:sSupPr>
                        <m:ctrlPr>
                          <a:rPr lang="en-US" sz="2400" b="0" i="1" smtClean="0">
                            <a:latin typeface="Cambria Math" panose="02040503050406030204" pitchFamily="18" charset="0"/>
                          </a:rPr>
                        </m:ctrlPr>
                      </m:sSupPr>
                      <m:e>
                        <m:r>
                          <a:rPr lang="en-US" sz="2400" b="0" i="1" smtClean="0">
                            <a:latin typeface="Cambria Math"/>
                          </a:rPr>
                          <m:t>𝐹</m:t>
                        </m:r>
                      </m:e>
                      <m:sup>
                        <m:r>
                          <a:rPr lang="en-US" sz="2400" b="0" i="1" smtClean="0">
                            <a:latin typeface="Cambria Math"/>
                          </a:rPr>
                          <m:t>′</m:t>
                        </m:r>
                      </m:sup>
                    </m:sSup>
                    <m:r>
                      <a:rPr lang="en-US" sz="2400" b="0" i="1" smtClean="0">
                        <a:latin typeface="Cambria Math"/>
                      </a:rPr>
                      <m:t>−</m:t>
                    </m:r>
                    <m:r>
                      <a:rPr lang="en-US" sz="2400" b="0" i="1" smtClean="0">
                        <a:latin typeface="Cambria Math"/>
                      </a:rPr>
                      <m:t>𝑓</m:t>
                    </m:r>
                    <m:r>
                      <a:rPr lang="en-US" sz="2400" b="0" i="1" smtClean="0">
                        <a:latin typeface="Cambria Math"/>
                      </a:rPr>
                      <m:t>′</m:t>
                    </m:r>
                  </m:oMath>
                </a14:m>
                <a:r>
                  <a:rPr lang="en-US" sz="2400" smtClean="0"/>
                  <a:t>, thì </a:t>
                </a:r>
                <a14:m>
                  <m:oMath xmlns:m="http://schemas.openxmlformats.org/officeDocument/2006/math">
                    <m:r>
                      <a:rPr lang="en-US" sz="2400" i="1" smtClean="0">
                        <a:latin typeface="Cambria Math"/>
                      </a:rPr>
                      <m:t>𝐹</m:t>
                    </m:r>
                    <m:r>
                      <a:rPr lang="en-US" sz="2400" i="1" smtClean="0">
                        <a:latin typeface="Cambria Math"/>
                      </a:rPr>
                      <m:t>’’</m:t>
                    </m:r>
                  </m:oMath>
                </a14:m>
                <a:r>
                  <a:rPr lang="en-US" sz="2400" smtClean="0"/>
                  <a:t> không là tương đương với </a:t>
                </a:r>
                <a14:m>
                  <m:oMath xmlns:m="http://schemas.openxmlformats.org/officeDocument/2006/math">
                    <m:r>
                      <a:rPr lang="en-US" sz="2400" i="1" smtClean="0">
                        <a:latin typeface="Cambria Math"/>
                      </a:rPr>
                      <m:t>𝐹</m:t>
                    </m:r>
                    <m:r>
                      <a:rPr lang="en-US" sz="2400" i="1" smtClean="0">
                        <a:latin typeface="Cambria Math"/>
                      </a:rPr>
                      <m:t>’</m:t>
                    </m:r>
                  </m:oMath>
                </a14:m>
                <a:endParaRPr lang="en-US" sz="24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2"/>
                <a:stretch>
                  <a:fillRect l="-1053" t="-928" r="-1053"/>
                </a:stretch>
              </a:blipFill>
            </p:spPr>
            <p:txBody>
              <a:bodyPr/>
              <a:lstStyle/>
              <a:p>
                <a:r>
                  <a:rPr lang="en-US">
                    <a:noFill/>
                  </a:rPr>
                  <a:t> </a:t>
                </a:r>
              </a:p>
            </p:txBody>
          </p:sp>
        </mc:Fallback>
      </mc:AlternateContent>
    </p:spTree>
    <p:extLst>
      <p:ext uri="{BB962C8B-B14F-4D97-AF65-F5344CB8AC3E}">
        <p14:creationId xmlns:p14="http://schemas.microsoft.com/office/powerpoint/2010/main" val="2031510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phụ thuộc hàm đầy đủ)</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Cho lược đồ </a:t>
                </a:r>
                <a14:m>
                  <m:oMath xmlns:m="http://schemas.openxmlformats.org/officeDocument/2006/math">
                    <m:d>
                      <m:dPr>
                        <m:ctrlPr>
                          <a:rPr lang="en-US" sz="2400" i="1" smtClean="0">
                            <a:latin typeface="Cambria Math" panose="02040503050406030204" pitchFamily="18" charset="0"/>
                          </a:rPr>
                        </m:ctrlPr>
                      </m:dPr>
                      <m:e>
                        <m:r>
                          <a:rPr lang="en-US" sz="2400" i="1" smtClean="0">
                            <a:latin typeface="Cambria Math"/>
                          </a:rPr>
                          <m:t>𝑅</m:t>
                        </m:r>
                        <m:r>
                          <a:rPr lang="en-US" sz="2400" i="1" smtClean="0">
                            <a:latin typeface="Cambria Math"/>
                          </a:rPr>
                          <m:t>,</m:t>
                        </m:r>
                        <m:r>
                          <a:rPr lang="en-US" sz="2400" i="1" smtClean="0">
                            <a:latin typeface="Cambria Math"/>
                          </a:rPr>
                          <m:t>𝐹</m:t>
                        </m:r>
                      </m:e>
                    </m:d>
                    <m:r>
                      <a:rPr lang="en-US" sz="2400" b="0" i="0" smtClean="0">
                        <a:latin typeface="Cambria Math" panose="02040503050406030204" pitchFamily="18" charset="0"/>
                      </a:rPr>
                      <m:t>, </m:t>
                    </m:r>
                    <m:r>
                      <a:rPr lang="en-US" sz="2400" b="0" i="1" smtClean="0">
                        <a:latin typeface="Cambria Math" panose="02040503050406030204" pitchFamily="18" charset="0"/>
                      </a:rPr>
                      <m:t>  </m:t>
                    </m:r>
                    <m:r>
                      <a:rPr lang="en-US" sz="2400" i="1" smtClean="0">
                        <a:latin typeface="Cambria Math"/>
                      </a:rPr>
                      <m:t>𝑅</m:t>
                    </m:r>
                    <m:r>
                      <a:rPr lang="en-US" sz="2400" i="1" smtClean="0">
                        <a:latin typeface="Cambria Math"/>
                      </a:rPr>
                      <m:t>=</m:t>
                    </m:r>
                    <m:r>
                      <a:rPr lang="en-US" sz="2400" b="0" i="1" smtClean="0">
                        <a:latin typeface="Cambria Math"/>
                      </a:rPr>
                      <m:t>𝐶𝐷𝐸</m:t>
                    </m:r>
                    <m:r>
                      <a:rPr lang="en-US" sz="2400" b="0" i="1" smtClean="0">
                        <a:latin typeface="Cambria Math" panose="02040503050406030204" pitchFamily="18" charset="0"/>
                      </a:rPr>
                      <m:t>,      </m:t>
                    </m:r>
                    <m:r>
                      <a:rPr lang="en-US" sz="2400" i="1" smtClean="0">
                        <a:latin typeface="Cambria Math"/>
                      </a:rPr>
                      <m:t>𝐹</m:t>
                    </m:r>
                    <m:r>
                      <a:rPr lang="en-US" sz="2400" b="0" i="1" smtClean="0">
                        <a:latin typeface="Cambria Math"/>
                      </a:rPr>
                      <m:t>=</m:t>
                    </m:r>
                    <m:d>
                      <m:dPr>
                        <m:begChr m:val="{"/>
                        <m:endChr m:val="}"/>
                        <m:ctrlPr>
                          <a:rPr lang="en-US" sz="2400" b="0" i="1" smtClean="0">
                            <a:latin typeface="Cambria Math" panose="02040503050406030204" pitchFamily="18" charset="0"/>
                          </a:rPr>
                        </m:ctrlPr>
                      </m:dPr>
                      <m:e>
                        <m:r>
                          <a:rPr lang="en-US" sz="2400" b="0" i="1" smtClean="0">
                            <a:latin typeface="Cambria Math"/>
                          </a:rPr>
                          <m:t>𝐶𝐷</m:t>
                        </m:r>
                        <m:r>
                          <a:rPr lang="en-US" sz="2400" b="0" i="1" smtClean="0">
                            <a:latin typeface="Cambria Math"/>
                          </a:rPr>
                          <m:t>→</m:t>
                        </m:r>
                        <m:r>
                          <a:rPr lang="en-US" sz="2400" b="0" i="1" smtClean="0">
                            <a:latin typeface="Cambria Math"/>
                          </a:rPr>
                          <m:t>𝐸</m:t>
                        </m:r>
                        <m:r>
                          <a:rPr lang="en-US" sz="2400" b="0" i="1" smtClean="0">
                            <a:latin typeface="Cambria Math"/>
                          </a:rPr>
                          <m:t>, </m:t>
                        </m:r>
                        <m:r>
                          <a:rPr lang="en-US" sz="2400" b="0" i="1" smtClean="0">
                            <a:latin typeface="Cambria Math"/>
                          </a:rPr>
                          <m:t>𝐷</m:t>
                        </m:r>
                        <m:r>
                          <a:rPr lang="en-US" sz="2400" b="0" i="1" smtClean="0">
                            <a:latin typeface="Cambria Math"/>
                          </a:rPr>
                          <m:t>→</m:t>
                        </m:r>
                        <m:r>
                          <a:rPr lang="en-US" sz="2400" b="0" i="1" smtClean="0">
                            <a:latin typeface="Cambria Math"/>
                          </a:rPr>
                          <m:t>𝐶</m:t>
                        </m:r>
                      </m:e>
                    </m:d>
                  </m:oMath>
                </a14:m>
                <a:endParaRPr lang="en-US" sz="2400" b="0" smtClean="0"/>
              </a:p>
              <a:p>
                <a:pPr marL="0" indent="0">
                  <a:buNone/>
                </a:pPr>
                <a:r>
                  <a:rPr lang="en-US" sz="2400" smtClean="0"/>
                  <a:t>Xét </a:t>
                </a:r>
                <a14:m>
                  <m:oMath xmlns:m="http://schemas.openxmlformats.org/officeDocument/2006/math">
                    <m:r>
                      <a:rPr lang="en-US" sz="2400" i="1" smtClean="0">
                        <a:latin typeface="Cambria Math"/>
                      </a:rPr>
                      <m:t>𝐶𝐷</m:t>
                    </m:r>
                    <m:r>
                      <a:rPr lang="en-US" sz="2400" b="0" i="1" smtClean="0">
                        <a:latin typeface="Cambria Math"/>
                      </a:rPr>
                      <m:t>→</m:t>
                    </m:r>
                    <m:r>
                      <a:rPr lang="en-US" sz="2400" b="0" i="1" smtClean="0">
                        <a:latin typeface="Cambria Math"/>
                      </a:rPr>
                      <m:t>𝐸</m:t>
                    </m:r>
                  </m:oMath>
                </a14:m>
                <a:r>
                  <a:rPr lang="en-US" sz="2400" smtClean="0"/>
                  <a:t>, ta làm</a:t>
                </a:r>
              </a:p>
              <a:p>
                <a:r>
                  <a:rPr lang="en-US" sz="2400" smtClean="0"/>
                  <a:t>Loại </a:t>
                </a:r>
                <a14:m>
                  <m:oMath xmlns:m="http://schemas.openxmlformats.org/officeDocument/2006/math">
                    <m:r>
                      <a:rPr lang="en-US" sz="2400" i="1" smtClean="0">
                        <a:latin typeface="Cambria Math"/>
                      </a:rPr>
                      <m:t>𝐶</m:t>
                    </m:r>
                  </m:oMath>
                </a14:m>
                <a:r>
                  <a:rPr lang="en-US" sz="2400" smtClean="0"/>
                  <a:t>, xét </a:t>
                </a:r>
                <a14:m>
                  <m:oMath xmlns:m="http://schemas.openxmlformats.org/officeDocument/2006/math">
                    <m:r>
                      <a:rPr lang="en-US" sz="2400" i="1" smtClean="0">
                        <a:latin typeface="Cambria Math"/>
                      </a:rPr>
                      <m:t>𝐷</m:t>
                    </m:r>
                    <m:r>
                      <a:rPr lang="en-US" sz="2400" b="0" i="1" smtClean="0">
                        <a:latin typeface="Cambria Math"/>
                      </a:rPr>
                      <m:t>→</m:t>
                    </m:r>
                    <m:r>
                      <a:rPr lang="en-US" sz="2400" b="0" i="1" smtClean="0">
                        <a:latin typeface="Cambria Math"/>
                      </a:rPr>
                      <m:t>𝐸</m:t>
                    </m:r>
                  </m:oMath>
                </a14:m>
                <a:r>
                  <a:rPr lang="en-US" sz="2400" smtClean="0"/>
                  <a:t> có thuộc </a:t>
                </a:r>
                <a14:m>
                  <m:oMath xmlns:m="http://schemas.openxmlformats.org/officeDocument/2006/math">
                    <m:sSup>
                      <m:sSupPr>
                        <m:ctrlPr>
                          <a:rPr lang="en-US" sz="2400" b="0" i="1" smtClean="0">
                            <a:latin typeface="Cambria Math" panose="02040503050406030204" pitchFamily="18" charset="0"/>
                          </a:rPr>
                        </m:ctrlPr>
                      </m:sSupPr>
                      <m:e>
                        <m:r>
                          <a:rPr lang="en-US" sz="2400" i="1" smtClean="0">
                            <a:latin typeface="Cambria Math"/>
                          </a:rPr>
                          <m:t>𝐹</m:t>
                        </m:r>
                      </m:e>
                      <m:sup>
                        <m:r>
                          <a:rPr lang="en-US" sz="2400" b="0" i="1" smtClean="0">
                            <a:latin typeface="Cambria Math"/>
                          </a:rPr>
                          <m:t>+</m:t>
                        </m:r>
                      </m:sup>
                    </m:sSup>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a:rPr>
                          <m:t>𝐶𝐷</m:t>
                        </m:r>
                        <m:r>
                          <a:rPr lang="en-US" sz="2400" i="1">
                            <a:latin typeface="Cambria Math"/>
                          </a:rPr>
                          <m:t>→</m:t>
                        </m:r>
                        <m:r>
                          <a:rPr lang="en-US" sz="2400" i="1">
                            <a:latin typeface="Cambria Math"/>
                          </a:rPr>
                          <m:t>𝐸</m:t>
                        </m:r>
                        <m:r>
                          <a:rPr lang="en-US" sz="2400" i="1">
                            <a:latin typeface="Cambria Math"/>
                          </a:rPr>
                          <m:t>, </m:t>
                        </m:r>
                        <m:r>
                          <a:rPr lang="en-US" sz="2400" i="1">
                            <a:latin typeface="Cambria Math"/>
                          </a:rPr>
                          <m:t>𝐷</m:t>
                        </m:r>
                        <m:r>
                          <a:rPr lang="en-US" sz="2400" i="1">
                            <a:latin typeface="Cambria Math"/>
                          </a:rPr>
                          <m:t>→</m:t>
                        </m:r>
                        <m:r>
                          <a:rPr lang="en-US" sz="2400" i="1">
                            <a:latin typeface="Cambria Math"/>
                          </a:rPr>
                          <m:t>𝐶</m:t>
                        </m:r>
                      </m:e>
                    </m:d>
                  </m:oMath>
                </a14:m>
                <a:r>
                  <a:rPr lang="en-US" sz="2400" smtClean="0"/>
                  <a:t> không</a:t>
                </a:r>
                <a:r>
                  <a:rPr lang="en-US" sz="2400" smtClean="0"/>
                  <a:t>. Ta thấy </a:t>
                </a:r>
                <a14:m>
                  <m:oMath xmlns:m="http://schemas.openxmlformats.org/officeDocument/2006/math">
                    <m:sSubSup>
                      <m:sSubSupPr>
                        <m:ctrlPr>
                          <a:rPr lang="en-US" sz="2400" b="0" i="1" smtClean="0">
                            <a:latin typeface="Cambria Math" panose="02040503050406030204" pitchFamily="18" charset="0"/>
                          </a:rPr>
                        </m:ctrlPr>
                      </m:sSubSupPr>
                      <m:e>
                        <m:r>
                          <a:rPr lang="en-US" sz="2400" i="1" smtClean="0">
                            <a:latin typeface="Cambria Math"/>
                          </a:rPr>
                          <m:t>𝐷</m:t>
                        </m:r>
                      </m:e>
                      <m:sub>
                        <m:r>
                          <a:rPr lang="en-US" sz="2400" b="0" i="1" smtClean="0">
                            <a:latin typeface="Cambria Math"/>
                          </a:rPr>
                          <m:t>𝐹</m:t>
                        </m:r>
                      </m:sub>
                      <m:sup>
                        <m:r>
                          <a:rPr lang="en-US" sz="2400" b="0" i="1" smtClean="0">
                            <a:latin typeface="Cambria Math"/>
                          </a:rPr>
                          <m:t>+</m:t>
                        </m:r>
                      </m:sup>
                    </m:sSubSup>
                    <m:r>
                      <a:rPr lang="en-US" sz="2400" b="0" i="1" smtClean="0">
                        <a:latin typeface="Cambria Math"/>
                      </a:rPr>
                      <m:t>=</m:t>
                    </m:r>
                    <m:r>
                      <a:rPr lang="en-US" sz="2400" b="0" i="1" smtClean="0">
                        <a:latin typeface="Cambria Math"/>
                      </a:rPr>
                      <m:t>𝐷𝐶𝐸</m:t>
                    </m:r>
                  </m:oMath>
                </a14:m>
                <a:r>
                  <a:rPr lang="en-US" sz="2400" smtClean="0"/>
                  <a:t>, do đó </a:t>
                </a:r>
                <a14:m>
                  <m:oMath xmlns:m="http://schemas.openxmlformats.org/officeDocument/2006/math">
                    <m:r>
                      <a:rPr lang="en-US" sz="2400" i="1" smtClean="0">
                        <a:latin typeface="Cambria Math"/>
                      </a:rPr>
                      <m:t>𝐷</m:t>
                    </m:r>
                    <m:r>
                      <a:rPr lang="en-US" sz="2400" b="0" i="1" smtClean="0">
                        <a:latin typeface="Cambria Math"/>
                      </a:rPr>
                      <m:t>→</m:t>
                    </m:r>
                    <m:r>
                      <a:rPr lang="en-US" sz="2400" b="0" i="1" smtClean="0">
                        <a:latin typeface="Cambria Math"/>
                      </a:rPr>
                      <m:t>𝐸</m:t>
                    </m:r>
                    <m:r>
                      <a:rPr lang="en-US" sz="2400" b="0" i="1" smtClean="0">
                        <a:latin typeface="Cambria Math"/>
                      </a:rPr>
                      <m:t>∈</m:t>
                    </m:r>
                    <m:sSup>
                      <m:sSupPr>
                        <m:ctrlPr>
                          <a:rPr lang="en-US" sz="2400" b="0" i="1" smtClean="0">
                            <a:latin typeface="Cambria Math" panose="02040503050406030204" pitchFamily="18" charset="0"/>
                          </a:rPr>
                        </m:ctrlPr>
                      </m:sSupPr>
                      <m:e>
                        <m:r>
                          <a:rPr lang="en-US" sz="2400" b="0" i="1" smtClean="0">
                            <a:latin typeface="Cambria Math"/>
                          </a:rPr>
                          <m:t>𝐹</m:t>
                        </m:r>
                      </m:e>
                      <m:sup>
                        <m:r>
                          <a:rPr lang="en-US" sz="2400" b="0" i="1" smtClean="0">
                            <a:latin typeface="Cambria Math"/>
                          </a:rPr>
                          <m:t>+</m:t>
                        </m:r>
                      </m:sup>
                    </m:sSup>
                  </m:oMath>
                </a14:m>
                <a:r>
                  <a:rPr lang="en-US" sz="2400" smtClean="0"/>
                  <a:t> vậy </a:t>
                </a:r>
                <a14:m>
                  <m:oMath xmlns:m="http://schemas.openxmlformats.org/officeDocument/2006/math">
                    <m:r>
                      <a:rPr lang="en-US" sz="2400" i="1" smtClean="0">
                        <a:latin typeface="Cambria Math"/>
                      </a:rPr>
                      <m:t>𝐶</m:t>
                    </m:r>
                  </m:oMath>
                </a14:m>
                <a:r>
                  <a:rPr lang="en-US" sz="2400" smtClean="0"/>
                  <a:t> dư thừa.</a:t>
                </a:r>
              </a:p>
              <a:p>
                <a:r>
                  <a:rPr lang="en-US" sz="2400" smtClean="0"/>
                  <a:t>Lúc này ta chỉ còn </a:t>
                </a:r>
                <a14:m>
                  <m:oMath xmlns:m="http://schemas.openxmlformats.org/officeDocument/2006/math">
                    <m:r>
                      <a:rPr lang="en-US" sz="2400" b="0" i="1" smtClean="0">
                        <a:latin typeface="Cambria Math"/>
                      </a:rPr>
                      <m:t>𝐷</m:t>
                    </m:r>
                    <m:r>
                      <a:rPr lang="en-US" sz="2400" b="0" i="1" smtClean="0">
                        <a:latin typeface="Cambria Math"/>
                      </a:rPr>
                      <m:t>→</m:t>
                    </m:r>
                    <m:r>
                      <a:rPr lang="en-US" sz="2400" b="0" i="1" smtClean="0">
                        <a:latin typeface="Cambria Math"/>
                      </a:rPr>
                      <m:t>𝐸</m:t>
                    </m:r>
                  </m:oMath>
                </a14:m>
                <a:r>
                  <a:rPr lang="en-US" sz="2400" smtClean="0"/>
                  <a:t>. Vậy vế trái còn 1 thuộc tính nên không làm tiếp.</a:t>
                </a:r>
              </a:p>
              <a:p>
                <a:pPr marL="0" indent="0">
                  <a:buNone/>
                </a:pPr>
                <a:r>
                  <a:rPr lang="en-US" sz="2400" smtClean="0"/>
                  <a:t>Kết quả là </a:t>
                </a:r>
                <a14:m>
                  <m:oMath xmlns:m="http://schemas.openxmlformats.org/officeDocument/2006/math">
                    <m:r>
                      <a:rPr lang="en-US" sz="2400" i="1" smtClean="0">
                        <a:latin typeface="Cambria Math"/>
                      </a:rPr>
                      <m:t>𝐹</m:t>
                    </m:r>
                    <m:r>
                      <a:rPr lang="en-US" sz="2400" b="0" i="1" smtClean="0">
                        <a:latin typeface="Cambria Math"/>
                      </a:rPr>
                      <m:t>={</m:t>
                    </m:r>
                    <m:r>
                      <a:rPr lang="en-US" sz="2400" b="0" i="1" smtClean="0">
                        <a:latin typeface="Cambria Math"/>
                      </a:rPr>
                      <m:t>𝐷</m:t>
                    </m:r>
                    <m:r>
                      <a:rPr lang="en-US" sz="2400" b="0" i="1" smtClean="0">
                        <a:latin typeface="Cambria Math"/>
                      </a:rPr>
                      <m:t>→</m:t>
                    </m:r>
                    <m:r>
                      <a:rPr lang="en-US" sz="2400" b="0" i="1" smtClean="0">
                        <a:latin typeface="Cambria Math"/>
                      </a:rPr>
                      <m:t>𝐸</m:t>
                    </m:r>
                    <m:r>
                      <a:rPr lang="en-US" sz="2400" b="0" i="1" smtClean="0">
                        <a:latin typeface="Cambria Math"/>
                      </a:rPr>
                      <m:t>,</m:t>
                    </m:r>
                    <m:r>
                      <a:rPr lang="en-US" sz="2400" b="0" i="1" smtClean="0">
                        <a:latin typeface="Cambria Math"/>
                      </a:rPr>
                      <m:t>𝐷</m:t>
                    </m:r>
                    <m:r>
                      <a:rPr lang="en-US" sz="2400" b="0" i="1" smtClean="0">
                        <a:latin typeface="Cambria Math"/>
                      </a:rPr>
                      <m:t>→</m:t>
                    </m:r>
                    <m:r>
                      <a:rPr lang="en-US" sz="2400" b="0" i="1" smtClean="0">
                        <a:latin typeface="Cambria Math"/>
                      </a:rPr>
                      <m:t>𝐶</m:t>
                    </m:r>
                    <m:r>
                      <a:rPr lang="en-US" sz="2400" b="0" i="1" smtClean="0">
                        <a:latin typeface="Cambria Math"/>
                      </a:rPr>
                      <m:t>}</m:t>
                    </m:r>
                  </m:oMath>
                </a14:m>
                <a:endParaRPr lang="en-US" sz="2400"/>
              </a:p>
              <a:p>
                <a:pPr marL="0" indent="0">
                  <a:buNone/>
                </a:pPr>
                <a:endParaRPr lang="en-US" sz="2000" i="1" smtClean="0"/>
              </a:p>
              <a:p>
                <a:pPr marL="0" indent="0">
                  <a:buNone/>
                </a:pPr>
                <a:r>
                  <a:rPr lang="en-US" sz="2000" i="1" smtClean="0"/>
                  <a:t>Ghi </a:t>
                </a:r>
                <a:r>
                  <a:rPr lang="en-US" sz="2000" i="1" smtClean="0"/>
                  <a:t>chú: Nếu ta xét loại </a:t>
                </a:r>
                <a14:m>
                  <m:oMath xmlns:m="http://schemas.openxmlformats.org/officeDocument/2006/math">
                    <m:r>
                      <a:rPr lang="en-US" sz="2000" i="1" smtClean="0">
                        <a:latin typeface="Cambria Math"/>
                      </a:rPr>
                      <m:t>𝐷</m:t>
                    </m:r>
                  </m:oMath>
                </a14:m>
                <a:r>
                  <a:rPr lang="en-US" sz="2000" i="1" smtClean="0"/>
                  <a:t> trước, thì ta nhận kết quả là không loại </a:t>
                </a:r>
                <a14:m>
                  <m:oMath xmlns:m="http://schemas.openxmlformats.org/officeDocument/2006/math">
                    <m:r>
                      <a:rPr lang="en-US" sz="2000" i="1" smtClean="0">
                        <a:latin typeface="Cambria Math"/>
                      </a:rPr>
                      <m:t>𝐷</m:t>
                    </m:r>
                  </m:oMath>
                </a14:m>
                <a:r>
                  <a:rPr lang="en-US" sz="2000" i="1" smtClean="0"/>
                  <a:t>, khi đó </a:t>
                </a:r>
                <a14:m>
                  <m:oMath xmlns:m="http://schemas.openxmlformats.org/officeDocument/2006/math">
                    <m:r>
                      <a:rPr lang="en-US" sz="2000" i="1" smtClean="0">
                        <a:latin typeface="Cambria Math"/>
                      </a:rPr>
                      <m:t>𝐹</m:t>
                    </m:r>
                  </m:oMath>
                </a14:m>
                <a:r>
                  <a:rPr lang="en-US" sz="2000" i="1" smtClean="0"/>
                  <a:t> vẫn còn nguyên </a:t>
                </a:r>
                <a14:m>
                  <m:oMath xmlns:m="http://schemas.openxmlformats.org/officeDocument/2006/math">
                    <m:r>
                      <a:rPr lang="en-US" sz="2000" i="1" smtClean="0">
                        <a:latin typeface="Cambria Math"/>
                      </a:rPr>
                      <m:t>𝐶𝐷</m:t>
                    </m:r>
                    <m:r>
                      <a:rPr lang="en-US" sz="2000" b="0" i="1" smtClean="0">
                        <a:latin typeface="Cambria Math"/>
                      </a:rPr>
                      <m:t>→</m:t>
                    </m:r>
                    <m:r>
                      <a:rPr lang="en-US" sz="2000" b="0" i="1" smtClean="0">
                        <a:latin typeface="Cambria Math"/>
                      </a:rPr>
                      <m:t>𝐸</m:t>
                    </m:r>
                  </m:oMath>
                </a14:m>
                <a:r>
                  <a:rPr lang="en-US" sz="2000" i="1" smtClean="0"/>
                  <a:t> và lại xét tiếp có loại </a:t>
                </a:r>
                <a14:m>
                  <m:oMath xmlns:m="http://schemas.openxmlformats.org/officeDocument/2006/math">
                    <m:r>
                      <a:rPr lang="en-US" sz="2000" i="1" smtClean="0">
                        <a:latin typeface="Cambria Math"/>
                      </a:rPr>
                      <m:t>𝐶</m:t>
                    </m:r>
                  </m:oMath>
                </a14:m>
                <a:r>
                  <a:rPr lang="en-US" sz="2000" i="1" smtClean="0"/>
                  <a:t> không</a:t>
                </a:r>
                <a:r>
                  <a:rPr lang="en-US" sz="2000" i="1" smtClean="0"/>
                  <a:t>.</a:t>
                </a:r>
                <a:endParaRPr lang="en-US" sz="2000" smtClean="0"/>
              </a:p>
              <a:p>
                <a:pPr marL="0" indent="0">
                  <a:buNone/>
                </a:pPr>
                <a:r>
                  <a:rPr lang="en-US" sz="2000"/>
                  <a:t>Ví </a:t>
                </a:r>
                <a:r>
                  <a:rPr lang="en-US" sz="2000" smtClean="0"/>
                  <a:t>dụ cho lược đồ trên: </a:t>
                </a:r>
                <a14:m>
                  <m:oMath xmlns:m="http://schemas.openxmlformats.org/officeDocument/2006/math">
                    <m:r>
                      <a:rPr lang="en-US" sz="2000" i="1">
                        <a:latin typeface="Cambria Math"/>
                      </a:rPr>
                      <m:t>𝑠𝑖𝑛h𝑣𝑖𝑒𝑛</m:t>
                    </m:r>
                    <m:r>
                      <a:rPr lang="en-US" sz="2000" i="1">
                        <a:latin typeface="Cambria Math"/>
                      </a:rPr>
                      <m:t>(</m:t>
                    </m:r>
                    <m:r>
                      <a:rPr lang="en-US" sz="2000" i="1">
                        <a:latin typeface="Cambria Math"/>
                      </a:rPr>
                      <m:t>𝑚𝑎𝑠𝑣</m:t>
                    </m:r>
                    <m:r>
                      <a:rPr lang="en-US" sz="2000" i="1">
                        <a:latin typeface="Cambria Math"/>
                      </a:rPr>
                      <m:t>,</m:t>
                    </m:r>
                    <m:r>
                      <a:rPr lang="en-US" sz="2000" i="1">
                        <a:latin typeface="Cambria Math"/>
                      </a:rPr>
                      <m:t>h𝑜𝑡𝑒𝑛</m:t>
                    </m:r>
                    <m:r>
                      <a:rPr lang="en-US" sz="2000" i="1">
                        <a:latin typeface="Cambria Math"/>
                      </a:rPr>
                      <m:t>,</m:t>
                    </m:r>
                    <m:r>
                      <a:rPr lang="en-US" sz="2000" i="1">
                        <a:latin typeface="Cambria Math"/>
                      </a:rPr>
                      <m:t>𝑑𝑖𝑒𝑚</m:t>
                    </m:r>
                    <m:r>
                      <a:rPr lang="en-US" sz="2000" i="1">
                        <a:latin typeface="Cambria Math"/>
                      </a:rPr>
                      <m:t>,</m:t>
                    </m:r>
                    <m:r>
                      <a:rPr lang="en-US" sz="2000" i="1">
                        <a:latin typeface="Cambria Math"/>
                      </a:rPr>
                      <m:t>𝑚𝑎𝑙𝑜𝑝</m:t>
                    </m:r>
                    <m:r>
                      <a:rPr lang="en-US" sz="2000" i="1">
                        <a:latin typeface="Cambria Math"/>
                      </a:rPr>
                      <m:t>,</m:t>
                    </m:r>
                    <m:r>
                      <a:rPr lang="en-US" sz="2000" i="1">
                        <a:latin typeface="Cambria Math"/>
                      </a:rPr>
                      <m:t>𝑡𝑒𝑛𝑙𝑜𝑝</m:t>
                    </m:r>
                    <m:r>
                      <a:rPr lang="en-US" sz="2000" i="1">
                        <a:latin typeface="Cambria Math"/>
                      </a:rPr>
                      <m:t>)</m:t>
                    </m:r>
                  </m:oMath>
                </a14:m>
                <a:r>
                  <a:rPr lang="en-US" sz="2000"/>
                  <a:t>. </a:t>
                </a:r>
                <a:r>
                  <a:rPr lang="en-US" sz="2000"/>
                  <a:t>Tập phụ thuộc hàm </a:t>
                </a:r>
                <a14:m>
                  <m:oMath xmlns:m="http://schemas.openxmlformats.org/officeDocument/2006/math">
                    <m:r>
                      <a:rPr lang="en-US" sz="2000" i="1">
                        <a:latin typeface="Cambria Math"/>
                      </a:rPr>
                      <m:t>{</m:t>
                    </m:r>
                    <m:r>
                      <a:rPr lang="en-US" sz="2000" i="1">
                        <a:latin typeface="Cambria Math"/>
                      </a:rPr>
                      <m:t>𝑓</m:t>
                    </m:r>
                    <m:r>
                      <a:rPr lang="en-US" sz="2000" i="1">
                        <a:latin typeface="Cambria Math"/>
                      </a:rPr>
                      <m:t>1:</m:t>
                    </m:r>
                    <m:r>
                      <a:rPr lang="en-US" sz="2000" i="1">
                        <a:latin typeface="Cambria Math"/>
                      </a:rPr>
                      <m:t>𝑚𝑎𝑠𝑣</m:t>
                    </m:r>
                    <m:r>
                      <a:rPr lang="en-US" sz="2000" i="1">
                        <a:latin typeface="Cambria Math"/>
                      </a:rPr>
                      <m:t>→</m:t>
                    </m:r>
                    <m:r>
                      <a:rPr lang="en-US" sz="2000" b="0" i="1" smtClean="0">
                        <a:latin typeface="Cambria Math" panose="02040503050406030204" pitchFamily="18" charset="0"/>
                      </a:rPr>
                      <m:t>h𝑜𝑡𝑒𝑛</m:t>
                    </m:r>
                    <m:r>
                      <a:rPr lang="en-US" sz="2000" i="1">
                        <a:latin typeface="Cambria Math"/>
                      </a:rPr>
                      <m:t>;   </m:t>
                    </m:r>
                    <m:r>
                      <a:rPr lang="en-US" sz="2000" i="1">
                        <a:latin typeface="Cambria Math"/>
                      </a:rPr>
                      <m:t>𝑓</m:t>
                    </m:r>
                    <m:r>
                      <a:rPr lang="en-US" sz="2000" i="1">
                        <a:latin typeface="Cambria Math"/>
                      </a:rPr>
                      <m:t>2:</m:t>
                    </m:r>
                    <m:r>
                      <a:rPr lang="en-US" sz="2000" i="1">
                        <a:latin typeface="Cambria Math"/>
                      </a:rPr>
                      <m:t>𝑚𝑎𝑠𝑣</m:t>
                    </m:r>
                    <m:r>
                      <a:rPr lang="en-US" sz="2000" i="1">
                        <a:latin typeface="Cambria Math"/>
                      </a:rPr>
                      <m:t>,</m:t>
                    </m:r>
                    <m:r>
                      <a:rPr lang="en-US" sz="2000" i="1">
                        <a:latin typeface="Cambria Math"/>
                      </a:rPr>
                      <m:t>h𝑜𝑡𝑒𝑛</m:t>
                    </m:r>
                    <m:r>
                      <a:rPr lang="en-US" sz="2000" i="1">
                        <a:latin typeface="Cambria Math"/>
                      </a:rPr>
                      <m:t>→</m:t>
                    </m:r>
                    <m:r>
                      <a:rPr lang="en-US" sz="2000" i="1">
                        <a:latin typeface="Cambria Math"/>
                      </a:rPr>
                      <m:t>𝑑𝑖𝑒𝑚</m:t>
                    </m:r>
                    <m:r>
                      <a:rPr lang="en-US" sz="2000" i="1">
                        <a:latin typeface="Cambria Math"/>
                      </a:rPr>
                      <m:t>;}</m:t>
                    </m:r>
                  </m:oMath>
                </a14:m>
                <a:r>
                  <a:rPr lang="en-US" sz="2000" i="1">
                    <a:latin typeface="Cambria Math"/>
                  </a:rPr>
                  <a:t> </a:t>
                </a:r>
              </a:p>
              <a:p>
                <a:pPr marL="0" indent="0">
                  <a:buNone/>
                </a:pPr>
                <a:r>
                  <a:rPr lang="en-US" sz="2000">
                    <a:latin typeface="Cambria Math"/>
                  </a:rPr>
                  <a:t>Ta thấy </a:t>
                </a:r>
                <a:r>
                  <a:rPr lang="en-US" sz="2000" i="1">
                    <a:latin typeface="Cambria Math"/>
                  </a:rPr>
                  <a:t>f2</a:t>
                </a:r>
                <a:r>
                  <a:rPr lang="en-US" sz="2000">
                    <a:latin typeface="Cambria Math"/>
                  </a:rPr>
                  <a:t> có thuộc tính </a:t>
                </a:r>
                <a:r>
                  <a:rPr lang="en-US" sz="2000" i="1">
                    <a:latin typeface="Cambria Math"/>
                  </a:rPr>
                  <a:t>hoten</a:t>
                </a:r>
                <a:r>
                  <a:rPr lang="en-US" sz="2000">
                    <a:latin typeface="Cambria Math"/>
                  </a:rPr>
                  <a:t> là </a:t>
                </a:r>
                <a:r>
                  <a:rPr lang="en-US" sz="2000">
                    <a:latin typeface="Cambria Math"/>
                  </a:rPr>
                  <a:t>dư </a:t>
                </a:r>
                <a:r>
                  <a:rPr lang="en-US" sz="2000" smtClean="0">
                    <a:latin typeface="Cambria Math"/>
                  </a:rPr>
                  <a:t>thừa.</a:t>
                </a:r>
                <a:endParaRPr lang="en-US" sz="2000">
                  <a:latin typeface="Cambria Math"/>
                </a:endParaRPr>
              </a:p>
              <a:p>
                <a:pPr marL="0" indent="0">
                  <a:buNone/>
                </a:pPr>
                <a:endParaRPr lang="en-US" sz="20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0">
                <a:blip r:embed="rId2"/>
                <a:stretch>
                  <a:fillRect l="-1053" t="-928" r="-912"/>
                </a:stretch>
              </a:blipFill>
            </p:spPr>
            <p:txBody>
              <a:bodyPr/>
              <a:lstStyle/>
              <a:p>
                <a:r>
                  <a:rPr lang="en-US">
                    <a:noFill/>
                  </a:rPr>
                  <a:t> </a:t>
                </a:r>
              </a:p>
            </p:txBody>
          </p:sp>
        </mc:Fallback>
      </mc:AlternateContent>
    </p:spTree>
    <p:extLst>
      <p:ext uri="{BB962C8B-B14F-4D97-AF65-F5344CB8AC3E}">
        <p14:creationId xmlns:p14="http://schemas.microsoft.com/office/powerpoint/2010/main" val="1377344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phụ thuộc hàm đầy đủ)</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105400"/>
              </a:xfrm>
            </p:spPr>
            <p:txBody>
              <a:bodyPr>
                <a:normAutofit/>
              </a:bodyPr>
              <a:lstStyle/>
              <a:p>
                <a:pPr marL="0" indent="0">
                  <a:buNone/>
                </a:pPr>
                <a:r>
                  <a:rPr lang="en-US" sz="2400" smtClean="0"/>
                  <a:t>Cho lược đồ </a:t>
                </a:r>
                <a14:m>
                  <m:oMath xmlns:m="http://schemas.openxmlformats.org/officeDocument/2006/math">
                    <m:d>
                      <m:dPr>
                        <m:ctrlPr>
                          <a:rPr lang="en-US" sz="2400" i="1" smtClean="0">
                            <a:latin typeface="Cambria Math" panose="02040503050406030204" pitchFamily="18" charset="0"/>
                          </a:rPr>
                        </m:ctrlPr>
                      </m:dPr>
                      <m:e>
                        <m:r>
                          <a:rPr lang="en-US" sz="2400" i="1" smtClean="0">
                            <a:latin typeface="Cambria Math"/>
                          </a:rPr>
                          <m:t>𝑅</m:t>
                        </m:r>
                        <m:r>
                          <a:rPr lang="en-US" sz="2400" i="1" smtClean="0">
                            <a:latin typeface="Cambria Math"/>
                          </a:rPr>
                          <m:t>,</m:t>
                        </m:r>
                        <m:r>
                          <a:rPr lang="en-US" sz="2400" i="1" smtClean="0">
                            <a:latin typeface="Cambria Math"/>
                          </a:rPr>
                          <m:t>𝐹</m:t>
                        </m:r>
                      </m:e>
                    </m:d>
                  </m:oMath>
                </a14:m>
                <a:endParaRPr lang="en-US" sz="2400" smtClean="0"/>
              </a:p>
              <a:p>
                <a:pPr marL="0" indent="0">
                  <a:buNone/>
                </a:pPr>
                <a14:m>
                  <m:oMathPara xmlns:m="http://schemas.openxmlformats.org/officeDocument/2006/math">
                    <m:oMathParaPr>
                      <m:jc m:val="left"/>
                    </m:oMathParaPr>
                    <m:oMath xmlns:m="http://schemas.openxmlformats.org/officeDocument/2006/math">
                      <m:r>
                        <a:rPr lang="en-US" sz="2400" i="1" smtClean="0">
                          <a:latin typeface="Cambria Math"/>
                        </a:rPr>
                        <m:t>𝑅</m:t>
                      </m:r>
                      <m:r>
                        <a:rPr lang="en-US" sz="2400" i="1" smtClean="0">
                          <a:latin typeface="Cambria Math"/>
                        </a:rPr>
                        <m:t>=</m:t>
                      </m:r>
                      <m:r>
                        <a:rPr lang="en-US" sz="2400" b="0" i="1" smtClean="0">
                          <a:latin typeface="Cambria Math"/>
                        </a:rPr>
                        <m:t>𝐶𝐷𝐸</m:t>
                      </m:r>
                    </m:oMath>
                  </m:oMathPara>
                </a14:m>
                <a:endParaRPr lang="en-US" sz="2400" smtClean="0"/>
              </a:p>
              <a:p>
                <a:pPr marL="0" indent="0">
                  <a:buNone/>
                </a:pPr>
                <a14:m>
                  <m:oMathPara xmlns:m="http://schemas.openxmlformats.org/officeDocument/2006/math">
                    <m:oMathParaPr>
                      <m:jc m:val="left"/>
                    </m:oMathParaPr>
                    <m:oMath xmlns:m="http://schemas.openxmlformats.org/officeDocument/2006/math">
                      <m:r>
                        <a:rPr lang="en-US" sz="2400" i="1" smtClean="0">
                          <a:latin typeface="Cambria Math"/>
                        </a:rPr>
                        <m:t>𝐹</m:t>
                      </m:r>
                      <m:r>
                        <a:rPr lang="en-US" sz="2400" b="0" i="1" smtClean="0">
                          <a:latin typeface="Cambria Math"/>
                        </a:rPr>
                        <m:t>=</m:t>
                      </m:r>
                      <m:d>
                        <m:dPr>
                          <m:begChr m:val="{"/>
                          <m:endChr m:val="}"/>
                          <m:ctrlPr>
                            <a:rPr lang="en-US" sz="2400" b="0" i="1" smtClean="0">
                              <a:latin typeface="Cambria Math" panose="02040503050406030204" pitchFamily="18" charset="0"/>
                            </a:rPr>
                          </m:ctrlPr>
                        </m:dPr>
                        <m:e>
                          <m:r>
                            <a:rPr lang="en-US" sz="2400" b="0" i="1" smtClean="0">
                              <a:latin typeface="Cambria Math"/>
                            </a:rPr>
                            <m:t>𝐶𝐷</m:t>
                          </m:r>
                          <m:r>
                            <a:rPr lang="en-US" sz="2400" b="0" i="1" smtClean="0">
                              <a:latin typeface="Cambria Math"/>
                            </a:rPr>
                            <m:t>→</m:t>
                          </m:r>
                          <m:r>
                            <a:rPr lang="en-US" sz="2400" b="0" i="1" smtClean="0">
                              <a:latin typeface="Cambria Math"/>
                            </a:rPr>
                            <m:t>𝐸</m:t>
                          </m:r>
                          <m:r>
                            <a:rPr lang="en-US" sz="2400" b="0" i="1" smtClean="0">
                              <a:latin typeface="Cambria Math"/>
                            </a:rPr>
                            <m:t>, </m:t>
                          </m:r>
                          <m:r>
                            <a:rPr lang="en-US" sz="2400" b="0" i="1" smtClean="0">
                              <a:latin typeface="Cambria Math"/>
                            </a:rPr>
                            <m:t>𝐷</m:t>
                          </m:r>
                          <m:r>
                            <a:rPr lang="en-US" sz="2400" b="0" i="1" smtClean="0">
                              <a:latin typeface="Cambria Math"/>
                            </a:rPr>
                            <m:t>→</m:t>
                          </m:r>
                          <m:r>
                            <a:rPr lang="en-US" sz="2400" b="0" i="1" smtClean="0">
                              <a:latin typeface="Cambria Math"/>
                            </a:rPr>
                            <m:t>𝐶</m:t>
                          </m:r>
                          <m:r>
                            <a:rPr lang="en-US" sz="2400" b="0" i="1" smtClean="0">
                              <a:latin typeface="Cambria Math"/>
                            </a:rPr>
                            <m:t>, </m:t>
                          </m:r>
                          <m:r>
                            <a:rPr lang="en-US" sz="2400" b="0" i="1" smtClean="0">
                              <a:latin typeface="Cambria Math"/>
                            </a:rPr>
                            <m:t>𝐶</m:t>
                          </m:r>
                          <m:r>
                            <a:rPr lang="en-US" sz="2400" b="0" i="1" smtClean="0">
                              <a:latin typeface="Cambria Math"/>
                            </a:rPr>
                            <m:t>→</m:t>
                          </m:r>
                          <m:r>
                            <a:rPr lang="en-US" sz="2400" b="0" i="1" smtClean="0">
                              <a:latin typeface="Cambria Math"/>
                            </a:rPr>
                            <m:t>𝐷</m:t>
                          </m:r>
                        </m:e>
                      </m:d>
                    </m:oMath>
                  </m:oMathPara>
                </a14:m>
                <a:endParaRPr lang="en-US" sz="2400" b="0" smtClean="0"/>
              </a:p>
              <a:p>
                <a:pPr marL="0" indent="0">
                  <a:buNone/>
                </a:pPr>
                <a:r>
                  <a:rPr lang="en-US" sz="2400" smtClean="0"/>
                  <a:t>Xét </a:t>
                </a:r>
                <a14:m>
                  <m:oMath xmlns:m="http://schemas.openxmlformats.org/officeDocument/2006/math">
                    <m:r>
                      <a:rPr lang="en-US" sz="2400" i="1" smtClean="0">
                        <a:latin typeface="Cambria Math"/>
                      </a:rPr>
                      <m:t>𝐶𝐷</m:t>
                    </m:r>
                    <m:r>
                      <a:rPr lang="en-US" sz="2400" b="0" i="1" smtClean="0">
                        <a:latin typeface="Cambria Math"/>
                      </a:rPr>
                      <m:t>→</m:t>
                    </m:r>
                    <m:r>
                      <a:rPr lang="en-US" sz="2400" b="0" i="1" smtClean="0">
                        <a:latin typeface="Cambria Math"/>
                      </a:rPr>
                      <m:t>𝐸</m:t>
                    </m:r>
                  </m:oMath>
                </a14:m>
                <a:r>
                  <a:rPr lang="en-US" sz="2400" smtClean="0"/>
                  <a:t>, ta làm</a:t>
                </a:r>
              </a:p>
              <a:p>
                <a:r>
                  <a:rPr lang="en-US" sz="2400" smtClean="0"/>
                  <a:t>Loại </a:t>
                </a:r>
                <a14:m>
                  <m:oMath xmlns:m="http://schemas.openxmlformats.org/officeDocument/2006/math">
                    <m:r>
                      <a:rPr lang="en-US" sz="2400" i="1" smtClean="0">
                        <a:latin typeface="Cambria Math"/>
                      </a:rPr>
                      <m:t>𝐶</m:t>
                    </m:r>
                  </m:oMath>
                </a14:m>
                <a:r>
                  <a:rPr lang="en-US" sz="2400" smtClean="0"/>
                  <a:t>, xét </a:t>
                </a:r>
                <a14:m>
                  <m:oMath xmlns:m="http://schemas.openxmlformats.org/officeDocument/2006/math">
                    <m:r>
                      <a:rPr lang="en-US" sz="2400" i="1" smtClean="0">
                        <a:latin typeface="Cambria Math"/>
                      </a:rPr>
                      <m:t>𝐷</m:t>
                    </m:r>
                    <m:r>
                      <a:rPr lang="en-US" sz="2400" b="0" i="1" smtClean="0">
                        <a:latin typeface="Cambria Math"/>
                      </a:rPr>
                      <m:t>→</m:t>
                    </m:r>
                    <m:r>
                      <a:rPr lang="en-US" sz="2400" b="0" i="1" smtClean="0">
                        <a:latin typeface="Cambria Math"/>
                      </a:rPr>
                      <m:t>𝐸</m:t>
                    </m:r>
                  </m:oMath>
                </a14:m>
                <a:r>
                  <a:rPr lang="en-US" sz="2400" smtClean="0"/>
                  <a:t> có thuộc </a:t>
                </a:r>
                <a14:m>
                  <m:oMath xmlns:m="http://schemas.openxmlformats.org/officeDocument/2006/math">
                    <m:sSup>
                      <m:sSupPr>
                        <m:ctrlPr>
                          <a:rPr lang="en-US" sz="2400" b="0" i="1" smtClean="0">
                            <a:latin typeface="Cambria Math" panose="02040503050406030204" pitchFamily="18" charset="0"/>
                          </a:rPr>
                        </m:ctrlPr>
                      </m:sSupPr>
                      <m:e>
                        <m:r>
                          <a:rPr lang="en-US" sz="2400" i="1" smtClean="0">
                            <a:latin typeface="Cambria Math"/>
                          </a:rPr>
                          <m:t>𝐹</m:t>
                        </m:r>
                      </m:e>
                      <m:sup>
                        <m:r>
                          <a:rPr lang="en-US" sz="2400" b="0" i="1" smtClean="0">
                            <a:latin typeface="Cambria Math"/>
                          </a:rPr>
                          <m:t>+</m:t>
                        </m:r>
                      </m:sup>
                    </m:sSup>
                  </m:oMath>
                </a14:m>
                <a:r>
                  <a:rPr lang="en-US" sz="2400" smtClean="0"/>
                  <a:t> không. Ta thấy </a:t>
                </a:r>
                <a14:m>
                  <m:oMath xmlns:m="http://schemas.openxmlformats.org/officeDocument/2006/math">
                    <m:sSubSup>
                      <m:sSubSupPr>
                        <m:ctrlPr>
                          <a:rPr lang="en-US" sz="2400" b="0" i="1" smtClean="0">
                            <a:latin typeface="Cambria Math" panose="02040503050406030204" pitchFamily="18" charset="0"/>
                          </a:rPr>
                        </m:ctrlPr>
                      </m:sSubSupPr>
                      <m:e>
                        <m:r>
                          <a:rPr lang="en-US" sz="2400" i="1" smtClean="0">
                            <a:latin typeface="Cambria Math"/>
                          </a:rPr>
                          <m:t>𝐷</m:t>
                        </m:r>
                      </m:e>
                      <m:sub>
                        <m:r>
                          <a:rPr lang="en-US" sz="2400" b="0" i="1" smtClean="0">
                            <a:latin typeface="Cambria Math"/>
                          </a:rPr>
                          <m:t>𝐹</m:t>
                        </m:r>
                      </m:sub>
                      <m:sup>
                        <m:r>
                          <a:rPr lang="en-US" sz="2400" b="0" i="1" smtClean="0">
                            <a:latin typeface="Cambria Math"/>
                          </a:rPr>
                          <m:t>+</m:t>
                        </m:r>
                      </m:sup>
                    </m:sSubSup>
                    <m:r>
                      <a:rPr lang="en-US" sz="2400" b="0" i="1" smtClean="0">
                        <a:latin typeface="Cambria Math"/>
                      </a:rPr>
                      <m:t>=</m:t>
                    </m:r>
                    <m:r>
                      <a:rPr lang="en-US" sz="2400" b="0" i="1" smtClean="0">
                        <a:latin typeface="Cambria Math"/>
                      </a:rPr>
                      <m:t>𝐷𝐶𝐸</m:t>
                    </m:r>
                  </m:oMath>
                </a14:m>
                <a:r>
                  <a:rPr lang="en-US" sz="2400" smtClean="0"/>
                  <a:t>, do đó </a:t>
                </a:r>
                <a14:m>
                  <m:oMath xmlns:m="http://schemas.openxmlformats.org/officeDocument/2006/math">
                    <m:r>
                      <a:rPr lang="en-US" sz="2400" i="1" smtClean="0">
                        <a:latin typeface="Cambria Math"/>
                      </a:rPr>
                      <m:t>𝐷</m:t>
                    </m:r>
                    <m:r>
                      <a:rPr lang="en-US" sz="2400" b="0" i="1" smtClean="0">
                        <a:latin typeface="Cambria Math"/>
                      </a:rPr>
                      <m:t>→</m:t>
                    </m:r>
                    <m:r>
                      <a:rPr lang="en-US" sz="2400" b="0" i="1" smtClean="0">
                        <a:latin typeface="Cambria Math"/>
                      </a:rPr>
                      <m:t>𝐸</m:t>
                    </m:r>
                    <m:r>
                      <a:rPr lang="en-US" sz="2400" b="0" i="1" smtClean="0">
                        <a:latin typeface="Cambria Math"/>
                      </a:rPr>
                      <m:t>∈</m:t>
                    </m:r>
                    <m:sSup>
                      <m:sSupPr>
                        <m:ctrlPr>
                          <a:rPr lang="en-US" sz="2400" b="0" i="1" smtClean="0">
                            <a:latin typeface="Cambria Math" panose="02040503050406030204" pitchFamily="18" charset="0"/>
                          </a:rPr>
                        </m:ctrlPr>
                      </m:sSupPr>
                      <m:e>
                        <m:r>
                          <a:rPr lang="en-US" sz="2400" b="0" i="1" smtClean="0">
                            <a:latin typeface="Cambria Math"/>
                          </a:rPr>
                          <m:t>𝐹</m:t>
                        </m:r>
                      </m:e>
                      <m:sup>
                        <m:r>
                          <a:rPr lang="en-US" sz="2400" b="0" i="1" smtClean="0">
                            <a:latin typeface="Cambria Math"/>
                          </a:rPr>
                          <m:t>+</m:t>
                        </m:r>
                      </m:sup>
                    </m:sSup>
                  </m:oMath>
                </a14:m>
                <a:r>
                  <a:rPr lang="en-US" sz="2400" smtClean="0"/>
                  <a:t> vậy </a:t>
                </a:r>
                <a14:m>
                  <m:oMath xmlns:m="http://schemas.openxmlformats.org/officeDocument/2006/math">
                    <m:r>
                      <a:rPr lang="en-US" sz="2400" i="1" smtClean="0">
                        <a:latin typeface="Cambria Math"/>
                      </a:rPr>
                      <m:t>𝐶</m:t>
                    </m:r>
                  </m:oMath>
                </a14:m>
                <a:r>
                  <a:rPr lang="en-US" sz="2400" smtClean="0"/>
                  <a:t> dư thừa.</a:t>
                </a:r>
              </a:p>
              <a:p>
                <a:r>
                  <a:rPr lang="en-US" sz="2400" smtClean="0"/>
                  <a:t>Lúc này ta chỉ còn </a:t>
                </a:r>
                <a14:m>
                  <m:oMath xmlns:m="http://schemas.openxmlformats.org/officeDocument/2006/math">
                    <m:r>
                      <a:rPr lang="en-US" sz="2400" b="0" i="1" smtClean="0">
                        <a:latin typeface="Cambria Math"/>
                      </a:rPr>
                      <m:t>𝐷</m:t>
                    </m:r>
                    <m:r>
                      <a:rPr lang="en-US" sz="2400" b="0" i="1" smtClean="0">
                        <a:latin typeface="Cambria Math"/>
                      </a:rPr>
                      <m:t>→</m:t>
                    </m:r>
                    <m:r>
                      <a:rPr lang="en-US" sz="2400" b="0" i="1" smtClean="0">
                        <a:latin typeface="Cambria Math"/>
                      </a:rPr>
                      <m:t>𝐸</m:t>
                    </m:r>
                  </m:oMath>
                </a14:m>
                <a:r>
                  <a:rPr lang="en-US" sz="2400" smtClean="0"/>
                  <a:t>. Vậy vế trái còn 1 thuộc tính nên không làm tiếp.</a:t>
                </a:r>
              </a:p>
              <a:p>
                <a:pPr marL="0" indent="0">
                  <a:buNone/>
                </a:pPr>
                <a:r>
                  <a:rPr lang="en-US" sz="2400" smtClean="0"/>
                  <a:t>Kết quả là </a:t>
                </a:r>
                <a14:m>
                  <m:oMath xmlns:m="http://schemas.openxmlformats.org/officeDocument/2006/math">
                    <m:r>
                      <a:rPr lang="en-US" sz="2400" i="1" smtClean="0">
                        <a:latin typeface="Cambria Math"/>
                      </a:rPr>
                      <m:t>𝐹</m:t>
                    </m:r>
                    <m:r>
                      <a:rPr lang="en-US" sz="2400" b="0" i="1" smtClean="0">
                        <a:latin typeface="Cambria Math"/>
                      </a:rPr>
                      <m:t>={</m:t>
                    </m:r>
                    <m:r>
                      <a:rPr lang="en-US" sz="2400" b="0" i="1" smtClean="0">
                        <a:latin typeface="Cambria Math"/>
                      </a:rPr>
                      <m:t>𝐷</m:t>
                    </m:r>
                    <m:r>
                      <a:rPr lang="en-US" sz="2400" b="0" i="1" smtClean="0">
                        <a:latin typeface="Cambria Math"/>
                      </a:rPr>
                      <m:t>→</m:t>
                    </m:r>
                    <m:r>
                      <a:rPr lang="en-US" sz="2400" b="0" i="1" smtClean="0">
                        <a:latin typeface="Cambria Math"/>
                      </a:rPr>
                      <m:t>𝐸</m:t>
                    </m:r>
                    <m:r>
                      <a:rPr lang="en-US" sz="2400" b="0" i="1" smtClean="0">
                        <a:latin typeface="Cambria Math"/>
                      </a:rPr>
                      <m:t>,</m:t>
                    </m:r>
                    <m:r>
                      <a:rPr lang="en-US" sz="2400" b="0" i="1" smtClean="0">
                        <a:latin typeface="Cambria Math"/>
                      </a:rPr>
                      <m:t>𝐷</m:t>
                    </m:r>
                    <m:r>
                      <a:rPr lang="en-US" sz="2400" b="0" i="1" smtClean="0">
                        <a:latin typeface="Cambria Math"/>
                      </a:rPr>
                      <m:t>→</m:t>
                    </m:r>
                    <m:r>
                      <a:rPr lang="en-US" sz="2400" b="0" i="1" smtClean="0">
                        <a:latin typeface="Cambria Math"/>
                      </a:rPr>
                      <m:t>𝐶</m:t>
                    </m:r>
                    <m:r>
                      <a:rPr lang="en-US" sz="2400" b="0" i="1" smtClean="0">
                        <a:latin typeface="Cambria Math"/>
                      </a:rPr>
                      <m:t>, </m:t>
                    </m:r>
                    <m:r>
                      <a:rPr lang="en-US" sz="2400" b="0" i="1" smtClean="0">
                        <a:latin typeface="Cambria Math"/>
                      </a:rPr>
                      <m:t>𝐶</m:t>
                    </m:r>
                    <m:r>
                      <a:rPr lang="en-US" sz="2400" b="0" i="1" smtClean="0">
                        <a:latin typeface="Cambria Math"/>
                      </a:rPr>
                      <m:t>→</m:t>
                    </m:r>
                    <m:r>
                      <a:rPr lang="en-US" sz="2400" b="0" i="1" smtClean="0">
                        <a:latin typeface="Cambria Math"/>
                      </a:rPr>
                      <m:t>𝐷</m:t>
                    </m:r>
                    <m:r>
                      <a:rPr lang="en-US" sz="2400" b="0" i="1" smtClean="0">
                        <a:latin typeface="Cambria Math"/>
                      </a:rPr>
                      <m:t>}</m:t>
                    </m:r>
                  </m:oMath>
                </a14:m>
                <a:endParaRPr lang="en-US" sz="2400" smtClean="0"/>
              </a:p>
              <a:p>
                <a:pPr marL="0" indent="0">
                  <a:buNone/>
                </a:pPr>
                <a:endParaRPr lang="en-US" sz="2400"/>
              </a:p>
              <a:p>
                <a:pPr marL="0" indent="0">
                  <a:buNone/>
                </a:pPr>
                <a:r>
                  <a:rPr lang="en-US" sz="2000" i="1" smtClean="0"/>
                  <a:t>Ghi chú: Nếu ta xét loại </a:t>
                </a:r>
                <a14:m>
                  <m:oMath xmlns:m="http://schemas.openxmlformats.org/officeDocument/2006/math">
                    <m:r>
                      <a:rPr lang="en-US" sz="2000" i="1" smtClean="0">
                        <a:latin typeface="Cambria Math"/>
                      </a:rPr>
                      <m:t>𝐷</m:t>
                    </m:r>
                  </m:oMath>
                </a14:m>
                <a:r>
                  <a:rPr lang="en-US" sz="2000" i="1" smtClean="0"/>
                  <a:t> trước, thì ta nhận kết quả là loại </a:t>
                </a:r>
                <a14:m>
                  <m:oMath xmlns:m="http://schemas.openxmlformats.org/officeDocument/2006/math">
                    <m:r>
                      <a:rPr lang="en-US" sz="2000" i="1" smtClean="0">
                        <a:latin typeface="Cambria Math"/>
                      </a:rPr>
                      <m:t>𝐷</m:t>
                    </m:r>
                  </m:oMath>
                </a14:m>
                <a:r>
                  <a:rPr lang="en-US" sz="2000" i="1" smtClean="0"/>
                  <a:t>, khi đó </a:t>
                </a:r>
                <a14:m>
                  <m:oMath xmlns:m="http://schemas.openxmlformats.org/officeDocument/2006/math">
                    <m:r>
                      <a:rPr lang="en-US" sz="2000" i="1" smtClean="0">
                        <a:latin typeface="Cambria Math"/>
                      </a:rPr>
                      <m:t>𝐹</m:t>
                    </m:r>
                  </m:oMath>
                </a14:m>
                <a:r>
                  <a:rPr lang="en-US" sz="2000" i="1" smtClean="0"/>
                  <a:t> thay đổi và chỉ còn lại </a:t>
                </a:r>
                <a14:m>
                  <m:oMath xmlns:m="http://schemas.openxmlformats.org/officeDocument/2006/math">
                    <m:r>
                      <a:rPr lang="en-US" sz="2000" b="0" i="1" smtClean="0">
                        <a:latin typeface="Cambria Math"/>
                      </a:rPr>
                      <m:t>𝐶</m:t>
                    </m:r>
                    <m:r>
                      <a:rPr lang="en-US" sz="2000" b="0" i="1" smtClean="0">
                        <a:latin typeface="Cambria Math"/>
                      </a:rPr>
                      <m:t>→</m:t>
                    </m:r>
                    <m:r>
                      <a:rPr lang="en-US" sz="2000" b="0" i="1" smtClean="0">
                        <a:latin typeface="Cambria Math"/>
                      </a:rPr>
                      <m:t>𝐸</m:t>
                    </m:r>
                  </m:oMath>
                </a14:m>
                <a:r>
                  <a:rPr lang="en-US" sz="2000" i="1" smtClean="0"/>
                  <a:t> thay cho </a:t>
                </a:r>
                <a14:m>
                  <m:oMath xmlns:m="http://schemas.openxmlformats.org/officeDocument/2006/math">
                    <m:r>
                      <a:rPr lang="en-US" sz="2000" b="0" i="1" smtClean="0">
                        <a:latin typeface="Cambria Math"/>
                      </a:rPr>
                      <m:t>𝐶𝐷</m:t>
                    </m:r>
                    <m:r>
                      <a:rPr lang="en-US" sz="2000" b="0" i="1" smtClean="0">
                        <a:latin typeface="Cambria Math"/>
                      </a:rPr>
                      <m:t>→</m:t>
                    </m:r>
                    <m:r>
                      <a:rPr lang="en-US" sz="2000" b="0" i="1" smtClean="0">
                        <a:latin typeface="Cambria Math"/>
                      </a:rPr>
                      <m:t>𝐸</m:t>
                    </m:r>
                  </m:oMath>
                </a14:m>
                <a:r>
                  <a:rPr lang="en-US" sz="2000" i="1" smtClean="0"/>
                  <a:t>. Do đó ta không xét tiếp. Và kết quả là </a:t>
                </a:r>
                <a14:m>
                  <m:oMath xmlns:m="http://schemas.openxmlformats.org/officeDocument/2006/math">
                    <m:r>
                      <a:rPr lang="en-US" sz="2000" i="1">
                        <a:latin typeface="Cambria Math"/>
                      </a:rPr>
                      <m:t>𝐹</m:t>
                    </m:r>
                    <m:r>
                      <a:rPr lang="en-US" sz="2000" i="1">
                        <a:latin typeface="Cambria Math"/>
                      </a:rPr>
                      <m:t>={</m:t>
                    </m:r>
                    <m:r>
                      <a:rPr lang="en-US" sz="2000" b="0" i="1" smtClean="0">
                        <a:latin typeface="Cambria Math"/>
                      </a:rPr>
                      <m:t>𝐶</m:t>
                    </m:r>
                    <m:r>
                      <a:rPr lang="en-US" sz="2000" i="1">
                        <a:latin typeface="Cambria Math"/>
                      </a:rPr>
                      <m:t>→</m:t>
                    </m:r>
                    <m:r>
                      <a:rPr lang="en-US" sz="2000" i="1">
                        <a:latin typeface="Cambria Math"/>
                      </a:rPr>
                      <m:t>𝐸</m:t>
                    </m:r>
                    <m:r>
                      <a:rPr lang="en-US" sz="2000" i="1">
                        <a:latin typeface="Cambria Math"/>
                      </a:rPr>
                      <m:t>,</m:t>
                    </m:r>
                    <m:r>
                      <a:rPr lang="en-US" sz="2000" i="1">
                        <a:latin typeface="Cambria Math"/>
                      </a:rPr>
                      <m:t>𝐷</m:t>
                    </m:r>
                    <m:r>
                      <a:rPr lang="en-US" sz="2000" i="1">
                        <a:latin typeface="Cambria Math"/>
                      </a:rPr>
                      <m:t>→</m:t>
                    </m:r>
                    <m:r>
                      <a:rPr lang="en-US" sz="2000" i="1">
                        <a:latin typeface="Cambria Math"/>
                      </a:rPr>
                      <m:t>𝐶</m:t>
                    </m:r>
                    <m:r>
                      <a:rPr lang="en-US" sz="2000" i="1">
                        <a:latin typeface="Cambria Math"/>
                      </a:rPr>
                      <m:t>, </m:t>
                    </m:r>
                    <m:r>
                      <a:rPr lang="en-US" sz="2000" i="1">
                        <a:latin typeface="Cambria Math"/>
                      </a:rPr>
                      <m:t>𝐶</m:t>
                    </m:r>
                    <m:r>
                      <a:rPr lang="en-US" sz="2000" i="1">
                        <a:latin typeface="Cambria Math"/>
                      </a:rPr>
                      <m:t>→</m:t>
                    </m:r>
                    <m:r>
                      <a:rPr lang="en-US" sz="2000" i="1">
                        <a:latin typeface="Cambria Math"/>
                      </a:rPr>
                      <m:t>𝐷</m:t>
                    </m:r>
                    <m:r>
                      <a:rPr lang="en-US" sz="2000" i="1">
                        <a:latin typeface="Cambria Math"/>
                      </a:rPr>
                      <m:t>}</m:t>
                    </m:r>
                  </m:oMath>
                </a14:m>
                <a:endParaRPr lang="en-US" sz="2000" i="1"/>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105400"/>
              </a:xfrm>
              <a:blipFill rotWithShape="0">
                <a:blip r:embed="rId3"/>
                <a:stretch>
                  <a:fillRect l="-1053" t="-956" r="-1123" b="-1075"/>
                </a:stretch>
              </a:blipFill>
            </p:spPr>
            <p:txBody>
              <a:bodyPr/>
              <a:lstStyle/>
              <a:p>
                <a:r>
                  <a:rPr lang="en-US">
                    <a:noFill/>
                  </a:rPr>
                  <a:t> </a:t>
                </a:r>
              </a:p>
            </p:txBody>
          </p:sp>
        </mc:Fallback>
      </mc:AlternateContent>
    </p:spTree>
    <p:extLst>
      <p:ext uri="{BB962C8B-B14F-4D97-AF65-F5344CB8AC3E}">
        <p14:creationId xmlns:p14="http://schemas.microsoft.com/office/powerpoint/2010/main" val="8228699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phụ thuộc hàm đầy đủ)</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334000"/>
              </a:xfrm>
            </p:spPr>
            <p:txBody>
              <a:bodyPr>
                <a:normAutofit/>
              </a:bodyPr>
              <a:lstStyle/>
              <a:p>
                <a:pPr marL="0" indent="0">
                  <a:buNone/>
                </a:pPr>
                <a:r>
                  <a:rPr lang="en-US" sz="2400" smtClean="0"/>
                  <a:t>Cho lược đồ </a:t>
                </a:r>
                <a14:m>
                  <m:oMath xmlns:m="http://schemas.openxmlformats.org/officeDocument/2006/math">
                    <m:d>
                      <m:dPr>
                        <m:ctrlPr>
                          <a:rPr lang="en-US" sz="2400" i="1" smtClean="0">
                            <a:latin typeface="Cambria Math" panose="02040503050406030204" pitchFamily="18" charset="0"/>
                          </a:rPr>
                        </m:ctrlPr>
                      </m:dPr>
                      <m:e>
                        <m:r>
                          <a:rPr lang="en-US" sz="2400" i="1" smtClean="0">
                            <a:latin typeface="Cambria Math"/>
                          </a:rPr>
                          <m:t>𝑅</m:t>
                        </m:r>
                        <m:r>
                          <a:rPr lang="en-US" sz="2400" i="1" smtClean="0">
                            <a:latin typeface="Cambria Math"/>
                          </a:rPr>
                          <m:t>,</m:t>
                        </m:r>
                        <m:r>
                          <a:rPr lang="en-US" sz="2400" i="1" smtClean="0">
                            <a:latin typeface="Cambria Math"/>
                          </a:rPr>
                          <m:t>𝐹</m:t>
                        </m:r>
                      </m:e>
                    </m:d>
                  </m:oMath>
                </a14:m>
                <a:r>
                  <a:rPr lang="en-US" sz="2400" smtClean="0"/>
                  <a:t>, </a:t>
                </a:r>
                <a14:m>
                  <m:oMath xmlns:m="http://schemas.openxmlformats.org/officeDocument/2006/math">
                    <m:r>
                      <a:rPr lang="en-US" sz="2400" i="1" smtClean="0">
                        <a:latin typeface="Cambria Math"/>
                      </a:rPr>
                      <m:t>𝑅</m:t>
                    </m:r>
                    <m:r>
                      <a:rPr lang="en-US" sz="2400" i="1" smtClean="0">
                        <a:latin typeface="Cambria Math"/>
                      </a:rPr>
                      <m:t>=</m:t>
                    </m:r>
                    <m:r>
                      <a:rPr lang="en-US" sz="2400" b="0" i="1" smtClean="0">
                        <a:latin typeface="Cambria Math"/>
                      </a:rPr>
                      <m:t>𝐴𝐵𝐶𝐷𝐸</m:t>
                    </m:r>
                    <m:r>
                      <a:rPr lang="en-US" sz="2400" b="0" i="0" smtClean="0">
                        <a:latin typeface="Cambria Math" panose="02040503050406030204" pitchFamily="18" charset="0"/>
                      </a:rPr>
                      <m:t>,  </m:t>
                    </m:r>
                    <m:r>
                      <a:rPr lang="en-US" sz="2400" i="1" smtClean="0">
                        <a:latin typeface="Cambria Math"/>
                      </a:rPr>
                      <m:t>𝐹</m:t>
                    </m:r>
                    <m:r>
                      <a:rPr lang="en-US" sz="2400" b="0" i="1" smtClean="0">
                        <a:latin typeface="Cambria Math"/>
                      </a:rPr>
                      <m:t>=</m:t>
                    </m:r>
                    <m:d>
                      <m:dPr>
                        <m:begChr m:val="{"/>
                        <m:endChr m:val="}"/>
                        <m:ctrlPr>
                          <a:rPr lang="en-US" sz="2400" b="0" i="1" smtClean="0">
                            <a:latin typeface="Cambria Math" panose="02040503050406030204" pitchFamily="18" charset="0"/>
                          </a:rPr>
                        </m:ctrlPr>
                      </m:dPr>
                      <m:e>
                        <m:r>
                          <a:rPr lang="en-US" sz="2400" b="0" i="1" smtClean="0">
                            <a:latin typeface="Cambria Math"/>
                          </a:rPr>
                          <m:t>𝐴𝐵𝐶𝐷</m:t>
                        </m:r>
                        <m:r>
                          <a:rPr lang="en-US" sz="2400" b="0" i="1" smtClean="0">
                            <a:latin typeface="Cambria Math"/>
                          </a:rPr>
                          <m:t>→</m:t>
                        </m:r>
                        <m:r>
                          <a:rPr lang="en-US" sz="2400" b="0" i="1" smtClean="0">
                            <a:latin typeface="Cambria Math"/>
                          </a:rPr>
                          <m:t>𝐸</m:t>
                        </m:r>
                        <m:r>
                          <a:rPr lang="en-US" sz="2400" b="0" i="1" smtClean="0">
                            <a:latin typeface="Cambria Math"/>
                          </a:rPr>
                          <m:t>, </m:t>
                        </m:r>
                        <m:r>
                          <a:rPr lang="en-US" sz="2400" b="0" i="1" smtClean="0">
                            <a:latin typeface="Cambria Math"/>
                          </a:rPr>
                          <m:t>𝐴𝐶</m:t>
                        </m:r>
                        <m:r>
                          <a:rPr lang="en-US" sz="2400" b="0" i="1" smtClean="0">
                            <a:latin typeface="Cambria Math"/>
                          </a:rPr>
                          <m:t>→</m:t>
                        </m:r>
                        <m:r>
                          <a:rPr lang="en-US" sz="2400" b="0" i="1" smtClean="0">
                            <a:latin typeface="Cambria Math"/>
                          </a:rPr>
                          <m:t>𝐸</m:t>
                        </m:r>
                      </m:e>
                    </m:d>
                  </m:oMath>
                </a14:m>
                <a:endParaRPr lang="en-US" sz="2400" b="0" smtClean="0"/>
              </a:p>
              <a:p>
                <a:pPr marL="0" indent="0">
                  <a:buNone/>
                </a:pPr>
                <a:r>
                  <a:rPr lang="en-US" sz="2200" smtClean="0"/>
                  <a:t>Xét </a:t>
                </a:r>
                <a14:m>
                  <m:oMath xmlns:m="http://schemas.openxmlformats.org/officeDocument/2006/math">
                    <m:r>
                      <m:rPr>
                        <m:sty m:val="p"/>
                      </m:rPr>
                      <a:rPr lang="en-US" sz="2200" b="0" i="0" smtClean="0">
                        <a:latin typeface="Cambria Math"/>
                      </a:rPr>
                      <m:t>AB</m:t>
                    </m:r>
                    <m:r>
                      <a:rPr lang="en-US" sz="2200" i="1" smtClean="0">
                        <a:latin typeface="Cambria Math"/>
                      </a:rPr>
                      <m:t>𝐶𝐷</m:t>
                    </m:r>
                    <m:r>
                      <a:rPr lang="en-US" sz="2200" b="0" i="1" smtClean="0">
                        <a:latin typeface="Cambria Math"/>
                      </a:rPr>
                      <m:t>→</m:t>
                    </m:r>
                    <m:r>
                      <a:rPr lang="en-US" sz="2200" b="0" i="1" smtClean="0">
                        <a:latin typeface="Cambria Math"/>
                      </a:rPr>
                      <m:t>𝐸</m:t>
                    </m:r>
                  </m:oMath>
                </a14:m>
                <a:r>
                  <a:rPr lang="en-US" sz="2200" smtClean="0"/>
                  <a:t>, ta làm</a:t>
                </a:r>
              </a:p>
              <a:p>
                <a:r>
                  <a:rPr lang="en-US" sz="2200" smtClean="0"/>
                  <a:t>Loại </a:t>
                </a:r>
                <a14:m>
                  <m:oMath xmlns:m="http://schemas.openxmlformats.org/officeDocument/2006/math">
                    <m:r>
                      <a:rPr lang="en-US" sz="2200" b="0" i="1" smtClean="0">
                        <a:latin typeface="Cambria Math"/>
                      </a:rPr>
                      <m:t>𝐶</m:t>
                    </m:r>
                  </m:oMath>
                </a14:m>
                <a:r>
                  <a:rPr lang="en-US" sz="2200" smtClean="0"/>
                  <a:t>, xét </a:t>
                </a:r>
                <a14:m>
                  <m:oMath xmlns:m="http://schemas.openxmlformats.org/officeDocument/2006/math">
                    <m:r>
                      <m:rPr>
                        <m:sty m:val="p"/>
                      </m:rPr>
                      <a:rPr lang="en-US" sz="2200" b="0" i="0" smtClean="0">
                        <a:latin typeface="Cambria Math"/>
                      </a:rPr>
                      <m:t>AB</m:t>
                    </m:r>
                    <m:r>
                      <a:rPr lang="en-US" sz="2200" i="1" smtClean="0">
                        <a:latin typeface="Cambria Math"/>
                      </a:rPr>
                      <m:t>𝐷</m:t>
                    </m:r>
                    <m:r>
                      <a:rPr lang="en-US" sz="2200" b="0" i="1" smtClean="0">
                        <a:latin typeface="Cambria Math"/>
                      </a:rPr>
                      <m:t>→</m:t>
                    </m:r>
                    <m:r>
                      <a:rPr lang="en-US" sz="2200" b="0" i="1" smtClean="0">
                        <a:latin typeface="Cambria Math"/>
                      </a:rPr>
                      <m:t>𝐸</m:t>
                    </m:r>
                  </m:oMath>
                </a14:m>
                <a:r>
                  <a:rPr lang="en-US" sz="2200" smtClean="0"/>
                  <a:t> có thuộc </a:t>
                </a:r>
                <a14:m>
                  <m:oMath xmlns:m="http://schemas.openxmlformats.org/officeDocument/2006/math">
                    <m:sSup>
                      <m:sSupPr>
                        <m:ctrlPr>
                          <a:rPr lang="en-US" sz="2200" b="0" i="1" smtClean="0">
                            <a:latin typeface="Cambria Math" panose="02040503050406030204" pitchFamily="18" charset="0"/>
                          </a:rPr>
                        </m:ctrlPr>
                      </m:sSupPr>
                      <m:e>
                        <m:r>
                          <a:rPr lang="en-US" sz="2200" i="1" smtClean="0">
                            <a:latin typeface="Cambria Math"/>
                          </a:rPr>
                          <m:t>𝐹</m:t>
                        </m:r>
                      </m:e>
                      <m:sup>
                        <m:r>
                          <a:rPr lang="en-US" sz="2200" b="0" i="1" smtClean="0">
                            <a:latin typeface="Cambria Math"/>
                          </a:rPr>
                          <m:t>+</m:t>
                        </m:r>
                      </m:sup>
                    </m:sSup>
                    <m:r>
                      <a:rPr lang="en-US" sz="2200" b="0" i="1" smtClean="0">
                        <a:latin typeface="Cambria Math" panose="02040503050406030204" pitchFamily="18" charset="0"/>
                      </a:rPr>
                      <m:t>={</m:t>
                    </m:r>
                    <m:r>
                      <a:rPr lang="en-US" sz="2200" b="0" i="1" smtClean="0">
                        <a:latin typeface="Cambria Math" panose="02040503050406030204" pitchFamily="18" charset="0"/>
                      </a:rPr>
                      <m:t>𝐴𝐵𝐶𝐷</m:t>
                    </m:r>
                    <m:r>
                      <a:rPr lang="en-US" sz="2200" b="0" i="1" smtClean="0">
                        <a:latin typeface="Cambria Math" panose="02040503050406030204" pitchFamily="18" charset="0"/>
                      </a:rPr>
                      <m:t>→</m:t>
                    </m:r>
                    <m:r>
                      <a:rPr lang="en-US" sz="2200" b="0" i="1" smtClean="0">
                        <a:latin typeface="Cambria Math" panose="02040503050406030204" pitchFamily="18" charset="0"/>
                      </a:rPr>
                      <m:t>𝐸</m:t>
                    </m:r>
                    <m:r>
                      <a:rPr lang="en-US" sz="2200" b="0" i="1" smtClean="0">
                        <a:latin typeface="Cambria Math" panose="02040503050406030204" pitchFamily="18" charset="0"/>
                      </a:rPr>
                      <m:t>,</m:t>
                    </m:r>
                    <m:r>
                      <a:rPr lang="en-US" sz="2200" b="0" i="1" smtClean="0">
                        <a:latin typeface="Cambria Math" panose="02040503050406030204" pitchFamily="18" charset="0"/>
                      </a:rPr>
                      <m:t>𝐴𝐶</m:t>
                    </m:r>
                    <m:r>
                      <a:rPr lang="en-US" sz="2200" b="0" i="1" smtClean="0">
                        <a:latin typeface="Cambria Math" panose="02040503050406030204" pitchFamily="18" charset="0"/>
                      </a:rPr>
                      <m:t>→</m:t>
                    </m:r>
                    <m:r>
                      <a:rPr lang="en-US" sz="2200" b="0" i="1" smtClean="0">
                        <a:latin typeface="Cambria Math" panose="02040503050406030204" pitchFamily="18" charset="0"/>
                      </a:rPr>
                      <m:t>𝐸</m:t>
                    </m:r>
                    <m:r>
                      <a:rPr lang="en-US" sz="2200" b="0" i="1" smtClean="0">
                        <a:latin typeface="Cambria Math" panose="02040503050406030204" pitchFamily="18" charset="0"/>
                      </a:rPr>
                      <m:t>}</m:t>
                    </m:r>
                  </m:oMath>
                </a14:m>
                <a:r>
                  <a:rPr lang="en-US" sz="2200" smtClean="0"/>
                  <a:t> </a:t>
                </a:r>
                <a:r>
                  <a:rPr lang="en-US" sz="2200" smtClean="0"/>
                  <a:t>hay </a:t>
                </a:r>
                <a:r>
                  <a:rPr lang="en-US" sz="2200" smtClean="0"/>
                  <a:t>không</a:t>
                </a:r>
                <a:r>
                  <a:rPr lang="en-US" sz="2200" smtClean="0"/>
                  <a:t>. Ta thấy </a:t>
                </a:r>
                <a14:m>
                  <m:oMath xmlns:m="http://schemas.openxmlformats.org/officeDocument/2006/math">
                    <m:sSubSup>
                      <m:sSubSupPr>
                        <m:ctrlPr>
                          <a:rPr lang="en-US" sz="2200" b="0" i="1" smtClean="0">
                            <a:latin typeface="Cambria Math" panose="02040503050406030204" pitchFamily="18" charset="0"/>
                          </a:rPr>
                        </m:ctrlPr>
                      </m:sSubSupPr>
                      <m:e>
                        <m:r>
                          <a:rPr lang="en-US" sz="2200" b="0" i="1" smtClean="0">
                            <a:latin typeface="Cambria Math"/>
                          </a:rPr>
                          <m:t>𝐴𝐵</m:t>
                        </m:r>
                        <m:r>
                          <a:rPr lang="en-US" sz="2200" i="1" smtClean="0">
                            <a:latin typeface="Cambria Math"/>
                          </a:rPr>
                          <m:t>𝐷</m:t>
                        </m:r>
                      </m:e>
                      <m:sub>
                        <m:r>
                          <a:rPr lang="en-US" sz="2200" b="0" i="1" smtClean="0">
                            <a:latin typeface="Cambria Math"/>
                          </a:rPr>
                          <m:t>𝐹</m:t>
                        </m:r>
                      </m:sub>
                      <m:sup>
                        <m:r>
                          <a:rPr lang="en-US" sz="2200" b="0" i="1" smtClean="0">
                            <a:latin typeface="Cambria Math"/>
                          </a:rPr>
                          <m:t>+</m:t>
                        </m:r>
                      </m:sup>
                    </m:sSubSup>
                    <m:r>
                      <a:rPr lang="en-US" sz="2200" b="0" i="1" smtClean="0">
                        <a:latin typeface="Cambria Math"/>
                      </a:rPr>
                      <m:t>=</m:t>
                    </m:r>
                    <m:r>
                      <a:rPr lang="en-US" sz="2200" b="0" i="1" smtClean="0">
                        <a:latin typeface="Cambria Math"/>
                      </a:rPr>
                      <m:t>𝐴𝐵𝐷</m:t>
                    </m:r>
                  </m:oMath>
                </a14:m>
                <a:r>
                  <a:rPr lang="en-US" sz="2200" smtClean="0"/>
                  <a:t>, do đó </a:t>
                </a:r>
                <a14:m>
                  <m:oMath xmlns:m="http://schemas.openxmlformats.org/officeDocument/2006/math">
                    <m:r>
                      <m:rPr>
                        <m:sty m:val="p"/>
                      </m:rPr>
                      <a:rPr lang="en-US" sz="2200" b="0" i="0" smtClean="0">
                        <a:latin typeface="Cambria Math"/>
                      </a:rPr>
                      <m:t>AB</m:t>
                    </m:r>
                    <m:r>
                      <a:rPr lang="en-US" sz="2200" i="1" smtClean="0">
                        <a:latin typeface="Cambria Math"/>
                      </a:rPr>
                      <m:t>𝐷</m:t>
                    </m:r>
                    <m:r>
                      <a:rPr lang="en-US" sz="2200" b="0" i="1" smtClean="0">
                        <a:latin typeface="Cambria Math"/>
                      </a:rPr>
                      <m:t>→</m:t>
                    </m:r>
                    <m:r>
                      <a:rPr lang="en-US" sz="2200" b="0" i="1" smtClean="0">
                        <a:latin typeface="Cambria Math"/>
                      </a:rPr>
                      <m:t>𝐸</m:t>
                    </m:r>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rPr>
                          <m:t>𝐹</m:t>
                        </m:r>
                      </m:e>
                      <m:sup>
                        <m:r>
                          <a:rPr lang="en-US" sz="2200" b="0" i="1" smtClean="0">
                            <a:latin typeface="Cambria Math"/>
                          </a:rPr>
                          <m:t>+</m:t>
                        </m:r>
                      </m:sup>
                    </m:sSup>
                  </m:oMath>
                </a14:m>
                <a:r>
                  <a:rPr lang="en-US" sz="2200" smtClean="0"/>
                  <a:t> vậy </a:t>
                </a:r>
                <a14:m>
                  <m:oMath xmlns:m="http://schemas.openxmlformats.org/officeDocument/2006/math">
                    <m:r>
                      <a:rPr lang="en-US" sz="2200" i="1" smtClean="0">
                        <a:latin typeface="Cambria Math"/>
                      </a:rPr>
                      <m:t>𝐶</m:t>
                    </m:r>
                  </m:oMath>
                </a14:m>
                <a:r>
                  <a:rPr lang="en-US" sz="2200" smtClean="0"/>
                  <a:t> không dư thừa.</a:t>
                </a:r>
              </a:p>
              <a:p>
                <a:r>
                  <a:rPr lang="en-US" sz="2200" smtClean="0"/>
                  <a:t>Loại </a:t>
                </a:r>
                <a14:m>
                  <m:oMath xmlns:m="http://schemas.openxmlformats.org/officeDocument/2006/math">
                    <m:r>
                      <a:rPr lang="en-US" sz="2200" b="0" i="1" smtClean="0">
                        <a:latin typeface="Cambria Math"/>
                      </a:rPr>
                      <m:t>𝐷</m:t>
                    </m:r>
                  </m:oMath>
                </a14:m>
                <a:r>
                  <a:rPr lang="en-US" sz="2200"/>
                  <a:t>, xét </a:t>
                </a:r>
                <a14:m>
                  <m:oMath xmlns:m="http://schemas.openxmlformats.org/officeDocument/2006/math">
                    <m:r>
                      <m:rPr>
                        <m:sty m:val="p"/>
                      </m:rPr>
                      <a:rPr lang="en-US" sz="2200">
                        <a:latin typeface="Cambria Math"/>
                      </a:rPr>
                      <m:t>AB</m:t>
                    </m:r>
                    <m:r>
                      <a:rPr lang="en-US" sz="2200" b="0" i="1" smtClean="0">
                        <a:latin typeface="Cambria Math"/>
                      </a:rPr>
                      <m:t>𝐶</m:t>
                    </m:r>
                    <m:r>
                      <a:rPr lang="en-US" sz="2200" i="1">
                        <a:latin typeface="Cambria Math"/>
                      </a:rPr>
                      <m:t>→</m:t>
                    </m:r>
                    <m:r>
                      <a:rPr lang="en-US" sz="2200" i="1">
                        <a:latin typeface="Cambria Math"/>
                      </a:rPr>
                      <m:t>𝐸</m:t>
                    </m:r>
                  </m:oMath>
                </a14:m>
                <a:r>
                  <a:rPr lang="en-US" sz="2200"/>
                  <a:t> có thuộc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𝐹</m:t>
                        </m:r>
                      </m:e>
                      <m:sup>
                        <m:r>
                          <a:rPr lang="en-US" sz="2200" i="1">
                            <a:latin typeface="Cambria Math"/>
                          </a:rPr>
                          <m:t>+</m:t>
                        </m:r>
                      </m:sup>
                    </m:sSup>
                    <m:r>
                      <a:rPr lang="en-US" sz="2200" b="0" i="1" smtClean="0">
                        <a:latin typeface="Cambria Math" panose="02040503050406030204" pitchFamily="18" charset="0"/>
                      </a:rPr>
                      <m:t>={</m:t>
                    </m:r>
                    <m:r>
                      <a:rPr lang="en-US" sz="2200" b="0" i="1" smtClean="0">
                        <a:latin typeface="Cambria Math" panose="02040503050406030204" pitchFamily="18" charset="0"/>
                      </a:rPr>
                      <m:t>𝐴𝐵𝐶𝐷</m:t>
                    </m:r>
                    <m:r>
                      <a:rPr lang="en-US" sz="2200" b="0" i="1" smtClean="0">
                        <a:latin typeface="Cambria Math" panose="02040503050406030204" pitchFamily="18" charset="0"/>
                      </a:rPr>
                      <m:t>→</m:t>
                    </m:r>
                    <m:r>
                      <a:rPr lang="en-US" sz="2200" b="0" i="1" smtClean="0">
                        <a:latin typeface="Cambria Math" panose="02040503050406030204" pitchFamily="18" charset="0"/>
                      </a:rPr>
                      <m:t>𝐸</m:t>
                    </m:r>
                    <m:r>
                      <a:rPr lang="en-US" sz="2200" b="0" i="1" smtClean="0">
                        <a:latin typeface="Cambria Math" panose="02040503050406030204" pitchFamily="18" charset="0"/>
                      </a:rPr>
                      <m:t>,</m:t>
                    </m:r>
                    <m:r>
                      <a:rPr lang="en-US" sz="2200" b="0" i="1" smtClean="0">
                        <a:latin typeface="Cambria Math" panose="02040503050406030204" pitchFamily="18" charset="0"/>
                      </a:rPr>
                      <m:t>𝐴𝐶</m:t>
                    </m:r>
                    <m:r>
                      <a:rPr lang="en-US" sz="2200" b="0" i="1" smtClean="0">
                        <a:latin typeface="Cambria Math" panose="02040503050406030204" pitchFamily="18" charset="0"/>
                      </a:rPr>
                      <m:t>→</m:t>
                    </m:r>
                    <m:r>
                      <a:rPr lang="en-US" sz="2200" b="0" i="1" smtClean="0">
                        <a:latin typeface="Cambria Math" panose="02040503050406030204" pitchFamily="18" charset="0"/>
                      </a:rPr>
                      <m:t>𝐸</m:t>
                    </m:r>
                    <m:r>
                      <a:rPr lang="en-US" sz="2200" b="0" i="1" smtClean="0">
                        <a:latin typeface="Cambria Math" panose="02040503050406030204" pitchFamily="18" charset="0"/>
                      </a:rPr>
                      <m:t>}</m:t>
                    </m:r>
                  </m:oMath>
                </a14:m>
                <a:r>
                  <a:rPr lang="en-US" sz="2200"/>
                  <a:t> </a:t>
                </a:r>
                <a:r>
                  <a:rPr lang="en-US" sz="2200" smtClean="0"/>
                  <a:t>hay không</a:t>
                </a:r>
                <a:r>
                  <a:rPr lang="en-US" sz="2200"/>
                  <a:t>. Ta thấy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𝐴𝐵</m:t>
                        </m:r>
                        <m:r>
                          <a:rPr lang="en-US" sz="2200" b="0" i="1" smtClean="0">
                            <a:latin typeface="Cambria Math"/>
                          </a:rPr>
                          <m:t>𝐶</m:t>
                        </m:r>
                      </m:e>
                      <m:sub>
                        <m:r>
                          <a:rPr lang="en-US" sz="2200" i="1">
                            <a:latin typeface="Cambria Math"/>
                          </a:rPr>
                          <m:t>𝐹</m:t>
                        </m:r>
                      </m:sub>
                      <m:sup>
                        <m:r>
                          <a:rPr lang="en-US" sz="2200" i="1">
                            <a:latin typeface="Cambria Math"/>
                          </a:rPr>
                          <m:t>+</m:t>
                        </m:r>
                      </m:sup>
                    </m:sSubSup>
                    <m:r>
                      <a:rPr lang="en-US" sz="2200" i="1">
                        <a:latin typeface="Cambria Math"/>
                      </a:rPr>
                      <m:t>=</m:t>
                    </m:r>
                    <m:r>
                      <a:rPr lang="en-US" sz="2200" i="1">
                        <a:latin typeface="Cambria Math"/>
                      </a:rPr>
                      <m:t>𝐴𝐵𝐶𝐸</m:t>
                    </m:r>
                  </m:oMath>
                </a14:m>
                <a:r>
                  <a:rPr lang="en-US" sz="2200"/>
                  <a:t>, do đó </a:t>
                </a:r>
                <a14:m>
                  <m:oMath xmlns:m="http://schemas.openxmlformats.org/officeDocument/2006/math">
                    <m:r>
                      <m:rPr>
                        <m:sty m:val="p"/>
                      </m:rPr>
                      <a:rPr lang="en-US" sz="2200">
                        <a:latin typeface="Cambria Math"/>
                      </a:rPr>
                      <m:t>AB</m:t>
                    </m:r>
                    <m:r>
                      <a:rPr lang="en-US" sz="2200" b="0" i="1" smtClean="0">
                        <a:latin typeface="Cambria Math"/>
                      </a:rPr>
                      <m:t>𝐶</m:t>
                    </m:r>
                    <m:r>
                      <a:rPr lang="en-US" sz="2200" i="1">
                        <a:latin typeface="Cambria Math"/>
                      </a:rPr>
                      <m:t>→</m:t>
                    </m:r>
                    <m:r>
                      <a:rPr lang="en-US" sz="2200" i="1">
                        <a:latin typeface="Cambria Math"/>
                      </a:rPr>
                      <m:t>𝐸</m:t>
                    </m:r>
                    <m:r>
                      <a:rPr lang="en-US" sz="2200" b="0" i="1" smtClean="0">
                        <a:latin typeface="Cambria Math"/>
                      </a:rPr>
                      <m:t>∈</m:t>
                    </m:r>
                    <m:sSup>
                      <m:sSupPr>
                        <m:ctrlPr>
                          <a:rPr lang="en-US" sz="2200" i="1">
                            <a:latin typeface="Cambria Math" panose="02040503050406030204" pitchFamily="18" charset="0"/>
                          </a:rPr>
                        </m:ctrlPr>
                      </m:sSupPr>
                      <m:e>
                        <m:r>
                          <a:rPr lang="en-US" sz="2200" i="1">
                            <a:latin typeface="Cambria Math"/>
                          </a:rPr>
                          <m:t>𝐹</m:t>
                        </m:r>
                      </m:e>
                      <m:sup>
                        <m:r>
                          <a:rPr lang="en-US" sz="2200" i="1">
                            <a:latin typeface="Cambria Math"/>
                          </a:rPr>
                          <m:t>+</m:t>
                        </m:r>
                      </m:sup>
                    </m:sSup>
                  </m:oMath>
                </a14:m>
                <a:r>
                  <a:rPr lang="en-US" sz="2200"/>
                  <a:t> vậy </a:t>
                </a:r>
                <a14:m>
                  <m:oMath xmlns:m="http://schemas.openxmlformats.org/officeDocument/2006/math">
                    <m:r>
                      <a:rPr lang="en-US" sz="2200" b="0" i="1" smtClean="0">
                        <a:latin typeface="Cambria Math"/>
                      </a:rPr>
                      <m:t>𝐷</m:t>
                    </m:r>
                  </m:oMath>
                </a14:m>
                <a:r>
                  <a:rPr lang="en-US" sz="2200"/>
                  <a:t> </a:t>
                </a:r>
                <a:r>
                  <a:rPr lang="en-US" sz="2200" smtClean="0"/>
                  <a:t>dư </a:t>
                </a:r>
                <a:r>
                  <a:rPr lang="en-US" sz="2200"/>
                  <a:t>thừa</a:t>
                </a:r>
                <a:r>
                  <a:rPr lang="en-US" sz="2200" smtClean="0"/>
                  <a:t>. </a:t>
                </a:r>
              </a:p>
              <a:p>
                <a:pPr marL="0" indent="0">
                  <a:buNone/>
                </a:pPr>
                <a:r>
                  <a:rPr lang="en-US" sz="2200" smtClean="0"/>
                  <a:t>	Lúc này </a:t>
                </a:r>
                <a14:m>
                  <m:oMath xmlns:m="http://schemas.openxmlformats.org/officeDocument/2006/math">
                    <m:r>
                      <a:rPr lang="en-US" sz="2200" i="1" smtClean="0">
                        <a:latin typeface="Cambria Math"/>
                      </a:rPr>
                      <m:t>𝐹</m:t>
                    </m:r>
                    <m:r>
                      <a:rPr lang="en-US" sz="2200" b="0" i="1" smtClean="0">
                        <a:latin typeface="Cambria Math"/>
                      </a:rPr>
                      <m:t>={</m:t>
                    </m:r>
                    <m:r>
                      <a:rPr lang="en-US" sz="2200" i="1">
                        <a:latin typeface="Cambria Math"/>
                      </a:rPr>
                      <m:t>𝐴𝐵𝐶</m:t>
                    </m:r>
                    <m:r>
                      <a:rPr lang="en-US" sz="2200" i="1">
                        <a:latin typeface="Cambria Math"/>
                      </a:rPr>
                      <m:t>→</m:t>
                    </m:r>
                    <m:r>
                      <a:rPr lang="en-US" sz="2200" i="1">
                        <a:latin typeface="Cambria Math"/>
                      </a:rPr>
                      <m:t>𝐸</m:t>
                    </m:r>
                    <m:r>
                      <a:rPr lang="en-US" sz="2200" i="1">
                        <a:latin typeface="Cambria Math"/>
                      </a:rPr>
                      <m:t>, </m:t>
                    </m:r>
                    <m:r>
                      <a:rPr lang="en-US" sz="2200" i="1">
                        <a:latin typeface="Cambria Math"/>
                      </a:rPr>
                      <m:t>𝐴𝐶</m:t>
                    </m:r>
                    <m:r>
                      <a:rPr lang="en-US" sz="2200" i="1">
                        <a:latin typeface="Cambria Math"/>
                      </a:rPr>
                      <m:t>→</m:t>
                    </m:r>
                    <m:r>
                      <a:rPr lang="en-US" sz="2200" i="1">
                        <a:latin typeface="Cambria Math"/>
                      </a:rPr>
                      <m:t>𝐸</m:t>
                    </m:r>
                  </m:oMath>
                </a14:m>
                <a:r>
                  <a:rPr lang="en-US" sz="2200" smtClean="0"/>
                  <a:t>}</a:t>
                </a:r>
              </a:p>
              <a:p>
                <a:r>
                  <a:rPr lang="en-US" sz="2200"/>
                  <a:t>Loại </a:t>
                </a:r>
                <a14:m>
                  <m:oMath xmlns:m="http://schemas.openxmlformats.org/officeDocument/2006/math">
                    <m:r>
                      <a:rPr lang="en-US" sz="2200" b="0" i="1" smtClean="0">
                        <a:latin typeface="Cambria Math"/>
                      </a:rPr>
                      <m:t>𝐵</m:t>
                    </m:r>
                  </m:oMath>
                </a14:m>
                <a:r>
                  <a:rPr lang="en-US" sz="2200"/>
                  <a:t>, xét </a:t>
                </a:r>
                <a14:m>
                  <m:oMath xmlns:m="http://schemas.openxmlformats.org/officeDocument/2006/math">
                    <m:r>
                      <m:rPr>
                        <m:sty m:val="p"/>
                      </m:rPr>
                      <a:rPr lang="en-US" sz="2200">
                        <a:latin typeface="Cambria Math"/>
                      </a:rPr>
                      <m:t>A</m:t>
                    </m:r>
                    <m:r>
                      <a:rPr lang="en-US" sz="2200" i="1">
                        <a:latin typeface="Cambria Math"/>
                      </a:rPr>
                      <m:t>𝐶</m:t>
                    </m:r>
                    <m:r>
                      <a:rPr lang="en-US" sz="2200" i="1">
                        <a:latin typeface="Cambria Math"/>
                      </a:rPr>
                      <m:t>→</m:t>
                    </m:r>
                    <m:r>
                      <a:rPr lang="en-US" sz="2200" i="1">
                        <a:latin typeface="Cambria Math"/>
                      </a:rPr>
                      <m:t>𝐸</m:t>
                    </m:r>
                  </m:oMath>
                </a14:m>
                <a:r>
                  <a:rPr lang="en-US" sz="2200"/>
                  <a:t> có thuộc </a:t>
                </a:r>
                <a14:m>
                  <m:oMath xmlns:m="http://schemas.openxmlformats.org/officeDocument/2006/math">
                    <m:sSup>
                      <m:sSupPr>
                        <m:ctrlPr>
                          <a:rPr lang="en-US" sz="2200" i="1">
                            <a:latin typeface="Cambria Math" panose="02040503050406030204" pitchFamily="18" charset="0"/>
                          </a:rPr>
                        </m:ctrlPr>
                      </m:sSupPr>
                      <m:e>
                        <m:r>
                          <a:rPr lang="en-US" sz="2200" i="1">
                            <a:latin typeface="Cambria Math"/>
                          </a:rPr>
                          <m:t>𝐹</m:t>
                        </m:r>
                      </m:e>
                      <m:sup>
                        <m:r>
                          <a:rPr lang="en-US" sz="2200" i="1">
                            <a:latin typeface="Cambria Math"/>
                          </a:rPr>
                          <m:t>+</m:t>
                        </m:r>
                      </m:sup>
                    </m:sSup>
                    <m:r>
                      <a:rPr lang="en-US" sz="2200" i="1">
                        <a:latin typeface="Cambria Math"/>
                      </a:rPr>
                      <m:t>={</m:t>
                    </m:r>
                    <m:r>
                      <a:rPr lang="en-US" sz="2200" i="1">
                        <a:latin typeface="Cambria Math"/>
                      </a:rPr>
                      <m:t>𝐴𝐵𝐶</m:t>
                    </m:r>
                    <m:r>
                      <a:rPr lang="en-US" sz="2200" i="1">
                        <a:latin typeface="Cambria Math"/>
                      </a:rPr>
                      <m:t>→</m:t>
                    </m:r>
                    <m:r>
                      <a:rPr lang="en-US" sz="2200" i="1">
                        <a:latin typeface="Cambria Math"/>
                      </a:rPr>
                      <m:t>𝐸</m:t>
                    </m:r>
                    <m:r>
                      <a:rPr lang="en-US" sz="2200" i="1">
                        <a:latin typeface="Cambria Math"/>
                      </a:rPr>
                      <m:t>, </m:t>
                    </m:r>
                    <m:r>
                      <a:rPr lang="en-US" sz="2200" i="1">
                        <a:latin typeface="Cambria Math"/>
                      </a:rPr>
                      <m:t>𝐴𝐶</m:t>
                    </m:r>
                    <m:r>
                      <a:rPr lang="en-US" sz="2200" i="1">
                        <a:latin typeface="Cambria Math"/>
                      </a:rPr>
                      <m:t>→</m:t>
                    </m:r>
                    <m:r>
                      <a:rPr lang="en-US" sz="2200" i="1">
                        <a:latin typeface="Cambria Math"/>
                      </a:rPr>
                      <m:t>𝐸</m:t>
                    </m:r>
                  </m:oMath>
                </a14:m>
                <a:r>
                  <a:rPr lang="en-US" sz="2200" smtClean="0"/>
                  <a:t>} </a:t>
                </a:r>
                <a:r>
                  <a:rPr lang="en-US" sz="2200" smtClean="0"/>
                  <a:t>không</a:t>
                </a:r>
                <a:r>
                  <a:rPr lang="en-US" sz="2200"/>
                  <a:t>. Ta thấy </a:t>
                </a:r>
                <a14:m>
                  <m:oMath xmlns:m="http://schemas.openxmlformats.org/officeDocument/2006/math">
                    <m:sSubSup>
                      <m:sSubSupPr>
                        <m:ctrlPr>
                          <a:rPr lang="en-US" sz="2200" i="1">
                            <a:latin typeface="Cambria Math" panose="02040503050406030204" pitchFamily="18" charset="0"/>
                          </a:rPr>
                        </m:ctrlPr>
                      </m:sSubSupPr>
                      <m:e>
                        <m:r>
                          <a:rPr lang="en-US" sz="2200" i="1">
                            <a:latin typeface="Cambria Math"/>
                          </a:rPr>
                          <m:t>𝐴𝐶</m:t>
                        </m:r>
                      </m:e>
                      <m:sub>
                        <m:r>
                          <a:rPr lang="en-US" sz="2200" i="1">
                            <a:latin typeface="Cambria Math"/>
                          </a:rPr>
                          <m:t>𝐹</m:t>
                        </m:r>
                      </m:sub>
                      <m:sup>
                        <m:r>
                          <a:rPr lang="en-US" sz="2200" i="1">
                            <a:latin typeface="Cambria Math"/>
                          </a:rPr>
                          <m:t>+</m:t>
                        </m:r>
                      </m:sup>
                    </m:sSubSup>
                    <m:r>
                      <a:rPr lang="en-US" sz="2200" i="1">
                        <a:latin typeface="Cambria Math"/>
                      </a:rPr>
                      <m:t>=</m:t>
                    </m:r>
                    <m:r>
                      <a:rPr lang="en-US" sz="2200" i="1">
                        <a:latin typeface="Cambria Math"/>
                      </a:rPr>
                      <m:t>𝐴𝐶𝐸</m:t>
                    </m:r>
                  </m:oMath>
                </a14:m>
                <a:r>
                  <a:rPr lang="en-US" sz="2200"/>
                  <a:t>, do đó </a:t>
                </a:r>
                <a14:m>
                  <m:oMath xmlns:m="http://schemas.openxmlformats.org/officeDocument/2006/math">
                    <m:r>
                      <m:rPr>
                        <m:sty m:val="p"/>
                      </m:rPr>
                      <a:rPr lang="en-US" sz="2200">
                        <a:latin typeface="Cambria Math"/>
                      </a:rPr>
                      <m:t>A</m:t>
                    </m:r>
                    <m:r>
                      <a:rPr lang="en-US" sz="2200" i="1">
                        <a:latin typeface="Cambria Math"/>
                      </a:rPr>
                      <m:t>𝐶</m:t>
                    </m:r>
                    <m:r>
                      <a:rPr lang="en-US" sz="2200" i="1">
                        <a:latin typeface="Cambria Math"/>
                      </a:rPr>
                      <m:t>→</m:t>
                    </m:r>
                    <m:r>
                      <a:rPr lang="en-US" sz="2200" i="1">
                        <a:latin typeface="Cambria Math"/>
                      </a:rPr>
                      <m:t>𝐸</m:t>
                    </m:r>
                    <m:r>
                      <a:rPr lang="en-US" sz="2200" i="1">
                        <a:latin typeface="Cambria Math"/>
                      </a:rPr>
                      <m:t>∈</m:t>
                    </m:r>
                    <m:sSup>
                      <m:sSupPr>
                        <m:ctrlPr>
                          <a:rPr lang="en-US" sz="2200" i="1">
                            <a:latin typeface="Cambria Math" panose="02040503050406030204" pitchFamily="18" charset="0"/>
                          </a:rPr>
                        </m:ctrlPr>
                      </m:sSupPr>
                      <m:e>
                        <m:r>
                          <a:rPr lang="en-US" sz="2200" i="1">
                            <a:latin typeface="Cambria Math"/>
                          </a:rPr>
                          <m:t>𝐹</m:t>
                        </m:r>
                      </m:e>
                      <m:sup>
                        <m:r>
                          <a:rPr lang="en-US" sz="2200" i="1">
                            <a:latin typeface="Cambria Math"/>
                          </a:rPr>
                          <m:t>+</m:t>
                        </m:r>
                      </m:sup>
                    </m:sSup>
                  </m:oMath>
                </a14:m>
                <a:r>
                  <a:rPr lang="en-US" sz="2200"/>
                  <a:t> vậy </a:t>
                </a:r>
                <a14:m>
                  <m:oMath xmlns:m="http://schemas.openxmlformats.org/officeDocument/2006/math">
                    <m:r>
                      <a:rPr lang="en-US" sz="2200" b="0" i="1" smtClean="0">
                        <a:latin typeface="Cambria Math"/>
                      </a:rPr>
                      <m:t>𝐵</m:t>
                    </m:r>
                  </m:oMath>
                </a14:m>
                <a:r>
                  <a:rPr lang="en-US" sz="2200"/>
                  <a:t> dư thừa</a:t>
                </a:r>
                <a:r>
                  <a:rPr lang="en-US" sz="2200" smtClean="0"/>
                  <a:t>.</a:t>
                </a:r>
              </a:p>
              <a:p>
                <a:pPr marL="0" indent="0">
                  <a:buNone/>
                </a:pPr>
                <a:r>
                  <a:rPr lang="en-US" sz="2200"/>
                  <a:t> </a:t>
                </a:r>
                <a:r>
                  <a:rPr lang="en-US" sz="2200" smtClean="0"/>
                  <a:t>   	Lúc </a:t>
                </a:r>
                <a:r>
                  <a:rPr lang="en-US" sz="2200"/>
                  <a:t>này </a:t>
                </a:r>
                <a14:m>
                  <m:oMath xmlns:m="http://schemas.openxmlformats.org/officeDocument/2006/math">
                    <m:r>
                      <a:rPr lang="en-US" sz="2200" i="1">
                        <a:latin typeface="Cambria Math"/>
                      </a:rPr>
                      <m:t>𝐹</m:t>
                    </m:r>
                    <m:r>
                      <a:rPr lang="en-US" sz="2200" i="1">
                        <a:latin typeface="Cambria Math"/>
                      </a:rPr>
                      <m:t>={</m:t>
                    </m:r>
                    <m:r>
                      <a:rPr lang="en-US" sz="2200" i="1">
                        <a:latin typeface="Cambria Math"/>
                      </a:rPr>
                      <m:t>𝐴𝐶</m:t>
                    </m:r>
                    <m:r>
                      <a:rPr lang="en-US" sz="2200" i="1">
                        <a:latin typeface="Cambria Math"/>
                      </a:rPr>
                      <m:t>→</m:t>
                    </m:r>
                    <m:r>
                      <a:rPr lang="en-US" sz="2200" i="1">
                        <a:latin typeface="Cambria Math"/>
                      </a:rPr>
                      <m:t>𝐸</m:t>
                    </m:r>
                    <m:r>
                      <a:rPr lang="en-US" sz="2200" i="1">
                        <a:latin typeface="Cambria Math"/>
                      </a:rPr>
                      <m:t>, </m:t>
                    </m:r>
                    <m:r>
                      <a:rPr lang="en-US" sz="2200" i="1">
                        <a:latin typeface="Cambria Math"/>
                      </a:rPr>
                      <m:t>𝐴𝐶</m:t>
                    </m:r>
                    <m:r>
                      <a:rPr lang="en-US" sz="2200" i="1">
                        <a:latin typeface="Cambria Math"/>
                      </a:rPr>
                      <m:t>→</m:t>
                    </m:r>
                    <m:r>
                      <a:rPr lang="en-US" sz="2200" i="1">
                        <a:latin typeface="Cambria Math"/>
                      </a:rPr>
                      <m:t>𝐸</m:t>
                    </m:r>
                  </m:oMath>
                </a14:m>
                <a:r>
                  <a:rPr lang="en-US" sz="2200" smtClean="0"/>
                  <a:t>}  </a:t>
                </a:r>
                <a:r>
                  <a:rPr lang="en-US" sz="2200" smtClean="0">
                    <a:sym typeface="Wingdings" panose="05000000000000000000" pitchFamily="2" charset="2"/>
                  </a:rPr>
                  <a:t> chấm dứt vì chỉ còn 1 pth.</a:t>
                </a:r>
              </a:p>
              <a:p>
                <a:pPr marL="0" indent="0">
                  <a:buNone/>
                </a:pPr>
                <a:endParaRPr lang="en-US" sz="2200" smtClean="0"/>
              </a:p>
              <a:p>
                <a:pPr marL="0" indent="0">
                  <a:buNone/>
                </a:pPr>
                <a:r>
                  <a:rPr lang="en-US" sz="2000" smtClean="0"/>
                  <a:t>Ví dụ cho lược đồ trên: </a:t>
                </a:r>
                <a14:m>
                  <m:oMath xmlns:m="http://schemas.openxmlformats.org/officeDocument/2006/math">
                    <m:r>
                      <a:rPr lang="en-US" sz="2000" i="1">
                        <a:latin typeface="Cambria Math"/>
                      </a:rPr>
                      <m:t>𝑠𝑖𝑛h𝑣𝑖𝑒𝑛</m:t>
                    </m:r>
                    <m:r>
                      <a:rPr lang="en-US" sz="2000" i="1">
                        <a:latin typeface="Cambria Math"/>
                      </a:rPr>
                      <m:t>(</m:t>
                    </m:r>
                    <m:r>
                      <a:rPr lang="en-US" sz="2000" i="1">
                        <a:latin typeface="Cambria Math"/>
                      </a:rPr>
                      <m:t>𝑚𝑎𝑠𝑣</m:t>
                    </m:r>
                    <m:r>
                      <a:rPr lang="en-US" sz="2000" i="1">
                        <a:latin typeface="Cambria Math"/>
                      </a:rPr>
                      <m:t>,</m:t>
                    </m:r>
                    <m:r>
                      <a:rPr lang="en-US" sz="2000" i="1">
                        <a:latin typeface="Cambria Math"/>
                      </a:rPr>
                      <m:t>h𝑜𝑡𝑒𝑛</m:t>
                    </m:r>
                    <m:r>
                      <a:rPr lang="en-US" sz="2000" i="1">
                        <a:latin typeface="Cambria Math"/>
                      </a:rPr>
                      <m:t>,</m:t>
                    </m:r>
                    <m:r>
                      <a:rPr lang="en-US" sz="2000" i="1">
                        <a:latin typeface="Cambria Math"/>
                      </a:rPr>
                      <m:t>𝑑𝑖𝑒𝑚</m:t>
                    </m:r>
                    <m:r>
                      <a:rPr lang="en-US" sz="2000" i="1">
                        <a:latin typeface="Cambria Math"/>
                      </a:rPr>
                      <m:t>,</m:t>
                    </m:r>
                    <m:r>
                      <a:rPr lang="en-US" sz="2000" i="1">
                        <a:latin typeface="Cambria Math"/>
                      </a:rPr>
                      <m:t>𝑚𝑎𝑙𝑜𝑝</m:t>
                    </m:r>
                    <m:r>
                      <a:rPr lang="en-US" sz="2000" i="1">
                        <a:latin typeface="Cambria Math"/>
                      </a:rPr>
                      <m:t>,</m:t>
                    </m:r>
                    <m:r>
                      <a:rPr lang="en-US" sz="2000" i="1">
                        <a:latin typeface="Cambria Math"/>
                      </a:rPr>
                      <m:t>𝑡𝑒𝑛𝑙𝑜𝑝</m:t>
                    </m:r>
                    <m:r>
                      <a:rPr lang="en-US" sz="2000" i="1">
                        <a:latin typeface="Cambria Math"/>
                      </a:rPr>
                      <m:t>)</m:t>
                    </m:r>
                  </m:oMath>
                </a14:m>
                <a:r>
                  <a:rPr lang="en-US" sz="2000"/>
                  <a:t>. </a:t>
                </a:r>
                <a:r>
                  <a:rPr lang="en-US" sz="2000" smtClean="0"/>
                  <a:t>Tập phụ thuộc hàm </a:t>
                </a:r>
                <a14:m>
                  <m:oMath xmlns:m="http://schemas.openxmlformats.org/officeDocument/2006/math">
                    <m:r>
                      <a:rPr lang="en-US" sz="2000" i="1">
                        <a:latin typeface="Cambria Math"/>
                      </a:rPr>
                      <m:t>{</m:t>
                    </m:r>
                    <m:r>
                      <a:rPr lang="en-US" sz="2000" i="1">
                        <a:latin typeface="Cambria Math"/>
                      </a:rPr>
                      <m:t>𝑓</m:t>
                    </m:r>
                    <m:r>
                      <a:rPr lang="en-US" sz="2000" i="1">
                        <a:latin typeface="Cambria Math"/>
                      </a:rPr>
                      <m:t>1:</m:t>
                    </m:r>
                    <m:r>
                      <a:rPr lang="en-US" sz="2000" i="1">
                        <a:latin typeface="Cambria Math"/>
                      </a:rPr>
                      <m:t>𝑚𝑎𝑠𝑣</m:t>
                    </m:r>
                    <m:r>
                      <a:rPr lang="en-US" sz="2000" i="1">
                        <a:latin typeface="Cambria Math"/>
                      </a:rPr>
                      <m:t>→</m:t>
                    </m:r>
                    <m:r>
                      <a:rPr lang="en-US" sz="2000" i="1">
                        <a:latin typeface="Cambria Math"/>
                      </a:rPr>
                      <m:t>𝑑𝑖𝑒𝑚</m:t>
                    </m:r>
                    <m:r>
                      <a:rPr lang="en-US" sz="2000" i="1">
                        <a:latin typeface="Cambria Math"/>
                      </a:rPr>
                      <m:t>;   </m:t>
                    </m:r>
                    <m:r>
                      <a:rPr lang="en-US" sz="2000" i="1">
                        <a:latin typeface="Cambria Math"/>
                      </a:rPr>
                      <m:t>𝑓</m:t>
                    </m:r>
                    <m:r>
                      <a:rPr lang="en-US" sz="2000" i="1">
                        <a:latin typeface="Cambria Math"/>
                      </a:rPr>
                      <m:t>2:</m:t>
                    </m:r>
                    <m:r>
                      <a:rPr lang="en-US" sz="2000" i="1">
                        <a:latin typeface="Cambria Math"/>
                      </a:rPr>
                      <m:t>𝑚𝑎𝑠𝑣</m:t>
                    </m:r>
                    <m:r>
                      <a:rPr lang="en-US" sz="2000" i="1">
                        <a:latin typeface="Cambria Math"/>
                      </a:rPr>
                      <m:t>,</m:t>
                    </m:r>
                    <m:r>
                      <a:rPr lang="en-US" sz="2000" i="1">
                        <a:latin typeface="Cambria Math"/>
                      </a:rPr>
                      <m:t>h𝑜𝑡𝑒𝑛</m:t>
                    </m:r>
                    <m:r>
                      <a:rPr lang="en-US" sz="2000" i="1">
                        <a:latin typeface="Cambria Math"/>
                      </a:rPr>
                      <m:t>→</m:t>
                    </m:r>
                    <m:r>
                      <a:rPr lang="en-US" sz="2000" i="1">
                        <a:latin typeface="Cambria Math"/>
                      </a:rPr>
                      <m:t>𝑑𝑖𝑒𝑚</m:t>
                    </m:r>
                    <m:r>
                      <a:rPr lang="en-US" sz="2000" i="1">
                        <a:latin typeface="Cambria Math"/>
                      </a:rPr>
                      <m:t>;}</m:t>
                    </m:r>
                  </m:oMath>
                </a14:m>
                <a:r>
                  <a:rPr lang="en-US" sz="2000" i="1" smtClean="0">
                    <a:latin typeface="Cambria Math"/>
                  </a:rPr>
                  <a:t> </a:t>
                </a:r>
              </a:p>
              <a:p>
                <a:pPr marL="0" indent="0">
                  <a:buNone/>
                </a:pPr>
                <a:r>
                  <a:rPr lang="en-US" sz="2000" smtClean="0">
                    <a:latin typeface="Cambria Math"/>
                  </a:rPr>
                  <a:t>Ta thấy </a:t>
                </a:r>
                <a:r>
                  <a:rPr lang="en-US" sz="2000" i="1" smtClean="0">
                    <a:latin typeface="Cambria Math"/>
                  </a:rPr>
                  <a:t>f2</a:t>
                </a:r>
                <a:r>
                  <a:rPr lang="en-US" sz="2000" smtClean="0">
                    <a:latin typeface="Cambria Math"/>
                  </a:rPr>
                  <a:t> có thuộc tính </a:t>
                </a:r>
                <a:r>
                  <a:rPr lang="en-US" sz="2000" i="1" smtClean="0">
                    <a:latin typeface="Cambria Math"/>
                  </a:rPr>
                  <a:t>hoten</a:t>
                </a:r>
                <a:r>
                  <a:rPr lang="en-US" sz="2000" smtClean="0">
                    <a:latin typeface="Cambria Math"/>
                  </a:rPr>
                  <a:t> là dư thừa.</a:t>
                </a:r>
                <a:endParaRPr lang="en-US" sz="2000">
                  <a:latin typeface="Cambria Math"/>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334000"/>
              </a:xfrm>
              <a:blipFill rotWithShape="0">
                <a:blip r:embed="rId3"/>
                <a:stretch>
                  <a:fillRect l="-1053" t="-914" r="-912" b="-1600"/>
                </a:stretch>
              </a:blipFill>
            </p:spPr>
            <p:txBody>
              <a:bodyPr/>
              <a:lstStyle/>
              <a:p>
                <a:r>
                  <a:rPr lang="en-US">
                    <a:noFill/>
                  </a:rPr>
                  <a:t> </a:t>
                </a:r>
              </a:p>
            </p:txBody>
          </p:sp>
        </mc:Fallback>
      </mc:AlternateContent>
    </p:spTree>
    <p:extLst>
      <p:ext uri="{BB962C8B-B14F-4D97-AF65-F5344CB8AC3E}">
        <p14:creationId xmlns:p14="http://schemas.microsoft.com/office/powerpoint/2010/main" val="23530271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(Thuật toán tìm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200" smtClean="0"/>
                  <a:t>Đầu vào: </a:t>
                </a:r>
                <a14:m>
                  <m:oMath xmlns:m="http://schemas.openxmlformats.org/officeDocument/2006/math">
                    <m:r>
                      <a:rPr lang="en-US" sz="2200" i="1" smtClean="0">
                        <a:latin typeface="Cambria Math"/>
                      </a:rPr>
                      <m:t>(</m:t>
                    </m:r>
                    <m:r>
                      <a:rPr lang="en-US" sz="2200" i="1" smtClean="0">
                        <a:latin typeface="Cambria Math"/>
                      </a:rPr>
                      <m:t>𝑅</m:t>
                    </m:r>
                    <m:r>
                      <a:rPr lang="en-US" sz="2200" i="1" smtClean="0">
                        <a:latin typeface="Cambria Math"/>
                      </a:rPr>
                      <m:t>, </m:t>
                    </m:r>
                    <m:r>
                      <a:rPr lang="en-US" sz="2200" i="1" smtClean="0">
                        <a:latin typeface="Cambria Math"/>
                      </a:rPr>
                      <m:t>𝐹</m:t>
                    </m:r>
                    <m:r>
                      <a:rPr lang="en-US" sz="2200" i="1" smtClean="0">
                        <a:latin typeface="Cambria Math"/>
                      </a:rPr>
                      <m:t>)</m:t>
                    </m:r>
                  </m:oMath>
                </a14:m>
                <a:r>
                  <a:rPr lang="en-US" sz="2200" smtClean="0"/>
                  <a:t>		Đầu ra: </a:t>
                </a:r>
                <a14:m>
                  <m:oMath xmlns:m="http://schemas.openxmlformats.org/officeDocument/2006/math">
                    <m:r>
                      <a:rPr lang="en-US" sz="2200" i="1" smtClean="0">
                        <a:latin typeface="Cambria Math"/>
                      </a:rPr>
                      <m:t>𝐺</m:t>
                    </m:r>
                  </m:oMath>
                </a14:m>
                <a:endParaRPr lang="en-US" sz="2200" smtClean="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rPr>
                        <m:t>𝐺</m:t>
                      </m:r>
                      <m:r>
                        <a:rPr lang="en-US" sz="2200" b="0" i="1" smtClean="0">
                          <a:latin typeface="Cambria Math"/>
                        </a:rPr>
                        <m:t>=∅ </m:t>
                      </m:r>
                    </m:oMath>
                  </m:oMathPara>
                </a14:m>
                <a:endParaRPr lang="en-US" sz="2200" smtClean="0"/>
              </a:p>
              <a:p>
                <a:pPr marL="0" indent="0">
                  <a:buNone/>
                </a:pPr>
                <a:r>
                  <a:rPr lang="en-US" sz="2200" smtClean="0"/>
                  <a:t>Với mỗi phụ thuộc hàm </a:t>
                </a:r>
                <a14:m>
                  <m:oMath xmlns:m="http://schemas.openxmlformats.org/officeDocument/2006/math">
                    <m:r>
                      <a:rPr lang="en-US" sz="2200" b="0" i="1" smtClean="0">
                        <a:latin typeface="Cambria Math"/>
                      </a:rPr>
                      <m:t>𝑋</m:t>
                    </m:r>
                    <m:r>
                      <a:rPr lang="en-US" sz="2200" b="0" i="1" smtClean="0">
                        <a:latin typeface="Cambria Math"/>
                      </a:rPr>
                      <m:t>→</m:t>
                    </m:r>
                    <m:r>
                      <a:rPr lang="en-US" sz="2200" b="0" i="1" smtClean="0">
                        <a:latin typeface="Cambria Math"/>
                      </a:rPr>
                      <m:t>𝑌</m:t>
                    </m:r>
                    <m:r>
                      <a:rPr lang="en-US" sz="2200" b="0" i="1" smtClean="0">
                        <a:latin typeface="Cambria Math"/>
                      </a:rPr>
                      <m:t>∈</m:t>
                    </m:r>
                    <m:r>
                      <a:rPr lang="en-US" sz="2200" b="0" i="1" smtClean="0">
                        <a:latin typeface="Cambria Math"/>
                      </a:rPr>
                      <m:t>𝐹</m:t>
                    </m:r>
                  </m:oMath>
                </a14:m>
                <a:r>
                  <a:rPr lang="en-US" sz="2200" smtClean="0"/>
                  <a:t> làm</a:t>
                </a:r>
              </a:p>
              <a:p>
                <a:pPr marL="0" indent="0">
                  <a:buNone/>
                </a:pPr>
                <a:r>
                  <a:rPr lang="en-US" sz="2200"/>
                  <a:t>	</a:t>
                </a:r>
                <a:r>
                  <a:rPr lang="en-US" sz="2200" smtClean="0"/>
                  <a:t>Với mỗi thuộc tính </a:t>
                </a:r>
                <a14:m>
                  <m:oMath xmlns:m="http://schemas.openxmlformats.org/officeDocument/2006/math">
                    <m:r>
                      <a:rPr lang="en-US" sz="2200" i="1" smtClean="0">
                        <a:latin typeface="Cambria Math"/>
                      </a:rPr>
                      <m:t>𝐴</m:t>
                    </m:r>
                    <m:r>
                      <a:rPr lang="en-US" sz="2200" b="0" i="1" smtClean="0">
                        <a:latin typeface="Cambria Math"/>
                      </a:rPr>
                      <m:t>∈</m:t>
                    </m:r>
                    <m:r>
                      <a:rPr lang="en-US" sz="2200" b="0" i="1" smtClean="0">
                        <a:latin typeface="Cambria Math"/>
                      </a:rPr>
                      <m:t>𝑌</m:t>
                    </m:r>
                  </m:oMath>
                </a14:m>
                <a:r>
                  <a:rPr lang="en-US" sz="2200" smtClean="0"/>
                  <a:t> làm </a:t>
                </a:r>
                <a14:m>
                  <m:oMath xmlns:m="http://schemas.openxmlformats.org/officeDocument/2006/math">
                    <m:r>
                      <a:rPr lang="en-US" sz="2200" i="1" smtClean="0">
                        <a:latin typeface="Cambria Math"/>
                      </a:rPr>
                      <m:t>𝐺</m:t>
                    </m:r>
                    <m:r>
                      <a:rPr lang="en-US" sz="2200" b="0" i="1" smtClean="0">
                        <a:latin typeface="Cambria Math"/>
                      </a:rPr>
                      <m:t>=</m:t>
                    </m:r>
                    <m:r>
                      <a:rPr lang="en-US" sz="2200" b="0" i="1" smtClean="0">
                        <a:latin typeface="Cambria Math"/>
                      </a:rPr>
                      <m:t>𝐺</m:t>
                    </m:r>
                    <m:r>
                      <a:rPr lang="en-US" sz="2200" b="0" i="1" smtClean="0">
                        <a:latin typeface="Cambria Math"/>
                      </a:rPr>
                      <m:t>∪{</m:t>
                    </m:r>
                    <m:r>
                      <a:rPr lang="en-US" sz="2200" b="0" i="1" smtClean="0">
                        <a:latin typeface="Cambria Math"/>
                      </a:rPr>
                      <m:t>𝑋</m:t>
                    </m:r>
                    <m:r>
                      <a:rPr lang="en-US" sz="2200" b="0" i="1" smtClean="0">
                        <a:latin typeface="Cambria Math"/>
                      </a:rPr>
                      <m:t>→</m:t>
                    </m:r>
                    <m:r>
                      <a:rPr lang="en-US" sz="2200" b="0" i="1" smtClean="0">
                        <a:latin typeface="Cambria Math"/>
                      </a:rPr>
                      <m:t>𝐴</m:t>
                    </m:r>
                    <m:r>
                      <a:rPr lang="en-US" sz="2200" b="0" i="1" smtClean="0">
                        <a:latin typeface="Cambria Math"/>
                      </a:rPr>
                      <m:t>}</m:t>
                    </m:r>
                  </m:oMath>
                </a14:m>
                <a:endParaRPr lang="en-US" sz="2200" smtClean="0"/>
              </a:p>
              <a:p>
                <a:pPr marL="0" indent="0">
                  <a:buNone/>
                </a:pPr>
                <a:r>
                  <a:rPr lang="en-US" sz="2200" smtClean="0"/>
                  <a:t> </a:t>
                </a:r>
                <a:r>
                  <a:rPr lang="en-US" sz="2200" smtClean="0">
                    <a:solidFill>
                      <a:srgbClr val="FF0000"/>
                    </a:solidFill>
                  </a:rPr>
                  <a:t>Với mỗi phụ thuộc hàm </a:t>
                </a:r>
                <a14:m>
                  <m:oMath xmlns:m="http://schemas.openxmlformats.org/officeDocument/2006/math">
                    <m:d>
                      <m:dPr>
                        <m:ctrlPr>
                          <a:rPr lang="en-US" sz="2200" b="0" i="1" smtClean="0">
                            <a:solidFill>
                              <a:srgbClr val="FF0000"/>
                            </a:solidFill>
                            <a:latin typeface="Cambria Math" panose="02040503050406030204" pitchFamily="18" charset="0"/>
                          </a:rPr>
                        </m:ctrlPr>
                      </m:dPr>
                      <m:e>
                        <m:r>
                          <a:rPr lang="en-US" sz="2200" b="0" i="1" smtClean="0">
                            <a:solidFill>
                              <a:srgbClr val="FF0000"/>
                            </a:solidFill>
                            <a:latin typeface="Cambria Math"/>
                          </a:rPr>
                          <m:t>𝑋</m:t>
                        </m:r>
                        <m:r>
                          <a:rPr lang="en-US" sz="2200" b="0" i="1" smtClean="0">
                            <a:solidFill>
                              <a:srgbClr val="FF0000"/>
                            </a:solidFill>
                            <a:latin typeface="Cambria Math"/>
                          </a:rPr>
                          <m:t>→</m:t>
                        </m:r>
                        <m:r>
                          <a:rPr lang="en-US" sz="2200" b="0" i="1" smtClean="0">
                            <a:solidFill>
                              <a:srgbClr val="FF0000"/>
                            </a:solidFill>
                            <a:latin typeface="Cambria Math"/>
                          </a:rPr>
                          <m:t>𝐴</m:t>
                        </m:r>
                      </m:e>
                    </m:d>
                    <m:r>
                      <a:rPr lang="en-US" sz="2200" b="0" i="1" smtClean="0">
                        <a:solidFill>
                          <a:srgbClr val="FF0000"/>
                        </a:solidFill>
                        <a:latin typeface="Cambria Math"/>
                      </a:rPr>
                      <m:t>∈</m:t>
                    </m:r>
                    <m:r>
                      <a:rPr lang="en-US" sz="2200" b="0" i="1" smtClean="0">
                        <a:solidFill>
                          <a:srgbClr val="FF0000"/>
                        </a:solidFill>
                        <a:latin typeface="Cambria Math"/>
                      </a:rPr>
                      <m:t>𝐺</m:t>
                    </m:r>
                  </m:oMath>
                </a14:m>
                <a:r>
                  <a:rPr lang="en-US" sz="2200" smtClean="0">
                    <a:solidFill>
                      <a:srgbClr val="FF0000"/>
                    </a:solidFill>
                  </a:rPr>
                  <a:t> ta làm {</a:t>
                </a:r>
              </a:p>
              <a:p>
                <a:pPr marL="0" indent="0">
                  <a:buNone/>
                </a:pPr>
                <a:r>
                  <a:rPr lang="en-US" sz="2200">
                    <a:solidFill>
                      <a:srgbClr val="FF0000"/>
                    </a:solidFill>
                  </a:rPr>
                  <a:t>	</a:t>
                </a:r>
                <a:r>
                  <a:rPr lang="en-US" sz="2200" smtClean="0">
                    <a:solidFill>
                      <a:srgbClr val="FF0000"/>
                    </a:solidFill>
                  </a:rPr>
                  <a:t>đặt </a:t>
                </a:r>
                <a14:m>
                  <m:oMath xmlns:m="http://schemas.openxmlformats.org/officeDocument/2006/math">
                    <m:r>
                      <a:rPr lang="en-US" sz="2200" i="1" smtClean="0">
                        <a:solidFill>
                          <a:srgbClr val="FF0000"/>
                        </a:solidFill>
                        <a:latin typeface="Cambria Math"/>
                      </a:rPr>
                      <m:t>𝑍</m:t>
                    </m:r>
                    <m:r>
                      <a:rPr lang="en-US" sz="2200" b="0" i="1" smtClean="0">
                        <a:solidFill>
                          <a:srgbClr val="FF0000"/>
                        </a:solidFill>
                        <a:latin typeface="Cambria Math"/>
                      </a:rPr>
                      <m:t>=</m:t>
                    </m:r>
                    <m:r>
                      <a:rPr lang="en-US" sz="2200" b="0" i="1" smtClean="0">
                        <a:solidFill>
                          <a:srgbClr val="FF0000"/>
                        </a:solidFill>
                        <a:latin typeface="Cambria Math"/>
                      </a:rPr>
                      <m:t>𝑋</m:t>
                    </m:r>
                  </m:oMath>
                </a14:m>
                <a:endParaRPr lang="en-US" sz="2200" smtClean="0">
                  <a:solidFill>
                    <a:srgbClr val="FF0000"/>
                  </a:solidFill>
                </a:endParaRPr>
              </a:p>
              <a:p>
                <a:pPr marL="0" indent="0">
                  <a:buNone/>
                </a:pPr>
                <a:r>
                  <a:rPr lang="en-US" sz="2200">
                    <a:solidFill>
                      <a:srgbClr val="FF0000"/>
                    </a:solidFill>
                  </a:rPr>
                  <a:t>	</a:t>
                </a:r>
                <a:r>
                  <a:rPr lang="en-US" sz="2200" smtClean="0">
                    <a:solidFill>
                      <a:srgbClr val="FF0000"/>
                    </a:solidFill>
                  </a:rPr>
                  <a:t>Lặp nếu (</a:t>
                </a:r>
                <a14:m>
                  <m:oMath xmlns:m="http://schemas.openxmlformats.org/officeDocument/2006/math">
                    <m:r>
                      <a:rPr lang="en-US" sz="2200" b="0" i="1" smtClean="0">
                        <a:solidFill>
                          <a:srgbClr val="FF0000"/>
                        </a:solidFill>
                        <a:latin typeface="Cambria Math"/>
                      </a:rPr>
                      <m:t>∃</m:t>
                    </m:r>
                    <m:r>
                      <a:rPr lang="en-US" sz="2200" b="0" i="1" smtClean="0">
                        <a:solidFill>
                          <a:srgbClr val="FF0000"/>
                        </a:solidFill>
                        <a:latin typeface="Cambria Math"/>
                      </a:rPr>
                      <m:t>𝑊</m:t>
                    </m:r>
                    <m:r>
                      <a:rPr lang="en-US" sz="2200" b="0" i="1" smtClean="0">
                        <a:solidFill>
                          <a:srgbClr val="FF0000"/>
                        </a:solidFill>
                        <a:latin typeface="Cambria Math"/>
                      </a:rPr>
                      <m:t>⊂</m:t>
                    </m:r>
                    <m:r>
                      <a:rPr lang="en-US" sz="2200" b="0" i="1" smtClean="0">
                        <a:solidFill>
                          <a:srgbClr val="FF0000"/>
                        </a:solidFill>
                        <a:latin typeface="Cambria Math"/>
                      </a:rPr>
                      <m:t>𝑍</m:t>
                    </m:r>
                    <m:r>
                      <a:rPr lang="en-US" sz="2200" b="0" i="1" smtClean="0">
                        <a:solidFill>
                          <a:srgbClr val="FF0000"/>
                        </a:solidFill>
                        <a:latin typeface="Cambria Math"/>
                      </a:rPr>
                      <m:t>, </m:t>
                    </m:r>
                    <m:r>
                      <a:rPr lang="en-US" sz="2200" b="0" i="1" smtClean="0">
                        <a:solidFill>
                          <a:srgbClr val="FF0000"/>
                        </a:solidFill>
                        <a:latin typeface="Cambria Math"/>
                      </a:rPr>
                      <m:t>𝑊</m:t>
                    </m:r>
                    <m:r>
                      <a:rPr lang="en-US" sz="2200" b="0" i="1" smtClean="0">
                        <a:solidFill>
                          <a:srgbClr val="FF0000"/>
                        </a:solidFill>
                        <a:latin typeface="Cambria Math"/>
                      </a:rPr>
                      <m:t>≠</m:t>
                    </m:r>
                    <m:r>
                      <a:rPr lang="en-US" sz="2200" b="0" i="1" smtClean="0">
                        <a:solidFill>
                          <a:srgbClr val="FF0000"/>
                        </a:solidFill>
                        <a:latin typeface="Cambria Math"/>
                      </a:rPr>
                      <m:t>𝑋</m:t>
                    </m:r>
                    <m:r>
                      <a:rPr lang="en-US" sz="2200" b="0" i="0" smtClean="0">
                        <a:solidFill>
                          <a:srgbClr val="FF0000"/>
                        </a:solidFill>
                        <a:latin typeface="Cambria Math"/>
                      </a:rPr>
                      <m:t>, </m:t>
                    </m:r>
                    <m:r>
                      <m:rPr>
                        <m:sty m:val="p"/>
                      </m:rPr>
                      <a:rPr lang="en-US" sz="2200" b="0" i="0" smtClean="0">
                        <a:solidFill>
                          <a:srgbClr val="FF0000"/>
                        </a:solidFill>
                        <a:latin typeface="Cambria Math"/>
                      </a:rPr>
                      <m:t>G</m:t>
                    </m:r>
                    <m:r>
                      <a:rPr lang="en-US" sz="2200" b="0" i="1" smtClean="0">
                        <a:solidFill>
                          <a:srgbClr val="FF0000"/>
                        </a:solidFill>
                        <a:latin typeface="Cambria Math"/>
                      </a:rPr>
                      <m:t>⊨(</m:t>
                    </m:r>
                    <m:r>
                      <a:rPr lang="en-US" sz="2200" b="0" i="1" smtClean="0">
                        <a:solidFill>
                          <a:srgbClr val="FF0000"/>
                        </a:solidFill>
                        <a:latin typeface="Cambria Math"/>
                      </a:rPr>
                      <m:t>𝑊</m:t>
                    </m:r>
                    <m:r>
                      <a:rPr lang="en-US" sz="2200" b="0" i="1" smtClean="0">
                        <a:solidFill>
                          <a:srgbClr val="FF0000"/>
                        </a:solidFill>
                        <a:latin typeface="Cambria Math"/>
                      </a:rPr>
                      <m:t>→</m:t>
                    </m:r>
                    <m:r>
                      <a:rPr lang="en-US" sz="2200" b="0" i="1" smtClean="0">
                        <a:solidFill>
                          <a:srgbClr val="FF0000"/>
                        </a:solidFill>
                        <a:latin typeface="Cambria Math"/>
                      </a:rPr>
                      <m:t>𝐴</m:t>
                    </m:r>
                    <m:r>
                      <a:rPr lang="en-US" sz="2200" b="0" i="1" smtClean="0">
                        <a:solidFill>
                          <a:srgbClr val="FF0000"/>
                        </a:solidFill>
                        <a:latin typeface="Cambria Math"/>
                      </a:rPr>
                      <m:t>)</m:t>
                    </m:r>
                  </m:oMath>
                </a14:m>
                <a:r>
                  <a:rPr lang="en-US" sz="2200" smtClean="0">
                    <a:solidFill>
                      <a:srgbClr val="FF0000"/>
                    </a:solidFill>
                  </a:rPr>
                  <a:t>) thì làm {</a:t>
                </a:r>
              </a:p>
              <a:p>
                <a:pPr marL="0" indent="0">
                  <a:buNone/>
                </a:pPr>
                <a:r>
                  <a:rPr lang="en-US" sz="2200">
                    <a:solidFill>
                      <a:srgbClr val="FF0000"/>
                    </a:solidFill>
                  </a:rPr>
                  <a:t>	</a:t>
                </a:r>
                <a:r>
                  <a:rPr lang="en-US" sz="2200" smtClean="0">
                    <a:solidFill>
                      <a:srgbClr val="FF0000"/>
                    </a:solidFill>
                  </a:rPr>
                  <a:t>	</a:t>
                </a:r>
                <a14:m>
                  <m:oMath xmlns:m="http://schemas.openxmlformats.org/officeDocument/2006/math">
                    <m:r>
                      <a:rPr lang="en-US" sz="2200" i="1" smtClean="0">
                        <a:solidFill>
                          <a:srgbClr val="FF0000"/>
                        </a:solidFill>
                        <a:latin typeface="Cambria Math"/>
                      </a:rPr>
                      <m:t>𝐺</m:t>
                    </m:r>
                    <m:r>
                      <a:rPr lang="en-US" sz="2200" b="0" i="1" smtClean="0">
                        <a:solidFill>
                          <a:srgbClr val="FF0000"/>
                        </a:solidFill>
                        <a:latin typeface="Cambria Math"/>
                      </a:rPr>
                      <m:t>={</m:t>
                    </m:r>
                    <m:r>
                      <a:rPr lang="en-US" sz="2200" b="0" i="1" smtClean="0">
                        <a:solidFill>
                          <a:srgbClr val="FF0000"/>
                        </a:solidFill>
                        <a:latin typeface="Cambria Math"/>
                      </a:rPr>
                      <m:t>𝐺</m:t>
                    </m:r>
                    <m:r>
                      <a:rPr lang="en-US" sz="2200" b="0" i="1" smtClean="0">
                        <a:solidFill>
                          <a:srgbClr val="FF0000"/>
                        </a:solidFill>
                        <a:latin typeface="Cambria Math"/>
                      </a:rPr>
                      <m:t>\</m:t>
                    </m:r>
                    <m:r>
                      <m:rPr>
                        <m:lit/>
                      </m:rPr>
                      <a:rPr lang="en-US" sz="2200" b="0" i="1" smtClean="0">
                        <a:solidFill>
                          <a:srgbClr val="FF0000"/>
                        </a:solidFill>
                        <a:latin typeface="Cambria Math"/>
                      </a:rPr>
                      <m:t>{</m:t>
                    </m:r>
                    <m:r>
                      <a:rPr lang="en-US" sz="2200" b="0" i="1" smtClean="0">
                        <a:solidFill>
                          <a:srgbClr val="FF0000"/>
                        </a:solidFill>
                        <a:latin typeface="Cambria Math"/>
                      </a:rPr>
                      <m:t>𝑍</m:t>
                    </m:r>
                    <m:r>
                      <a:rPr lang="en-US" sz="2200" b="0" i="1" smtClean="0">
                        <a:solidFill>
                          <a:srgbClr val="FF0000"/>
                        </a:solidFill>
                        <a:latin typeface="Cambria Math"/>
                      </a:rPr>
                      <m:t>→</m:t>
                    </m:r>
                    <m:r>
                      <a:rPr lang="en-US" sz="2200" b="0" i="1" smtClean="0">
                        <a:solidFill>
                          <a:srgbClr val="FF0000"/>
                        </a:solidFill>
                        <a:latin typeface="Cambria Math"/>
                      </a:rPr>
                      <m:t>𝐴</m:t>
                    </m:r>
                    <m:r>
                      <a:rPr lang="en-US" sz="2200" b="0" i="1" smtClean="0">
                        <a:solidFill>
                          <a:srgbClr val="FF0000"/>
                        </a:solidFill>
                        <a:latin typeface="Cambria Math"/>
                      </a:rPr>
                      <m:t>}}∪{</m:t>
                    </m:r>
                    <m:r>
                      <a:rPr lang="en-US" sz="2200" b="0" i="1" smtClean="0">
                        <a:solidFill>
                          <a:srgbClr val="FF0000"/>
                        </a:solidFill>
                        <a:latin typeface="Cambria Math"/>
                      </a:rPr>
                      <m:t>𝑊</m:t>
                    </m:r>
                    <m:r>
                      <a:rPr lang="en-US" sz="2200" b="0" i="1" smtClean="0">
                        <a:solidFill>
                          <a:srgbClr val="FF0000"/>
                        </a:solidFill>
                        <a:latin typeface="Cambria Math"/>
                      </a:rPr>
                      <m:t>→</m:t>
                    </m:r>
                    <m:r>
                      <a:rPr lang="en-US" sz="2200" b="0" i="1" smtClean="0">
                        <a:solidFill>
                          <a:srgbClr val="FF0000"/>
                        </a:solidFill>
                        <a:latin typeface="Cambria Math"/>
                      </a:rPr>
                      <m:t>𝐴</m:t>
                    </m:r>
                    <m:r>
                      <a:rPr lang="en-US" sz="2200" b="0" i="1" smtClean="0">
                        <a:solidFill>
                          <a:srgbClr val="FF0000"/>
                        </a:solidFill>
                        <a:latin typeface="Cambria Math"/>
                      </a:rPr>
                      <m:t>}</m:t>
                    </m:r>
                  </m:oMath>
                </a14:m>
                <a:endParaRPr lang="en-US" sz="2200" b="0" smtClean="0">
                  <a:solidFill>
                    <a:srgbClr val="FF0000"/>
                  </a:solidFill>
                </a:endParaRPr>
              </a:p>
              <a:p>
                <a:pPr marL="0" indent="0">
                  <a:buNone/>
                </a:pPr>
                <a:r>
                  <a:rPr lang="en-US" sz="2200" smtClean="0">
                    <a:solidFill>
                      <a:srgbClr val="FF0000"/>
                    </a:solidFill>
                  </a:rPr>
                  <a:t>		</a:t>
                </a:r>
                <a14:m>
                  <m:oMath xmlns:m="http://schemas.openxmlformats.org/officeDocument/2006/math">
                    <m:r>
                      <a:rPr lang="en-US" sz="2200" b="0" i="1" smtClean="0">
                        <a:solidFill>
                          <a:srgbClr val="FF0000"/>
                        </a:solidFill>
                        <a:latin typeface="Cambria Math"/>
                      </a:rPr>
                      <m:t>𝑍</m:t>
                    </m:r>
                    <m:r>
                      <a:rPr lang="en-US" sz="2200" b="0" i="1" smtClean="0">
                        <a:solidFill>
                          <a:srgbClr val="FF0000"/>
                        </a:solidFill>
                        <a:latin typeface="Cambria Math"/>
                      </a:rPr>
                      <m:t>=</m:t>
                    </m:r>
                    <m:r>
                      <a:rPr lang="en-US" sz="2200" b="0" i="1" smtClean="0">
                        <a:solidFill>
                          <a:srgbClr val="FF0000"/>
                        </a:solidFill>
                        <a:latin typeface="Cambria Math"/>
                      </a:rPr>
                      <m:t>𝑊</m:t>
                    </m:r>
                  </m:oMath>
                </a14:m>
                <a:endParaRPr lang="en-US" sz="2200" b="0" smtClean="0">
                  <a:solidFill>
                    <a:srgbClr val="FF0000"/>
                  </a:solidFill>
                </a:endParaRPr>
              </a:p>
              <a:p>
                <a:pPr marL="0" indent="0">
                  <a:buNone/>
                </a:pPr>
                <a:r>
                  <a:rPr lang="en-US" sz="2200" smtClean="0">
                    <a:solidFill>
                      <a:srgbClr val="FF0000"/>
                    </a:solidFill>
                  </a:rPr>
                  <a:t>	}</a:t>
                </a:r>
              </a:p>
              <a:p>
                <a:pPr marL="0" indent="0">
                  <a:buNone/>
                </a:pPr>
                <a:r>
                  <a:rPr lang="en-US" sz="2200">
                    <a:solidFill>
                      <a:srgbClr val="FF0000"/>
                    </a:solidFill>
                  </a:rPr>
                  <a:t>}</a:t>
                </a:r>
                <a:endParaRPr lang="en-US" sz="2200" smtClean="0">
                  <a:solidFill>
                    <a:srgbClr val="FF0000"/>
                  </a:solidFill>
                </a:endParaRPr>
              </a:p>
              <a:p>
                <a:pPr marL="0" indent="0">
                  <a:buNone/>
                </a:pPr>
                <a:r>
                  <a:rPr lang="en-US" sz="2200" smtClean="0"/>
                  <a:t>Với mỗi phụ thuộc hàm </a:t>
                </a:r>
                <a14:m>
                  <m:oMath xmlns:m="http://schemas.openxmlformats.org/officeDocument/2006/math">
                    <m:r>
                      <a:rPr lang="en-US" sz="2200" i="1" smtClean="0">
                        <a:latin typeface="Cambria Math"/>
                      </a:rPr>
                      <m:t>𝑓</m:t>
                    </m:r>
                    <m:r>
                      <a:rPr lang="en-US" sz="2200" b="0" i="1" smtClean="0">
                        <a:latin typeface="Cambria Math"/>
                      </a:rPr>
                      <m:t>∈</m:t>
                    </m:r>
                    <m:r>
                      <a:rPr lang="en-US" sz="2200" b="0" i="1" smtClean="0">
                        <a:latin typeface="Cambria Math"/>
                      </a:rPr>
                      <m:t>𝐺</m:t>
                    </m:r>
                  </m:oMath>
                </a14:m>
                <a:r>
                  <a:rPr lang="en-US" sz="2200" smtClean="0"/>
                  <a:t> ta làm: Nếu </a:t>
                </a:r>
                <a14:m>
                  <m:oMath xmlns:m="http://schemas.openxmlformats.org/officeDocument/2006/math">
                    <m:r>
                      <a:rPr lang="en-US" sz="2200" b="0" i="1" smtClean="0">
                        <a:latin typeface="Cambria Math"/>
                      </a:rPr>
                      <m:t>𝐺</m:t>
                    </m:r>
                    <m:r>
                      <a:rPr lang="en-US" sz="2200" b="0" i="1" smtClean="0">
                        <a:latin typeface="Cambria Math"/>
                      </a:rPr>
                      <m:t>\</m:t>
                    </m:r>
                    <m:r>
                      <m:rPr>
                        <m:lit/>
                      </m:rPr>
                      <a:rPr lang="en-US" sz="2200" b="0" i="1" smtClean="0">
                        <a:latin typeface="Cambria Math"/>
                      </a:rPr>
                      <m:t>{</m:t>
                    </m:r>
                    <m:r>
                      <a:rPr lang="en-US" sz="2200" b="0" i="1" smtClean="0">
                        <a:latin typeface="Cambria Math"/>
                      </a:rPr>
                      <m:t>𝑓</m:t>
                    </m:r>
                    <m:r>
                      <a:rPr lang="en-US" sz="2200" b="0" i="1" smtClean="0">
                        <a:latin typeface="Cambria Math"/>
                      </a:rPr>
                      <m:t>}≡</m:t>
                    </m:r>
                    <m:r>
                      <a:rPr lang="en-US" sz="2200" b="0" i="1" smtClean="0">
                        <a:latin typeface="Cambria Math"/>
                      </a:rPr>
                      <m:t>𝐺</m:t>
                    </m:r>
                  </m:oMath>
                </a14:m>
                <a:r>
                  <a:rPr lang="en-US" sz="2200" smtClean="0"/>
                  <a:t>  thì  </a:t>
                </a:r>
                <a14:m>
                  <m:oMath xmlns:m="http://schemas.openxmlformats.org/officeDocument/2006/math">
                    <m:r>
                      <a:rPr lang="en-US" sz="2200" b="0" i="1" smtClean="0">
                        <a:latin typeface="Cambria Math"/>
                      </a:rPr>
                      <m:t>𝐺</m:t>
                    </m:r>
                    <m:r>
                      <a:rPr lang="en-US" sz="2200" b="0" i="1" smtClean="0">
                        <a:latin typeface="Cambria Math"/>
                      </a:rPr>
                      <m:t>=</m:t>
                    </m:r>
                    <m:r>
                      <a:rPr lang="en-US" sz="2200" b="0" i="1" smtClean="0">
                        <a:latin typeface="Cambria Math"/>
                      </a:rPr>
                      <m:t>𝐺</m:t>
                    </m:r>
                    <m:r>
                      <a:rPr lang="en-US" sz="2200" b="0" i="1" smtClean="0">
                        <a:latin typeface="Cambria Math"/>
                      </a:rPr>
                      <m:t>\</m:t>
                    </m:r>
                    <m:d>
                      <m:dPr>
                        <m:begChr m:val="{"/>
                        <m:endChr m:val="}"/>
                        <m:ctrlPr>
                          <a:rPr lang="en-US" sz="2200" b="0" i="1" smtClean="0">
                            <a:latin typeface="Cambria Math" panose="02040503050406030204" pitchFamily="18" charset="0"/>
                          </a:rPr>
                        </m:ctrlPr>
                      </m:dPr>
                      <m:e>
                        <m:r>
                          <a:rPr lang="en-US" sz="2200" b="0" i="1" smtClean="0">
                            <a:latin typeface="Cambria Math"/>
                          </a:rPr>
                          <m:t>𝑓</m:t>
                        </m:r>
                      </m:e>
                    </m:d>
                  </m:oMath>
                </a14:m>
                <a:endParaRPr lang="en-US" sz="2200" b="0" smtClean="0"/>
              </a:p>
              <a:p>
                <a:pPr marL="0" indent="0">
                  <a:buNone/>
                </a:pPr>
                <a:r>
                  <a:rPr lang="en-US" sz="2200" smtClean="0"/>
                  <a:t>Trả về </a:t>
                </a:r>
                <a14:m>
                  <m:oMath xmlns:m="http://schemas.openxmlformats.org/officeDocument/2006/math">
                    <m:r>
                      <a:rPr lang="en-US" sz="2200" b="0" i="1" smtClean="0">
                        <a:latin typeface="Cambria Math"/>
                      </a:rPr>
                      <m:t>𝐺</m:t>
                    </m:r>
                  </m:oMath>
                </a14:m>
                <a:r>
                  <a:rPr lang="en-US" sz="2200" smtClean="0"/>
                  <a:t>	</a:t>
                </a:r>
                <a:endParaRPr lang="en-US" sz="22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3"/>
                <a:stretch>
                  <a:fillRect l="-849" t="-696" b="-928"/>
                </a:stretch>
              </a:blipFill>
            </p:spPr>
            <p:txBody>
              <a:bodyPr/>
              <a:lstStyle/>
              <a:p>
                <a:r>
                  <a:rPr lang="en-US">
                    <a:noFill/>
                  </a:rPr>
                  <a:t> </a:t>
                </a:r>
              </a:p>
            </p:txBody>
          </p:sp>
        </mc:Fallback>
      </mc:AlternateContent>
    </p:spTree>
    <p:extLst>
      <p:ext uri="{BB962C8B-B14F-4D97-AF65-F5344CB8AC3E}">
        <p14:creationId xmlns:p14="http://schemas.microsoft.com/office/powerpoint/2010/main" val="36429347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200" smtClean="0"/>
                  <a:t>Cho lược đồ </a:t>
                </a:r>
                <a14:m>
                  <m:oMath xmlns:m="http://schemas.openxmlformats.org/officeDocument/2006/math">
                    <m:d>
                      <m:dPr>
                        <m:ctrlPr>
                          <a:rPr lang="en-US" sz="2200" i="1" smtClean="0">
                            <a:latin typeface="Cambria Math"/>
                          </a:rPr>
                        </m:ctrlPr>
                      </m:dPr>
                      <m:e>
                        <m:r>
                          <a:rPr lang="en-US" sz="2200" i="1" smtClean="0">
                            <a:latin typeface="Cambria Math"/>
                          </a:rPr>
                          <m:t>𝑅</m:t>
                        </m:r>
                        <m:r>
                          <a:rPr lang="en-US" sz="2200" i="1" smtClean="0">
                            <a:latin typeface="Cambria Math"/>
                          </a:rPr>
                          <m:t>,</m:t>
                        </m:r>
                        <m:r>
                          <a:rPr lang="en-US" sz="2200" i="1" smtClean="0">
                            <a:latin typeface="Cambria Math"/>
                          </a:rPr>
                          <m:t>𝐹</m:t>
                        </m:r>
                      </m:e>
                    </m:d>
                    <m:r>
                      <a:rPr lang="en-US" sz="2200" b="0" i="0" smtClean="0">
                        <a:latin typeface="Cambria Math" panose="02040503050406030204" pitchFamily="18" charset="0"/>
                      </a:rPr>
                      <m:t>,     </m:t>
                    </m:r>
                    <m:r>
                      <a:rPr lang="en-US" sz="2200" i="1" smtClean="0">
                        <a:latin typeface="Cambria Math"/>
                      </a:rPr>
                      <m:t>𝑅</m:t>
                    </m:r>
                    <m:r>
                      <a:rPr lang="en-US" sz="2200" i="1" smtClean="0">
                        <a:latin typeface="Cambria Math"/>
                      </a:rPr>
                      <m:t>=</m:t>
                    </m:r>
                    <m:d>
                      <m:dPr>
                        <m:begChr m:val="{"/>
                        <m:endChr m:val="}"/>
                        <m:ctrlPr>
                          <a:rPr lang="en-US" sz="2200" i="1" smtClean="0">
                            <a:latin typeface="Cambria Math"/>
                          </a:rPr>
                        </m:ctrlPr>
                      </m:dPr>
                      <m:e>
                        <m:r>
                          <a:rPr lang="en-US" sz="2200" i="1" smtClean="0">
                            <a:latin typeface="Cambria Math"/>
                          </a:rPr>
                          <m:t>𝐴𝐵𝐶𝐷</m:t>
                        </m:r>
                      </m:e>
                    </m:d>
                    <m:r>
                      <a:rPr lang="en-US" sz="2200" b="0" i="1" smtClean="0">
                        <a:latin typeface="Cambria Math" panose="02040503050406030204" pitchFamily="18" charset="0"/>
                      </a:rPr>
                      <m:t>,        </m:t>
                    </m:r>
                    <m:r>
                      <a:rPr lang="en-US" sz="2200" i="1" smtClean="0">
                        <a:latin typeface="Cambria Math"/>
                      </a:rPr>
                      <m:t>𝐹</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𝐵</m:t>
                    </m:r>
                    <m:r>
                      <a:rPr lang="en-US" sz="2200" b="0" i="1" smtClean="0">
                        <a:latin typeface="Cambria Math"/>
                      </a:rPr>
                      <m:t>,</m:t>
                    </m:r>
                    <m:r>
                      <a:rPr lang="en-US" sz="2200" b="0" i="1" smtClean="0">
                        <a:latin typeface="Cambria Math"/>
                      </a:rPr>
                      <m:t>𝐵</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𝐶𝐷</m:t>
                    </m:r>
                    <m:r>
                      <a:rPr lang="en-US" sz="2200" b="0" i="1" smtClean="0">
                        <a:latin typeface="Cambria Math"/>
                      </a:rPr>
                      <m:t>}</m:t>
                    </m:r>
                  </m:oMath>
                </a14:m>
                <a:endParaRPr lang="en-US" sz="2200" smtClean="0"/>
              </a:p>
              <a:p>
                <a:pPr marL="0" indent="0">
                  <a:buNone/>
                </a:pPr>
                <a:r>
                  <a:rPr lang="en-US" sz="2200" smtClean="0"/>
                  <a:t>B1: Rã </a:t>
                </a:r>
                <a14:m>
                  <m:oMath xmlns:m="http://schemas.openxmlformats.org/officeDocument/2006/math">
                    <m:r>
                      <a:rPr lang="en-US" sz="2200" i="1" smtClean="0">
                        <a:latin typeface="Cambria Math"/>
                      </a:rPr>
                      <m:t>𝐹</m:t>
                    </m:r>
                  </m:oMath>
                </a14:m>
                <a:r>
                  <a:rPr lang="en-US" sz="2200" smtClean="0"/>
                  <a:t> thành </a:t>
                </a:r>
                <a14:m>
                  <m:oMath xmlns:m="http://schemas.openxmlformats.org/officeDocument/2006/math">
                    <m:r>
                      <a:rPr lang="en-US" sz="2200" b="0" i="1" smtClean="0">
                        <a:latin typeface="Cambria Math"/>
                      </a:rPr>
                      <m:t>𝐹</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𝐵</m:t>
                    </m:r>
                    <m:r>
                      <a:rPr lang="en-US" sz="2200" b="0" i="1" smtClean="0">
                        <a:latin typeface="Cambria Math"/>
                      </a:rPr>
                      <m:t>,</m:t>
                    </m:r>
                    <m:r>
                      <a:rPr lang="en-US" sz="2200" b="0" i="1" smtClean="0">
                        <a:latin typeface="Cambria Math"/>
                      </a:rPr>
                      <m:t>𝐵</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𝐷</m:t>
                    </m:r>
                    <m:r>
                      <a:rPr lang="en-US" sz="2200" b="0" i="1" smtClean="0">
                        <a:latin typeface="Cambria Math"/>
                      </a:rPr>
                      <m:t>}</m:t>
                    </m:r>
                  </m:oMath>
                </a14:m>
                <a:endParaRPr lang="en-US" sz="2200" smtClean="0"/>
              </a:p>
              <a:p>
                <a:pPr marL="0" indent="0">
                  <a:buNone/>
                </a:pPr>
                <a:r>
                  <a:rPr lang="en-US" sz="2200" smtClean="0"/>
                  <a:t>B2: KHÔNG LÀM (VÌ MỌI VẾ TRÁI CHỈ CÓ 1 THUỘC TÍNH)</a:t>
                </a:r>
              </a:p>
              <a:p>
                <a:pPr marL="0" indent="0">
                  <a:buNone/>
                </a:pPr>
                <a:r>
                  <a:rPr lang="en-US" sz="2200" smtClean="0"/>
                  <a:t>B3: Với từng phụ thuộc hàm trong </a:t>
                </a:r>
                <a14:m>
                  <m:oMath xmlns:m="http://schemas.openxmlformats.org/officeDocument/2006/math">
                    <m:r>
                      <a:rPr lang="en-US" sz="2200" i="1" smtClean="0">
                        <a:latin typeface="Cambria Math"/>
                      </a:rPr>
                      <m:t>𝐹</m:t>
                    </m:r>
                  </m:oMath>
                </a14:m>
                <a:endParaRPr lang="en-US" sz="2200" smtClean="0"/>
              </a:p>
              <a:p>
                <a:pPr marL="0" indent="0">
                  <a:buNone/>
                </a:pPr>
                <a14:m>
                  <m:oMath xmlns:m="http://schemas.openxmlformats.org/officeDocument/2006/math">
                    <m:r>
                      <a:rPr lang="en-US" sz="2000" b="0" i="1" smtClean="0">
                        <a:latin typeface="Cambria Math"/>
                      </a:rPr>
                      <m:t>𝐴</m:t>
                    </m:r>
                    <m:r>
                      <a:rPr lang="en-US" sz="2000" b="0" i="1" smtClean="0">
                        <a:latin typeface="Cambria Math"/>
                      </a:rPr>
                      <m:t>→</m:t>
                    </m:r>
                    <m:r>
                      <a:rPr lang="en-US" sz="2000" b="0" i="1" smtClean="0">
                        <a:latin typeface="Cambria Math"/>
                      </a:rPr>
                      <m:t>𝐵</m:t>
                    </m:r>
                  </m:oMath>
                </a14:m>
                <a:r>
                  <a:rPr lang="en-US" sz="2000" smtClean="0"/>
                  <a:t>: Nếu bỏ thì </a:t>
                </a:r>
                <a14:m>
                  <m:oMath xmlns:m="http://schemas.openxmlformats.org/officeDocument/2006/math">
                    <m:r>
                      <a:rPr lang="en-US" sz="2000" i="1" smtClean="0">
                        <a:latin typeface="Cambria Math"/>
                      </a:rPr>
                      <m:t>𝐺</m:t>
                    </m:r>
                    <m:r>
                      <a:rPr lang="en-US" sz="2000" i="1" smtClean="0">
                        <a:latin typeface="Cambria Math"/>
                      </a:rPr>
                      <m:t>=</m:t>
                    </m:r>
                    <m:r>
                      <a:rPr lang="en-US" sz="2000" i="1" smtClean="0">
                        <a:latin typeface="Cambria Math"/>
                      </a:rPr>
                      <m:t>𝐹</m:t>
                    </m:r>
                    <m:r>
                      <a:rPr lang="en-US" sz="2000" b="0" i="1" smtClean="0">
                        <a:latin typeface="Cambria Math"/>
                      </a:rPr>
                      <m:t>\</m:t>
                    </m:r>
                    <m:r>
                      <m:rPr>
                        <m:lit/>
                      </m:rPr>
                      <a:rPr lang="en-US" sz="2000" b="0" i="1" smtClean="0">
                        <a:latin typeface="Cambria Math"/>
                      </a:rPr>
                      <m:t>{</m:t>
                    </m:r>
                    <m:r>
                      <a:rPr lang="en-US" sz="2000" b="0" i="1" smtClean="0">
                        <a:latin typeface="Cambria Math"/>
                      </a:rPr>
                      <m:t>𝐴</m:t>
                    </m:r>
                    <m:r>
                      <a:rPr lang="en-US" sz="2000" b="0" i="1" smtClean="0">
                        <a:latin typeface="Cambria Math"/>
                      </a:rPr>
                      <m:t>→</m:t>
                    </m:r>
                    <m:r>
                      <a:rPr lang="en-US" sz="2000" b="0" i="1" smtClean="0">
                        <a:latin typeface="Cambria Math"/>
                      </a:rPr>
                      <m:t>𝐵</m:t>
                    </m:r>
                    <m:r>
                      <a:rPr lang="en-US" sz="2000" b="0" i="1" smtClean="0">
                        <a:latin typeface="Cambria Math"/>
                      </a:rPr>
                      <m:t>}</m:t>
                    </m:r>
                  </m:oMath>
                </a14:m>
                <a:r>
                  <a:rPr lang="en-US" sz="2000" smtClean="0"/>
                  <a:t> và </a:t>
                </a:r>
                <a14:m>
                  <m:oMath xmlns:m="http://schemas.openxmlformats.org/officeDocument/2006/math">
                    <m:sSubSup>
                      <m:sSubSupPr>
                        <m:ctrlPr>
                          <a:rPr lang="en-US" sz="2000" b="0" i="1" smtClean="0">
                            <a:latin typeface="Cambria Math" panose="02040503050406030204" pitchFamily="18" charset="0"/>
                          </a:rPr>
                        </m:ctrlPr>
                      </m:sSubSupPr>
                      <m:e>
                        <m:r>
                          <a:rPr lang="en-US" sz="2000" i="1" smtClean="0">
                            <a:latin typeface="Cambria Math"/>
                          </a:rPr>
                          <m:t>𝐴</m:t>
                        </m:r>
                      </m:e>
                      <m:sub>
                        <m:r>
                          <a:rPr lang="en-US" sz="2000" b="0" i="1" smtClean="0">
                            <a:latin typeface="Cambria Math"/>
                          </a:rPr>
                          <m:t>𝐺</m:t>
                        </m:r>
                      </m:sub>
                      <m:sup>
                        <m:r>
                          <a:rPr lang="en-US" sz="2000" b="0" i="1" smtClean="0">
                            <a:latin typeface="Cambria Math"/>
                          </a:rPr>
                          <m:t>+</m:t>
                        </m:r>
                      </m:sup>
                    </m:sSubSup>
                  </m:oMath>
                </a14:m>
                <a:r>
                  <a:rPr lang="en-US" sz="2000" smtClean="0"/>
                  <a:t>=ACD có </a:t>
                </a:r>
                <a14:m>
                  <m:oMath xmlns:m="http://schemas.openxmlformats.org/officeDocument/2006/math">
                    <m:r>
                      <m:rPr>
                        <m:sty m:val="p"/>
                      </m:rPr>
                      <a:rPr lang="en-US" sz="2000" b="0" i="0" smtClean="0">
                        <a:latin typeface="Cambria Math"/>
                      </a:rPr>
                      <m:t>A</m:t>
                    </m:r>
                    <m:r>
                      <a:rPr lang="en-US" sz="2000" b="0" i="0" smtClean="0">
                        <a:latin typeface="Cambria Math"/>
                      </a:rPr>
                      <m:t>→</m:t>
                    </m:r>
                    <m:r>
                      <m:rPr>
                        <m:sty m:val="p"/>
                      </m:rPr>
                      <a:rPr lang="en-US" sz="2000" b="0" i="0" smtClean="0">
                        <a:latin typeface="Cambria Math"/>
                      </a:rPr>
                      <m:t>B</m:t>
                    </m:r>
                    <m:r>
                      <a:rPr lang="en-US" sz="2000" b="0" i="1" smtClean="0">
                        <a:latin typeface="Cambria Math"/>
                      </a:rPr>
                      <m:t>∉</m:t>
                    </m:r>
                    <m:r>
                      <a:rPr lang="en-US" sz="2000" b="0" i="1" smtClean="0">
                        <a:latin typeface="Cambria Math"/>
                      </a:rPr>
                      <m:t>𝐺</m:t>
                    </m:r>
                  </m:oMath>
                </a14:m>
                <a:r>
                  <a:rPr lang="en-US" sz="2000" smtClean="0"/>
                  <a:t>, </a:t>
                </a:r>
                <a14:m>
                  <m:oMath xmlns:m="http://schemas.openxmlformats.org/officeDocument/2006/math">
                    <m:r>
                      <a:rPr lang="en-US" sz="2000" b="0" i="1" smtClean="0">
                        <a:latin typeface="Cambria Math"/>
                      </a:rPr>
                      <m:t>𝐴</m:t>
                    </m:r>
                    <m:r>
                      <a:rPr lang="en-US" sz="2000" b="0" i="1" smtClean="0">
                        <a:latin typeface="Cambria Math"/>
                      </a:rPr>
                      <m:t>→</m:t>
                    </m:r>
                    <m:r>
                      <a:rPr lang="en-US" sz="2000" b="0" i="1" smtClean="0">
                        <a:latin typeface="Cambria Math"/>
                      </a:rPr>
                      <m:t>𝐵</m:t>
                    </m:r>
                  </m:oMath>
                </a14:m>
                <a:r>
                  <a:rPr lang="en-US" sz="2000" smtClean="0"/>
                  <a:t> không dư</a:t>
                </a:r>
              </a:p>
              <a:p>
                <a:pPr marL="0" indent="0">
                  <a:buNone/>
                </a:pPr>
                <a14:m>
                  <m:oMath xmlns:m="http://schemas.openxmlformats.org/officeDocument/2006/math">
                    <m:r>
                      <a:rPr lang="en-US" sz="2000" b="0" i="1" smtClean="0">
                        <a:latin typeface="Cambria Math"/>
                      </a:rPr>
                      <m:t>𝐵</m:t>
                    </m:r>
                    <m:r>
                      <a:rPr lang="en-US" sz="2000" i="1">
                        <a:latin typeface="Cambria Math"/>
                      </a:rPr>
                      <m:t>→</m:t>
                    </m:r>
                    <m:r>
                      <a:rPr lang="en-US" sz="2000" b="0" i="1" smtClean="0">
                        <a:latin typeface="Cambria Math"/>
                      </a:rPr>
                      <m:t>𝐶</m:t>
                    </m:r>
                  </m:oMath>
                </a14:m>
                <a:r>
                  <a:rPr lang="en-US" sz="2000"/>
                  <a:t>: Nếu bỏ thì </a:t>
                </a:r>
                <a14:m>
                  <m:oMath xmlns:m="http://schemas.openxmlformats.org/officeDocument/2006/math">
                    <m:r>
                      <a:rPr lang="en-US" sz="2000" i="1">
                        <a:latin typeface="Cambria Math"/>
                      </a:rPr>
                      <m:t>𝐺</m:t>
                    </m:r>
                    <m:r>
                      <a:rPr lang="en-US" sz="2000" i="1">
                        <a:latin typeface="Cambria Math"/>
                      </a:rPr>
                      <m:t>=</m:t>
                    </m:r>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𝐵</m:t>
                    </m:r>
                    <m:r>
                      <a:rPr lang="en-US" sz="2000" i="1">
                        <a:latin typeface="Cambria Math"/>
                      </a:rPr>
                      <m:t>→</m:t>
                    </m:r>
                    <m:r>
                      <a:rPr lang="en-US" sz="2000" b="0" i="1" smtClean="0">
                        <a:latin typeface="Cambria Math"/>
                      </a:rPr>
                      <m:t>𝐶</m:t>
                    </m:r>
                    <m:r>
                      <a:rPr lang="en-US" sz="2000" i="1">
                        <a:latin typeface="Cambria Math"/>
                      </a:rPr>
                      <m:t>}</m:t>
                    </m:r>
                  </m:oMath>
                </a14:m>
                <a:r>
                  <a:rPr lang="en-US" sz="2000"/>
                  <a:t> và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𝐵</m:t>
                        </m:r>
                      </m:e>
                      <m:sub>
                        <m:r>
                          <a:rPr lang="en-US" sz="2000" i="1">
                            <a:latin typeface="Cambria Math"/>
                          </a:rPr>
                          <m:t>𝐺</m:t>
                        </m:r>
                      </m:sub>
                      <m:sup>
                        <m:r>
                          <a:rPr lang="en-US" sz="2000" i="1">
                            <a:latin typeface="Cambria Math"/>
                          </a:rPr>
                          <m:t>+</m:t>
                        </m:r>
                      </m:sup>
                    </m:sSubSup>
                  </m:oMath>
                </a14:m>
                <a:r>
                  <a:rPr lang="en-US" sz="2000"/>
                  <a:t>=</a:t>
                </a:r>
                <a:r>
                  <a:rPr lang="en-US" sz="2000" smtClean="0"/>
                  <a:t>B</a:t>
                </a:r>
                <a:r>
                  <a:rPr lang="en-US" sz="2000"/>
                  <a:t> </a:t>
                </a:r>
                <a:r>
                  <a:rPr lang="en-US" sz="2000" smtClean="0"/>
                  <a:t>có </a:t>
                </a:r>
                <a14:m>
                  <m:oMath xmlns:m="http://schemas.openxmlformats.org/officeDocument/2006/math">
                    <m:r>
                      <m:rPr>
                        <m:sty m:val="p"/>
                      </m:rPr>
                      <a:rPr lang="en-US" sz="2000" b="0" i="0" smtClean="0">
                        <a:latin typeface="Cambria Math"/>
                      </a:rPr>
                      <m:t>B</m:t>
                    </m:r>
                    <m:r>
                      <a:rPr lang="en-US" sz="2000">
                        <a:latin typeface="Cambria Math"/>
                      </a:rPr>
                      <m:t>→</m:t>
                    </m:r>
                    <m:r>
                      <m:rPr>
                        <m:sty m:val="p"/>
                      </m:rPr>
                      <a:rPr lang="en-US" sz="2000" b="0" i="0" smtClean="0">
                        <a:latin typeface="Cambria Math"/>
                      </a:rPr>
                      <m:t>C</m:t>
                    </m:r>
                    <m:r>
                      <a:rPr lang="en-US" sz="2000" i="1">
                        <a:latin typeface="Cambria Math"/>
                      </a:rPr>
                      <m:t>∉</m:t>
                    </m:r>
                    <m:r>
                      <a:rPr lang="en-US" sz="2000" i="1">
                        <a:latin typeface="Cambria Math"/>
                      </a:rPr>
                      <m:t>𝐺</m:t>
                    </m:r>
                  </m:oMath>
                </a14:m>
                <a:r>
                  <a:rPr lang="en-US" sz="2000" smtClean="0"/>
                  <a:t>, </a:t>
                </a:r>
                <a14:m>
                  <m:oMath xmlns:m="http://schemas.openxmlformats.org/officeDocument/2006/math">
                    <m:r>
                      <a:rPr lang="en-US" sz="2000" i="1" smtClean="0">
                        <a:latin typeface="Cambria Math"/>
                      </a:rPr>
                      <m:t>𝐵</m:t>
                    </m:r>
                    <m:r>
                      <a:rPr lang="en-US" sz="2000" b="0" i="1" smtClean="0">
                        <a:latin typeface="Cambria Math"/>
                      </a:rPr>
                      <m:t>→</m:t>
                    </m:r>
                    <m:r>
                      <a:rPr lang="en-US" sz="2000" b="0" i="1" smtClean="0">
                        <a:latin typeface="Cambria Math"/>
                      </a:rPr>
                      <m:t>𝐶</m:t>
                    </m:r>
                  </m:oMath>
                </a14:m>
                <a:r>
                  <a:rPr lang="en-US" sz="2000" smtClean="0"/>
                  <a:t> </a:t>
                </a:r>
                <a:r>
                  <a:rPr lang="en-US" sz="2000"/>
                  <a:t>không </a:t>
                </a:r>
                <a:r>
                  <a:rPr lang="en-US" sz="2000" smtClean="0"/>
                  <a:t>dư</a:t>
                </a:r>
              </a:p>
              <a:p>
                <a:pPr marL="0" indent="0">
                  <a:buNone/>
                </a:pPr>
                <a14:m>
                  <m:oMath xmlns:m="http://schemas.openxmlformats.org/officeDocument/2006/math">
                    <m:r>
                      <a:rPr lang="en-US" sz="2000" b="0" i="1" smtClean="0">
                        <a:latin typeface="Cambria Math"/>
                      </a:rPr>
                      <m:t>𝐴</m:t>
                    </m:r>
                    <m:r>
                      <a:rPr lang="en-US" sz="2000" i="1">
                        <a:latin typeface="Cambria Math"/>
                      </a:rPr>
                      <m:t>→</m:t>
                    </m:r>
                    <m:r>
                      <a:rPr lang="en-US" sz="2000" i="1">
                        <a:latin typeface="Cambria Math"/>
                      </a:rPr>
                      <m:t>𝐶</m:t>
                    </m:r>
                  </m:oMath>
                </a14:m>
                <a:r>
                  <a:rPr lang="en-US" sz="2000"/>
                  <a:t>: Nếu bỏ thì </a:t>
                </a:r>
                <a14:m>
                  <m:oMath xmlns:m="http://schemas.openxmlformats.org/officeDocument/2006/math">
                    <m:r>
                      <a:rPr lang="en-US" sz="2000" i="1">
                        <a:latin typeface="Cambria Math"/>
                      </a:rPr>
                      <m:t>𝐺</m:t>
                    </m:r>
                    <m:r>
                      <a:rPr lang="en-US" sz="2000" i="1">
                        <a:latin typeface="Cambria Math"/>
                      </a:rPr>
                      <m:t>=</m:t>
                    </m:r>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𝐴</m:t>
                    </m:r>
                    <m:r>
                      <a:rPr lang="en-US" sz="2000" i="1">
                        <a:latin typeface="Cambria Math"/>
                      </a:rPr>
                      <m:t>→</m:t>
                    </m:r>
                    <m:r>
                      <a:rPr lang="en-US" sz="2000" i="1">
                        <a:latin typeface="Cambria Math"/>
                      </a:rPr>
                      <m:t>𝐶</m:t>
                    </m:r>
                    <m:r>
                      <a:rPr lang="en-US" sz="2000" i="1">
                        <a:latin typeface="Cambria Math"/>
                      </a:rPr>
                      <m:t>}</m:t>
                    </m:r>
                  </m:oMath>
                </a14:m>
                <a:r>
                  <a:rPr lang="en-US" sz="2000"/>
                  <a:t> và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𝐴</m:t>
                        </m:r>
                      </m:e>
                      <m:sub>
                        <m:r>
                          <a:rPr lang="en-US" sz="2000" i="1">
                            <a:latin typeface="Cambria Math"/>
                          </a:rPr>
                          <m:t>𝐺</m:t>
                        </m:r>
                      </m:sub>
                      <m:sup>
                        <m:r>
                          <a:rPr lang="en-US" sz="2000" i="1">
                            <a:latin typeface="Cambria Math"/>
                          </a:rPr>
                          <m:t>+</m:t>
                        </m:r>
                      </m:sup>
                    </m:sSubSup>
                  </m:oMath>
                </a14:m>
                <a:r>
                  <a:rPr lang="en-US" sz="2000"/>
                  <a:t>=</a:t>
                </a:r>
                <a:r>
                  <a:rPr lang="en-US" sz="2000" smtClean="0"/>
                  <a:t>ABCD </a:t>
                </a:r>
                <a:r>
                  <a:rPr lang="en-US" sz="2000"/>
                  <a:t>có </a:t>
                </a:r>
                <a14:m>
                  <m:oMath xmlns:m="http://schemas.openxmlformats.org/officeDocument/2006/math">
                    <m:r>
                      <m:rPr>
                        <m:sty m:val="p"/>
                      </m:rPr>
                      <a:rPr lang="en-US" sz="2000" b="0" i="0" smtClean="0">
                        <a:latin typeface="Cambria Math"/>
                      </a:rPr>
                      <m:t>A</m:t>
                    </m:r>
                    <m:r>
                      <a:rPr lang="en-US" sz="2000">
                        <a:latin typeface="Cambria Math"/>
                      </a:rPr>
                      <m:t>→</m:t>
                    </m:r>
                    <m:r>
                      <m:rPr>
                        <m:sty m:val="p"/>
                      </m:rPr>
                      <a:rPr lang="en-US" sz="2000">
                        <a:latin typeface="Cambria Math"/>
                      </a:rPr>
                      <m:t>C</m:t>
                    </m:r>
                    <m:r>
                      <a:rPr lang="en-US" sz="2000" b="0" i="1" smtClean="0">
                        <a:latin typeface="Cambria Math"/>
                      </a:rPr>
                      <m:t>∈</m:t>
                    </m:r>
                    <m:r>
                      <a:rPr lang="en-US" sz="2000" i="1">
                        <a:latin typeface="Cambria Math"/>
                      </a:rPr>
                      <m:t>𝐺</m:t>
                    </m:r>
                  </m:oMath>
                </a14:m>
                <a:r>
                  <a:rPr lang="en-US" sz="2000"/>
                  <a:t>, </a:t>
                </a:r>
                <a14:m>
                  <m:oMath xmlns:m="http://schemas.openxmlformats.org/officeDocument/2006/math">
                    <m:r>
                      <a:rPr lang="en-US" sz="2000" b="0" i="1" smtClean="0">
                        <a:latin typeface="Cambria Math"/>
                      </a:rPr>
                      <m:t>𝐴</m:t>
                    </m:r>
                    <m:r>
                      <a:rPr lang="en-US" sz="2000" i="1">
                        <a:latin typeface="Cambria Math"/>
                      </a:rPr>
                      <m:t>→</m:t>
                    </m:r>
                    <m:r>
                      <a:rPr lang="en-US" sz="2000" i="1">
                        <a:latin typeface="Cambria Math"/>
                      </a:rPr>
                      <m:t>𝐶</m:t>
                    </m:r>
                  </m:oMath>
                </a14:m>
                <a:r>
                  <a:rPr lang="en-US" sz="2000" smtClean="0"/>
                  <a:t> dư (bỏ)</a:t>
                </a:r>
              </a:p>
              <a:p>
                <a:pPr marL="0" indent="0">
                  <a:buNone/>
                </a:pPr>
                <a14:m>
                  <m:oMathPara xmlns:m="http://schemas.openxmlformats.org/officeDocument/2006/math">
                    <m:oMathParaPr>
                      <m:jc m:val="left"/>
                    </m:oMathParaPr>
                    <m:oMath xmlns:m="http://schemas.openxmlformats.org/officeDocument/2006/math">
                      <m:r>
                        <a:rPr lang="en-US" sz="2000" b="0" i="1" smtClean="0">
                          <a:latin typeface="Cambria Math"/>
                        </a:rPr>
                        <m:t>𝐹</m:t>
                      </m:r>
                      <m:r>
                        <a:rPr lang="en-US" sz="2000" b="0" i="1" smtClean="0">
                          <a:latin typeface="Cambria Math"/>
                        </a:rPr>
                        <m:t>=</m:t>
                      </m:r>
                      <m:r>
                        <a:rPr lang="en-US" sz="2000" b="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𝐴</m:t>
                          </m:r>
                          <m:r>
                            <a:rPr lang="en-US" sz="2000" b="0" i="1" smtClean="0">
                              <a:latin typeface="Cambria Math"/>
                            </a:rPr>
                            <m:t>→</m:t>
                          </m:r>
                          <m:r>
                            <a:rPr lang="en-US" sz="2000" b="0" i="1" smtClean="0">
                              <a:latin typeface="Cambria Math"/>
                            </a:rPr>
                            <m:t>𝐶</m:t>
                          </m:r>
                        </m:e>
                      </m:d>
                    </m:oMath>
                  </m:oMathPara>
                </a14:m>
                <a:endParaRPr lang="en-US" sz="2000" b="0" smtClean="0"/>
              </a:p>
              <a:p>
                <a:pPr marL="0" indent="0">
                  <a:buNone/>
                </a:pPr>
                <a14:m>
                  <m:oMath xmlns:m="http://schemas.openxmlformats.org/officeDocument/2006/math">
                    <m:r>
                      <a:rPr lang="en-US" sz="2000" b="0" i="1" smtClean="0">
                        <a:latin typeface="Cambria Math"/>
                      </a:rPr>
                      <m:t>𝐴</m:t>
                    </m:r>
                    <m:r>
                      <a:rPr lang="en-US" sz="2000" i="1">
                        <a:latin typeface="Cambria Math"/>
                      </a:rPr>
                      <m:t>→</m:t>
                    </m:r>
                    <m:r>
                      <a:rPr lang="en-US" sz="2000" b="0" i="1" smtClean="0">
                        <a:latin typeface="Cambria Math"/>
                      </a:rPr>
                      <m:t>𝐷</m:t>
                    </m:r>
                  </m:oMath>
                </a14:m>
                <a:r>
                  <a:rPr lang="en-US" sz="2000"/>
                  <a:t>: Nếu bỏ thì </a:t>
                </a:r>
                <a14:m>
                  <m:oMath xmlns:m="http://schemas.openxmlformats.org/officeDocument/2006/math">
                    <m:r>
                      <a:rPr lang="en-US" sz="2000" i="1">
                        <a:latin typeface="Cambria Math"/>
                      </a:rPr>
                      <m:t>𝐺</m:t>
                    </m:r>
                    <m:r>
                      <a:rPr lang="en-US" sz="2000" i="1">
                        <a:latin typeface="Cambria Math"/>
                      </a:rPr>
                      <m:t>=</m:t>
                    </m:r>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𝐴</m:t>
                    </m:r>
                    <m:r>
                      <a:rPr lang="en-US" sz="2000" i="1">
                        <a:latin typeface="Cambria Math"/>
                      </a:rPr>
                      <m:t>→</m:t>
                    </m:r>
                    <m:r>
                      <a:rPr lang="en-US" sz="2000" b="0" i="1" smtClean="0">
                        <a:latin typeface="Cambria Math"/>
                      </a:rPr>
                      <m:t>𝐷</m:t>
                    </m:r>
                    <m:r>
                      <a:rPr lang="en-US" sz="2000" i="1">
                        <a:latin typeface="Cambria Math"/>
                      </a:rPr>
                      <m:t>}</m:t>
                    </m:r>
                  </m:oMath>
                </a14:m>
                <a:r>
                  <a:rPr lang="en-US" sz="2000"/>
                  <a:t> và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𝐴</m:t>
                        </m:r>
                      </m:e>
                      <m:sub>
                        <m:r>
                          <a:rPr lang="en-US" sz="2000" i="1">
                            <a:latin typeface="Cambria Math"/>
                          </a:rPr>
                          <m:t>𝐺</m:t>
                        </m:r>
                      </m:sub>
                      <m:sup>
                        <m:r>
                          <a:rPr lang="en-US" sz="2000" i="1">
                            <a:latin typeface="Cambria Math"/>
                          </a:rPr>
                          <m:t>+</m:t>
                        </m:r>
                      </m:sup>
                    </m:sSubSup>
                  </m:oMath>
                </a14:m>
                <a:r>
                  <a:rPr lang="en-US" sz="2000"/>
                  <a:t>=</a:t>
                </a:r>
                <a:r>
                  <a:rPr lang="en-US" sz="2000" smtClean="0"/>
                  <a:t>ABC </a:t>
                </a:r>
                <a:r>
                  <a:rPr lang="en-US" sz="2000"/>
                  <a:t>có </a:t>
                </a:r>
                <a14:m>
                  <m:oMath xmlns:m="http://schemas.openxmlformats.org/officeDocument/2006/math">
                    <m:r>
                      <m:rPr>
                        <m:sty m:val="p"/>
                      </m:rPr>
                      <a:rPr lang="en-US" sz="2000" b="0" i="0" smtClean="0">
                        <a:latin typeface="Cambria Math"/>
                      </a:rPr>
                      <m:t>A</m:t>
                    </m:r>
                    <m:r>
                      <a:rPr lang="en-US" sz="2000">
                        <a:latin typeface="Cambria Math"/>
                      </a:rPr>
                      <m:t>→</m:t>
                    </m:r>
                    <m:r>
                      <m:rPr>
                        <m:sty m:val="p"/>
                      </m:rPr>
                      <a:rPr lang="en-US" sz="2000" b="0" i="0" smtClean="0">
                        <a:latin typeface="Cambria Math"/>
                      </a:rPr>
                      <m:t>D</m:t>
                    </m:r>
                    <m:r>
                      <a:rPr lang="en-US" sz="2000" i="1">
                        <a:latin typeface="Cambria Math"/>
                      </a:rPr>
                      <m:t>∉</m:t>
                    </m:r>
                    <m:r>
                      <a:rPr lang="en-US" sz="2000" i="1">
                        <a:latin typeface="Cambria Math"/>
                      </a:rPr>
                      <m:t>𝐺</m:t>
                    </m:r>
                  </m:oMath>
                </a14:m>
                <a:r>
                  <a:rPr lang="en-US" sz="2000"/>
                  <a:t>, </a:t>
                </a:r>
                <a14:m>
                  <m:oMath xmlns:m="http://schemas.openxmlformats.org/officeDocument/2006/math">
                    <m:r>
                      <a:rPr lang="en-US" sz="2000" b="0" i="1" smtClean="0">
                        <a:latin typeface="Cambria Math"/>
                      </a:rPr>
                      <m:t>𝐴</m:t>
                    </m:r>
                    <m:r>
                      <a:rPr lang="en-US" sz="2000" i="1">
                        <a:latin typeface="Cambria Math"/>
                      </a:rPr>
                      <m:t>→</m:t>
                    </m:r>
                    <m:r>
                      <a:rPr lang="en-US" sz="2000" b="0" i="1" smtClean="0">
                        <a:latin typeface="Cambria Math"/>
                      </a:rPr>
                      <m:t>𝐷</m:t>
                    </m:r>
                  </m:oMath>
                </a14:m>
                <a:r>
                  <a:rPr lang="en-US" sz="2000"/>
                  <a:t> không dư</a:t>
                </a:r>
              </a:p>
              <a:p>
                <a:pPr marL="0" indent="0">
                  <a:buNone/>
                </a:pPr>
                <a:r>
                  <a:rPr lang="en-US" sz="2000" smtClean="0"/>
                  <a:t>Kết quả: </a:t>
                </a:r>
                <a14:m>
                  <m:oMath xmlns:m="http://schemas.openxmlformats.org/officeDocument/2006/math">
                    <m:r>
                      <a:rPr lang="en-US" sz="2000" b="0" i="1" smtClean="0">
                        <a:latin typeface="Cambria Math"/>
                      </a:rPr>
                      <m:t>𝐺</m:t>
                    </m:r>
                    <m:r>
                      <a:rPr lang="en-US" sz="2000" b="0" i="1" smtClean="0">
                        <a:latin typeface="Cambria Math"/>
                      </a:rPr>
                      <m:t>={</m:t>
                    </m:r>
                    <m:r>
                      <a:rPr lang="en-US" sz="2000" b="0" i="1" smtClean="0">
                        <a:latin typeface="Cambria Math"/>
                      </a:rPr>
                      <m:t>𝐴</m:t>
                    </m:r>
                    <m:r>
                      <a:rPr lang="en-US" sz="2000" b="0" i="1" smtClean="0">
                        <a:latin typeface="Cambria Math"/>
                      </a:rPr>
                      <m:t>→</m:t>
                    </m:r>
                    <m:r>
                      <a:rPr lang="en-US" sz="2000" b="0" i="1" smtClean="0">
                        <a:latin typeface="Cambria Math"/>
                      </a:rPr>
                      <m:t>𝐵</m:t>
                    </m:r>
                    <m:r>
                      <a:rPr lang="en-US" sz="2000" b="0" i="1" smtClean="0">
                        <a:latin typeface="Cambria Math"/>
                      </a:rPr>
                      <m:t>,</m:t>
                    </m:r>
                    <m:r>
                      <a:rPr lang="en-US" sz="2000" b="0" i="1" smtClean="0">
                        <a:latin typeface="Cambria Math"/>
                      </a:rPr>
                      <m:t>𝐵</m:t>
                    </m:r>
                    <m:r>
                      <a:rPr lang="en-US" sz="2000" b="0" i="1" smtClean="0">
                        <a:latin typeface="Cambria Math"/>
                      </a:rPr>
                      <m:t>→</m:t>
                    </m:r>
                    <m:r>
                      <a:rPr lang="en-US" sz="2000" b="0" i="1" smtClean="0">
                        <a:latin typeface="Cambria Math"/>
                      </a:rPr>
                      <m:t>𝐶</m:t>
                    </m:r>
                    <m:r>
                      <a:rPr lang="en-US" sz="2000" b="0" i="1" smtClean="0">
                        <a:latin typeface="Cambria Math"/>
                      </a:rPr>
                      <m:t>, </m:t>
                    </m:r>
                    <m:r>
                      <a:rPr lang="en-US" sz="2000" b="0" i="1" smtClean="0">
                        <a:latin typeface="Cambria Math"/>
                      </a:rPr>
                      <m:t>𝐴</m:t>
                    </m:r>
                    <m:r>
                      <a:rPr lang="en-US" sz="2000" b="0" i="1" smtClean="0">
                        <a:latin typeface="Cambria Math"/>
                      </a:rPr>
                      <m:t>→</m:t>
                    </m:r>
                    <m:r>
                      <a:rPr lang="en-US" sz="2000" b="0" i="1" smtClean="0">
                        <a:latin typeface="Cambria Math"/>
                      </a:rPr>
                      <m:t>𝐷</m:t>
                    </m:r>
                    <m:r>
                      <a:rPr lang="en-US" sz="2000" b="0" i="1" smtClean="0">
                        <a:latin typeface="Cambria Math"/>
                      </a:rPr>
                      <m:t>}</m:t>
                    </m:r>
                  </m:oMath>
                </a14:m>
                <a:endParaRPr lang="en-US" sz="2000" smtClean="0"/>
              </a:p>
              <a:p>
                <a:pPr marL="0" indent="0">
                  <a:buNone/>
                </a:pPr>
                <a:endParaRPr lang="en-US" sz="2000" smtClean="0"/>
              </a:p>
              <a:p>
                <a:pPr marL="0" indent="0">
                  <a:buNone/>
                </a:pPr>
                <a:r>
                  <a:rPr lang="en-US" sz="2000" smtClean="0"/>
                  <a:t>Ví </a:t>
                </a:r>
                <a:r>
                  <a:rPr lang="en-US" sz="2000"/>
                  <a:t>dụ cho lược đồ trên: </a:t>
                </a:r>
                <a14:m>
                  <m:oMath xmlns:m="http://schemas.openxmlformats.org/officeDocument/2006/math">
                    <m:r>
                      <a:rPr lang="en-US" sz="2000" i="1">
                        <a:latin typeface="Cambria Math"/>
                      </a:rPr>
                      <m:t>𝑠𝑖𝑛h𝑣𝑖𝑒𝑛</m:t>
                    </m:r>
                    <m:r>
                      <a:rPr lang="en-US" sz="2000" i="1">
                        <a:latin typeface="Cambria Math"/>
                      </a:rPr>
                      <m:t>(</m:t>
                    </m:r>
                    <m:r>
                      <a:rPr lang="en-US" sz="2000" i="1">
                        <a:latin typeface="Cambria Math"/>
                      </a:rPr>
                      <m:t>𝑚𝑎𝑠𝑣</m:t>
                    </m:r>
                    <m:r>
                      <a:rPr lang="en-US" sz="2000" i="1">
                        <a:latin typeface="Cambria Math"/>
                      </a:rPr>
                      <m:t>,</m:t>
                    </m:r>
                    <m:r>
                      <a:rPr lang="en-US" sz="2000" i="1">
                        <a:latin typeface="Cambria Math"/>
                      </a:rPr>
                      <m:t>h𝑜𝑡𝑒𝑛</m:t>
                    </m:r>
                    <m:r>
                      <a:rPr lang="en-US" sz="2000" i="1">
                        <a:latin typeface="Cambria Math"/>
                      </a:rPr>
                      <m:t>,</m:t>
                    </m:r>
                    <m:r>
                      <a:rPr lang="en-US" sz="2000" i="1">
                        <a:latin typeface="Cambria Math"/>
                      </a:rPr>
                      <m:t>𝑑𝑖𝑒𝑚</m:t>
                    </m:r>
                    <m:r>
                      <a:rPr lang="en-US" sz="2000" i="1">
                        <a:latin typeface="Cambria Math"/>
                      </a:rPr>
                      <m:t>,</m:t>
                    </m:r>
                    <m:r>
                      <a:rPr lang="en-US" sz="2000" i="1">
                        <a:latin typeface="Cambria Math"/>
                      </a:rPr>
                      <m:t>𝑚𝑎𝑙𝑜𝑝</m:t>
                    </m:r>
                    <m:r>
                      <a:rPr lang="en-US" sz="2000" i="1">
                        <a:latin typeface="Cambria Math"/>
                      </a:rPr>
                      <m:t>,</m:t>
                    </m:r>
                    <m:r>
                      <a:rPr lang="en-US" sz="2000" i="1">
                        <a:latin typeface="Cambria Math"/>
                      </a:rPr>
                      <m:t>𝑡𝑒𝑛𝑙𝑜𝑝</m:t>
                    </m:r>
                    <m:r>
                      <a:rPr lang="en-US" sz="2000" i="1">
                        <a:latin typeface="Cambria Math"/>
                      </a:rPr>
                      <m:t>)</m:t>
                    </m:r>
                  </m:oMath>
                </a14:m>
                <a:r>
                  <a:rPr lang="en-US" sz="2000"/>
                  <a:t>. </a:t>
                </a:r>
                <a:r>
                  <a:rPr lang="en-US" sz="2000"/>
                  <a:t>Tập phụ thuộc hàm</a:t>
                </a:r>
                <a:r>
                  <a:rPr lang="en-US" sz="2000" smtClean="0"/>
                  <a:t>  </a:t>
                </a:r>
                <a14:m>
                  <m:oMath xmlns:m="http://schemas.openxmlformats.org/officeDocument/2006/math">
                    <m:r>
                      <a:rPr lang="en-US" sz="2000">
                        <a:latin typeface="Cambria Math" panose="02040503050406030204" pitchFamily="18" charset="0"/>
                      </a:rPr>
                      <m:t>{</m:t>
                    </m:r>
                    <m:r>
                      <a:rPr lang="en-US" sz="2000" i="1">
                        <a:latin typeface="Cambria Math"/>
                      </a:rPr>
                      <m:t>𝑓</m:t>
                    </m:r>
                    <m:r>
                      <a:rPr lang="en-US" sz="2000" i="1">
                        <a:latin typeface="Cambria Math"/>
                      </a:rPr>
                      <m:t>3:</m:t>
                    </m:r>
                    <m:r>
                      <a:rPr lang="en-US" sz="2000" i="1">
                        <a:latin typeface="Cambria Math"/>
                      </a:rPr>
                      <m:t>𝑚𝑎𝑙𝑜𝑝</m:t>
                    </m:r>
                    <m:r>
                      <a:rPr lang="en-US" sz="2000" i="1">
                        <a:latin typeface="Cambria Math"/>
                      </a:rPr>
                      <m:t>→</m:t>
                    </m:r>
                    <m:r>
                      <a:rPr lang="en-US" sz="2000" i="1">
                        <a:latin typeface="Cambria Math"/>
                      </a:rPr>
                      <m:t>𝑡𝑒𝑛𝑙𝑜𝑝</m:t>
                    </m:r>
                    <m:r>
                      <a:rPr lang="en-US" sz="2000" i="1">
                        <a:latin typeface="Cambria Math"/>
                      </a:rPr>
                      <m:t>; </m:t>
                    </m:r>
                    <m:r>
                      <a:rPr lang="en-US" sz="2000" i="1">
                        <a:latin typeface="Cambria Math"/>
                      </a:rPr>
                      <m:t>𝑓</m:t>
                    </m:r>
                    <m:r>
                      <a:rPr lang="en-US" sz="2000" i="1">
                        <a:latin typeface="Cambria Math"/>
                      </a:rPr>
                      <m:t>4:</m:t>
                    </m:r>
                    <m:r>
                      <a:rPr lang="en-US" sz="2000" i="1">
                        <a:latin typeface="Cambria Math"/>
                      </a:rPr>
                      <m:t>𝑚𝑎𝑠𝑣</m:t>
                    </m:r>
                    <m:r>
                      <a:rPr lang="en-US" sz="2000" i="1">
                        <a:latin typeface="Cambria Math"/>
                      </a:rPr>
                      <m:t>→</m:t>
                    </m:r>
                    <m:r>
                      <a:rPr lang="en-US" sz="2000" i="1">
                        <a:latin typeface="Cambria Math"/>
                      </a:rPr>
                      <m:t>𝑚𝑎𝑙𝑜𝑝</m:t>
                    </m:r>
                    <m:r>
                      <a:rPr lang="en-US" sz="2000" b="0" i="1" smtClean="0">
                        <a:latin typeface="Cambria Math" panose="02040503050406030204" pitchFamily="18" charset="0"/>
                      </a:rPr>
                      <m:t>;</m:t>
                    </m:r>
                    <m:r>
                      <a:rPr lang="en-US" sz="2000" i="1">
                        <a:latin typeface="Cambria Math"/>
                      </a:rPr>
                      <m:t>𝑓</m:t>
                    </m:r>
                    <m:r>
                      <a:rPr lang="en-US" sz="2000" i="1">
                        <a:latin typeface="Cambria Math"/>
                      </a:rPr>
                      <m:t>5:</m:t>
                    </m:r>
                    <m:r>
                      <a:rPr lang="en-US" sz="2000" i="1">
                        <a:latin typeface="Cambria Math"/>
                      </a:rPr>
                      <m:t>𝑚𝑎𝑠𝑣</m:t>
                    </m:r>
                    <m:r>
                      <a:rPr lang="en-US" sz="2000" i="1">
                        <a:latin typeface="Cambria Math"/>
                      </a:rPr>
                      <m:t> →</m:t>
                    </m:r>
                    <m:r>
                      <a:rPr lang="en-US" sz="2000" i="1">
                        <a:latin typeface="Cambria Math"/>
                      </a:rPr>
                      <m:t>𝑡𝑒𝑛𝑙𝑜𝑝</m:t>
                    </m:r>
                    <m:r>
                      <a:rPr lang="en-US" sz="2000" b="0" i="1" smtClean="0">
                        <a:latin typeface="Cambria Math" panose="02040503050406030204" pitchFamily="18" charset="0"/>
                      </a:rPr>
                      <m:t>}</m:t>
                    </m:r>
                  </m:oMath>
                </a14:m>
                <a:endParaRPr lang="en-US" sz="2000" i="1">
                  <a:latin typeface="Cambria Math"/>
                </a:endParaRPr>
              </a:p>
              <a:p>
                <a:pPr marL="0" indent="0">
                  <a:buNone/>
                </a:pPr>
                <a:r>
                  <a:rPr lang="en-US" sz="2000">
                    <a:latin typeface="Cambria Math"/>
                  </a:rPr>
                  <a:t>Ta </a:t>
                </a:r>
                <a:r>
                  <a:rPr lang="en-US" sz="2000">
                    <a:latin typeface="Cambria Math"/>
                  </a:rPr>
                  <a:t>thấy </a:t>
                </a:r>
                <a:r>
                  <a:rPr lang="en-US" sz="2000" i="1" smtClean="0">
                    <a:latin typeface="Cambria Math"/>
                  </a:rPr>
                  <a:t>f5</a:t>
                </a:r>
                <a:r>
                  <a:rPr lang="en-US" sz="2000" smtClean="0">
                    <a:latin typeface="Cambria Math"/>
                  </a:rPr>
                  <a:t>  là </a:t>
                </a:r>
                <a:r>
                  <a:rPr lang="en-US" sz="2000">
                    <a:latin typeface="Cambria Math"/>
                  </a:rPr>
                  <a:t>dư </a:t>
                </a:r>
                <a:r>
                  <a:rPr lang="en-US" sz="2000" smtClean="0">
                    <a:latin typeface="Cambria Math"/>
                  </a:rPr>
                  <a:t>thừa theo cách làm trên </a:t>
                </a:r>
                <a:r>
                  <a:rPr lang="en-US" sz="2000" smtClean="0">
                    <a:latin typeface="Cambria Math"/>
                    <a:sym typeface="Wingdings" panose="05000000000000000000" pitchFamily="2" charset="2"/>
                  </a:rPr>
                  <a:t> ta loại phụ thuộc hàm </a:t>
                </a:r>
                <a:r>
                  <a:rPr lang="en-US" sz="2000" i="1" smtClean="0">
                    <a:latin typeface="Cambria Math"/>
                    <a:sym typeface="Wingdings" panose="05000000000000000000" pitchFamily="2" charset="2"/>
                  </a:rPr>
                  <a:t>f5</a:t>
                </a:r>
                <a:r>
                  <a:rPr lang="en-US" sz="2000" smtClean="0">
                    <a:latin typeface="Cambria Math"/>
                    <a:sym typeface="Wingdings" panose="05000000000000000000" pitchFamily="2" charset="2"/>
                  </a:rPr>
                  <a:t>.</a:t>
                </a:r>
                <a:endParaRPr lang="en-US" sz="2000" smtClean="0"/>
              </a:p>
              <a:p>
                <a:pPr marL="0" indent="0">
                  <a:buNone/>
                </a:pPr>
                <a:endParaRPr lang="en-US" sz="20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0">
                <a:blip r:embed="rId2"/>
                <a:stretch>
                  <a:fillRect l="-912" t="-812" b="-348"/>
                </a:stretch>
              </a:blipFill>
            </p:spPr>
            <p:txBody>
              <a:bodyPr/>
              <a:lstStyle/>
              <a:p>
                <a:r>
                  <a:rPr lang="en-US">
                    <a:noFill/>
                  </a:rPr>
                  <a:t> </a:t>
                </a:r>
              </a:p>
            </p:txBody>
          </p:sp>
        </mc:Fallback>
      </mc:AlternateContent>
    </p:spTree>
    <p:extLst>
      <p:ext uri="{BB962C8B-B14F-4D97-AF65-F5344CB8AC3E}">
        <p14:creationId xmlns:p14="http://schemas.microsoft.com/office/powerpoint/2010/main" val="13964443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181600"/>
              </a:xfrm>
            </p:spPr>
            <p:txBody>
              <a:bodyPr>
                <a:normAutofit/>
              </a:bodyPr>
              <a:lstStyle/>
              <a:p>
                <a:pPr marL="0" indent="0">
                  <a:buNone/>
                </a:pPr>
                <a:r>
                  <a:rPr lang="en-US" sz="2200" smtClean="0"/>
                  <a:t>Cho lược đồ </a:t>
                </a:r>
                <a14:m>
                  <m:oMath xmlns:m="http://schemas.openxmlformats.org/officeDocument/2006/math">
                    <m:r>
                      <a:rPr lang="en-US" sz="2200" i="1" smtClean="0">
                        <a:latin typeface="Cambria Math"/>
                      </a:rPr>
                      <m:t>(</m:t>
                    </m:r>
                    <m:r>
                      <a:rPr lang="en-US" sz="2200" i="1" smtClean="0">
                        <a:latin typeface="Cambria Math"/>
                      </a:rPr>
                      <m:t>𝑅</m:t>
                    </m:r>
                    <m:r>
                      <a:rPr lang="en-US" sz="2200" i="1" smtClean="0">
                        <a:latin typeface="Cambria Math"/>
                      </a:rPr>
                      <m:t>,</m:t>
                    </m:r>
                    <m:r>
                      <a:rPr lang="en-US" sz="2200" i="1" smtClean="0">
                        <a:latin typeface="Cambria Math"/>
                      </a:rPr>
                      <m:t>𝐹</m:t>
                    </m:r>
                    <m:r>
                      <a:rPr lang="en-US" sz="2200" i="1" smtClean="0">
                        <a:latin typeface="Cambria Math"/>
                      </a:rPr>
                      <m:t>)</m:t>
                    </m:r>
                  </m:oMath>
                </a14:m>
                <a:endParaRPr lang="en-US" sz="2200" smtClean="0"/>
              </a:p>
              <a:p>
                <a:pPr marL="0" indent="0">
                  <a:buNone/>
                </a:pPr>
                <a14:m>
                  <m:oMath xmlns:m="http://schemas.openxmlformats.org/officeDocument/2006/math">
                    <m:r>
                      <a:rPr lang="en-US" sz="2200" i="1" smtClean="0">
                        <a:latin typeface="Cambria Math"/>
                      </a:rPr>
                      <m:t>𝑅</m:t>
                    </m:r>
                    <m:r>
                      <a:rPr lang="en-US" sz="2200" i="1" smtClean="0">
                        <a:latin typeface="Cambria Math"/>
                      </a:rPr>
                      <m:t>={</m:t>
                    </m:r>
                    <m:r>
                      <a:rPr lang="en-US" sz="2200" i="1" smtClean="0">
                        <a:latin typeface="Cambria Math"/>
                      </a:rPr>
                      <m:t>𝐴𝐵𝐶𝐷𝐸𝐺</m:t>
                    </m:r>
                    <m:r>
                      <a:rPr lang="en-US" sz="2200" i="1" smtClean="0">
                        <a:latin typeface="Cambria Math"/>
                      </a:rPr>
                      <m:t>}</m:t>
                    </m:r>
                  </m:oMath>
                </a14:m>
                <a:r>
                  <a:rPr lang="en-US" sz="2200" smtClean="0"/>
                  <a:t>		</a:t>
                </a:r>
              </a:p>
              <a:p>
                <a:pPr marL="0" indent="0">
                  <a:buNone/>
                </a:pPr>
                <a14:m>
                  <m:oMathPara xmlns:m="http://schemas.openxmlformats.org/officeDocument/2006/math">
                    <m:oMathParaPr>
                      <m:jc m:val="left"/>
                    </m:oMathParaPr>
                    <m:oMath xmlns:m="http://schemas.openxmlformats.org/officeDocument/2006/math">
                      <m:r>
                        <a:rPr lang="en-US" sz="2200" i="1" smtClean="0">
                          <a:latin typeface="Cambria Math"/>
                        </a:rPr>
                        <m:t>𝐹</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𝐵𝐶</m:t>
                      </m:r>
                      <m:r>
                        <a:rPr lang="en-US" sz="2200" b="0" i="1" smtClean="0">
                          <a:latin typeface="Cambria Math"/>
                        </a:rPr>
                        <m:t>,</m:t>
                      </m:r>
                      <m:r>
                        <a:rPr lang="en-US" sz="2200" b="0" i="1" smtClean="0">
                          <a:latin typeface="Cambria Math"/>
                        </a:rPr>
                        <m:t>𝐶𝐷</m:t>
                      </m:r>
                      <m:r>
                        <a:rPr lang="en-US" sz="2200" b="0" i="1" smtClean="0">
                          <a:latin typeface="Cambria Math"/>
                        </a:rPr>
                        <m:t>→</m:t>
                      </m:r>
                      <m:r>
                        <a:rPr lang="en-US" sz="2200" b="0" i="1" smtClean="0">
                          <a:latin typeface="Cambria Math"/>
                        </a:rPr>
                        <m:t>𝐸</m:t>
                      </m:r>
                      <m:r>
                        <a:rPr lang="en-US" sz="2200" b="0" i="1" smtClean="0">
                          <a:latin typeface="Cambria Math"/>
                        </a:rPr>
                        <m:t>,</m:t>
                      </m:r>
                      <m:r>
                        <a:rPr lang="en-US" sz="2200" b="0" i="1" smtClean="0">
                          <a:latin typeface="Cambria Math"/>
                        </a:rPr>
                        <m:t>𝐸</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𝐴𝐸𝐺</m:t>
                      </m:r>
                      <m:r>
                        <a:rPr lang="en-US" sz="2200" b="0" i="1" smtClean="0">
                          <a:latin typeface="Cambria Math"/>
                        </a:rPr>
                        <m:t>,</m:t>
                      </m:r>
                      <m:r>
                        <a:rPr lang="en-US" sz="2200" b="0" i="1" smtClean="0">
                          <a:latin typeface="Cambria Math"/>
                        </a:rPr>
                        <m:t>𝐴𝐵𝐺</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𝐷𝐺</m:t>
                      </m:r>
                      <m:r>
                        <a:rPr lang="en-US" sz="2200" b="0" i="1" smtClean="0">
                          <a:latin typeface="Cambria Math"/>
                        </a:rPr>
                        <m:t>→</m:t>
                      </m:r>
                      <m:r>
                        <a:rPr lang="en-US" sz="2200" b="0" i="1" smtClean="0">
                          <a:latin typeface="Cambria Math"/>
                        </a:rPr>
                        <m:t>𝐴𝐵</m:t>
                      </m:r>
                      <m:r>
                        <a:rPr lang="en-US" sz="2200" b="0" i="1" smtClean="0">
                          <a:latin typeface="Cambria Math"/>
                        </a:rPr>
                        <m:t>}</m:t>
                      </m:r>
                    </m:oMath>
                  </m:oMathPara>
                </a14:m>
                <a:endParaRPr lang="en-US" sz="2200" smtClean="0"/>
              </a:p>
              <a:p>
                <a:pPr marL="0" indent="0">
                  <a:buNone/>
                </a:pPr>
                <a:r>
                  <a:rPr lang="en-US" sz="2200" smtClean="0"/>
                  <a:t>B1: </a:t>
                </a:r>
                <a14:m>
                  <m:oMath xmlns:m="http://schemas.openxmlformats.org/officeDocument/2006/math">
                    <m:r>
                      <a:rPr lang="en-US" sz="2200" b="0" i="1" smtClean="0">
                        <a:latin typeface="Cambria Math"/>
                      </a:rPr>
                      <m:t>𝐹</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𝐵</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𝐶𝐷</m:t>
                    </m:r>
                    <m:r>
                      <a:rPr lang="en-US" sz="2200" b="0" i="1" smtClean="0">
                        <a:latin typeface="Cambria Math"/>
                      </a:rPr>
                      <m:t>→</m:t>
                    </m:r>
                    <m:r>
                      <a:rPr lang="en-US" sz="2200" b="0" i="1" smtClean="0">
                        <a:latin typeface="Cambria Math"/>
                      </a:rPr>
                      <m:t>𝐸</m:t>
                    </m:r>
                    <m:r>
                      <a:rPr lang="en-US" sz="2200" b="0" i="1" smtClean="0">
                        <a:latin typeface="Cambria Math"/>
                      </a:rPr>
                      <m:t>,</m:t>
                    </m:r>
                    <m:r>
                      <a:rPr lang="en-US" sz="2200" b="0" i="1" smtClean="0">
                        <a:latin typeface="Cambria Math"/>
                      </a:rPr>
                      <m:t>𝐸</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𝐸</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𝐺</m:t>
                    </m:r>
                    <m:r>
                      <a:rPr lang="en-US" sz="2200" b="0" i="1" smtClean="0">
                        <a:latin typeface="Cambria Math"/>
                      </a:rPr>
                      <m:t>,</m:t>
                    </m:r>
                    <m:r>
                      <a:rPr lang="en-US" sz="2200" b="0" i="1" smtClean="0">
                        <a:latin typeface="Cambria Math"/>
                      </a:rPr>
                      <m:t>𝐴𝐵𝐺</m:t>
                    </m:r>
                    <m:r>
                      <a:rPr lang="en-US" sz="2200" b="0" i="1" smtClean="0">
                        <a:latin typeface="Cambria Math"/>
                      </a:rPr>
                      <m:t>→</m:t>
                    </m:r>
                    <m:r>
                      <a:rPr lang="en-US" sz="2200" b="0" i="1" smtClean="0">
                        <a:latin typeface="Cambria Math"/>
                      </a:rPr>
                      <m:t>𝐷</m:t>
                    </m:r>
                    <m:r>
                      <a:rPr lang="en-US" sz="2200" b="0" i="1" smtClean="0">
                        <a:latin typeface="Cambria Math"/>
                      </a:rPr>
                      <m:t>,</m:t>
                    </m:r>
                    <m:r>
                      <a:rPr lang="en-US" sz="2200" b="0" i="1" smtClean="0">
                        <a:latin typeface="Cambria Math"/>
                      </a:rPr>
                      <m:t>𝐷𝐺</m:t>
                    </m:r>
                    <m:r>
                      <a:rPr lang="en-US" sz="2200" b="0" i="1" smtClean="0">
                        <a:latin typeface="Cambria Math"/>
                      </a:rPr>
                      <m:t>→</m:t>
                    </m:r>
                    <m:r>
                      <a:rPr lang="en-US" sz="2200" b="0" i="1" smtClean="0">
                        <a:latin typeface="Cambria Math"/>
                      </a:rPr>
                      <m:t>𝐴</m:t>
                    </m:r>
                    <m:r>
                      <a:rPr lang="en-US" sz="2200" b="0" i="1" smtClean="0">
                        <a:latin typeface="Cambria Math"/>
                      </a:rPr>
                      <m:t>,</m:t>
                    </m:r>
                    <m:r>
                      <a:rPr lang="en-US" sz="2200" b="0" i="1" smtClean="0">
                        <a:latin typeface="Cambria Math"/>
                      </a:rPr>
                      <m:t>𝐷𝐺</m:t>
                    </m:r>
                    <m:r>
                      <a:rPr lang="en-US" sz="2200" b="0" i="1" smtClean="0">
                        <a:latin typeface="Cambria Math"/>
                      </a:rPr>
                      <m:t>→</m:t>
                    </m:r>
                    <m:r>
                      <a:rPr lang="en-US" sz="2200" b="0" i="1" smtClean="0">
                        <a:latin typeface="Cambria Math"/>
                      </a:rPr>
                      <m:t>𝐵</m:t>
                    </m:r>
                    <m:r>
                      <a:rPr lang="en-US" sz="2200" b="0" i="1" smtClean="0">
                        <a:latin typeface="Cambria Math"/>
                      </a:rPr>
                      <m:t>}</m:t>
                    </m:r>
                  </m:oMath>
                </a14:m>
                <a:endParaRPr lang="en-US" sz="2200" smtClean="0"/>
              </a:p>
              <a:p>
                <a:pPr marL="0" indent="0">
                  <a:buNone/>
                </a:pPr>
                <a:r>
                  <a:rPr lang="en-US" sz="2200" smtClean="0"/>
                  <a:t>B2: Xét từng phụ thuộc hàm mà vế trái hơn 1 thuộc tính</a:t>
                </a:r>
              </a:p>
              <a:p>
                <a14:m>
                  <m:oMath xmlns:m="http://schemas.openxmlformats.org/officeDocument/2006/math">
                    <m:r>
                      <a:rPr lang="en-US" sz="2000" b="0" i="1" smtClean="0">
                        <a:latin typeface="Cambria Math"/>
                      </a:rPr>
                      <m:t>𝐶𝐷</m:t>
                    </m:r>
                    <m:r>
                      <a:rPr lang="en-US" sz="2000" b="0" i="1" smtClean="0">
                        <a:latin typeface="Cambria Math"/>
                      </a:rPr>
                      <m:t>→</m:t>
                    </m:r>
                    <m:r>
                      <a:rPr lang="en-US" sz="2000" b="0" i="1" smtClean="0">
                        <a:latin typeface="Cambria Math"/>
                      </a:rPr>
                      <m:t>𝐸</m:t>
                    </m:r>
                  </m:oMath>
                </a14:m>
                <a:r>
                  <a:rPr lang="en-US" sz="2000" smtClean="0"/>
                  <a:t>: </a:t>
                </a:r>
              </a:p>
              <a:p>
                <a:pPr lvl="1"/>
                <a:r>
                  <a:rPr lang="en-US" sz="2000" smtClean="0"/>
                  <a:t>Loại </a:t>
                </a:r>
                <a14:m>
                  <m:oMath xmlns:m="http://schemas.openxmlformats.org/officeDocument/2006/math">
                    <m:r>
                      <a:rPr lang="en-US" sz="2000" i="1" smtClean="0">
                        <a:latin typeface="Cambria Math"/>
                      </a:rPr>
                      <m:t>𝐷</m:t>
                    </m:r>
                  </m:oMath>
                </a14:m>
                <a:r>
                  <a:rPr lang="en-US" sz="2000" smtClean="0"/>
                  <a:t>, ta xét </a:t>
                </a:r>
                <a14:m>
                  <m:oMath xmlns:m="http://schemas.openxmlformats.org/officeDocument/2006/math">
                    <m:r>
                      <a:rPr lang="en-US" sz="2000" b="0" i="1" smtClean="0">
                        <a:latin typeface="Cambria Math"/>
                      </a:rPr>
                      <m:t>𝐶</m:t>
                    </m:r>
                    <m:r>
                      <a:rPr lang="en-US" sz="2000" b="0" i="1" smtClean="0">
                        <a:latin typeface="Cambria Math"/>
                      </a:rPr>
                      <m:t>→</m:t>
                    </m:r>
                    <m:r>
                      <a:rPr lang="en-US" sz="2000" b="0" i="1" smtClean="0">
                        <a:latin typeface="Cambria Math"/>
                      </a:rPr>
                      <m:t>𝐸</m:t>
                    </m:r>
                  </m:oMath>
                </a14:m>
                <a:r>
                  <a:rPr lang="en-US" sz="2000" smtClean="0"/>
                  <a:t> có trong </a:t>
                </a:r>
                <a14:m>
                  <m:oMath xmlns:m="http://schemas.openxmlformats.org/officeDocument/2006/math">
                    <m:sSup>
                      <m:sSupPr>
                        <m:ctrlPr>
                          <a:rPr lang="en-US" sz="2000" b="0" i="1" smtClean="0">
                            <a:latin typeface="Cambria Math" panose="02040503050406030204" pitchFamily="18" charset="0"/>
                          </a:rPr>
                        </m:ctrlPr>
                      </m:sSupPr>
                      <m:e>
                        <m:r>
                          <a:rPr lang="en-US" sz="2000" i="1" smtClean="0">
                            <a:latin typeface="Cambria Math"/>
                          </a:rPr>
                          <m:t>𝐹</m:t>
                        </m:r>
                      </m:e>
                      <m:sup>
                        <m:r>
                          <a:rPr lang="en-US" sz="2000" b="0" i="1" smtClean="0">
                            <a:latin typeface="Cambria Math"/>
                          </a:rPr>
                          <m:t>+</m:t>
                        </m:r>
                      </m:sup>
                    </m:sSup>
                  </m:oMath>
                </a14:m>
                <a:r>
                  <a:rPr lang="en-US" sz="2000" smtClean="0"/>
                  <a:t> không. Thấy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a:rPr>
                          <m:t>𝐶</m:t>
                        </m:r>
                      </m:e>
                      <m:sub>
                        <m:r>
                          <a:rPr lang="en-US" sz="2000" b="0" i="1" smtClean="0">
                            <a:latin typeface="Cambria Math"/>
                          </a:rPr>
                          <m:t>𝐹</m:t>
                        </m:r>
                      </m:sub>
                      <m:sup>
                        <m:r>
                          <a:rPr lang="en-US" sz="2000" b="0" i="1" smtClean="0">
                            <a:latin typeface="Cambria Math"/>
                          </a:rPr>
                          <m:t>+</m:t>
                        </m:r>
                      </m:sup>
                    </m:sSubSup>
                    <m:r>
                      <a:rPr lang="en-US" sz="2000" b="0" i="1" smtClean="0">
                        <a:latin typeface="Cambria Math"/>
                      </a:rPr>
                      <m:t>=</m:t>
                    </m:r>
                    <m:r>
                      <a:rPr lang="en-US" sz="2000" b="0" i="1" smtClean="0">
                        <a:latin typeface="Cambria Math"/>
                      </a:rPr>
                      <m:t>𝐶</m:t>
                    </m:r>
                  </m:oMath>
                </a14:m>
                <a:r>
                  <a:rPr lang="en-US" sz="2000" smtClean="0"/>
                  <a:t> vậy </a:t>
                </a:r>
                <a14:m>
                  <m:oMath xmlns:m="http://schemas.openxmlformats.org/officeDocument/2006/math">
                    <m:r>
                      <a:rPr lang="en-US" sz="2000" i="1" smtClean="0">
                        <a:latin typeface="Cambria Math"/>
                      </a:rPr>
                      <m:t>𝐷</m:t>
                    </m:r>
                  </m:oMath>
                </a14:m>
                <a:r>
                  <a:rPr lang="en-US" sz="2000" smtClean="0"/>
                  <a:t> không dư thừa</a:t>
                </a:r>
              </a:p>
              <a:p>
                <a:pPr lvl="1"/>
                <a:r>
                  <a:rPr lang="en-US" sz="2000" smtClean="0"/>
                  <a:t>Loại C, ta xét </a:t>
                </a:r>
                <a14:m>
                  <m:oMath xmlns:m="http://schemas.openxmlformats.org/officeDocument/2006/math">
                    <m:r>
                      <a:rPr lang="en-US" sz="2000" b="0" i="1" smtClean="0">
                        <a:latin typeface="Cambria Math"/>
                      </a:rPr>
                      <m:t>𝐷</m:t>
                    </m:r>
                    <m:r>
                      <a:rPr lang="en-US" sz="2000" i="1">
                        <a:latin typeface="Cambria Math"/>
                      </a:rPr>
                      <m:t>→</m:t>
                    </m:r>
                    <m:r>
                      <a:rPr lang="en-US" sz="2000" i="1">
                        <a:latin typeface="Cambria Math"/>
                      </a:rPr>
                      <m:t>𝐸</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𝐷</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𝐷𝐴𝐸𝐺𝐵</m:t>
                    </m:r>
                  </m:oMath>
                </a14:m>
                <a:r>
                  <a:rPr lang="en-US" sz="2000"/>
                  <a:t> </a:t>
                </a:r>
                <a:r>
                  <a:rPr lang="en-US" sz="2000" smtClean="0"/>
                  <a:t>vậy </a:t>
                </a:r>
                <a14:m>
                  <m:oMath xmlns:m="http://schemas.openxmlformats.org/officeDocument/2006/math">
                    <m:r>
                      <a:rPr lang="en-US" sz="2000" b="0" i="1" smtClean="0">
                        <a:latin typeface="Cambria Math"/>
                      </a:rPr>
                      <m:t>𝐷</m:t>
                    </m:r>
                    <m:r>
                      <a:rPr lang="en-US" sz="2000" b="0" i="1" smtClean="0">
                        <a:latin typeface="Cambria Math"/>
                      </a:rPr>
                      <m:t>→</m:t>
                    </m:r>
                    <m:r>
                      <a:rPr lang="en-US" sz="2000" b="0" i="1" smtClean="0">
                        <a:latin typeface="Cambria Math"/>
                      </a:rPr>
                      <m:t>𝐸</m:t>
                    </m:r>
                    <m:r>
                      <a:rPr lang="en-US" sz="2000" b="0" i="1" smtClean="0">
                        <a:latin typeface="Cambria Math"/>
                      </a:rPr>
                      <m:t>∈</m:t>
                    </m:r>
                    <m:sSup>
                      <m:sSupPr>
                        <m:ctrlPr>
                          <a:rPr lang="en-US" sz="2000" b="0" i="1" smtClean="0">
                            <a:latin typeface="Cambria Math" panose="02040503050406030204" pitchFamily="18" charset="0"/>
                          </a:rPr>
                        </m:ctrlPr>
                      </m:sSupPr>
                      <m:e>
                        <m:r>
                          <a:rPr lang="en-US" sz="2000" b="0" i="1" smtClean="0">
                            <a:latin typeface="Cambria Math"/>
                          </a:rPr>
                          <m:t>𝐹</m:t>
                        </m:r>
                      </m:e>
                      <m:sup>
                        <m:r>
                          <a:rPr lang="en-US" sz="2000" b="0" i="1" smtClean="0">
                            <a:latin typeface="Cambria Math"/>
                          </a:rPr>
                          <m:t>+</m:t>
                        </m:r>
                      </m:sup>
                    </m:sSup>
                  </m:oMath>
                </a14:m>
                <a:r>
                  <a:rPr lang="en-US" sz="2000" smtClean="0"/>
                  <a:t> do đó </a:t>
                </a:r>
                <a14:m>
                  <m:oMath xmlns:m="http://schemas.openxmlformats.org/officeDocument/2006/math">
                    <m:r>
                      <a:rPr lang="en-US" sz="2000" b="0" i="1" smtClean="0">
                        <a:latin typeface="Cambria Math"/>
                      </a:rPr>
                      <m:t>𝐶</m:t>
                    </m:r>
                  </m:oMath>
                </a14:m>
                <a:r>
                  <a:rPr lang="en-US" sz="2000"/>
                  <a:t> </a:t>
                </a:r>
                <a:r>
                  <a:rPr lang="en-US" sz="2000" smtClean="0"/>
                  <a:t>dư thừa.</a:t>
                </a:r>
              </a:p>
              <a:p>
                <a:pPr marL="457200" lvl="1" indent="0">
                  <a:buNone/>
                </a:pPr>
                <a:r>
                  <a:rPr lang="en-US" sz="2000" smtClean="0"/>
                  <a:t>Vậy </a:t>
                </a:r>
                <a14:m>
                  <m:oMath xmlns:m="http://schemas.openxmlformats.org/officeDocument/2006/math">
                    <m:r>
                      <a:rPr lang="en-US" sz="2000" i="1" smtClean="0">
                        <a:latin typeface="Cambria Math"/>
                      </a:rPr>
                      <m:t>𝐹</m:t>
                    </m:r>
                    <m:r>
                      <a:rPr lang="en-US" sz="2000" b="0" i="1" smtClean="0">
                        <a:latin typeface="Cambria Math"/>
                      </a:rPr>
                      <m:t>={</m:t>
                    </m:r>
                    <m:r>
                      <a:rPr lang="en-US" sz="2000" b="0" i="1" smtClean="0">
                        <a:latin typeface="Cambria Math"/>
                      </a:rPr>
                      <m:t>𝐹</m:t>
                    </m:r>
                    <m:r>
                      <a:rPr lang="en-US" sz="2000" b="0" i="1" smtClean="0">
                        <a:latin typeface="Cambria Math"/>
                      </a:rPr>
                      <m:t>\</m:t>
                    </m:r>
                    <m:r>
                      <m:rPr>
                        <m:lit/>
                      </m:rPr>
                      <a:rPr lang="en-US" sz="2000" b="0" i="1" smtClean="0">
                        <a:latin typeface="Cambria Math"/>
                      </a:rPr>
                      <m:t>{</m:t>
                    </m:r>
                    <m:r>
                      <a:rPr lang="en-US" sz="2000" b="0" i="1" smtClean="0">
                        <a:latin typeface="Cambria Math"/>
                      </a:rPr>
                      <m:t>𝐶𝐷</m:t>
                    </m:r>
                    <m:r>
                      <a:rPr lang="en-US" sz="2000" b="0" i="1" smtClean="0">
                        <a:latin typeface="Cambria Math"/>
                      </a:rPr>
                      <m:t>→</m:t>
                    </m:r>
                    <m:r>
                      <a:rPr lang="en-US" sz="2000" b="0" i="1" smtClean="0">
                        <a:latin typeface="Cambria Math"/>
                      </a:rPr>
                      <m:t>𝐸</m:t>
                    </m:r>
                    <m:r>
                      <a:rPr lang="en-US" sz="2000" b="0" i="1" smtClean="0">
                        <a:latin typeface="Cambria Math"/>
                      </a:rPr>
                      <m:t>}}∪{</m:t>
                    </m:r>
                    <m:r>
                      <a:rPr lang="en-US" sz="2000" b="0" i="1" smtClean="0">
                        <a:latin typeface="Cambria Math"/>
                      </a:rPr>
                      <m:t>𝐷</m:t>
                    </m:r>
                    <m:r>
                      <a:rPr lang="en-US" sz="2000" b="0" i="1" smtClean="0">
                        <a:latin typeface="Cambria Math"/>
                      </a:rPr>
                      <m:t>→</m:t>
                    </m:r>
                    <m:r>
                      <a:rPr lang="en-US" sz="2000" b="0" i="1" smtClean="0">
                        <a:latin typeface="Cambria Math"/>
                      </a:rPr>
                      <m:t>𝐸</m:t>
                    </m:r>
                    <m:r>
                      <a:rPr lang="en-US" sz="2000" b="0" i="1" smtClean="0">
                        <a:latin typeface="Cambria Math"/>
                      </a:rPr>
                      <m:t>}</m:t>
                    </m:r>
                  </m:oMath>
                </a14:m>
                <a:endParaRPr lang="en-US" sz="2000" smtClean="0"/>
              </a:p>
              <a:p>
                <a:pPr marL="457200" lvl="1" indent="0">
                  <a:buNone/>
                </a:pPr>
                <a:endParaRPr lang="en-US" sz="1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181600"/>
              </a:xfrm>
              <a:blipFill rotWithShape="1">
                <a:blip r:embed="rId2"/>
                <a:stretch>
                  <a:fillRect l="-849" t="-706"/>
                </a:stretch>
              </a:blipFill>
            </p:spPr>
            <p:txBody>
              <a:bodyPr/>
              <a:lstStyle/>
              <a:p>
                <a:r>
                  <a:rPr lang="en-US">
                    <a:noFill/>
                  </a:rPr>
                  <a:t> </a:t>
                </a:r>
              </a:p>
            </p:txBody>
          </p:sp>
        </mc:Fallback>
      </mc:AlternateContent>
    </p:spTree>
    <p:extLst>
      <p:ext uri="{BB962C8B-B14F-4D97-AF65-F5344CB8AC3E}">
        <p14:creationId xmlns:p14="http://schemas.microsoft.com/office/powerpoint/2010/main" val="89173086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200" smtClean="0">
                    <a:solidFill>
                      <a:schemeClr val="bg1">
                        <a:lumMod val="50000"/>
                      </a:schemeClr>
                    </a:solidFill>
                  </a:rPr>
                  <a:t>Cho lược đồ </a:t>
                </a:r>
                <a14:m>
                  <m:oMath xmlns:m="http://schemas.openxmlformats.org/officeDocument/2006/math">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𝐹</m:t>
                    </m:r>
                    <m:r>
                      <a:rPr lang="en-US" sz="220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14:m>
                  <m:oMath xmlns:m="http://schemas.openxmlformats.org/officeDocument/2006/math">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𝐴𝐵𝐶𝐷𝐸𝐺</m:t>
                    </m:r>
                    <m:r>
                      <a:rPr lang="en-US" sz="2200" i="1" smtClean="0">
                        <a:solidFill>
                          <a:schemeClr val="bg1">
                            <a:lumMod val="50000"/>
                          </a:schemeClr>
                        </a:solidFill>
                        <a:latin typeface="Cambria Math"/>
                      </a:rPr>
                      <m:t>}</m:t>
                    </m:r>
                  </m:oMath>
                </a14:m>
                <a:r>
                  <a:rPr lang="en-US" sz="2200" smtClean="0">
                    <a:solidFill>
                      <a:schemeClr val="bg1">
                        <a:lumMod val="50000"/>
                      </a:schemeClr>
                    </a:solidFill>
                  </a:rPr>
                  <a:t>		</a:t>
                </a:r>
              </a:p>
              <a:p>
                <a:pPr marL="0" indent="0">
                  <a:buNone/>
                </a:pPr>
                <a14:m>
                  <m:oMathPara xmlns:m="http://schemas.openxmlformats.org/officeDocument/2006/math">
                    <m:oMathParaPr>
                      <m:jc m:val="left"/>
                    </m:oMathParaPr>
                    <m:oMath xmlns:m="http://schemas.openxmlformats.org/officeDocument/2006/math">
                      <m:r>
                        <a:rPr lang="en-US" sz="220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𝐴𝐸𝐺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m:t>
                      </m:r>
                      <m:r>
                        <a:rPr lang="en-US" sz="2200" b="0" i="1" smtClean="0">
                          <a:solidFill>
                            <a:schemeClr val="bg1">
                              <a:lumMod val="50000"/>
                            </a:schemeClr>
                          </a:solidFill>
                          <a:latin typeface="Cambria Math"/>
                        </a:rPr>
                        <m:t>}</m:t>
                      </m:r>
                    </m:oMath>
                  </m:oMathPara>
                </a14:m>
                <a:endParaRPr lang="en-US" sz="2200" smtClean="0">
                  <a:solidFill>
                    <a:schemeClr val="bg1">
                      <a:lumMod val="50000"/>
                    </a:schemeClr>
                  </a:solidFill>
                </a:endParaRPr>
              </a:p>
              <a:p>
                <a:pPr marL="0" indent="0">
                  <a:buNone/>
                </a:pPr>
                <a:r>
                  <a:rPr lang="en-US" sz="2200" smtClean="0">
                    <a:solidFill>
                      <a:schemeClr val="bg1">
                        <a:lumMod val="50000"/>
                      </a:schemeClr>
                    </a:solidFill>
                  </a:rPr>
                  <a:t>B1: </a:t>
                </a:r>
                <a14:m>
                  <m:oMath xmlns:m="http://schemas.openxmlformats.org/officeDocument/2006/math">
                    <m:r>
                      <a:rPr lang="en-US" sz="2200" b="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r>
                  <a:rPr lang="en-US" sz="2200" smtClean="0">
                    <a:solidFill>
                      <a:schemeClr val="bg1">
                        <a:lumMod val="50000"/>
                      </a:schemeClr>
                    </a:solidFill>
                  </a:rPr>
                  <a:t>B2: Xét từng phụ thuộc hàm mà vế trái hơn 1 thuộc tính</a:t>
                </a:r>
              </a:p>
              <a:p>
                <a:pPr marL="0" indent="0">
                  <a:buNone/>
                </a:pPr>
                <a14:m>
                  <m:oMathPara xmlns:m="http://schemas.openxmlformats.org/officeDocument/2006/math">
                    <m:oMathParaPr>
                      <m:jc m:val="left"/>
                    </m:oMathParaPr>
                    <m:oMath xmlns:m="http://schemas.openxmlformats.org/officeDocument/2006/math">
                      <m:r>
                        <a:rPr lang="en-US" sz="2200" i="1">
                          <a:solidFill>
                            <a:schemeClr val="bg1">
                              <a:lumMod val="50000"/>
                            </a:schemeClr>
                          </a:solidFill>
                          <a:latin typeface="Cambria Math"/>
                        </a:rPr>
                        <m:t>𝐹</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𝐴𝐵𝐺</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  </m:t>
                      </m:r>
                      <m:r>
                        <a:rPr lang="en-US" sz="2200" i="1">
                          <a:solidFill>
                            <a:schemeClr val="bg1">
                              <a:lumMod val="50000"/>
                            </a:schemeClr>
                          </a:solidFill>
                          <a:latin typeface="Cambria Math"/>
                        </a:rPr>
                        <m:t>𝐷𝐺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𝐷𝐺</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oMath>
                  </m:oMathPara>
                </a14:m>
                <a:endParaRPr lang="en-US" sz="2200" smtClean="0">
                  <a:solidFill>
                    <a:schemeClr val="bg1">
                      <a:lumMod val="50000"/>
                    </a:schemeClr>
                  </a:solidFill>
                </a:endParaRPr>
              </a:p>
              <a:p>
                <a14:m>
                  <m:oMath xmlns:m="http://schemas.openxmlformats.org/officeDocument/2006/math">
                    <m:r>
                      <a:rPr lang="en-US" sz="2000" i="1" smtClean="0">
                        <a:latin typeface="Cambria Math"/>
                      </a:rPr>
                      <m:t>𝐴𝐵𝐺</m:t>
                    </m:r>
                    <m:r>
                      <a:rPr lang="en-US" sz="2000" b="0" i="1" smtClean="0">
                        <a:latin typeface="Cambria Math"/>
                      </a:rPr>
                      <m:t>→</m:t>
                    </m:r>
                    <m:r>
                      <a:rPr lang="en-US" sz="2000" b="0" i="1" smtClean="0">
                        <a:latin typeface="Cambria Math"/>
                      </a:rPr>
                      <m:t>𝐷</m:t>
                    </m:r>
                  </m:oMath>
                </a14:m>
                <a:endParaRPr lang="en-US" sz="2000" smtClean="0"/>
              </a:p>
              <a:p>
                <a:pPr lvl="1"/>
                <a:r>
                  <a:rPr lang="en-US" sz="2000" smtClean="0"/>
                  <a:t>Loại </a:t>
                </a:r>
                <a14:m>
                  <m:oMath xmlns:m="http://schemas.openxmlformats.org/officeDocument/2006/math">
                    <m:r>
                      <a:rPr lang="en-US" sz="2000" b="0" i="1" smtClean="0">
                        <a:latin typeface="Cambria Math"/>
                      </a:rPr>
                      <m:t>𝐴</m:t>
                    </m:r>
                  </m:oMath>
                </a14:m>
                <a:r>
                  <a:rPr lang="en-US" sz="2000"/>
                  <a:t>, ta xét </a:t>
                </a:r>
                <a14:m>
                  <m:oMath xmlns:m="http://schemas.openxmlformats.org/officeDocument/2006/math">
                    <m:r>
                      <a:rPr lang="en-US" sz="2000" b="0" i="1" smtClean="0">
                        <a:latin typeface="Cambria Math"/>
                      </a:rPr>
                      <m:t>𝐵𝐺</m:t>
                    </m:r>
                    <m:r>
                      <a:rPr lang="en-US" sz="2000" i="1">
                        <a:latin typeface="Cambria Math"/>
                      </a:rPr>
                      <m:t>→</m:t>
                    </m:r>
                    <m:r>
                      <a:rPr lang="en-US" sz="2000" b="0" i="1" smtClean="0">
                        <a:latin typeface="Cambria Math"/>
                      </a:rPr>
                      <m:t>𝐷</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𝐵𝐺</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𝐵𝐺</m:t>
                    </m:r>
                  </m:oMath>
                </a14:m>
                <a:r>
                  <a:rPr lang="en-US" sz="2000"/>
                  <a:t> vậy </a:t>
                </a:r>
                <a14:m>
                  <m:oMath xmlns:m="http://schemas.openxmlformats.org/officeDocument/2006/math">
                    <m:r>
                      <a:rPr lang="en-US" sz="2000" b="0" i="1" smtClean="0">
                        <a:latin typeface="Cambria Math"/>
                      </a:rPr>
                      <m:t>𝐴</m:t>
                    </m:r>
                  </m:oMath>
                </a14:m>
                <a:r>
                  <a:rPr lang="en-US" sz="2000"/>
                  <a:t> không dư </a:t>
                </a:r>
                <a:r>
                  <a:rPr lang="en-US" sz="2000" smtClean="0"/>
                  <a:t>thừa. Khi này </a:t>
                </a:r>
                <a14:m>
                  <m:oMath xmlns:m="http://schemas.openxmlformats.org/officeDocument/2006/math">
                    <m:r>
                      <a:rPr lang="en-US" sz="2000" i="1" smtClean="0">
                        <a:latin typeface="Cambria Math"/>
                      </a:rPr>
                      <m:t>𝐹</m:t>
                    </m:r>
                  </m:oMath>
                </a14:m>
                <a:r>
                  <a:rPr lang="en-US" sz="2000" smtClean="0"/>
                  <a:t> vẫn không đổi</a:t>
                </a:r>
              </a:p>
              <a:p>
                <a:pPr lvl="1"/>
                <a:r>
                  <a:rPr lang="en-US" sz="2000" smtClean="0"/>
                  <a:t>Loại </a:t>
                </a:r>
                <a14:m>
                  <m:oMath xmlns:m="http://schemas.openxmlformats.org/officeDocument/2006/math">
                    <m:r>
                      <a:rPr lang="en-US" sz="2000" b="0" i="1" smtClean="0">
                        <a:latin typeface="Cambria Math"/>
                      </a:rPr>
                      <m:t>𝐵</m:t>
                    </m:r>
                  </m:oMath>
                </a14:m>
                <a:r>
                  <a:rPr lang="en-US" sz="2000"/>
                  <a:t>, ta xét </a:t>
                </a:r>
                <a14:m>
                  <m:oMath xmlns:m="http://schemas.openxmlformats.org/officeDocument/2006/math">
                    <m:r>
                      <a:rPr lang="en-US" sz="2000" b="0" i="1" smtClean="0">
                        <a:latin typeface="Cambria Math"/>
                      </a:rPr>
                      <m:t>𝐴</m:t>
                    </m:r>
                    <m:r>
                      <a:rPr lang="en-US" sz="2000" i="1">
                        <a:latin typeface="Cambria Math"/>
                      </a:rPr>
                      <m:t>𝐺</m:t>
                    </m:r>
                    <m:r>
                      <a:rPr lang="en-US" sz="2000" i="1">
                        <a:latin typeface="Cambria Math"/>
                      </a:rPr>
                      <m:t>→</m:t>
                    </m:r>
                    <m:r>
                      <a:rPr lang="en-US" sz="2000" i="1">
                        <a:latin typeface="Cambria Math"/>
                      </a:rPr>
                      <m:t>𝐷</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a:rPr>
                          <m:t>𝐴</m:t>
                        </m:r>
                        <m:r>
                          <a:rPr lang="en-US" sz="2000" i="1">
                            <a:latin typeface="Cambria Math"/>
                          </a:rPr>
                          <m:t>𝐺</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𝐴𝐶</m:t>
                    </m:r>
                    <m:r>
                      <a:rPr lang="en-US" sz="2000" i="1">
                        <a:latin typeface="Cambria Math"/>
                      </a:rPr>
                      <m:t>𝐵𝐺</m:t>
                    </m:r>
                    <m:r>
                      <a:rPr lang="en-US" sz="2000" b="0" i="1" smtClean="0">
                        <a:latin typeface="Cambria Math"/>
                      </a:rPr>
                      <m:t>𝐷</m:t>
                    </m:r>
                  </m:oMath>
                </a14:m>
                <a:r>
                  <a:rPr lang="en-US" sz="2000"/>
                  <a:t> vậy </a:t>
                </a:r>
                <a14:m>
                  <m:oMath xmlns:m="http://schemas.openxmlformats.org/officeDocument/2006/math">
                    <m:r>
                      <a:rPr lang="en-US" sz="2000" b="0" i="1" smtClean="0">
                        <a:latin typeface="Cambria Math"/>
                      </a:rPr>
                      <m:t>𝐵</m:t>
                    </m:r>
                  </m:oMath>
                </a14:m>
                <a:r>
                  <a:rPr lang="en-US" sz="2000"/>
                  <a:t> </a:t>
                </a:r>
                <a:r>
                  <a:rPr lang="en-US" sz="2000" smtClean="0"/>
                  <a:t>dư thừa. Khi này </a:t>
                </a:r>
                <a14:m>
                  <m:oMath xmlns:m="http://schemas.openxmlformats.org/officeDocument/2006/math">
                    <m:r>
                      <a:rPr lang="en-US" sz="200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𝐴𝐵𝐺</m:t>
                            </m:r>
                            <m:r>
                              <a:rPr lang="en-US" sz="2000" b="0" i="1" smtClean="0">
                                <a:latin typeface="Cambria Math"/>
                              </a:rPr>
                              <m:t>→</m:t>
                            </m:r>
                            <m:r>
                              <a:rPr lang="en-US" sz="2000" b="0" i="1" smtClean="0">
                                <a:latin typeface="Cambria Math"/>
                              </a:rPr>
                              <m:t>𝐷</m:t>
                            </m:r>
                          </m:e>
                        </m:d>
                      </m:e>
                    </m:d>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𝐴𝐺</m:t>
                        </m:r>
                        <m:r>
                          <a:rPr lang="en-US" sz="2000" b="0" i="1" smtClean="0">
                            <a:latin typeface="Cambria Math"/>
                          </a:rPr>
                          <m:t>→</m:t>
                        </m:r>
                        <m:r>
                          <a:rPr lang="en-US" sz="2000" b="0" i="1" smtClean="0">
                            <a:latin typeface="Cambria Math"/>
                          </a:rPr>
                          <m:t>𝐷</m:t>
                        </m:r>
                      </m:e>
                    </m:d>
                  </m:oMath>
                </a14:m>
                <a:endParaRPr lang="en-US" sz="2000" b="0" smtClean="0"/>
              </a:p>
              <a:p>
                <a:pPr lvl="1"/>
                <a:r>
                  <a:rPr lang="en-US" sz="2000" smtClean="0"/>
                  <a:t>Loại </a:t>
                </a:r>
                <a14:m>
                  <m:oMath xmlns:m="http://schemas.openxmlformats.org/officeDocument/2006/math">
                    <m:r>
                      <a:rPr lang="en-US" sz="2000" i="1" smtClean="0">
                        <a:latin typeface="Cambria Math"/>
                      </a:rPr>
                      <m:t>𝐺</m:t>
                    </m:r>
                  </m:oMath>
                </a14:m>
                <a:r>
                  <a:rPr lang="en-US" sz="2000" smtClean="0"/>
                  <a:t>, </a:t>
                </a:r>
                <a:r>
                  <a:rPr lang="en-US" sz="2000"/>
                  <a:t>ta xét </a:t>
                </a:r>
                <a14:m>
                  <m:oMath xmlns:m="http://schemas.openxmlformats.org/officeDocument/2006/math">
                    <m:r>
                      <a:rPr lang="en-US" sz="2000" b="0" i="1" smtClean="0">
                        <a:latin typeface="Cambria Math"/>
                      </a:rPr>
                      <m:t>𝐴</m:t>
                    </m:r>
                    <m:r>
                      <a:rPr lang="en-US" sz="2000" i="1">
                        <a:latin typeface="Cambria Math"/>
                      </a:rPr>
                      <m:t>→</m:t>
                    </m:r>
                    <m:r>
                      <a:rPr lang="en-US" sz="2000" i="1">
                        <a:latin typeface="Cambria Math"/>
                      </a:rPr>
                      <m:t>𝐷</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𝐴</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𝐴</m:t>
                    </m:r>
                    <m:r>
                      <a:rPr lang="en-US" sz="2000" i="1">
                        <a:latin typeface="Cambria Math"/>
                      </a:rPr>
                      <m:t>𝐵</m:t>
                    </m:r>
                    <m:r>
                      <a:rPr lang="en-US" sz="2000" b="0" i="1" smtClean="0">
                        <a:latin typeface="Cambria Math"/>
                      </a:rPr>
                      <m:t>𝐶</m:t>
                    </m:r>
                  </m:oMath>
                </a14:m>
                <a:r>
                  <a:rPr lang="en-US" sz="2000"/>
                  <a:t> vậy </a:t>
                </a:r>
                <a14:m>
                  <m:oMath xmlns:m="http://schemas.openxmlformats.org/officeDocument/2006/math">
                    <m:r>
                      <a:rPr lang="en-US" sz="2000" b="0" i="1" smtClean="0">
                        <a:latin typeface="Cambria Math"/>
                      </a:rPr>
                      <m:t>𝐺</m:t>
                    </m:r>
                  </m:oMath>
                </a14:m>
                <a:r>
                  <a:rPr lang="en-US" sz="2000"/>
                  <a:t> không </a:t>
                </a:r>
                <a:r>
                  <a:rPr lang="en-US" sz="2000" smtClean="0"/>
                  <a:t>dư</a:t>
                </a:r>
                <a:endParaRPr lang="en-US" sz="2000"/>
              </a:p>
              <a:p>
                <a:pPr marL="457200" lvl="1" indent="0">
                  <a:buNone/>
                </a:pPr>
                <a:endParaRPr lang="en-US" sz="1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2"/>
                <a:stretch>
                  <a:fillRect l="-849" t="-696" r="-778"/>
                </a:stretch>
              </a:blipFill>
            </p:spPr>
            <p:txBody>
              <a:bodyPr/>
              <a:lstStyle/>
              <a:p>
                <a:r>
                  <a:rPr lang="en-US">
                    <a:noFill/>
                  </a:rPr>
                  <a:t> </a:t>
                </a:r>
              </a:p>
            </p:txBody>
          </p:sp>
        </mc:Fallback>
      </mc:AlternateContent>
    </p:spTree>
    <p:extLst>
      <p:ext uri="{BB962C8B-B14F-4D97-AF65-F5344CB8AC3E}">
        <p14:creationId xmlns:p14="http://schemas.microsoft.com/office/powerpoint/2010/main" val="33030021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200" smtClean="0">
                    <a:solidFill>
                      <a:schemeClr val="bg1">
                        <a:lumMod val="50000"/>
                      </a:schemeClr>
                    </a:solidFill>
                  </a:rPr>
                  <a:t>Cho lược đồ </a:t>
                </a:r>
                <a14:m>
                  <m:oMath xmlns:m="http://schemas.openxmlformats.org/officeDocument/2006/math">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𝐹</m:t>
                    </m:r>
                    <m:r>
                      <a:rPr lang="en-US" sz="220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14:m>
                  <m:oMath xmlns:m="http://schemas.openxmlformats.org/officeDocument/2006/math">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𝐴𝐵𝐶𝐷𝐸𝐺</m:t>
                    </m:r>
                    <m:r>
                      <a:rPr lang="en-US" sz="2200" i="1" smtClean="0">
                        <a:solidFill>
                          <a:schemeClr val="bg1">
                            <a:lumMod val="50000"/>
                          </a:schemeClr>
                        </a:solidFill>
                        <a:latin typeface="Cambria Math"/>
                      </a:rPr>
                      <m:t>}</m:t>
                    </m:r>
                  </m:oMath>
                </a14:m>
                <a:r>
                  <a:rPr lang="en-US" sz="2200" smtClean="0">
                    <a:solidFill>
                      <a:schemeClr val="bg1">
                        <a:lumMod val="50000"/>
                      </a:schemeClr>
                    </a:solidFill>
                  </a:rPr>
                  <a:t>		</a:t>
                </a:r>
              </a:p>
              <a:p>
                <a:pPr marL="0" indent="0">
                  <a:buNone/>
                </a:pPr>
                <a14:m>
                  <m:oMathPara xmlns:m="http://schemas.openxmlformats.org/officeDocument/2006/math">
                    <m:oMathParaPr>
                      <m:jc m:val="left"/>
                    </m:oMathParaPr>
                    <m:oMath xmlns:m="http://schemas.openxmlformats.org/officeDocument/2006/math">
                      <m:r>
                        <a:rPr lang="en-US" sz="220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𝐴𝐸𝐺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m:t>
                      </m:r>
                      <m:r>
                        <a:rPr lang="en-US" sz="2200" b="0" i="1" smtClean="0">
                          <a:solidFill>
                            <a:schemeClr val="bg1">
                              <a:lumMod val="50000"/>
                            </a:schemeClr>
                          </a:solidFill>
                          <a:latin typeface="Cambria Math"/>
                        </a:rPr>
                        <m:t>}</m:t>
                      </m:r>
                    </m:oMath>
                  </m:oMathPara>
                </a14:m>
                <a:endParaRPr lang="en-US" sz="2200" smtClean="0">
                  <a:solidFill>
                    <a:schemeClr val="bg1">
                      <a:lumMod val="50000"/>
                    </a:schemeClr>
                  </a:solidFill>
                </a:endParaRPr>
              </a:p>
              <a:p>
                <a:pPr marL="0" indent="0">
                  <a:buNone/>
                </a:pPr>
                <a:r>
                  <a:rPr lang="en-US" sz="2200" smtClean="0">
                    <a:solidFill>
                      <a:schemeClr val="bg1">
                        <a:lumMod val="50000"/>
                      </a:schemeClr>
                    </a:solidFill>
                  </a:rPr>
                  <a:t>B1: </a:t>
                </a:r>
                <a14:m>
                  <m:oMath xmlns:m="http://schemas.openxmlformats.org/officeDocument/2006/math">
                    <m:r>
                      <a:rPr lang="en-US" sz="2200" b="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r>
                  <a:rPr lang="en-US" sz="2200" smtClean="0">
                    <a:solidFill>
                      <a:schemeClr val="bg1">
                        <a:lumMod val="50000"/>
                      </a:schemeClr>
                    </a:solidFill>
                  </a:rPr>
                  <a:t>B2: Xét từng phụ thuộc hàm mà vế trái hơn 1 thuộc tính</a:t>
                </a:r>
              </a:p>
              <a:p>
                <a:pPr marL="0" indent="0">
                  <a:buNone/>
                </a:pPr>
                <a14:m>
                  <m:oMathPara xmlns:m="http://schemas.openxmlformats.org/officeDocument/2006/math">
                    <m:oMathParaPr>
                      <m:jc m:val="left"/>
                    </m:oMathParaPr>
                    <m:oMath xmlns:m="http://schemas.openxmlformats.org/officeDocument/2006/math">
                      <m:r>
                        <a:rPr lang="en-US" sz="2200" i="1">
                          <a:solidFill>
                            <a:schemeClr val="bg1">
                              <a:lumMod val="50000"/>
                            </a:schemeClr>
                          </a:solidFill>
                          <a:latin typeface="Cambria Math"/>
                        </a:rPr>
                        <m:t>𝐹</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𝐴𝐺</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  </m:t>
                      </m:r>
                      <m:r>
                        <a:rPr lang="en-US" sz="2200" i="1">
                          <a:solidFill>
                            <a:schemeClr val="bg1">
                              <a:lumMod val="50000"/>
                            </a:schemeClr>
                          </a:solidFill>
                          <a:latin typeface="Cambria Math"/>
                        </a:rPr>
                        <m:t>𝐷𝐺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𝐷𝐺</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oMath>
                  </m:oMathPara>
                </a14:m>
                <a:endParaRPr lang="en-US" sz="2200" smtClean="0">
                  <a:solidFill>
                    <a:schemeClr val="bg1">
                      <a:lumMod val="50000"/>
                    </a:schemeClr>
                  </a:solidFill>
                </a:endParaRPr>
              </a:p>
              <a:p>
                <a14:m>
                  <m:oMath xmlns:m="http://schemas.openxmlformats.org/officeDocument/2006/math">
                    <m:r>
                      <a:rPr lang="en-US" sz="2000" b="0" i="1" smtClean="0">
                        <a:latin typeface="Cambria Math"/>
                      </a:rPr>
                      <m:t>𝐷</m:t>
                    </m:r>
                    <m:r>
                      <a:rPr lang="en-US" sz="2000" i="1" smtClean="0">
                        <a:latin typeface="Cambria Math"/>
                      </a:rPr>
                      <m:t>𝐺</m:t>
                    </m:r>
                    <m:r>
                      <a:rPr lang="en-US" sz="2000" b="0" i="1" smtClean="0">
                        <a:latin typeface="Cambria Math"/>
                      </a:rPr>
                      <m:t>→</m:t>
                    </m:r>
                    <m:r>
                      <a:rPr lang="en-US" sz="2000" b="0" i="1" smtClean="0">
                        <a:latin typeface="Cambria Math"/>
                      </a:rPr>
                      <m:t>𝐴</m:t>
                    </m:r>
                  </m:oMath>
                </a14:m>
                <a:endParaRPr lang="en-US" sz="2000" smtClean="0"/>
              </a:p>
              <a:p>
                <a:pPr lvl="1"/>
                <a:r>
                  <a:rPr lang="en-US" sz="2000" smtClean="0"/>
                  <a:t>Loại </a:t>
                </a:r>
                <a14:m>
                  <m:oMath xmlns:m="http://schemas.openxmlformats.org/officeDocument/2006/math">
                    <m:r>
                      <a:rPr lang="en-US" sz="2000" b="0" i="1" smtClean="0">
                        <a:latin typeface="Cambria Math"/>
                      </a:rPr>
                      <m:t>𝐷</m:t>
                    </m:r>
                  </m:oMath>
                </a14:m>
                <a:r>
                  <a:rPr lang="en-US" sz="2000"/>
                  <a:t>, ta xét </a:t>
                </a:r>
                <a14:m>
                  <m:oMath xmlns:m="http://schemas.openxmlformats.org/officeDocument/2006/math">
                    <m:r>
                      <a:rPr lang="en-US" sz="2000" b="0" i="1" smtClean="0">
                        <a:latin typeface="Cambria Math"/>
                      </a:rPr>
                      <m:t>𝐺</m:t>
                    </m:r>
                    <m:r>
                      <a:rPr lang="en-US" sz="2000" i="1">
                        <a:latin typeface="Cambria Math"/>
                      </a:rPr>
                      <m:t>→</m:t>
                    </m:r>
                    <m:r>
                      <a:rPr lang="en-US" sz="2000" b="0" i="1" smtClean="0">
                        <a:latin typeface="Cambria Math"/>
                      </a:rPr>
                      <m:t>𝐴</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𝐺</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𝐺</m:t>
                    </m:r>
                  </m:oMath>
                </a14:m>
                <a:r>
                  <a:rPr lang="en-US" sz="2000"/>
                  <a:t> vậy </a:t>
                </a:r>
                <a14:m>
                  <m:oMath xmlns:m="http://schemas.openxmlformats.org/officeDocument/2006/math">
                    <m:r>
                      <a:rPr lang="en-US" sz="2000" b="0" i="1" smtClean="0">
                        <a:latin typeface="Cambria Math"/>
                      </a:rPr>
                      <m:t>𝐷</m:t>
                    </m:r>
                  </m:oMath>
                </a14:m>
                <a:r>
                  <a:rPr lang="en-US" sz="2000"/>
                  <a:t> không </a:t>
                </a:r>
                <a:r>
                  <a:rPr lang="en-US" sz="2000" smtClean="0"/>
                  <a:t>dư</a:t>
                </a:r>
              </a:p>
              <a:p>
                <a:pPr lvl="1"/>
                <a:r>
                  <a:rPr lang="en-US" sz="2000" smtClean="0"/>
                  <a:t>Loại </a:t>
                </a:r>
                <a14:m>
                  <m:oMath xmlns:m="http://schemas.openxmlformats.org/officeDocument/2006/math">
                    <m:r>
                      <a:rPr lang="en-US" sz="2000" b="0" i="1" smtClean="0">
                        <a:latin typeface="Cambria Math"/>
                      </a:rPr>
                      <m:t>𝐺</m:t>
                    </m:r>
                  </m:oMath>
                </a14:m>
                <a:r>
                  <a:rPr lang="en-US" sz="2000"/>
                  <a:t>, ta xét </a:t>
                </a:r>
                <a14:m>
                  <m:oMath xmlns:m="http://schemas.openxmlformats.org/officeDocument/2006/math">
                    <m:r>
                      <a:rPr lang="en-US" sz="2000" b="0" i="1" smtClean="0">
                        <a:latin typeface="Cambria Math"/>
                      </a:rPr>
                      <m:t>𝐷</m:t>
                    </m:r>
                    <m:r>
                      <a:rPr lang="en-US" sz="2000" i="1">
                        <a:latin typeface="Cambria Math"/>
                      </a:rPr>
                      <m:t>→</m:t>
                    </m:r>
                    <m:r>
                      <a:rPr lang="en-US" sz="2000" b="0" i="1" smtClean="0">
                        <a:latin typeface="Cambria Math"/>
                      </a:rPr>
                      <m:t>𝐴</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a:rPr>
                          <m:t>𝐷</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𝐷𝐴𝐶</m:t>
                    </m:r>
                    <m:r>
                      <a:rPr lang="en-US" sz="2000" i="1">
                        <a:latin typeface="Cambria Math"/>
                      </a:rPr>
                      <m:t>𝐵</m:t>
                    </m:r>
                    <m:r>
                      <a:rPr lang="en-US" sz="2000" b="0" i="1" smtClean="0">
                        <a:latin typeface="Cambria Math"/>
                      </a:rPr>
                      <m:t>𝐸</m:t>
                    </m:r>
                    <m:r>
                      <a:rPr lang="en-US" sz="2000" i="1">
                        <a:latin typeface="Cambria Math"/>
                      </a:rPr>
                      <m:t>𝐺</m:t>
                    </m:r>
                  </m:oMath>
                </a14:m>
                <a:r>
                  <a:rPr lang="en-US" sz="2000"/>
                  <a:t> vậy </a:t>
                </a:r>
                <a14:m>
                  <m:oMath xmlns:m="http://schemas.openxmlformats.org/officeDocument/2006/math">
                    <m:r>
                      <a:rPr lang="en-US" sz="2000" b="0" i="1" smtClean="0">
                        <a:latin typeface="Cambria Math"/>
                      </a:rPr>
                      <m:t>𝐺</m:t>
                    </m:r>
                  </m:oMath>
                </a14:m>
                <a:r>
                  <a:rPr lang="en-US" sz="2000"/>
                  <a:t> </a:t>
                </a:r>
                <a:r>
                  <a:rPr lang="en-US" sz="2000" smtClean="0"/>
                  <a:t>dư thừa. Khi này </a:t>
                </a:r>
                <a14:m>
                  <m:oMath xmlns:m="http://schemas.openxmlformats.org/officeDocument/2006/math">
                    <m:r>
                      <a:rPr lang="en-US" sz="200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𝐷𝐺</m:t>
                            </m:r>
                            <m:r>
                              <a:rPr lang="en-US" sz="2000" b="0" i="1" smtClean="0">
                                <a:latin typeface="Cambria Math"/>
                              </a:rPr>
                              <m:t>→</m:t>
                            </m:r>
                            <m:r>
                              <a:rPr lang="en-US" sz="2000" b="0" i="1" smtClean="0">
                                <a:latin typeface="Cambria Math"/>
                              </a:rPr>
                              <m:t>𝐴</m:t>
                            </m:r>
                          </m:e>
                        </m:d>
                      </m:e>
                    </m:d>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𝐷</m:t>
                        </m:r>
                        <m:r>
                          <a:rPr lang="en-US" sz="2000" b="0" i="1" smtClean="0">
                            <a:latin typeface="Cambria Math"/>
                          </a:rPr>
                          <m:t>→</m:t>
                        </m:r>
                        <m:r>
                          <a:rPr lang="en-US" sz="2000" b="0" i="1" smtClean="0">
                            <a:latin typeface="Cambria Math"/>
                          </a:rPr>
                          <m:t>𝐴</m:t>
                        </m:r>
                      </m:e>
                    </m:d>
                  </m:oMath>
                </a14:m>
                <a:endParaRPr lang="en-US" sz="2000" b="0" smtClean="0"/>
              </a:p>
              <a:p>
                <a:pPr marL="457200" lvl="1" indent="0">
                  <a:buNone/>
                </a:pPr>
                <a:endParaRPr lang="en-US" sz="18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2"/>
                <a:stretch>
                  <a:fillRect l="-849" t="-696"/>
                </a:stretch>
              </a:blipFill>
            </p:spPr>
            <p:txBody>
              <a:bodyPr/>
              <a:lstStyle/>
              <a:p>
                <a:r>
                  <a:rPr lang="en-US">
                    <a:noFill/>
                  </a:rPr>
                  <a:t> </a:t>
                </a:r>
              </a:p>
            </p:txBody>
          </p:sp>
        </mc:Fallback>
      </mc:AlternateContent>
    </p:spTree>
    <p:extLst>
      <p:ext uri="{BB962C8B-B14F-4D97-AF65-F5344CB8AC3E}">
        <p14:creationId xmlns:p14="http://schemas.microsoft.com/office/powerpoint/2010/main" val="12963843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200" smtClean="0">
                    <a:solidFill>
                      <a:schemeClr val="bg1">
                        <a:lumMod val="50000"/>
                      </a:schemeClr>
                    </a:solidFill>
                  </a:rPr>
                  <a:t>Cho lược đồ </a:t>
                </a:r>
                <a14:m>
                  <m:oMath xmlns:m="http://schemas.openxmlformats.org/officeDocument/2006/math">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𝐹</m:t>
                    </m:r>
                    <m:r>
                      <a:rPr lang="en-US" sz="220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14:m>
                  <m:oMath xmlns:m="http://schemas.openxmlformats.org/officeDocument/2006/math">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𝐴𝐵𝐶𝐷𝐸𝐺</m:t>
                    </m:r>
                    <m:r>
                      <a:rPr lang="en-US" sz="2200" i="1" smtClean="0">
                        <a:solidFill>
                          <a:schemeClr val="bg1">
                            <a:lumMod val="50000"/>
                          </a:schemeClr>
                        </a:solidFill>
                        <a:latin typeface="Cambria Math"/>
                      </a:rPr>
                      <m:t>}</m:t>
                    </m:r>
                  </m:oMath>
                </a14:m>
                <a:r>
                  <a:rPr lang="en-US" sz="2200" smtClean="0">
                    <a:solidFill>
                      <a:schemeClr val="bg1">
                        <a:lumMod val="50000"/>
                      </a:schemeClr>
                    </a:solidFill>
                  </a:rPr>
                  <a:t>		</a:t>
                </a:r>
              </a:p>
              <a:p>
                <a:pPr marL="0" indent="0">
                  <a:buNone/>
                </a:pPr>
                <a14:m>
                  <m:oMathPara xmlns:m="http://schemas.openxmlformats.org/officeDocument/2006/math">
                    <m:oMathParaPr>
                      <m:jc m:val="left"/>
                    </m:oMathParaPr>
                    <m:oMath xmlns:m="http://schemas.openxmlformats.org/officeDocument/2006/math">
                      <m:r>
                        <a:rPr lang="en-US" sz="220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𝐴𝐸𝐺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m:t>
                      </m:r>
                      <m:r>
                        <a:rPr lang="en-US" sz="2200" b="0" i="1" smtClean="0">
                          <a:solidFill>
                            <a:schemeClr val="bg1">
                              <a:lumMod val="50000"/>
                            </a:schemeClr>
                          </a:solidFill>
                          <a:latin typeface="Cambria Math"/>
                        </a:rPr>
                        <m:t>}</m:t>
                      </m:r>
                    </m:oMath>
                  </m:oMathPara>
                </a14:m>
                <a:endParaRPr lang="en-US" sz="2200" smtClean="0">
                  <a:solidFill>
                    <a:schemeClr val="bg1">
                      <a:lumMod val="50000"/>
                    </a:schemeClr>
                  </a:solidFill>
                </a:endParaRPr>
              </a:p>
              <a:p>
                <a:pPr marL="0" indent="0">
                  <a:buNone/>
                </a:pPr>
                <a:r>
                  <a:rPr lang="en-US" sz="2200" smtClean="0">
                    <a:solidFill>
                      <a:schemeClr val="bg1">
                        <a:lumMod val="50000"/>
                      </a:schemeClr>
                    </a:solidFill>
                  </a:rPr>
                  <a:t>B1: </a:t>
                </a:r>
                <a14:m>
                  <m:oMath xmlns:m="http://schemas.openxmlformats.org/officeDocument/2006/math">
                    <m:r>
                      <a:rPr lang="en-US" sz="2200" b="0" i="1" smtClean="0">
                        <a:solidFill>
                          <a:schemeClr val="bg1">
                            <a:lumMod val="50000"/>
                          </a:schemeClr>
                        </a:solidFill>
                        <a:latin typeface="Cambria Math"/>
                      </a:rPr>
                      <m:t>𝐹</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𝐶</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𝐸</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𝐴𝐵𝐺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𝐴</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𝐷𝐺</m:t>
                    </m:r>
                    <m:r>
                      <a:rPr lang="en-US" sz="2200" b="0" i="1" smtClean="0">
                        <a:solidFill>
                          <a:schemeClr val="bg1">
                            <a:lumMod val="50000"/>
                          </a:schemeClr>
                        </a:solidFill>
                        <a:latin typeface="Cambria Math"/>
                      </a:rPr>
                      <m:t>→</m:t>
                    </m:r>
                    <m:r>
                      <a:rPr lang="en-US" sz="2200" b="0" i="1" smtClean="0">
                        <a:solidFill>
                          <a:schemeClr val="bg1">
                            <a:lumMod val="50000"/>
                          </a:schemeClr>
                        </a:solidFill>
                        <a:latin typeface="Cambria Math"/>
                      </a:rPr>
                      <m:t>𝐵</m:t>
                    </m:r>
                    <m:r>
                      <a:rPr lang="en-US" sz="2200" b="0" i="1" smtClean="0">
                        <a:solidFill>
                          <a:schemeClr val="bg1">
                            <a:lumMod val="50000"/>
                          </a:schemeClr>
                        </a:solidFill>
                        <a:latin typeface="Cambria Math"/>
                      </a:rPr>
                      <m:t>}</m:t>
                    </m:r>
                  </m:oMath>
                </a14:m>
                <a:endParaRPr lang="en-US" sz="2200" smtClean="0">
                  <a:solidFill>
                    <a:schemeClr val="bg1">
                      <a:lumMod val="50000"/>
                    </a:schemeClr>
                  </a:solidFill>
                </a:endParaRPr>
              </a:p>
              <a:p>
                <a:pPr marL="0" indent="0">
                  <a:buNone/>
                </a:pPr>
                <a:r>
                  <a:rPr lang="en-US" sz="2200" smtClean="0">
                    <a:solidFill>
                      <a:schemeClr val="bg1">
                        <a:lumMod val="50000"/>
                      </a:schemeClr>
                    </a:solidFill>
                  </a:rPr>
                  <a:t>B2: Xét từng phụ thuộc hàm mà vế trái hơn 1 thuộc tính</a:t>
                </a:r>
              </a:p>
              <a:p>
                <a:pPr marL="0" indent="0">
                  <a:buNone/>
                </a:pPr>
                <a14:m>
                  <m:oMathPara xmlns:m="http://schemas.openxmlformats.org/officeDocument/2006/math">
                    <m:oMathParaPr>
                      <m:jc m:val="left"/>
                    </m:oMathParaPr>
                    <m:oMath xmlns:m="http://schemas.openxmlformats.org/officeDocument/2006/math">
                      <m:r>
                        <a:rPr lang="en-US" sz="2200" i="1">
                          <a:solidFill>
                            <a:schemeClr val="bg1">
                              <a:lumMod val="50000"/>
                            </a:schemeClr>
                          </a:solidFill>
                          <a:latin typeface="Cambria Math"/>
                        </a:rPr>
                        <m:t>𝐹</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𝐴𝐺</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  </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𝐷𝐺</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oMath>
                  </m:oMathPara>
                </a14:m>
                <a:endParaRPr lang="en-US" sz="2200" smtClean="0">
                  <a:solidFill>
                    <a:schemeClr val="bg1">
                      <a:lumMod val="50000"/>
                    </a:schemeClr>
                  </a:solidFill>
                </a:endParaRPr>
              </a:p>
              <a:p>
                <a14:m>
                  <m:oMath xmlns:m="http://schemas.openxmlformats.org/officeDocument/2006/math">
                    <m:r>
                      <a:rPr lang="en-US" sz="2000" b="0" i="1" smtClean="0">
                        <a:latin typeface="Cambria Math"/>
                      </a:rPr>
                      <m:t>𝐷</m:t>
                    </m:r>
                    <m:r>
                      <a:rPr lang="en-US" sz="2000" i="1" smtClean="0">
                        <a:latin typeface="Cambria Math"/>
                      </a:rPr>
                      <m:t>𝐺</m:t>
                    </m:r>
                    <m:r>
                      <a:rPr lang="en-US" sz="2000" b="0" i="1" smtClean="0">
                        <a:latin typeface="Cambria Math"/>
                      </a:rPr>
                      <m:t>→</m:t>
                    </m:r>
                    <m:r>
                      <a:rPr lang="en-US" sz="2000" b="0" i="1" smtClean="0">
                        <a:latin typeface="Cambria Math"/>
                      </a:rPr>
                      <m:t>𝐵</m:t>
                    </m:r>
                  </m:oMath>
                </a14:m>
                <a:endParaRPr lang="en-US" sz="2000" smtClean="0"/>
              </a:p>
              <a:p>
                <a:pPr lvl="1"/>
                <a:r>
                  <a:rPr lang="en-US" sz="2000" smtClean="0"/>
                  <a:t>Loại </a:t>
                </a:r>
                <a14:m>
                  <m:oMath xmlns:m="http://schemas.openxmlformats.org/officeDocument/2006/math">
                    <m:r>
                      <a:rPr lang="en-US" sz="2000" b="0" i="1" smtClean="0">
                        <a:latin typeface="Cambria Math"/>
                      </a:rPr>
                      <m:t>𝐷</m:t>
                    </m:r>
                  </m:oMath>
                </a14:m>
                <a:r>
                  <a:rPr lang="en-US" sz="2000"/>
                  <a:t>, ta xét </a:t>
                </a:r>
                <a14:m>
                  <m:oMath xmlns:m="http://schemas.openxmlformats.org/officeDocument/2006/math">
                    <m:r>
                      <a:rPr lang="en-US" sz="2000" b="0" i="1" smtClean="0">
                        <a:latin typeface="Cambria Math"/>
                      </a:rPr>
                      <m:t>𝐺</m:t>
                    </m:r>
                    <m:r>
                      <a:rPr lang="en-US" sz="2000" i="1">
                        <a:latin typeface="Cambria Math"/>
                      </a:rPr>
                      <m:t>→</m:t>
                    </m:r>
                    <m:r>
                      <a:rPr lang="en-US" sz="2000" b="0" i="1" smtClean="0">
                        <a:latin typeface="Cambria Math"/>
                      </a:rPr>
                      <m:t>𝐵</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𝐺</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𝐺</m:t>
                    </m:r>
                  </m:oMath>
                </a14:m>
                <a:r>
                  <a:rPr lang="en-US" sz="2000"/>
                  <a:t> vậy </a:t>
                </a:r>
                <a14:m>
                  <m:oMath xmlns:m="http://schemas.openxmlformats.org/officeDocument/2006/math">
                    <m:r>
                      <a:rPr lang="en-US" sz="2000" b="0" i="1" smtClean="0">
                        <a:latin typeface="Cambria Math"/>
                      </a:rPr>
                      <m:t>𝐷</m:t>
                    </m:r>
                  </m:oMath>
                </a14:m>
                <a:r>
                  <a:rPr lang="en-US" sz="2000"/>
                  <a:t> không </a:t>
                </a:r>
                <a:r>
                  <a:rPr lang="en-US" sz="2000" smtClean="0"/>
                  <a:t>dư</a:t>
                </a:r>
              </a:p>
              <a:p>
                <a:pPr lvl="1"/>
                <a:r>
                  <a:rPr lang="en-US" sz="2000" smtClean="0"/>
                  <a:t>Loại </a:t>
                </a:r>
                <a14:m>
                  <m:oMath xmlns:m="http://schemas.openxmlformats.org/officeDocument/2006/math">
                    <m:r>
                      <a:rPr lang="en-US" sz="2000" b="0" i="1" smtClean="0">
                        <a:latin typeface="Cambria Math"/>
                      </a:rPr>
                      <m:t>𝐺</m:t>
                    </m:r>
                  </m:oMath>
                </a14:m>
                <a:r>
                  <a:rPr lang="en-US" sz="2000"/>
                  <a:t>, ta xét </a:t>
                </a:r>
                <a14:m>
                  <m:oMath xmlns:m="http://schemas.openxmlformats.org/officeDocument/2006/math">
                    <m:r>
                      <a:rPr lang="en-US" sz="2000" b="0" i="1" smtClean="0">
                        <a:latin typeface="Cambria Math"/>
                      </a:rPr>
                      <m:t>𝐷</m:t>
                    </m:r>
                    <m:r>
                      <a:rPr lang="en-US" sz="2000" i="1">
                        <a:latin typeface="Cambria Math"/>
                      </a:rPr>
                      <m:t>→</m:t>
                    </m:r>
                    <m:r>
                      <a:rPr lang="en-US" sz="2000" b="0" i="1" smtClean="0">
                        <a:latin typeface="Cambria Math"/>
                      </a:rPr>
                      <m:t>𝐵</m:t>
                    </m:r>
                  </m:oMath>
                </a14:m>
                <a:r>
                  <a:rPr lang="en-US" sz="2000"/>
                  <a:t> có trong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𝐹</m:t>
                        </m:r>
                      </m:e>
                      <m:sup>
                        <m:r>
                          <a:rPr lang="en-US" sz="2000" i="1">
                            <a:latin typeface="Cambria Math"/>
                          </a:rPr>
                          <m:t>+</m:t>
                        </m:r>
                      </m:sup>
                    </m:sSup>
                  </m:oMath>
                </a14:m>
                <a:r>
                  <a:rPr lang="en-US" sz="2000"/>
                  <a:t> không. Thấy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a:rPr>
                          <m:t>𝐷</m:t>
                        </m:r>
                      </m:e>
                      <m:sub>
                        <m:r>
                          <a:rPr lang="en-US" sz="2000" i="1">
                            <a:latin typeface="Cambria Math"/>
                          </a:rPr>
                          <m:t>𝐹</m:t>
                        </m:r>
                      </m:sub>
                      <m:sup>
                        <m:r>
                          <a:rPr lang="en-US" sz="2000" i="1">
                            <a:latin typeface="Cambria Math"/>
                          </a:rPr>
                          <m:t>+</m:t>
                        </m:r>
                      </m:sup>
                    </m:sSubSup>
                    <m:r>
                      <a:rPr lang="en-US" sz="2000" i="1">
                        <a:latin typeface="Cambria Math"/>
                      </a:rPr>
                      <m:t>=</m:t>
                    </m:r>
                    <m:r>
                      <a:rPr lang="en-US" sz="2000" b="0" i="1" smtClean="0">
                        <a:latin typeface="Cambria Math"/>
                      </a:rPr>
                      <m:t>𝐷𝐴𝐶</m:t>
                    </m:r>
                    <m:r>
                      <a:rPr lang="en-US" sz="2000" i="1">
                        <a:latin typeface="Cambria Math"/>
                      </a:rPr>
                      <m:t>𝐵</m:t>
                    </m:r>
                    <m:r>
                      <a:rPr lang="en-US" sz="2000" b="0" i="1" smtClean="0">
                        <a:latin typeface="Cambria Math"/>
                      </a:rPr>
                      <m:t>𝐸</m:t>
                    </m:r>
                    <m:r>
                      <a:rPr lang="en-US" sz="2000" i="1">
                        <a:latin typeface="Cambria Math"/>
                      </a:rPr>
                      <m:t>𝐺</m:t>
                    </m:r>
                  </m:oMath>
                </a14:m>
                <a:r>
                  <a:rPr lang="en-US" sz="2000"/>
                  <a:t> vậy </a:t>
                </a:r>
                <a14:m>
                  <m:oMath xmlns:m="http://schemas.openxmlformats.org/officeDocument/2006/math">
                    <m:r>
                      <a:rPr lang="en-US" sz="2000" b="0" i="1" smtClean="0">
                        <a:latin typeface="Cambria Math"/>
                      </a:rPr>
                      <m:t>𝐺</m:t>
                    </m:r>
                  </m:oMath>
                </a14:m>
                <a:r>
                  <a:rPr lang="en-US" sz="2000"/>
                  <a:t> </a:t>
                </a:r>
                <a:r>
                  <a:rPr lang="en-US" sz="2000" smtClean="0"/>
                  <a:t>dư thừa. Khi này </a:t>
                </a:r>
                <a14:m>
                  <m:oMath xmlns:m="http://schemas.openxmlformats.org/officeDocument/2006/math">
                    <m:r>
                      <a:rPr lang="en-US" sz="200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𝐹</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𝐷𝐺</m:t>
                            </m:r>
                            <m:r>
                              <a:rPr lang="en-US" sz="2000" b="0" i="1" smtClean="0">
                                <a:latin typeface="Cambria Math"/>
                              </a:rPr>
                              <m:t>→</m:t>
                            </m:r>
                            <m:r>
                              <a:rPr lang="en-US" sz="2000" b="0" i="1" smtClean="0">
                                <a:latin typeface="Cambria Math"/>
                              </a:rPr>
                              <m:t>𝐵</m:t>
                            </m:r>
                          </m:e>
                        </m:d>
                      </m:e>
                    </m:d>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𝐷</m:t>
                        </m:r>
                        <m:r>
                          <a:rPr lang="en-US" sz="2000" b="0" i="1" smtClean="0">
                            <a:latin typeface="Cambria Math"/>
                          </a:rPr>
                          <m:t>→</m:t>
                        </m:r>
                        <m:r>
                          <a:rPr lang="en-US" sz="2000" b="0" i="1" smtClean="0">
                            <a:latin typeface="Cambria Math"/>
                          </a:rPr>
                          <m:t>𝐵</m:t>
                        </m:r>
                      </m:e>
                    </m:d>
                  </m:oMath>
                </a14:m>
                <a:endParaRPr lang="en-US" sz="2000" b="0" i="1" smtClean="0">
                  <a:latin typeface="Cambria Math"/>
                </a:endParaRPr>
              </a:p>
              <a:p>
                <a:pPr marL="457200" lvl="1" indent="0">
                  <a:buNone/>
                </a:pPr>
                <a:r>
                  <a:rPr lang="en-US" sz="2000" smtClean="0"/>
                  <a:t>Vậy </a:t>
                </a:r>
                <a14:m>
                  <m:oMath xmlns:m="http://schemas.openxmlformats.org/officeDocument/2006/math">
                    <m:r>
                      <a:rPr lang="en-US" sz="2000" i="1">
                        <a:latin typeface="Cambria Math"/>
                      </a:rPr>
                      <m:t>𝐹</m:t>
                    </m:r>
                    <m:r>
                      <a:rPr lang="en-US" sz="2000" i="1">
                        <a:latin typeface="Cambria Math"/>
                      </a:rPr>
                      <m:t>={</m:t>
                    </m:r>
                    <m:r>
                      <a:rPr lang="en-US" sz="2000" i="1">
                        <a:latin typeface="Cambria Math"/>
                      </a:rPr>
                      <m:t>𝐴</m:t>
                    </m:r>
                    <m:r>
                      <a:rPr lang="en-US" sz="2000" i="1">
                        <a:latin typeface="Cambria Math"/>
                      </a:rPr>
                      <m:t>→</m:t>
                    </m:r>
                    <m:r>
                      <a:rPr lang="en-US" sz="2000" i="1">
                        <a:latin typeface="Cambria Math"/>
                      </a:rPr>
                      <m:t>𝐵</m:t>
                    </m:r>
                    <m:r>
                      <a:rPr lang="en-US" sz="2000" i="1">
                        <a:latin typeface="Cambria Math"/>
                      </a:rPr>
                      <m:t>,</m:t>
                    </m:r>
                    <m:r>
                      <a:rPr lang="en-US" sz="2000" i="1">
                        <a:latin typeface="Cambria Math"/>
                      </a:rPr>
                      <m:t>𝐴</m:t>
                    </m:r>
                    <m:r>
                      <a:rPr lang="en-US" sz="2000" i="1">
                        <a:latin typeface="Cambria Math"/>
                      </a:rPr>
                      <m:t>→</m:t>
                    </m:r>
                    <m:r>
                      <a:rPr lang="en-US" sz="2000" i="1">
                        <a:latin typeface="Cambria Math"/>
                      </a:rPr>
                      <m:t>𝐶</m:t>
                    </m:r>
                    <m:r>
                      <a:rPr lang="en-US" sz="2000" i="1">
                        <a:latin typeface="Cambria Math"/>
                      </a:rPr>
                      <m:t>,</m:t>
                    </m:r>
                    <m:r>
                      <a:rPr lang="en-US" sz="2000" b="0" i="1" smtClean="0">
                        <a:latin typeface="Cambria Math"/>
                      </a:rPr>
                      <m:t>𝐸</m:t>
                    </m:r>
                    <m:r>
                      <a:rPr lang="en-US" sz="2000" i="1">
                        <a:latin typeface="Cambria Math"/>
                      </a:rPr>
                      <m:t>→</m:t>
                    </m:r>
                    <m:r>
                      <a:rPr lang="en-US" sz="2000" i="1">
                        <a:latin typeface="Cambria Math"/>
                      </a:rPr>
                      <m:t>𝐶</m:t>
                    </m:r>
                    <m:r>
                      <a:rPr lang="en-US" sz="2000" i="1">
                        <a:latin typeface="Cambria Math"/>
                      </a:rPr>
                      <m:t>,</m:t>
                    </m:r>
                    <m:r>
                      <a:rPr lang="en-US" sz="2000" i="1">
                        <a:latin typeface="Cambria Math"/>
                      </a:rPr>
                      <m:t>𝐷</m:t>
                    </m:r>
                    <m:r>
                      <a:rPr lang="en-US" sz="2000" i="1">
                        <a:latin typeface="Cambria Math"/>
                      </a:rPr>
                      <m:t>→</m:t>
                    </m:r>
                    <m:r>
                      <a:rPr lang="en-US" sz="2000" i="1">
                        <a:latin typeface="Cambria Math"/>
                      </a:rPr>
                      <m:t>𝐴</m:t>
                    </m:r>
                    <m:r>
                      <a:rPr lang="en-US" sz="2000" i="1">
                        <a:latin typeface="Cambria Math"/>
                      </a:rPr>
                      <m:t>,</m:t>
                    </m:r>
                    <m:r>
                      <a:rPr lang="en-US" sz="2000" i="1">
                        <a:latin typeface="Cambria Math"/>
                      </a:rPr>
                      <m:t>𝐷</m:t>
                    </m:r>
                    <m:r>
                      <a:rPr lang="en-US" sz="2000" i="1">
                        <a:latin typeface="Cambria Math"/>
                      </a:rPr>
                      <m:t>→</m:t>
                    </m:r>
                    <m:r>
                      <a:rPr lang="en-US" sz="2000" i="1">
                        <a:latin typeface="Cambria Math"/>
                      </a:rPr>
                      <m:t>𝐸</m:t>
                    </m:r>
                    <m:r>
                      <a:rPr lang="en-US" sz="2000" i="1">
                        <a:latin typeface="Cambria Math"/>
                      </a:rPr>
                      <m:t>,</m:t>
                    </m:r>
                    <m:r>
                      <a:rPr lang="en-US" sz="2000" i="1">
                        <a:latin typeface="Cambria Math"/>
                      </a:rPr>
                      <m:t>𝐷</m:t>
                    </m:r>
                    <m:r>
                      <a:rPr lang="en-US" sz="2000" i="1">
                        <a:latin typeface="Cambria Math"/>
                      </a:rPr>
                      <m:t>→</m:t>
                    </m:r>
                    <m:r>
                      <a:rPr lang="en-US" sz="2000" i="1">
                        <a:latin typeface="Cambria Math"/>
                      </a:rPr>
                      <m:t>𝐺</m:t>
                    </m:r>
                    <m:r>
                      <a:rPr lang="en-US" sz="2000" i="1">
                        <a:latin typeface="Cambria Math"/>
                      </a:rPr>
                      <m:t>,</m:t>
                    </m:r>
                    <m:r>
                      <a:rPr lang="en-US" sz="2000" i="1">
                        <a:latin typeface="Cambria Math"/>
                      </a:rPr>
                      <m:t>𝐴𝐺</m:t>
                    </m:r>
                    <m:r>
                      <a:rPr lang="en-US" sz="2000" i="1">
                        <a:latin typeface="Cambria Math"/>
                      </a:rPr>
                      <m:t>→</m:t>
                    </m:r>
                    <m:r>
                      <a:rPr lang="en-US" sz="2000" i="1">
                        <a:latin typeface="Cambria Math"/>
                      </a:rPr>
                      <m:t>𝐷</m:t>
                    </m:r>
                    <m:r>
                      <a:rPr lang="en-US" sz="2000" i="1">
                        <a:latin typeface="Cambria Math"/>
                      </a:rPr>
                      <m:t>, </m:t>
                    </m:r>
                    <m:r>
                      <a:rPr lang="en-US" sz="2000" i="1">
                        <a:latin typeface="Cambria Math"/>
                      </a:rPr>
                      <m:t>𝐷</m:t>
                    </m:r>
                    <m:r>
                      <a:rPr lang="en-US" sz="2000" i="1">
                        <a:latin typeface="Cambria Math"/>
                      </a:rPr>
                      <m:t>→</m:t>
                    </m:r>
                    <m:r>
                      <a:rPr lang="en-US" sz="2000" i="1">
                        <a:latin typeface="Cambria Math"/>
                      </a:rPr>
                      <m:t>𝐵</m:t>
                    </m:r>
                    <m:r>
                      <a:rPr lang="en-US" sz="2000" i="1">
                        <a:latin typeface="Cambria Math"/>
                      </a:rPr>
                      <m:t>}</m:t>
                    </m:r>
                  </m:oMath>
                </a14:m>
                <a:endParaRPr lang="en-US" sz="2000"/>
              </a:p>
              <a:p>
                <a:pPr marL="4763" lvl="1" indent="0">
                  <a:buNone/>
                </a:pPr>
                <a:endParaRPr lang="en-US" sz="2000" b="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2"/>
                <a:stretch>
                  <a:fillRect l="-849" t="-696"/>
                </a:stretch>
              </a:blipFill>
            </p:spPr>
            <p:txBody>
              <a:bodyPr/>
              <a:lstStyle/>
              <a:p>
                <a:r>
                  <a:rPr lang="en-US">
                    <a:noFill/>
                  </a:rPr>
                  <a:t> </a:t>
                </a:r>
              </a:p>
            </p:txBody>
          </p:sp>
        </mc:Fallback>
      </mc:AlternateContent>
    </p:spTree>
    <p:extLst>
      <p:ext uri="{BB962C8B-B14F-4D97-AF65-F5344CB8AC3E}">
        <p14:creationId xmlns:p14="http://schemas.microsoft.com/office/powerpoint/2010/main" val="170317407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(ví dụ: phủ tối tiểu)</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10600" cy="5257800"/>
              </a:xfrm>
            </p:spPr>
            <p:txBody>
              <a:bodyPr>
                <a:normAutofit/>
              </a:bodyPr>
              <a:lstStyle/>
              <a:p>
                <a:pPr marL="0" indent="0">
                  <a:buNone/>
                </a:pPr>
                <a:r>
                  <a:rPr lang="en-US" sz="2200" smtClean="0">
                    <a:solidFill>
                      <a:schemeClr val="bg1">
                        <a:lumMod val="50000"/>
                      </a:schemeClr>
                    </a:solidFill>
                  </a:rPr>
                  <a:t>Cho lược đồ </a:t>
                </a:r>
                <a14:m>
                  <m:oMath xmlns:m="http://schemas.openxmlformats.org/officeDocument/2006/math">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𝐹</m:t>
                    </m:r>
                    <m:r>
                      <a:rPr lang="en-US" sz="2200" i="1" smtClean="0">
                        <a:solidFill>
                          <a:schemeClr val="bg1">
                            <a:lumMod val="50000"/>
                          </a:schemeClr>
                        </a:solidFill>
                        <a:latin typeface="Cambria Math"/>
                      </a:rPr>
                      <m:t>)</m:t>
                    </m:r>
                  </m:oMath>
                </a14:m>
                <a:r>
                  <a:rPr lang="en-US" sz="2200" smtClean="0">
                    <a:solidFill>
                      <a:schemeClr val="bg1">
                        <a:lumMod val="50000"/>
                      </a:schemeClr>
                    </a:solidFill>
                  </a:rPr>
                  <a:t> với </a:t>
                </a:r>
                <a14:m>
                  <m:oMath xmlns:m="http://schemas.openxmlformats.org/officeDocument/2006/math">
                    <m:r>
                      <a:rPr lang="en-US" sz="2200" i="1" smtClean="0">
                        <a:solidFill>
                          <a:schemeClr val="bg1">
                            <a:lumMod val="50000"/>
                          </a:schemeClr>
                        </a:solidFill>
                        <a:latin typeface="Cambria Math"/>
                      </a:rPr>
                      <m:t>𝑅</m:t>
                    </m:r>
                    <m:r>
                      <a:rPr lang="en-US" sz="2200" i="1" smtClean="0">
                        <a:solidFill>
                          <a:schemeClr val="bg1">
                            <a:lumMod val="50000"/>
                          </a:schemeClr>
                        </a:solidFill>
                        <a:latin typeface="Cambria Math"/>
                      </a:rPr>
                      <m:t>={</m:t>
                    </m:r>
                    <m:r>
                      <a:rPr lang="en-US" sz="2200" i="1" smtClean="0">
                        <a:solidFill>
                          <a:schemeClr val="bg1">
                            <a:lumMod val="50000"/>
                          </a:schemeClr>
                        </a:solidFill>
                        <a:latin typeface="Cambria Math"/>
                      </a:rPr>
                      <m:t>𝐴𝐵𝐶𝐷𝐸𝐺</m:t>
                    </m:r>
                    <m:r>
                      <a:rPr lang="en-US" sz="2200" i="1" smtClean="0">
                        <a:solidFill>
                          <a:schemeClr val="bg1">
                            <a:lumMod val="50000"/>
                          </a:schemeClr>
                        </a:solidFill>
                        <a:latin typeface="Cambria Math"/>
                      </a:rPr>
                      <m:t>}</m:t>
                    </m:r>
                  </m:oMath>
                </a14:m>
                <a:r>
                  <a:rPr lang="en-US" sz="2200" smtClean="0">
                    <a:solidFill>
                      <a:schemeClr val="bg1">
                        <a:lumMod val="50000"/>
                      </a:schemeClr>
                    </a:solidFill>
                  </a:rPr>
                  <a:t>		</a:t>
                </a:r>
              </a:p>
              <a:p>
                <a:pPr marL="0" indent="0">
                  <a:buNone/>
                </a:pPr>
                <a14:m>
                  <m:oMathPara xmlns:m="http://schemas.openxmlformats.org/officeDocument/2006/math">
                    <m:oMathParaPr>
                      <m:jc m:val="left"/>
                    </m:oMathParaPr>
                    <m:oMath xmlns:m="http://schemas.openxmlformats.org/officeDocument/2006/math">
                      <m:r>
                        <a:rPr lang="en-US" sz="2200" i="1">
                          <a:solidFill>
                            <a:schemeClr val="bg1">
                              <a:lumMod val="50000"/>
                            </a:schemeClr>
                          </a:solidFill>
                          <a:latin typeface="Cambria Math"/>
                        </a:rPr>
                        <m:t>𝐹</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𝐶</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𝐴</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𝐸</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𝐺</m:t>
                      </m:r>
                      <m:r>
                        <a:rPr lang="en-US" sz="2200" i="1">
                          <a:solidFill>
                            <a:schemeClr val="bg1">
                              <a:lumMod val="50000"/>
                            </a:schemeClr>
                          </a:solidFill>
                          <a:latin typeface="Cambria Math"/>
                        </a:rPr>
                        <m:t>,</m:t>
                      </m:r>
                      <m:r>
                        <a:rPr lang="en-US" sz="2200" i="1">
                          <a:solidFill>
                            <a:schemeClr val="bg1">
                              <a:lumMod val="50000"/>
                            </a:schemeClr>
                          </a:solidFill>
                          <a:latin typeface="Cambria Math"/>
                        </a:rPr>
                        <m:t>𝐴𝐺</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𝐷</m:t>
                      </m:r>
                      <m:r>
                        <a:rPr lang="en-US" sz="2200" i="1">
                          <a:solidFill>
                            <a:schemeClr val="bg1">
                              <a:lumMod val="50000"/>
                            </a:schemeClr>
                          </a:solidFill>
                          <a:latin typeface="Cambria Math"/>
                        </a:rPr>
                        <m:t>→</m:t>
                      </m:r>
                      <m:r>
                        <a:rPr lang="en-US" sz="2200" i="1">
                          <a:solidFill>
                            <a:schemeClr val="bg1">
                              <a:lumMod val="50000"/>
                            </a:schemeClr>
                          </a:solidFill>
                          <a:latin typeface="Cambria Math"/>
                        </a:rPr>
                        <m:t>𝐵</m:t>
                      </m:r>
                      <m:r>
                        <a:rPr lang="en-US" sz="2200" i="1">
                          <a:solidFill>
                            <a:schemeClr val="bg1">
                              <a:lumMod val="50000"/>
                            </a:schemeClr>
                          </a:solidFill>
                          <a:latin typeface="Cambria Math"/>
                        </a:rPr>
                        <m:t>}</m:t>
                      </m:r>
                    </m:oMath>
                  </m:oMathPara>
                </a14:m>
                <a:endParaRPr lang="en-US" sz="2200" smtClean="0">
                  <a:solidFill>
                    <a:schemeClr val="bg1">
                      <a:lumMod val="50000"/>
                    </a:schemeClr>
                  </a:solidFill>
                </a:endParaRPr>
              </a:p>
              <a:p>
                <a:pPr marL="4763" lvl="1" indent="0">
                  <a:buNone/>
                </a:pPr>
                <a:r>
                  <a:rPr lang="en-US" sz="2000" b="0" smtClean="0"/>
                  <a:t>B3: Xác định các phụ thuộc hàm dư thừa</a:t>
                </a:r>
              </a:p>
              <a:p>
                <a:pPr marL="347663" lvl="1" indent="-342900">
                  <a:buFont typeface="Arial" panose="020B0604020202020204" pitchFamily="34" charset="0"/>
                  <a:buChar char="•"/>
                </a:pPr>
                <a14:m>
                  <m:oMath xmlns:m="http://schemas.openxmlformats.org/officeDocument/2006/math">
                    <m:r>
                      <a:rPr lang="en-US" sz="2000" b="0" i="1" smtClean="0">
                        <a:latin typeface="Cambria Math"/>
                      </a:rPr>
                      <m:t>𝐴</m:t>
                    </m:r>
                    <m:r>
                      <a:rPr lang="en-US" sz="2000" b="0" i="1" smtClean="0">
                        <a:latin typeface="Cambria Math"/>
                      </a:rPr>
                      <m:t>→</m:t>
                    </m:r>
                    <m:r>
                      <a:rPr lang="en-US" sz="2000" b="0" i="1" smtClean="0">
                        <a:latin typeface="Cambria Math"/>
                      </a:rPr>
                      <m:t>𝐵</m:t>
                    </m:r>
                  </m:oMath>
                </a14:m>
                <a:r>
                  <a:rPr lang="en-US" sz="2000" b="0" smtClean="0"/>
                  <a:t>: </a:t>
                </a:r>
                <a14:m>
                  <m:oMath xmlns:m="http://schemas.openxmlformats.org/officeDocument/2006/math">
                    <m:sSubSup>
                      <m:sSubSupPr>
                        <m:ctrlPr>
                          <a:rPr lang="en-US" sz="2000" b="0" i="1" smtClean="0">
                            <a:latin typeface="Cambria Math" panose="02040503050406030204" pitchFamily="18" charset="0"/>
                          </a:rPr>
                        </m:ctrlPr>
                      </m:sSubSupPr>
                      <m:e>
                        <m:r>
                          <a:rPr lang="en-US" sz="2000" b="0" i="1" smtClean="0">
                            <a:latin typeface="Cambria Math"/>
                          </a:rPr>
                          <m:t>𝐴</m:t>
                        </m:r>
                      </m:e>
                      <m:sub>
                        <m:r>
                          <a:rPr lang="en-US" sz="2000" b="0" i="1" smtClean="0">
                            <a:latin typeface="Cambria Math"/>
                          </a:rPr>
                          <m:t>𝐹</m:t>
                        </m:r>
                        <m:r>
                          <a:rPr lang="en-US" sz="2000" b="0" i="1" smtClean="0">
                            <a:latin typeface="Cambria Math"/>
                          </a:rPr>
                          <m:t>\</m:t>
                        </m:r>
                        <m:r>
                          <m:rPr>
                            <m:lit/>
                          </m:rPr>
                          <a:rPr lang="en-US" sz="2000" b="0" i="1" smtClean="0">
                            <a:latin typeface="Cambria Math"/>
                          </a:rPr>
                          <m:t>{</m:t>
                        </m:r>
                        <m:r>
                          <a:rPr lang="en-US" sz="2000" b="0" i="1" smtClean="0">
                            <a:latin typeface="Cambria Math"/>
                          </a:rPr>
                          <m:t>𝐴</m:t>
                        </m:r>
                        <m:r>
                          <a:rPr lang="en-US" sz="2000" b="0" i="1" smtClean="0">
                            <a:latin typeface="Cambria Math"/>
                          </a:rPr>
                          <m:t>→</m:t>
                        </m:r>
                        <m:r>
                          <a:rPr lang="en-US" sz="2000" b="0" i="1" smtClean="0">
                            <a:latin typeface="Cambria Math"/>
                          </a:rPr>
                          <m:t>𝐵</m:t>
                        </m:r>
                        <m:r>
                          <a:rPr lang="en-US" sz="2000" b="0" i="1" smtClean="0">
                            <a:latin typeface="Cambria Math"/>
                          </a:rPr>
                          <m:t>}</m:t>
                        </m:r>
                      </m:sub>
                      <m:sup>
                        <m:r>
                          <a:rPr lang="en-US" sz="2000" b="0" i="1" smtClean="0">
                            <a:latin typeface="Cambria Math"/>
                          </a:rPr>
                          <m:t>+</m:t>
                        </m:r>
                      </m:sup>
                    </m:sSubSup>
                    <m:r>
                      <a:rPr lang="en-US" sz="2000" b="0" i="1" smtClean="0">
                        <a:latin typeface="Cambria Math"/>
                      </a:rPr>
                      <m:t>=</m:t>
                    </m:r>
                    <m:r>
                      <a:rPr lang="en-US" sz="2000" b="0" i="1" smtClean="0">
                        <a:latin typeface="Cambria Math"/>
                      </a:rPr>
                      <m:t>𝐴𝐶</m:t>
                    </m:r>
                  </m:oMath>
                </a14:m>
                <a:r>
                  <a:rPr lang="en-US" sz="2000" b="0" smtClean="0"/>
                  <a:t>. Vậy </a:t>
                </a:r>
                <a14:m>
                  <m:oMath xmlns:m="http://schemas.openxmlformats.org/officeDocument/2006/math">
                    <m:r>
                      <a:rPr lang="en-US" sz="2000" b="0" i="1" smtClean="0">
                        <a:latin typeface="Cambria Math"/>
                      </a:rPr>
                      <m:t>𝐴</m:t>
                    </m:r>
                    <m:r>
                      <a:rPr lang="en-US" sz="2000" b="0" i="1" smtClean="0">
                        <a:latin typeface="Cambria Math"/>
                      </a:rPr>
                      <m:t>→</m:t>
                    </m:r>
                    <m:r>
                      <a:rPr lang="en-US" sz="2000" b="0" i="1" smtClean="0">
                        <a:latin typeface="Cambria Math"/>
                      </a:rPr>
                      <m:t>𝐵</m:t>
                    </m:r>
                  </m:oMath>
                </a14:m>
                <a:r>
                  <a:rPr lang="en-US" sz="2000" b="0" smtClean="0"/>
                  <a:t> không dư thừa.</a:t>
                </a:r>
              </a:p>
              <a:p>
                <a:pPr marL="347663" lvl="1" indent="-342900">
                  <a:buFont typeface="Arial" panose="020B0604020202020204" pitchFamily="34" charset="0"/>
                  <a:buChar char="•"/>
                </a:pPr>
                <a14:m>
                  <m:oMath xmlns:m="http://schemas.openxmlformats.org/officeDocument/2006/math">
                    <m:r>
                      <a:rPr lang="en-US" sz="2000" i="1">
                        <a:latin typeface="Cambria Math"/>
                      </a:rPr>
                      <m:t>𝐴</m:t>
                    </m:r>
                    <m:r>
                      <a:rPr lang="en-US" sz="2000" i="1">
                        <a:latin typeface="Cambria Math"/>
                      </a:rPr>
                      <m:t>→</m:t>
                    </m:r>
                    <m:r>
                      <a:rPr lang="en-US" sz="2000" b="0" i="1" smtClean="0">
                        <a:latin typeface="Cambria Math"/>
                      </a:rPr>
                      <m:t>𝐶</m:t>
                    </m:r>
                  </m:oMath>
                </a14:m>
                <a:r>
                  <a:rPr lang="en-US" sz="2000"/>
                  <a: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a:rPr>
                          <m:t>𝐴</m:t>
                        </m:r>
                      </m:e>
                      <m:sub>
                        <m:r>
                          <a:rPr lang="en-US" sz="2000" i="1">
                            <a:latin typeface="Cambria Math"/>
                          </a:rPr>
                          <m:t>𝐹</m:t>
                        </m:r>
                        <m:r>
                          <a:rPr lang="en-US" sz="2000" i="1">
                            <a:latin typeface="Cambria Math"/>
                          </a:rPr>
                          <m:t>\</m:t>
                        </m:r>
                        <m:r>
                          <m:rPr>
                            <m:lit/>
                          </m:rPr>
                          <a:rPr lang="en-US" sz="2000" i="1">
                            <a:latin typeface="Cambria Math"/>
                          </a:rPr>
                          <m:t>{</m:t>
                        </m:r>
                        <m:r>
                          <a:rPr lang="en-US" sz="2000" i="1">
                            <a:latin typeface="Cambria Math"/>
                          </a:rPr>
                          <m:t>𝐴</m:t>
                        </m:r>
                        <m:r>
                          <a:rPr lang="en-US" sz="2000" i="1">
                            <a:latin typeface="Cambria Math"/>
                          </a:rPr>
                          <m:t>→</m:t>
                        </m:r>
                        <m:r>
                          <a:rPr lang="en-US" sz="2000" b="0" i="1" smtClean="0">
                            <a:latin typeface="Cambria Math"/>
                          </a:rPr>
                          <m:t>𝐶</m:t>
                        </m:r>
                        <m:r>
                          <a:rPr lang="en-US" sz="2000" i="1">
                            <a:latin typeface="Cambria Math"/>
                          </a:rPr>
                          <m:t>}</m:t>
                        </m:r>
                      </m:sub>
                      <m:sup>
                        <m:r>
                          <a:rPr lang="en-US" sz="2000" i="1">
                            <a:latin typeface="Cambria Math"/>
                          </a:rPr>
                          <m:t>+</m:t>
                        </m:r>
                      </m:sup>
                    </m:sSubSup>
                    <m:r>
                      <a:rPr lang="en-US" sz="2000" i="1">
                        <a:latin typeface="Cambria Math"/>
                      </a:rPr>
                      <m:t>=</m:t>
                    </m:r>
                    <m:r>
                      <a:rPr lang="en-US" sz="2000" i="1">
                        <a:latin typeface="Cambria Math"/>
                      </a:rPr>
                      <m:t>𝐴𝐵</m:t>
                    </m:r>
                  </m:oMath>
                </a14:m>
                <a:r>
                  <a:rPr lang="en-US" sz="2000"/>
                  <a:t>. Vậy </a:t>
                </a:r>
                <a14:m>
                  <m:oMath xmlns:m="http://schemas.openxmlformats.org/officeDocument/2006/math">
                    <m:r>
                      <a:rPr lang="en-US" sz="2000" i="1">
                        <a:latin typeface="Cambria Math"/>
                      </a:rPr>
                      <m:t>𝐴</m:t>
                    </m:r>
                    <m:r>
                      <a:rPr lang="en-US" sz="2000" i="1">
                        <a:latin typeface="Cambria Math"/>
                      </a:rPr>
                      <m:t>→</m:t>
                    </m:r>
                    <m:r>
                      <a:rPr lang="en-US" sz="2000" b="0" i="1" smtClean="0">
                        <a:latin typeface="Cambria Math"/>
                      </a:rPr>
                      <m:t>𝐶</m:t>
                    </m:r>
                  </m:oMath>
                </a14:m>
                <a:r>
                  <a:rPr lang="en-US" sz="2000"/>
                  <a:t> không dư thừa</a:t>
                </a:r>
                <a:r>
                  <a:rPr lang="en-US" sz="2000" smtClean="0"/>
                  <a:t>.</a:t>
                </a:r>
              </a:p>
              <a:p>
                <a:pPr marL="347663" lvl="1" indent="-342900">
                  <a:buFont typeface="Arial" panose="020B0604020202020204" pitchFamily="34" charset="0"/>
                  <a:buChar char="•"/>
                </a:pPr>
                <a14:m>
                  <m:oMath xmlns:m="http://schemas.openxmlformats.org/officeDocument/2006/math">
                    <m:r>
                      <a:rPr lang="en-US" sz="2000" b="0" i="1" smtClean="0">
                        <a:latin typeface="Cambria Math"/>
                      </a:rPr>
                      <m:t>𝐸</m:t>
                    </m:r>
                    <m:r>
                      <a:rPr lang="en-US" sz="2000" i="1">
                        <a:latin typeface="Cambria Math"/>
                      </a:rPr>
                      <m:t>→</m:t>
                    </m:r>
                    <m:r>
                      <a:rPr lang="en-US" sz="2000" b="0" i="1" smtClean="0">
                        <a:latin typeface="Cambria Math"/>
                      </a:rPr>
                      <m:t>𝐶</m:t>
                    </m:r>
                  </m:oMath>
                </a14:m>
                <a:r>
                  <a:rPr lang="en-US" sz="2000"/>
                  <a:t>: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a:rPr>
                          <m:t>𝐸</m:t>
                        </m:r>
                      </m:e>
                      <m:sub>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𝐸</m:t>
                        </m:r>
                        <m:r>
                          <a:rPr lang="en-US" sz="2000" i="1">
                            <a:latin typeface="Cambria Math"/>
                          </a:rPr>
                          <m:t>→</m:t>
                        </m:r>
                        <m:r>
                          <a:rPr lang="en-US" sz="2000" b="0" i="1" smtClean="0">
                            <a:latin typeface="Cambria Math"/>
                          </a:rPr>
                          <m:t>𝐶</m:t>
                        </m:r>
                        <m:r>
                          <a:rPr lang="en-US" sz="2000" i="1">
                            <a:latin typeface="Cambria Math"/>
                          </a:rPr>
                          <m:t>}</m:t>
                        </m:r>
                      </m:sub>
                      <m:sup>
                        <m:r>
                          <a:rPr lang="en-US" sz="2000" i="1">
                            <a:latin typeface="Cambria Math"/>
                          </a:rPr>
                          <m:t>+</m:t>
                        </m:r>
                      </m:sup>
                    </m:sSubSup>
                    <m:r>
                      <a:rPr lang="en-US" sz="2000" i="1">
                        <a:latin typeface="Cambria Math"/>
                      </a:rPr>
                      <m:t>=</m:t>
                    </m:r>
                    <m:r>
                      <a:rPr lang="en-US" sz="2000" b="0" i="1" smtClean="0">
                        <a:latin typeface="Cambria Math"/>
                      </a:rPr>
                      <m:t>𝐸</m:t>
                    </m:r>
                  </m:oMath>
                </a14:m>
                <a:r>
                  <a:rPr lang="en-US" sz="2000"/>
                  <a:t>. Vậy </a:t>
                </a:r>
                <a14:m>
                  <m:oMath xmlns:m="http://schemas.openxmlformats.org/officeDocument/2006/math">
                    <m:r>
                      <a:rPr lang="en-US" sz="2000" b="0" i="1" smtClean="0">
                        <a:latin typeface="Cambria Math"/>
                      </a:rPr>
                      <m:t>𝐸</m:t>
                    </m:r>
                    <m:r>
                      <a:rPr lang="en-US" sz="2000" i="1">
                        <a:latin typeface="Cambria Math"/>
                      </a:rPr>
                      <m:t>→</m:t>
                    </m:r>
                    <m:r>
                      <a:rPr lang="en-US" sz="2000" b="0" i="1" smtClean="0">
                        <a:latin typeface="Cambria Math"/>
                      </a:rPr>
                      <m:t>𝐶</m:t>
                    </m:r>
                  </m:oMath>
                </a14:m>
                <a:r>
                  <a:rPr lang="en-US" sz="2000"/>
                  <a:t> không dư thừa</a:t>
                </a:r>
                <a:r>
                  <a:rPr lang="en-US" sz="2000" smtClean="0"/>
                  <a:t>.</a:t>
                </a:r>
              </a:p>
              <a:p>
                <a:pPr marL="347663" lvl="1" indent="-342900">
                  <a:buFont typeface="Arial" panose="020B0604020202020204" pitchFamily="34" charset="0"/>
                  <a:buChar char="•"/>
                </a:pPr>
                <a14:m>
                  <m:oMath xmlns:m="http://schemas.openxmlformats.org/officeDocument/2006/math">
                    <m:r>
                      <a:rPr lang="en-US" sz="2000" b="0" i="1" smtClean="0">
                        <a:latin typeface="Cambria Math"/>
                      </a:rPr>
                      <m:t>𝐷</m:t>
                    </m:r>
                    <m:r>
                      <a:rPr lang="en-US" sz="2000" i="1">
                        <a:latin typeface="Cambria Math"/>
                      </a:rPr>
                      <m:t>→</m:t>
                    </m:r>
                    <m:r>
                      <a:rPr lang="en-US" sz="2000" b="0" i="1" smtClean="0">
                        <a:latin typeface="Cambria Math"/>
                      </a:rPr>
                      <m:t>𝐴</m:t>
                    </m:r>
                  </m:oMath>
                </a14:m>
                <a:r>
                  <a:rPr lang="en-US" sz="2000"/>
                  <a:t>: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𝐷</m:t>
                        </m:r>
                      </m:e>
                      <m:sub>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𝐷</m:t>
                        </m:r>
                        <m:r>
                          <a:rPr lang="en-US" sz="2000" i="1">
                            <a:latin typeface="Cambria Math"/>
                          </a:rPr>
                          <m:t>→</m:t>
                        </m:r>
                        <m:r>
                          <a:rPr lang="en-US" sz="2000" b="0" i="1" smtClean="0">
                            <a:latin typeface="Cambria Math"/>
                          </a:rPr>
                          <m:t>𝐴</m:t>
                        </m:r>
                        <m:r>
                          <a:rPr lang="en-US" sz="2000" i="1">
                            <a:latin typeface="Cambria Math"/>
                          </a:rPr>
                          <m:t>}</m:t>
                        </m:r>
                      </m:sub>
                      <m:sup>
                        <m:r>
                          <a:rPr lang="en-US" sz="2000" i="1">
                            <a:latin typeface="Cambria Math"/>
                          </a:rPr>
                          <m:t>+</m:t>
                        </m:r>
                      </m:sup>
                    </m:sSubSup>
                    <m:r>
                      <a:rPr lang="en-US" sz="2000" i="1">
                        <a:latin typeface="Cambria Math"/>
                      </a:rPr>
                      <m:t>=</m:t>
                    </m:r>
                    <m:r>
                      <a:rPr lang="en-US" sz="2000" b="0" i="1" smtClean="0">
                        <a:latin typeface="Cambria Math"/>
                      </a:rPr>
                      <m:t>𝐷𝐸𝐺𝐵</m:t>
                    </m:r>
                  </m:oMath>
                </a14:m>
                <a:r>
                  <a:rPr lang="en-US" sz="2000"/>
                  <a:t>. Vậy </a:t>
                </a:r>
                <a14:m>
                  <m:oMath xmlns:m="http://schemas.openxmlformats.org/officeDocument/2006/math">
                    <m:r>
                      <a:rPr lang="en-US" sz="2000" b="0" i="1" smtClean="0">
                        <a:latin typeface="Cambria Math"/>
                      </a:rPr>
                      <m:t>𝐷</m:t>
                    </m:r>
                    <m:r>
                      <a:rPr lang="en-US" sz="2000" i="1">
                        <a:latin typeface="Cambria Math"/>
                      </a:rPr>
                      <m:t>→</m:t>
                    </m:r>
                    <m:r>
                      <a:rPr lang="en-US" sz="2000" b="0" i="1" smtClean="0">
                        <a:latin typeface="Cambria Math"/>
                      </a:rPr>
                      <m:t>𝐴</m:t>
                    </m:r>
                  </m:oMath>
                </a14:m>
                <a:r>
                  <a:rPr lang="en-US" sz="2000"/>
                  <a:t> không dư thừa</a:t>
                </a:r>
                <a:r>
                  <a:rPr lang="en-US" sz="2000" smtClean="0"/>
                  <a:t>.</a:t>
                </a:r>
              </a:p>
              <a:p>
                <a:pPr marL="347663" lvl="1" indent="-342900">
                  <a:buFont typeface="Arial" panose="020B0604020202020204" pitchFamily="34" charset="0"/>
                  <a:buChar char="•"/>
                </a:pPr>
                <a14:m>
                  <m:oMath xmlns:m="http://schemas.openxmlformats.org/officeDocument/2006/math">
                    <m:r>
                      <a:rPr lang="en-US" sz="2000" i="1">
                        <a:latin typeface="Cambria Math"/>
                      </a:rPr>
                      <m:t>𝐷</m:t>
                    </m:r>
                    <m:r>
                      <a:rPr lang="en-US" sz="2000" i="1">
                        <a:latin typeface="Cambria Math"/>
                      </a:rPr>
                      <m:t>→</m:t>
                    </m:r>
                    <m:r>
                      <a:rPr lang="en-US" sz="2000" b="0" i="1" smtClean="0">
                        <a:latin typeface="Cambria Math"/>
                      </a:rPr>
                      <m:t>𝐸</m:t>
                    </m:r>
                  </m:oMath>
                </a14:m>
                <a:r>
                  <a:rPr lang="en-US" sz="2000"/>
                  <a: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a:rPr>
                          <m:t>𝐷</m:t>
                        </m:r>
                      </m:e>
                      <m:sub>
                        <m:r>
                          <a:rPr lang="en-US" sz="2000" i="1">
                            <a:latin typeface="Cambria Math"/>
                          </a:rPr>
                          <m:t>𝐹</m:t>
                        </m:r>
                        <m:r>
                          <a:rPr lang="en-US" sz="2000" i="1">
                            <a:latin typeface="Cambria Math"/>
                          </a:rPr>
                          <m:t>\</m:t>
                        </m:r>
                        <m:r>
                          <m:rPr>
                            <m:lit/>
                          </m:rPr>
                          <a:rPr lang="en-US" sz="2000" i="1">
                            <a:latin typeface="Cambria Math"/>
                          </a:rPr>
                          <m:t>{</m:t>
                        </m:r>
                        <m:r>
                          <a:rPr lang="en-US" sz="2000" i="1">
                            <a:latin typeface="Cambria Math"/>
                          </a:rPr>
                          <m:t>𝐷</m:t>
                        </m:r>
                        <m:r>
                          <a:rPr lang="en-US" sz="2000" i="1">
                            <a:latin typeface="Cambria Math"/>
                          </a:rPr>
                          <m:t>→</m:t>
                        </m:r>
                        <m:r>
                          <a:rPr lang="en-US" sz="2000" b="0" i="1" smtClean="0">
                            <a:latin typeface="Cambria Math"/>
                          </a:rPr>
                          <m:t>𝐸</m:t>
                        </m:r>
                        <m:r>
                          <a:rPr lang="en-US" sz="2000" i="1">
                            <a:latin typeface="Cambria Math"/>
                          </a:rPr>
                          <m:t>}</m:t>
                        </m:r>
                      </m:sub>
                      <m:sup>
                        <m:r>
                          <a:rPr lang="en-US" sz="2000" i="1">
                            <a:latin typeface="Cambria Math"/>
                          </a:rPr>
                          <m:t>+</m:t>
                        </m:r>
                      </m:sup>
                    </m:sSubSup>
                    <m:r>
                      <a:rPr lang="en-US" sz="2000" i="1">
                        <a:latin typeface="Cambria Math"/>
                      </a:rPr>
                      <m:t>=</m:t>
                    </m:r>
                    <m:r>
                      <a:rPr lang="en-US" sz="2000" i="1">
                        <a:latin typeface="Cambria Math"/>
                      </a:rPr>
                      <m:t>𝐷𝐴𝐺𝐵</m:t>
                    </m:r>
                  </m:oMath>
                </a14:m>
                <a:r>
                  <a:rPr lang="en-US" sz="2000"/>
                  <a:t>. Vậy </a:t>
                </a:r>
                <a14:m>
                  <m:oMath xmlns:m="http://schemas.openxmlformats.org/officeDocument/2006/math">
                    <m:r>
                      <a:rPr lang="en-US" sz="2000" i="1">
                        <a:latin typeface="Cambria Math"/>
                      </a:rPr>
                      <m:t>𝐷</m:t>
                    </m:r>
                    <m:r>
                      <a:rPr lang="en-US" sz="2000" i="1">
                        <a:latin typeface="Cambria Math"/>
                      </a:rPr>
                      <m:t>→</m:t>
                    </m:r>
                    <m:r>
                      <a:rPr lang="en-US" sz="2000" b="0" i="1" smtClean="0">
                        <a:latin typeface="Cambria Math"/>
                      </a:rPr>
                      <m:t>𝐸</m:t>
                    </m:r>
                  </m:oMath>
                </a14:m>
                <a:r>
                  <a:rPr lang="en-US" sz="2000"/>
                  <a:t> không dư thừa</a:t>
                </a:r>
                <a:r>
                  <a:rPr lang="en-US" sz="2000" smtClean="0"/>
                  <a:t>.</a:t>
                </a:r>
              </a:p>
              <a:p>
                <a:pPr marL="347663" lvl="1" indent="-342900">
                  <a:buFont typeface="Arial" panose="020B0604020202020204" pitchFamily="34" charset="0"/>
                  <a:buChar char="•"/>
                </a:pPr>
                <a14:m>
                  <m:oMath xmlns:m="http://schemas.openxmlformats.org/officeDocument/2006/math">
                    <m:r>
                      <a:rPr lang="en-US" sz="2000" i="1">
                        <a:latin typeface="Cambria Math"/>
                      </a:rPr>
                      <m:t>𝐷</m:t>
                    </m:r>
                    <m:r>
                      <a:rPr lang="en-US" sz="2000" i="1">
                        <a:latin typeface="Cambria Math"/>
                      </a:rPr>
                      <m:t>→</m:t>
                    </m:r>
                    <m:r>
                      <a:rPr lang="en-US" sz="2000" b="0" i="1" smtClean="0">
                        <a:latin typeface="Cambria Math"/>
                      </a:rPr>
                      <m:t>𝐺</m:t>
                    </m:r>
                  </m:oMath>
                </a14:m>
                <a:r>
                  <a:rPr lang="en-US" sz="2000"/>
                  <a:t>: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a:rPr>
                          <m:t>𝐷</m:t>
                        </m:r>
                      </m:e>
                      <m:sub>
                        <m:r>
                          <a:rPr lang="en-US" sz="2000" i="1">
                            <a:latin typeface="Cambria Math"/>
                          </a:rPr>
                          <m:t>𝐹</m:t>
                        </m:r>
                        <m:r>
                          <a:rPr lang="en-US" sz="2000" i="1">
                            <a:latin typeface="Cambria Math"/>
                          </a:rPr>
                          <m:t>\</m:t>
                        </m:r>
                        <m:r>
                          <m:rPr>
                            <m:lit/>
                          </m:rPr>
                          <a:rPr lang="en-US" sz="2000" i="1">
                            <a:latin typeface="Cambria Math"/>
                          </a:rPr>
                          <m:t>{</m:t>
                        </m:r>
                        <m:r>
                          <a:rPr lang="en-US" sz="2000" i="1">
                            <a:latin typeface="Cambria Math"/>
                          </a:rPr>
                          <m:t>𝐷</m:t>
                        </m:r>
                        <m:r>
                          <a:rPr lang="en-US" sz="2000" i="1">
                            <a:latin typeface="Cambria Math"/>
                          </a:rPr>
                          <m:t>→</m:t>
                        </m:r>
                        <m:r>
                          <a:rPr lang="en-US" sz="2000" b="0" i="1" smtClean="0">
                            <a:latin typeface="Cambria Math"/>
                          </a:rPr>
                          <m:t>𝐺</m:t>
                        </m:r>
                        <m:r>
                          <a:rPr lang="en-US" sz="2000" i="1">
                            <a:latin typeface="Cambria Math"/>
                          </a:rPr>
                          <m:t>}</m:t>
                        </m:r>
                      </m:sub>
                      <m:sup>
                        <m:r>
                          <a:rPr lang="en-US" sz="2000" i="1">
                            <a:latin typeface="Cambria Math"/>
                          </a:rPr>
                          <m:t>+</m:t>
                        </m:r>
                      </m:sup>
                    </m:sSubSup>
                    <m:r>
                      <a:rPr lang="en-US" sz="2000" i="1">
                        <a:latin typeface="Cambria Math"/>
                      </a:rPr>
                      <m:t>=</m:t>
                    </m:r>
                    <m:r>
                      <a:rPr lang="en-US" sz="2000" i="1">
                        <a:latin typeface="Cambria Math"/>
                      </a:rPr>
                      <m:t>𝐷𝐴𝐸𝐶𝐵</m:t>
                    </m:r>
                  </m:oMath>
                </a14:m>
                <a:r>
                  <a:rPr lang="en-US" sz="2000"/>
                  <a:t>. Vậy </a:t>
                </a:r>
                <a14:m>
                  <m:oMath xmlns:m="http://schemas.openxmlformats.org/officeDocument/2006/math">
                    <m:r>
                      <a:rPr lang="en-US" sz="2000" i="1">
                        <a:latin typeface="Cambria Math"/>
                      </a:rPr>
                      <m:t>𝐷</m:t>
                    </m:r>
                    <m:r>
                      <a:rPr lang="en-US" sz="2000" i="1">
                        <a:latin typeface="Cambria Math"/>
                      </a:rPr>
                      <m:t>→</m:t>
                    </m:r>
                    <m:r>
                      <a:rPr lang="en-US" sz="2000" b="0" i="1" smtClean="0">
                        <a:latin typeface="Cambria Math"/>
                      </a:rPr>
                      <m:t>𝐺</m:t>
                    </m:r>
                  </m:oMath>
                </a14:m>
                <a:r>
                  <a:rPr lang="en-US" sz="2000"/>
                  <a:t> không dư thừa</a:t>
                </a:r>
                <a:r>
                  <a:rPr lang="en-US" sz="2000" smtClean="0"/>
                  <a:t>.</a:t>
                </a:r>
              </a:p>
              <a:p>
                <a:pPr marL="347663" lvl="1" indent="-342900">
                  <a:buFont typeface="Arial" panose="020B0604020202020204" pitchFamily="34" charset="0"/>
                  <a:buChar char="•"/>
                </a:pPr>
                <a14:m>
                  <m:oMath xmlns:m="http://schemas.openxmlformats.org/officeDocument/2006/math">
                    <m:r>
                      <a:rPr lang="en-US" sz="2000" b="0" i="1" smtClean="0">
                        <a:latin typeface="Cambria Math"/>
                      </a:rPr>
                      <m:t>𝐴𝐺</m:t>
                    </m:r>
                    <m:r>
                      <a:rPr lang="en-US" sz="2000" i="1">
                        <a:latin typeface="Cambria Math"/>
                      </a:rPr>
                      <m:t>→</m:t>
                    </m:r>
                    <m:r>
                      <a:rPr lang="en-US" sz="2000" b="0" i="1" smtClean="0">
                        <a:latin typeface="Cambria Math"/>
                      </a:rPr>
                      <m:t>𝐷</m:t>
                    </m:r>
                  </m:oMath>
                </a14:m>
                <a:r>
                  <a:rPr lang="en-US" sz="2000"/>
                  <a:t>: </a:t>
                </a:r>
                <a14:m>
                  <m:oMath xmlns:m="http://schemas.openxmlformats.org/officeDocument/2006/math">
                    <m:sSubSup>
                      <m:sSubSupPr>
                        <m:ctrlPr>
                          <a:rPr lang="en-US" sz="2000" i="1">
                            <a:latin typeface="Cambria Math" panose="02040503050406030204" pitchFamily="18" charset="0"/>
                          </a:rPr>
                        </m:ctrlPr>
                      </m:sSubSupPr>
                      <m:e>
                        <m:r>
                          <a:rPr lang="en-US" sz="2000" b="0" i="1" smtClean="0">
                            <a:latin typeface="Cambria Math"/>
                          </a:rPr>
                          <m:t>𝐴𝐺</m:t>
                        </m:r>
                      </m:e>
                      <m:sub>
                        <m:r>
                          <a:rPr lang="en-US" sz="2000" i="1">
                            <a:latin typeface="Cambria Math"/>
                          </a:rPr>
                          <m:t>𝐹</m:t>
                        </m:r>
                        <m:r>
                          <a:rPr lang="en-US" sz="2000" i="1">
                            <a:latin typeface="Cambria Math"/>
                          </a:rPr>
                          <m:t>\</m:t>
                        </m:r>
                        <m:r>
                          <m:rPr>
                            <m:lit/>
                          </m:rPr>
                          <a:rPr lang="en-US" sz="2000" i="1">
                            <a:latin typeface="Cambria Math"/>
                          </a:rPr>
                          <m:t>{</m:t>
                        </m:r>
                        <m:r>
                          <a:rPr lang="en-US" sz="2000" b="0" i="1" smtClean="0">
                            <a:latin typeface="Cambria Math"/>
                          </a:rPr>
                          <m:t>𝐴𝐺</m:t>
                        </m:r>
                        <m:r>
                          <a:rPr lang="en-US" sz="2000" i="1">
                            <a:latin typeface="Cambria Math"/>
                          </a:rPr>
                          <m:t>→</m:t>
                        </m:r>
                        <m:r>
                          <a:rPr lang="en-US" sz="2000" b="0" i="1" smtClean="0">
                            <a:latin typeface="Cambria Math"/>
                          </a:rPr>
                          <m:t>𝐷</m:t>
                        </m:r>
                        <m:r>
                          <a:rPr lang="en-US" sz="2000" i="1">
                            <a:latin typeface="Cambria Math"/>
                          </a:rPr>
                          <m:t>}</m:t>
                        </m:r>
                      </m:sub>
                      <m:sup>
                        <m:r>
                          <a:rPr lang="en-US" sz="2000" i="1">
                            <a:latin typeface="Cambria Math"/>
                          </a:rPr>
                          <m:t>+</m:t>
                        </m:r>
                      </m:sup>
                    </m:sSubSup>
                    <m:r>
                      <a:rPr lang="en-US" sz="2000" i="1">
                        <a:latin typeface="Cambria Math"/>
                      </a:rPr>
                      <m:t>=</m:t>
                    </m:r>
                    <m:r>
                      <a:rPr lang="en-US" sz="2000" b="0" i="1" smtClean="0">
                        <a:latin typeface="Cambria Math"/>
                      </a:rPr>
                      <m:t>𝐴𝐺𝐵𝐶</m:t>
                    </m:r>
                  </m:oMath>
                </a14:m>
                <a:r>
                  <a:rPr lang="en-US" sz="2000"/>
                  <a:t>. Vậy </a:t>
                </a:r>
                <a14:m>
                  <m:oMath xmlns:m="http://schemas.openxmlformats.org/officeDocument/2006/math">
                    <m:r>
                      <a:rPr lang="en-US" sz="2000" b="0" i="1" smtClean="0">
                        <a:latin typeface="Cambria Math"/>
                      </a:rPr>
                      <m:t>𝐴𝐺</m:t>
                    </m:r>
                    <m:r>
                      <a:rPr lang="en-US" sz="2000" i="1">
                        <a:latin typeface="Cambria Math"/>
                      </a:rPr>
                      <m:t>→</m:t>
                    </m:r>
                    <m:r>
                      <a:rPr lang="en-US" sz="2000" b="0" i="1" smtClean="0">
                        <a:latin typeface="Cambria Math"/>
                      </a:rPr>
                      <m:t>𝐷</m:t>
                    </m:r>
                  </m:oMath>
                </a14:m>
                <a:r>
                  <a:rPr lang="en-US" sz="2000"/>
                  <a:t> không dư thừa.</a:t>
                </a:r>
                <a:endParaRPr lang="en-US" sz="2000" smtClean="0"/>
              </a:p>
              <a:p>
                <a:pPr marL="347663" lvl="1" indent="-342900">
                  <a:buFont typeface="Arial" panose="020B0604020202020204" pitchFamily="34" charset="0"/>
                  <a:buChar char="•"/>
                </a:pPr>
                <a14:m>
                  <m:oMath xmlns:m="http://schemas.openxmlformats.org/officeDocument/2006/math">
                    <m:r>
                      <a:rPr lang="en-US" sz="2000" i="1" smtClean="0">
                        <a:solidFill>
                          <a:srgbClr val="FF0000"/>
                        </a:solidFill>
                        <a:latin typeface="Cambria Math"/>
                      </a:rPr>
                      <m:t>𝐷</m:t>
                    </m:r>
                    <m:r>
                      <a:rPr lang="en-US" sz="2000" i="1">
                        <a:solidFill>
                          <a:srgbClr val="FF0000"/>
                        </a:solidFill>
                        <a:latin typeface="Cambria Math"/>
                      </a:rPr>
                      <m:t>→</m:t>
                    </m:r>
                    <m:r>
                      <a:rPr lang="en-US" sz="2000" b="0" i="1" smtClean="0">
                        <a:solidFill>
                          <a:srgbClr val="FF0000"/>
                        </a:solidFill>
                        <a:latin typeface="Cambria Math"/>
                      </a:rPr>
                      <m:t>𝐵</m:t>
                    </m:r>
                  </m:oMath>
                </a14:m>
                <a:r>
                  <a:rPr lang="en-US" sz="2000">
                    <a:solidFill>
                      <a:srgbClr val="FF0000"/>
                    </a:solidFill>
                  </a:rPr>
                  <a:t>: </a:t>
                </a:r>
                <a14:m>
                  <m:oMath xmlns:m="http://schemas.openxmlformats.org/officeDocument/2006/math">
                    <m:sSubSup>
                      <m:sSubSupPr>
                        <m:ctrlPr>
                          <a:rPr lang="en-US" sz="2000" i="1">
                            <a:solidFill>
                              <a:srgbClr val="FF0000"/>
                            </a:solidFill>
                            <a:latin typeface="Cambria Math" panose="02040503050406030204" pitchFamily="18" charset="0"/>
                          </a:rPr>
                        </m:ctrlPr>
                      </m:sSubSupPr>
                      <m:e>
                        <m:r>
                          <a:rPr lang="en-US" sz="2000" i="1">
                            <a:solidFill>
                              <a:srgbClr val="FF0000"/>
                            </a:solidFill>
                            <a:latin typeface="Cambria Math"/>
                          </a:rPr>
                          <m:t>𝐷</m:t>
                        </m:r>
                      </m:e>
                      <m:sub>
                        <m:r>
                          <a:rPr lang="en-US" sz="2000" i="1">
                            <a:solidFill>
                              <a:srgbClr val="FF0000"/>
                            </a:solidFill>
                            <a:latin typeface="Cambria Math"/>
                          </a:rPr>
                          <m:t>𝐹</m:t>
                        </m:r>
                        <m:r>
                          <a:rPr lang="en-US" sz="2000" i="1">
                            <a:solidFill>
                              <a:srgbClr val="FF0000"/>
                            </a:solidFill>
                            <a:latin typeface="Cambria Math"/>
                          </a:rPr>
                          <m:t>\</m:t>
                        </m:r>
                        <m:r>
                          <m:rPr>
                            <m:lit/>
                          </m:rPr>
                          <a:rPr lang="en-US" sz="2000" i="1">
                            <a:solidFill>
                              <a:srgbClr val="FF0000"/>
                            </a:solidFill>
                            <a:latin typeface="Cambria Math"/>
                          </a:rPr>
                          <m:t>{</m:t>
                        </m:r>
                        <m:r>
                          <a:rPr lang="en-US" sz="2000" i="1">
                            <a:solidFill>
                              <a:srgbClr val="FF0000"/>
                            </a:solidFill>
                            <a:latin typeface="Cambria Math"/>
                          </a:rPr>
                          <m:t>𝐷</m:t>
                        </m:r>
                        <m:r>
                          <a:rPr lang="en-US" sz="2000" i="1">
                            <a:solidFill>
                              <a:srgbClr val="FF0000"/>
                            </a:solidFill>
                            <a:latin typeface="Cambria Math"/>
                          </a:rPr>
                          <m:t>→</m:t>
                        </m:r>
                        <m:r>
                          <a:rPr lang="en-US" sz="2000" b="0" i="1" smtClean="0">
                            <a:solidFill>
                              <a:srgbClr val="FF0000"/>
                            </a:solidFill>
                            <a:latin typeface="Cambria Math"/>
                          </a:rPr>
                          <m:t>𝐵</m:t>
                        </m:r>
                        <m:r>
                          <a:rPr lang="en-US" sz="2000" i="1">
                            <a:solidFill>
                              <a:srgbClr val="FF0000"/>
                            </a:solidFill>
                            <a:latin typeface="Cambria Math"/>
                          </a:rPr>
                          <m:t>}</m:t>
                        </m:r>
                      </m:sub>
                      <m:sup>
                        <m:r>
                          <a:rPr lang="en-US" sz="2000" i="1">
                            <a:solidFill>
                              <a:srgbClr val="FF0000"/>
                            </a:solidFill>
                            <a:latin typeface="Cambria Math"/>
                          </a:rPr>
                          <m:t>+</m:t>
                        </m:r>
                      </m:sup>
                    </m:sSubSup>
                    <m:r>
                      <a:rPr lang="en-US" sz="2000" i="1">
                        <a:solidFill>
                          <a:srgbClr val="FF0000"/>
                        </a:solidFill>
                        <a:latin typeface="Cambria Math"/>
                      </a:rPr>
                      <m:t>=</m:t>
                    </m:r>
                    <m:r>
                      <a:rPr lang="en-US" sz="2000" i="1">
                        <a:solidFill>
                          <a:srgbClr val="FF0000"/>
                        </a:solidFill>
                        <a:latin typeface="Cambria Math"/>
                      </a:rPr>
                      <m:t>𝐷𝐴𝐸𝐶𝐺</m:t>
                    </m:r>
                    <m:r>
                      <a:rPr lang="en-US" sz="2000" b="0" i="1" smtClean="0">
                        <a:solidFill>
                          <a:srgbClr val="FF0000"/>
                        </a:solidFill>
                        <a:latin typeface="Cambria Math"/>
                      </a:rPr>
                      <m:t>𝐵</m:t>
                    </m:r>
                  </m:oMath>
                </a14:m>
                <a:r>
                  <a:rPr lang="en-US" sz="2000">
                    <a:solidFill>
                      <a:srgbClr val="FF0000"/>
                    </a:solidFill>
                  </a:rPr>
                  <a:t>. Vậy </a:t>
                </a:r>
                <a14:m>
                  <m:oMath xmlns:m="http://schemas.openxmlformats.org/officeDocument/2006/math">
                    <m:r>
                      <a:rPr lang="en-US" sz="2000" i="1">
                        <a:solidFill>
                          <a:srgbClr val="FF0000"/>
                        </a:solidFill>
                        <a:latin typeface="Cambria Math"/>
                      </a:rPr>
                      <m:t>𝐷</m:t>
                    </m:r>
                    <m:r>
                      <a:rPr lang="en-US" sz="2000" i="1">
                        <a:solidFill>
                          <a:srgbClr val="FF0000"/>
                        </a:solidFill>
                        <a:latin typeface="Cambria Math"/>
                      </a:rPr>
                      <m:t>→</m:t>
                    </m:r>
                    <m:r>
                      <a:rPr lang="en-US" sz="2000" b="0" i="1" smtClean="0">
                        <a:solidFill>
                          <a:srgbClr val="FF0000"/>
                        </a:solidFill>
                        <a:latin typeface="Cambria Math"/>
                      </a:rPr>
                      <m:t>𝐵</m:t>
                    </m:r>
                  </m:oMath>
                </a14:m>
                <a:r>
                  <a:rPr lang="en-US" sz="2000">
                    <a:solidFill>
                      <a:srgbClr val="FF0000"/>
                    </a:solidFill>
                  </a:rPr>
                  <a:t> </a:t>
                </a:r>
                <a:r>
                  <a:rPr lang="en-US" sz="2000" smtClean="0">
                    <a:solidFill>
                      <a:srgbClr val="FF0000"/>
                    </a:solidFill>
                  </a:rPr>
                  <a:t>dư </a:t>
                </a:r>
                <a:r>
                  <a:rPr lang="en-US" sz="2000">
                    <a:solidFill>
                      <a:srgbClr val="FF0000"/>
                    </a:solidFill>
                  </a:rPr>
                  <a:t>thừa</a:t>
                </a:r>
                <a:r>
                  <a:rPr lang="en-US" sz="2000" smtClean="0"/>
                  <a:t>.</a:t>
                </a:r>
              </a:p>
              <a:p>
                <a:pPr marL="4763" lvl="1" indent="0">
                  <a:buNone/>
                </a:pPr>
                <a:r>
                  <a:rPr lang="en-US" sz="2000" b="0" smtClean="0"/>
                  <a:t>Vậy kết quả:</a:t>
                </a:r>
                <a:r>
                  <a:rPr lang="en-US" sz="2000" b="1" smtClean="0"/>
                  <a:t> </a:t>
                </a:r>
                <a14:m>
                  <m:oMath xmlns:m="http://schemas.openxmlformats.org/officeDocument/2006/math">
                    <m:r>
                      <a:rPr lang="en-US" sz="2000" b="1" i="1" smtClean="0">
                        <a:latin typeface="Cambria Math"/>
                      </a:rPr>
                      <m:t>𝑭</m:t>
                    </m:r>
                    <m:r>
                      <a:rPr lang="en-US" sz="2000" b="1" i="1" smtClean="0">
                        <a:latin typeface="Cambria Math"/>
                      </a:rPr>
                      <m:t>=</m:t>
                    </m:r>
                    <m:d>
                      <m:dPr>
                        <m:begChr m:val="{"/>
                        <m:endChr m:val="}"/>
                        <m:ctrlPr>
                          <a:rPr lang="en-US" sz="2000" b="1" i="1" smtClean="0">
                            <a:latin typeface="Cambria Math" panose="02040503050406030204" pitchFamily="18" charset="0"/>
                          </a:rPr>
                        </m:ctrlPr>
                      </m:dPr>
                      <m:e>
                        <m:r>
                          <a:rPr lang="en-US" sz="2000" b="1" i="1" smtClean="0">
                            <a:latin typeface="Cambria Math"/>
                          </a:rPr>
                          <m:t>𝑨</m:t>
                        </m:r>
                        <m:r>
                          <a:rPr lang="en-US" sz="2000" b="1" i="1" smtClean="0">
                            <a:latin typeface="Cambria Math"/>
                          </a:rPr>
                          <m:t>→</m:t>
                        </m:r>
                        <m:r>
                          <a:rPr lang="en-US" sz="2000" b="1" i="1" smtClean="0">
                            <a:latin typeface="Cambria Math"/>
                          </a:rPr>
                          <m:t>𝑩𝑪</m:t>
                        </m:r>
                        <m:r>
                          <a:rPr lang="en-US" sz="2000" b="1" i="1" smtClean="0">
                            <a:latin typeface="Cambria Math"/>
                          </a:rPr>
                          <m:t>, </m:t>
                        </m:r>
                        <m:r>
                          <a:rPr lang="en-US" sz="2000" b="1" i="1" smtClean="0">
                            <a:latin typeface="Cambria Math"/>
                          </a:rPr>
                          <m:t>𝑬</m:t>
                        </m:r>
                        <m:r>
                          <a:rPr lang="en-US" sz="2000" b="1" i="1" smtClean="0">
                            <a:latin typeface="Cambria Math"/>
                          </a:rPr>
                          <m:t>→</m:t>
                        </m:r>
                        <m:r>
                          <a:rPr lang="en-US" sz="2000" b="1" i="1" smtClean="0">
                            <a:latin typeface="Cambria Math"/>
                          </a:rPr>
                          <m:t>𝑪</m:t>
                        </m:r>
                        <m:r>
                          <a:rPr lang="en-US" sz="2000" b="1" i="1" smtClean="0">
                            <a:latin typeface="Cambria Math"/>
                          </a:rPr>
                          <m:t>,</m:t>
                        </m:r>
                        <m:r>
                          <a:rPr lang="en-US" sz="2000" b="1" i="1" smtClean="0">
                            <a:latin typeface="Cambria Math"/>
                          </a:rPr>
                          <m:t>𝑫</m:t>
                        </m:r>
                        <m:r>
                          <a:rPr lang="en-US" sz="2000" b="1" i="1" smtClean="0">
                            <a:latin typeface="Cambria Math"/>
                          </a:rPr>
                          <m:t>→</m:t>
                        </m:r>
                        <m:r>
                          <a:rPr lang="en-US" sz="2000" b="1" i="1" smtClean="0">
                            <a:latin typeface="Cambria Math"/>
                          </a:rPr>
                          <m:t>𝑨𝑬𝑮</m:t>
                        </m:r>
                        <m:r>
                          <a:rPr lang="en-US" sz="2000" b="1" i="1" smtClean="0">
                            <a:latin typeface="Cambria Math"/>
                          </a:rPr>
                          <m:t>, </m:t>
                        </m:r>
                        <m:r>
                          <a:rPr lang="en-US" sz="2000" b="1" i="1" smtClean="0">
                            <a:latin typeface="Cambria Math"/>
                          </a:rPr>
                          <m:t>𝑨𝑮</m:t>
                        </m:r>
                        <m:r>
                          <a:rPr lang="en-US" sz="2000" b="1" i="1" smtClean="0">
                            <a:latin typeface="Cambria Math"/>
                          </a:rPr>
                          <m:t>→</m:t>
                        </m:r>
                        <m:r>
                          <a:rPr lang="en-US" sz="2000" b="1" i="1" smtClean="0">
                            <a:latin typeface="Cambria Math"/>
                          </a:rPr>
                          <m:t>𝑫</m:t>
                        </m:r>
                      </m:e>
                    </m:d>
                  </m:oMath>
                </a14:m>
                <a:endParaRPr lang="en-US" sz="2000" b="1"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10600" cy="5257800"/>
              </a:xfrm>
              <a:blipFill rotWithShape="1">
                <a:blip r:embed="rId2"/>
                <a:stretch>
                  <a:fillRect l="-849" t="-696"/>
                </a:stretch>
              </a:blipFill>
            </p:spPr>
            <p:txBody>
              <a:bodyPr/>
              <a:lstStyle/>
              <a:p>
                <a:r>
                  <a:rPr lang="en-US">
                    <a:noFill/>
                  </a:rPr>
                  <a:t> </a:t>
                </a:r>
              </a:p>
            </p:txBody>
          </p:sp>
        </mc:Fallback>
      </mc:AlternateContent>
    </p:spTree>
    <p:extLst>
      <p:ext uri="{BB962C8B-B14F-4D97-AF65-F5344CB8AC3E}">
        <p14:creationId xmlns:p14="http://schemas.microsoft.com/office/powerpoint/2010/main" val="268696299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Phụ thuộc hàm</a:t>
            </a:r>
            <a:br>
              <a:rPr lang="en-US" smtClean="0"/>
            </a:br>
            <a:r>
              <a:rPr lang="en-US" smtClean="0"/>
              <a:t>(Phủ - Phủ tối tiểu)</a:t>
            </a:r>
            <a:endParaRPr lang="en-US"/>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1600200"/>
                <a:ext cx="8686800" cy="5257800"/>
              </a:xfrm>
            </p:spPr>
            <p:txBody>
              <a:bodyPr>
                <a:normAutofit/>
              </a:bodyPr>
              <a:lstStyle/>
              <a:p>
                <a:pPr marL="0" indent="0" algn="just">
                  <a:buNone/>
                </a:pPr>
                <a:r>
                  <a:rPr lang="en-US" sz="2000" u="sng" smtClean="0"/>
                  <a:t>Như vậy làm phủ tối tiểu để ta loại bỏ đi những phụ thuộc hàm dư thừa. Điều này giúp ích rất lớn cho việc tách lược đồ thành những quan hệ con thỏa dạng chuẩn một cách nhanh và dể làm hơn.</a:t>
                </a:r>
              </a:p>
              <a:p>
                <a:pPr marL="0" indent="0">
                  <a:buNone/>
                </a:pPr>
                <a:r>
                  <a:rPr lang="en-US" sz="2000" smtClean="0"/>
                  <a:t>Xét </a:t>
                </a:r>
                <a:r>
                  <a:rPr lang="en-US" sz="2000"/>
                  <a:t>một lược đồ quan hệ </a:t>
                </a:r>
                <a14:m>
                  <m:oMath xmlns:m="http://schemas.openxmlformats.org/officeDocument/2006/math">
                    <m:r>
                      <a:rPr lang="en-US" sz="1800" i="1">
                        <a:latin typeface="Cambria Math"/>
                      </a:rPr>
                      <m:t>𝑠𝑖𝑛h𝑣𝑖𝑒𝑛</m:t>
                    </m:r>
                    <m:r>
                      <a:rPr lang="en-US" sz="1800" i="1">
                        <a:latin typeface="Cambria Math"/>
                      </a:rPr>
                      <m:t>(</m:t>
                    </m:r>
                    <m:r>
                      <a:rPr lang="en-US" sz="1800" i="1">
                        <a:latin typeface="Cambria Math"/>
                      </a:rPr>
                      <m:t>𝑚𝑎𝑠𝑣</m:t>
                    </m:r>
                    <m:r>
                      <a:rPr lang="en-US" sz="1800" i="1">
                        <a:latin typeface="Cambria Math"/>
                      </a:rPr>
                      <m:t>,</m:t>
                    </m:r>
                    <m:r>
                      <a:rPr lang="en-US" sz="1800" i="1">
                        <a:latin typeface="Cambria Math"/>
                      </a:rPr>
                      <m:t>h𝑜𝑡𝑒𝑛</m:t>
                    </m:r>
                    <m:r>
                      <a:rPr lang="en-US" sz="1800" i="1">
                        <a:latin typeface="Cambria Math"/>
                      </a:rPr>
                      <m:t>,</m:t>
                    </m:r>
                    <m:r>
                      <a:rPr lang="en-US" sz="1800" i="1">
                        <a:latin typeface="Cambria Math"/>
                      </a:rPr>
                      <m:t>𝑑𝑖𝑒𝑚</m:t>
                    </m:r>
                    <m:r>
                      <a:rPr lang="en-US" sz="1800" i="1">
                        <a:latin typeface="Cambria Math"/>
                      </a:rPr>
                      <m:t>,</m:t>
                    </m:r>
                    <m:r>
                      <a:rPr lang="en-US" sz="1800" i="1">
                        <a:latin typeface="Cambria Math"/>
                      </a:rPr>
                      <m:t>𝑚𝑎𝑙𝑜𝑝</m:t>
                    </m:r>
                    <m:r>
                      <a:rPr lang="en-US" sz="1800" i="1">
                        <a:latin typeface="Cambria Math"/>
                      </a:rPr>
                      <m:t>,</m:t>
                    </m:r>
                    <m:r>
                      <a:rPr lang="en-US" sz="1800" i="1">
                        <a:latin typeface="Cambria Math"/>
                      </a:rPr>
                      <m:t>𝑡𝑒𝑛𝑙𝑜𝑝</m:t>
                    </m:r>
                    <m:r>
                      <a:rPr lang="en-US" sz="1800" i="1">
                        <a:latin typeface="Cambria Math"/>
                      </a:rPr>
                      <m:t>)</m:t>
                    </m:r>
                  </m:oMath>
                </a14:m>
                <a:r>
                  <a:rPr lang="en-US" sz="1800"/>
                  <a:t>. </a:t>
                </a:r>
              </a:p>
              <a:p>
                <a:pPr marL="0" indent="0">
                  <a:buNone/>
                </a:pPr>
                <a:r>
                  <a:rPr lang="en-US" sz="2000"/>
                  <a:t>Trong đó ta có thể thấy chủ quan phụ thuộc hàm</a:t>
                </a:r>
              </a:p>
              <a:p>
                <a:pPr marL="0" indent="0">
                  <a:buNone/>
                </a:pPr>
                <a:r>
                  <a:rPr lang="en-US" sz="2000"/>
                  <a:t>	</a:t>
                </a:r>
                <a14:m>
                  <m:oMath xmlns:m="http://schemas.openxmlformats.org/officeDocument/2006/math">
                    <m:r>
                      <a:rPr lang="en-US" sz="1800" i="1">
                        <a:latin typeface="Cambria Math"/>
                      </a:rPr>
                      <m:t>{</m:t>
                    </m:r>
                    <m:r>
                      <a:rPr lang="en-US" sz="1800" i="1">
                        <a:latin typeface="Cambria Math"/>
                      </a:rPr>
                      <m:t>𝑓</m:t>
                    </m:r>
                    <m:r>
                      <a:rPr lang="en-US" sz="1800" i="1">
                        <a:latin typeface="Cambria Math"/>
                      </a:rPr>
                      <m:t>1:</m:t>
                    </m:r>
                    <m:r>
                      <a:rPr lang="en-US" sz="1800" i="1">
                        <a:latin typeface="Cambria Math"/>
                      </a:rPr>
                      <m:t>𝑚𝑎𝑠𝑣</m:t>
                    </m:r>
                    <m:r>
                      <a:rPr lang="en-US" sz="1800" i="1">
                        <a:latin typeface="Cambria Math"/>
                      </a:rPr>
                      <m:t>→</m:t>
                    </m:r>
                    <m:r>
                      <a:rPr lang="en-US" sz="1800" i="1">
                        <a:latin typeface="Cambria Math"/>
                      </a:rPr>
                      <m:t>𝑑𝑖𝑒𝑚</m:t>
                    </m:r>
                    <m:r>
                      <a:rPr lang="en-US" sz="1800" i="1">
                        <a:latin typeface="Cambria Math"/>
                      </a:rPr>
                      <m:t>;   </m:t>
                    </m:r>
                    <m:r>
                      <a:rPr lang="en-US" sz="1800" i="1">
                        <a:latin typeface="Cambria Math"/>
                      </a:rPr>
                      <m:t>𝑓</m:t>
                    </m:r>
                    <m:r>
                      <a:rPr lang="en-US" sz="1800" i="1">
                        <a:latin typeface="Cambria Math"/>
                      </a:rPr>
                      <m:t>2:</m:t>
                    </m:r>
                    <m:r>
                      <a:rPr lang="en-US" sz="1800" i="1">
                        <a:latin typeface="Cambria Math"/>
                      </a:rPr>
                      <m:t>𝑚𝑎𝑠𝑣</m:t>
                    </m:r>
                    <m:r>
                      <a:rPr lang="en-US" sz="1800" i="1">
                        <a:latin typeface="Cambria Math"/>
                      </a:rPr>
                      <m:t>,</m:t>
                    </m:r>
                    <m:r>
                      <a:rPr lang="en-US" sz="1800" i="1">
                        <a:latin typeface="Cambria Math"/>
                      </a:rPr>
                      <m:t>h𝑜𝑡𝑒𝑛</m:t>
                    </m:r>
                    <m:r>
                      <a:rPr lang="en-US" sz="1800" i="1">
                        <a:latin typeface="Cambria Math"/>
                      </a:rPr>
                      <m:t>→</m:t>
                    </m:r>
                    <m:r>
                      <a:rPr lang="en-US" sz="1800" i="1">
                        <a:latin typeface="Cambria Math"/>
                      </a:rPr>
                      <m:t>𝑑𝑖𝑒𝑚</m:t>
                    </m:r>
                    <m:r>
                      <a:rPr lang="en-US" sz="1800" i="1">
                        <a:latin typeface="Cambria Math"/>
                      </a:rPr>
                      <m:t>;  </m:t>
                    </m:r>
                  </m:oMath>
                </a14:m>
                <a:endParaRPr lang="en-US" sz="1800" i="1">
                  <a:latin typeface="Cambria Math"/>
                </a:endParaRPr>
              </a:p>
              <a:p>
                <a:pPr marL="0" indent="0">
                  <a:buNone/>
                </a:pPr>
                <a:r>
                  <a:rPr lang="en-US" sz="1800"/>
                  <a:t>	</a:t>
                </a:r>
                <a14:m>
                  <m:oMath xmlns:m="http://schemas.openxmlformats.org/officeDocument/2006/math">
                    <m:r>
                      <a:rPr lang="en-US" sz="1800">
                        <a:latin typeface="Cambria Math"/>
                      </a:rPr>
                      <m:t> </m:t>
                    </m:r>
                    <m:r>
                      <a:rPr lang="en-US" sz="1800" i="1">
                        <a:latin typeface="Cambria Math"/>
                      </a:rPr>
                      <m:t> </m:t>
                    </m:r>
                    <m:r>
                      <a:rPr lang="en-US" sz="1800" i="1">
                        <a:latin typeface="Cambria Math"/>
                      </a:rPr>
                      <m:t>𝑓</m:t>
                    </m:r>
                    <m:r>
                      <a:rPr lang="en-US" sz="1800" i="1">
                        <a:latin typeface="Cambria Math"/>
                      </a:rPr>
                      <m:t>3:</m:t>
                    </m:r>
                    <m:r>
                      <a:rPr lang="en-US" sz="1800" i="1">
                        <a:latin typeface="Cambria Math"/>
                      </a:rPr>
                      <m:t>𝑚𝑎𝑙𝑜𝑝</m:t>
                    </m:r>
                    <m:r>
                      <a:rPr lang="en-US" sz="1800" i="1">
                        <a:latin typeface="Cambria Math"/>
                      </a:rPr>
                      <m:t>→</m:t>
                    </m:r>
                    <m:r>
                      <a:rPr lang="en-US" sz="1800" i="1">
                        <a:latin typeface="Cambria Math"/>
                      </a:rPr>
                      <m:t>𝑡𝑒𝑛𝑙𝑜𝑝</m:t>
                    </m:r>
                    <m:r>
                      <a:rPr lang="en-US" sz="1800" i="1">
                        <a:latin typeface="Cambria Math"/>
                      </a:rPr>
                      <m:t>;   </m:t>
                    </m:r>
                    <m:r>
                      <a:rPr lang="en-US" sz="1800" i="1">
                        <a:latin typeface="Cambria Math"/>
                      </a:rPr>
                      <m:t>𝑓</m:t>
                    </m:r>
                    <m:r>
                      <a:rPr lang="en-US" sz="1800" i="1">
                        <a:latin typeface="Cambria Math"/>
                      </a:rPr>
                      <m:t>4:</m:t>
                    </m:r>
                    <m:r>
                      <a:rPr lang="en-US" sz="1800" i="1">
                        <a:latin typeface="Cambria Math"/>
                      </a:rPr>
                      <m:t>𝑚𝑎𝑠𝑣</m:t>
                    </m:r>
                    <m:r>
                      <a:rPr lang="en-US" sz="1800" i="1">
                        <a:latin typeface="Cambria Math"/>
                      </a:rPr>
                      <m:t>→</m:t>
                    </m:r>
                    <m:r>
                      <a:rPr lang="en-US" sz="1800" i="1">
                        <a:latin typeface="Cambria Math"/>
                      </a:rPr>
                      <m:t>𝑚𝑎𝑙𝑜𝑝</m:t>
                    </m:r>
                    <m:r>
                      <a:rPr lang="en-US" sz="1800" i="1">
                        <a:latin typeface="Cambria Math"/>
                      </a:rPr>
                      <m:t>;</m:t>
                    </m:r>
                    <m:r>
                      <a:rPr lang="en-US" sz="1800" i="1">
                        <a:latin typeface="Cambria Math"/>
                      </a:rPr>
                      <m:t>𝑓</m:t>
                    </m:r>
                    <m:r>
                      <a:rPr lang="en-US" sz="1800" i="1">
                        <a:latin typeface="Cambria Math"/>
                      </a:rPr>
                      <m:t>5:</m:t>
                    </m:r>
                    <m:r>
                      <a:rPr lang="en-US" sz="1800" i="1">
                        <a:latin typeface="Cambria Math"/>
                      </a:rPr>
                      <m:t>𝑚𝑎𝑠𝑣</m:t>
                    </m:r>
                    <m:r>
                      <a:rPr lang="en-US" sz="1800" i="1">
                        <a:latin typeface="Cambria Math"/>
                      </a:rPr>
                      <m:t> →</m:t>
                    </m:r>
                    <m:r>
                      <a:rPr lang="en-US" sz="1800" i="1">
                        <a:latin typeface="Cambria Math"/>
                      </a:rPr>
                      <m:t>𝑡𝑒𝑛𝑙𝑜𝑝</m:t>
                    </m:r>
                    <m:r>
                      <a:rPr lang="en-US" sz="1800" i="1">
                        <a:latin typeface="Cambria Math"/>
                      </a:rPr>
                      <m:t> }</m:t>
                    </m:r>
                  </m:oMath>
                </a14:m>
                <a:endParaRPr lang="en-US" sz="1800" i="1">
                  <a:latin typeface="Cambria Math"/>
                </a:endParaRPr>
              </a:p>
              <a:p>
                <a:pPr marL="0" indent="0">
                  <a:buNone/>
                </a:pPr>
                <a:r>
                  <a:rPr lang="en-US" sz="2000" smtClean="0"/>
                  <a:t>Nếu làm theo thuật toán thì</a:t>
                </a:r>
              </a:p>
              <a:p>
                <a:pPr>
                  <a:buFontTx/>
                  <a:buChar char="-"/>
                </a:pPr>
                <a:r>
                  <a:rPr lang="en-US" sz="2000" smtClean="0"/>
                  <a:t>Ta loại thuộc tính </a:t>
                </a:r>
                <a:r>
                  <a:rPr lang="en-US" sz="2000" i="1" smtClean="0"/>
                  <a:t>hoten</a:t>
                </a:r>
                <a:r>
                  <a:rPr lang="en-US" sz="2000" smtClean="0"/>
                  <a:t> trong phụ thuộc hàm </a:t>
                </a:r>
                <a:r>
                  <a:rPr lang="en-US" sz="2000" i="1" smtClean="0"/>
                  <a:t>f2</a:t>
                </a:r>
                <a:r>
                  <a:rPr lang="en-US" sz="2000" smtClean="0"/>
                  <a:t>.</a:t>
                </a:r>
              </a:p>
              <a:p>
                <a:pPr>
                  <a:buFontTx/>
                  <a:buChar char="-"/>
                </a:pPr>
                <a:r>
                  <a:rPr lang="en-US" sz="2000" smtClean="0"/>
                  <a:t>Ta loại tiếp phụ thuộc hàm </a:t>
                </a:r>
                <a:r>
                  <a:rPr lang="en-US" sz="2000" i="1" smtClean="0"/>
                  <a:t>f5</a:t>
                </a:r>
                <a:r>
                  <a:rPr lang="en-US" sz="2000" smtClean="0"/>
                  <a:t>. Vì khi tập phụ thuộc hàm F đã bỏ </a:t>
                </a:r>
                <a:r>
                  <a:rPr lang="en-US" sz="2000" i="1" smtClean="0"/>
                  <a:t>f5</a:t>
                </a:r>
                <a:r>
                  <a:rPr lang="en-US" sz="2000" smtClean="0"/>
                  <a:t> đi, ta có </a:t>
                </a:r>
                <a14:m>
                  <m:oMath xmlns:m="http://schemas.openxmlformats.org/officeDocument/2006/math">
                    <m:r>
                      <a:rPr lang="en-US" sz="1800" i="1">
                        <a:latin typeface="Cambria Math"/>
                      </a:rPr>
                      <m:t>{</m:t>
                    </m:r>
                    <m:r>
                      <a:rPr lang="en-US" sz="1800" i="1">
                        <a:latin typeface="Cambria Math"/>
                      </a:rPr>
                      <m:t>𝑓</m:t>
                    </m:r>
                    <m:r>
                      <a:rPr lang="en-US" sz="1800" i="1">
                        <a:latin typeface="Cambria Math"/>
                      </a:rPr>
                      <m:t>1:</m:t>
                    </m:r>
                    <m:r>
                      <a:rPr lang="en-US" sz="1800" i="1">
                        <a:latin typeface="Cambria Math"/>
                      </a:rPr>
                      <m:t>𝑚𝑎𝑠𝑣</m:t>
                    </m:r>
                    <m:r>
                      <a:rPr lang="en-US" sz="1800" i="1">
                        <a:latin typeface="Cambria Math"/>
                      </a:rPr>
                      <m:t>→</m:t>
                    </m:r>
                    <m:r>
                      <a:rPr lang="en-US" sz="1800" i="1">
                        <a:latin typeface="Cambria Math"/>
                      </a:rPr>
                      <m:t>𝑑𝑖𝑒𝑚</m:t>
                    </m:r>
                    <m:r>
                      <a:rPr lang="en-US" sz="1800" b="0" i="1" smtClean="0">
                        <a:latin typeface="Cambria Math" panose="02040503050406030204" pitchFamily="18" charset="0"/>
                      </a:rPr>
                      <m:t>;</m:t>
                    </m:r>
                    <m:r>
                      <a:rPr lang="en-US" sz="1800" i="1" smtClean="0">
                        <a:latin typeface="Cambria Math"/>
                      </a:rPr>
                      <m:t> </m:t>
                    </m:r>
                    <m:r>
                      <a:rPr lang="en-US" sz="1800" i="1" strike="sngStrike" smtClean="0">
                        <a:latin typeface="Cambria Math"/>
                      </a:rPr>
                      <m:t>𝑓</m:t>
                    </m:r>
                    <m:r>
                      <a:rPr lang="en-US" sz="1800" i="1" strike="sngStrike" smtClean="0">
                        <a:latin typeface="Cambria Math"/>
                      </a:rPr>
                      <m:t>2:</m:t>
                    </m:r>
                    <m:r>
                      <a:rPr lang="en-US" sz="1800" i="1" strike="sngStrike" smtClean="0">
                        <a:latin typeface="Cambria Math"/>
                      </a:rPr>
                      <m:t>𝑚𝑎𝑠𝑣</m:t>
                    </m:r>
                    <m:r>
                      <a:rPr lang="en-US" sz="1800" i="1" strike="sngStrike" smtClean="0">
                        <a:latin typeface="Cambria Math"/>
                      </a:rPr>
                      <m:t>→</m:t>
                    </m:r>
                    <m:r>
                      <a:rPr lang="en-US" sz="1800" i="1" strike="sngStrike" smtClean="0">
                        <a:latin typeface="Cambria Math"/>
                      </a:rPr>
                      <m:t>𝑑𝑖𝑒𝑚</m:t>
                    </m:r>
                    <m:r>
                      <a:rPr lang="en-US" sz="1800" i="1">
                        <a:latin typeface="Cambria Math"/>
                      </a:rPr>
                      <m:t>;</m:t>
                    </m:r>
                    <m:r>
                      <a:rPr lang="en-US" sz="1800" i="1">
                        <a:latin typeface="Cambria Math"/>
                      </a:rPr>
                      <m:t>𝑓</m:t>
                    </m:r>
                    <m:r>
                      <a:rPr lang="en-US" sz="1800" i="1">
                        <a:latin typeface="Cambria Math"/>
                      </a:rPr>
                      <m:t>3:</m:t>
                    </m:r>
                    <m:r>
                      <a:rPr lang="en-US" sz="1800" i="1">
                        <a:latin typeface="Cambria Math"/>
                      </a:rPr>
                      <m:t>𝑚𝑎𝑙𝑜𝑝</m:t>
                    </m:r>
                    <m:r>
                      <a:rPr lang="en-US" sz="1800" i="1">
                        <a:latin typeface="Cambria Math"/>
                      </a:rPr>
                      <m:t>→</m:t>
                    </m:r>
                    <m:r>
                      <a:rPr lang="en-US" sz="1800" i="1">
                        <a:latin typeface="Cambria Math"/>
                      </a:rPr>
                      <m:t>𝑡𝑒𝑛𝑙𝑜𝑝</m:t>
                    </m:r>
                    <m:r>
                      <a:rPr lang="en-US" sz="1800" i="1">
                        <a:latin typeface="Cambria Math"/>
                      </a:rPr>
                      <m:t>; </m:t>
                    </m:r>
                    <m:r>
                      <a:rPr lang="en-US" sz="1800" i="1">
                        <a:latin typeface="Cambria Math"/>
                      </a:rPr>
                      <m:t>𝑓</m:t>
                    </m:r>
                    <m:r>
                      <a:rPr lang="en-US" sz="1800" i="1">
                        <a:latin typeface="Cambria Math"/>
                      </a:rPr>
                      <m:t>4:</m:t>
                    </m:r>
                    <m:r>
                      <a:rPr lang="en-US" sz="1800" i="1">
                        <a:latin typeface="Cambria Math"/>
                      </a:rPr>
                      <m:t>𝑚𝑎𝑠𝑣</m:t>
                    </m:r>
                    <m:r>
                      <a:rPr lang="en-US" sz="1800" i="1">
                        <a:latin typeface="Cambria Math"/>
                      </a:rPr>
                      <m:t>→</m:t>
                    </m:r>
                    <m:r>
                      <a:rPr lang="en-US" sz="1800" i="1">
                        <a:latin typeface="Cambria Math"/>
                      </a:rPr>
                      <m:t>𝑚𝑎𝑙𝑜𝑝</m:t>
                    </m:r>
                    <m:r>
                      <a:rPr lang="en-US" sz="1800" i="1">
                        <a:latin typeface="Cambria Math"/>
                      </a:rPr>
                      <m:t>;}</m:t>
                    </m:r>
                  </m:oMath>
                </a14:m>
                <a:r>
                  <a:rPr lang="en-US" sz="1800" smtClean="0"/>
                  <a:t> </a:t>
                </a:r>
              </a:p>
              <a:p>
                <a:pPr marL="0" indent="0">
                  <a:buNone/>
                </a:pPr>
                <a:r>
                  <a:rPr lang="en-US" sz="1800"/>
                  <a:t> </a:t>
                </a:r>
                <a:r>
                  <a:rPr lang="en-US" sz="1800" smtClean="0"/>
                  <a:t>     vì </a:t>
                </a:r>
                <a:r>
                  <a:rPr lang="en-US" sz="2000" smtClean="0"/>
                  <a:t>trong đó với </a:t>
                </a:r>
                <a:r>
                  <a:rPr lang="en-US" sz="2000" i="1" smtClean="0"/>
                  <a:t>f1,f2,f3,f4</a:t>
                </a:r>
                <a:r>
                  <a:rPr lang="en-US" sz="2000" smtClean="0"/>
                  <a:t> ta hoàn toàn tìm lại được phụ thuộc hàm </a:t>
                </a:r>
                <a:r>
                  <a:rPr lang="en-US" sz="2000" i="1" smtClean="0"/>
                  <a:t>f5</a:t>
                </a:r>
                <a:r>
                  <a:rPr lang="en-US" sz="2000" smtClean="0"/>
                  <a:t> bằng cách tính bao đóng của masv, ta có </a:t>
                </a:r>
                <a14:m>
                  <m:oMath xmlns:m="http://schemas.openxmlformats.org/officeDocument/2006/math">
                    <m:r>
                      <a:rPr lang="en-US" sz="2000" i="1">
                        <a:latin typeface="Cambria Math"/>
                      </a:rPr>
                      <m:t>𝑚𝑎𝑠</m:t>
                    </m:r>
                    <m:sSup>
                      <m:sSupPr>
                        <m:ctrlPr>
                          <a:rPr lang="en-US" sz="2000" b="0" i="1" smtClean="0">
                            <a:latin typeface="Cambria Math" panose="02040503050406030204" pitchFamily="18" charset="0"/>
                          </a:rPr>
                        </m:ctrlPr>
                      </m:sSupPr>
                      <m:e>
                        <m:r>
                          <a:rPr lang="en-US" sz="2000" i="1">
                            <a:latin typeface="Cambria Math"/>
                          </a:rPr>
                          <m:t>𝑣</m:t>
                        </m:r>
                      </m:e>
                      <m:sup>
                        <m:r>
                          <a:rPr lang="en-US" sz="2000" b="0" i="1" smtClean="0">
                            <a:latin typeface="Cambria Math" panose="02040503050406030204" pitchFamily="18" charset="0"/>
                          </a:rPr>
                          <m:t>+</m:t>
                        </m:r>
                      </m:sup>
                    </m:sSup>
                    <m:r>
                      <a:rPr lang="en-US" sz="2000" b="0" i="1" smtClean="0">
                        <a:latin typeface="Cambria Math" panose="02040503050406030204" pitchFamily="18" charset="0"/>
                      </a:rPr>
                      <m:t>=</m:t>
                    </m:r>
                    <m:r>
                      <a:rPr lang="en-US" sz="2000" b="0" i="1" smtClean="0">
                        <a:latin typeface="Cambria Math" panose="02040503050406030204" pitchFamily="18" charset="0"/>
                      </a:rPr>
                      <m:t>𝑚𝑎𝑙𝑜𝑝</m:t>
                    </m:r>
                    <m:r>
                      <a:rPr lang="en-US" sz="2000" b="0" i="1" smtClean="0">
                        <a:latin typeface="Cambria Math" panose="02040503050406030204" pitchFamily="18" charset="0"/>
                      </a:rPr>
                      <m:t>,</m:t>
                    </m:r>
                    <m:r>
                      <a:rPr lang="en-US" sz="2000" b="0" i="1" smtClean="0">
                        <a:latin typeface="Cambria Math" panose="02040503050406030204" pitchFamily="18" charset="0"/>
                      </a:rPr>
                      <m:t>𝑡𝑒𝑛𝑙𝑜𝑝</m:t>
                    </m:r>
                    <m:r>
                      <a:rPr lang="en-US" sz="2000" b="0" i="1" smtClean="0">
                        <a:latin typeface="Cambria Math" panose="02040503050406030204" pitchFamily="18" charset="0"/>
                      </a:rPr>
                      <m:t> </m:t>
                    </m:r>
                  </m:oMath>
                </a14:m>
                <a:r>
                  <a:rPr lang="en-US" sz="2000"/>
                  <a:t>	</a:t>
                </a:r>
                <a:endParaRPr lang="en-US" sz="2000" smtClean="0"/>
              </a:p>
              <a:p>
                <a:pPr marL="0" indent="0">
                  <a:buNone/>
                </a:pPr>
                <a:r>
                  <a:rPr lang="en-US" sz="2000" smtClean="0"/>
                  <a:t>Kết quả ta có </a:t>
                </a:r>
                <a14:m>
                  <m:oMath xmlns:m="http://schemas.openxmlformats.org/officeDocument/2006/math">
                    <m:r>
                      <a:rPr lang="en-US" sz="1800" i="1">
                        <a:latin typeface="Cambria Math"/>
                      </a:rPr>
                      <m:t>{</m:t>
                    </m:r>
                    <m:r>
                      <a:rPr lang="en-US" sz="1800" i="1">
                        <a:latin typeface="Cambria Math"/>
                      </a:rPr>
                      <m:t>𝑓</m:t>
                    </m:r>
                    <m:r>
                      <a:rPr lang="en-US" sz="1800" i="1">
                        <a:latin typeface="Cambria Math"/>
                      </a:rPr>
                      <m:t>1:</m:t>
                    </m:r>
                    <m:r>
                      <a:rPr lang="en-US" sz="1800" i="1">
                        <a:latin typeface="Cambria Math"/>
                      </a:rPr>
                      <m:t>𝑚𝑎𝑠𝑣</m:t>
                    </m:r>
                    <m:r>
                      <a:rPr lang="en-US" sz="1800" i="1">
                        <a:latin typeface="Cambria Math"/>
                      </a:rPr>
                      <m:t>→</m:t>
                    </m:r>
                    <m:r>
                      <a:rPr lang="en-US" sz="1800" i="1">
                        <a:latin typeface="Cambria Math"/>
                      </a:rPr>
                      <m:t>𝑑𝑖𝑒𝑚</m:t>
                    </m:r>
                    <m:r>
                      <a:rPr lang="en-US" sz="1800" i="1">
                        <a:latin typeface="Cambria Math" panose="02040503050406030204" pitchFamily="18" charset="0"/>
                      </a:rPr>
                      <m:t>;</m:t>
                    </m:r>
                    <m:r>
                      <a:rPr lang="en-US" sz="1800" i="1">
                        <a:latin typeface="Cambria Math"/>
                      </a:rPr>
                      <m:t> </m:t>
                    </m:r>
                    <m:r>
                      <a:rPr lang="en-US" sz="1800" i="1">
                        <a:latin typeface="Cambria Math"/>
                      </a:rPr>
                      <m:t>𝑓</m:t>
                    </m:r>
                    <m:r>
                      <a:rPr lang="en-US" sz="1800" i="1">
                        <a:latin typeface="Cambria Math"/>
                      </a:rPr>
                      <m:t>3:</m:t>
                    </m:r>
                    <m:r>
                      <a:rPr lang="en-US" sz="1800" i="1">
                        <a:latin typeface="Cambria Math"/>
                      </a:rPr>
                      <m:t>𝑚𝑎𝑙𝑜𝑝</m:t>
                    </m:r>
                    <m:r>
                      <a:rPr lang="en-US" sz="1800" i="1">
                        <a:latin typeface="Cambria Math"/>
                      </a:rPr>
                      <m:t>→</m:t>
                    </m:r>
                    <m:r>
                      <a:rPr lang="en-US" sz="1800" i="1">
                        <a:latin typeface="Cambria Math"/>
                      </a:rPr>
                      <m:t>𝑡𝑒𝑛𝑙𝑜𝑝</m:t>
                    </m:r>
                    <m:r>
                      <a:rPr lang="en-US" sz="1800" i="1">
                        <a:latin typeface="Cambria Math"/>
                      </a:rPr>
                      <m:t>; </m:t>
                    </m:r>
                    <m:r>
                      <a:rPr lang="en-US" sz="1800" i="1">
                        <a:latin typeface="Cambria Math"/>
                      </a:rPr>
                      <m:t>𝑓</m:t>
                    </m:r>
                    <m:r>
                      <a:rPr lang="en-US" sz="1800" i="1">
                        <a:latin typeface="Cambria Math"/>
                      </a:rPr>
                      <m:t>4:</m:t>
                    </m:r>
                    <m:r>
                      <a:rPr lang="en-US" sz="1800" i="1">
                        <a:latin typeface="Cambria Math"/>
                      </a:rPr>
                      <m:t>𝑚𝑎𝑠𝑣</m:t>
                    </m:r>
                    <m:r>
                      <a:rPr lang="en-US" sz="1800" i="1">
                        <a:latin typeface="Cambria Math"/>
                      </a:rPr>
                      <m:t>→</m:t>
                    </m:r>
                    <m:r>
                      <a:rPr lang="en-US" sz="1800" i="1">
                        <a:latin typeface="Cambria Math"/>
                      </a:rPr>
                      <m:t>𝑚𝑎𝑙𝑜𝑝</m:t>
                    </m:r>
                    <m:r>
                      <a:rPr lang="en-US" sz="1800" i="1">
                        <a:latin typeface="Cambria Math"/>
                      </a:rPr>
                      <m:t>;}</m:t>
                    </m:r>
                  </m:oMath>
                </a14:m>
                <a:endParaRPr lang="en-US" sz="1800" smtClean="0"/>
              </a:p>
              <a:p>
                <a:pPr marL="0" indent="0">
                  <a:buNone/>
                </a:pPr>
                <a:r>
                  <a:rPr lang="en-US" sz="2000" smtClean="0"/>
                  <a:t>Sau đó ta tách ra (theo thuật toán tổng hợp/phân rả) và kết quả ghi ở </a:t>
                </a:r>
                <a:r>
                  <a:rPr lang="en-US" sz="2000" smtClean="0">
                    <a:hlinkClick r:id="rId2" action="ppaction://hlinksldjump"/>
                  </a:rPr>
                  <a:t>đây</a:t>
                </a:r>
                <a:r>
                  <a:rPr lang="en-US" sz="2000" smtClean="0"/>
                  <a:t>.</a:t>
                </a:r>
                <a:endParaRPr lang="en-US" sz="200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0">
                <a:blip r:embed="rId3"/>
                <a:stretch>
                  <a:fillRect l="-702" t="-696" r="-702" b="-1044"/>
                </a:stretch>
              </a:blipFill>
            </p:spPr>
            <p:txBody>
              <a:bodyPr/>
              <a:lstStyle/>
              <a:p>
                <a:r>
                  <a:rPr lang="en-US">
                    <a:noFill/>
                  </a:rPr>
                  <a:t> </a:t>
                </a:r>
              </a:p>
            </p:txBody>
          </p:sp>
        </mc:Fallback>
      </mc:AlternateContent>
    </p:spTree>
    <p:extLst>
      <p:ext uri="{BB962C8B-B14F-4D97-AF65-F5344CB8AC3E}">
        <p14:creationId xmlns:p14="http://schemas.microsoft.com/office/powerpoint/2010/main" val="35386769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smtClean="0"/>
              <a:t>DẠNG CHUẨN</a:t>
            </a:r>
            <a:br>
              <a:rPr lang="en-US" sz="4000" smtClean="0"/>
            </a:br>
            <a:endParaRPr lang="en-US" sz="4000"/>
          </a:p>
        </p:txBody>
      </p:sp>
    </p:spTree>
    <p:extLst>
      <p:ext uri="{BB962C8B-B14F-4D97-AF65-F5344CB8AC3E}">
        <p14:creationId xmlns:p14="http://schemas.microsoft.com/office/powerpoint/2010/main" val="36532441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u="sng" smtClean="0"/>
              <a:t>Dạng chuẩn:</a:t>
            </a:r>
            <a:r>
              <a:rPr lang="en-US" smtClean="0"/>
              <a:t> Đó là một tập các quy ước được đặt ra trên quan hệ để giảm thiểu tối đa nguy cơ dư thừa trong việc lưu trử.</a:t>
            </a:r>
          </a:p>
          <a:p>
            <a:pPr marL="0" indent="0">
              <a:buNone/>
            </a:pPr>
            <a:endParaRPr lang="en-US" b="1" u="sng" smtClean="0"/>
          </a:p>
          <a:p>
            <a:pPr marL="0" indent="0">
              <a:buNone/>
            </a:pPr>
            <a:r>
              <a:rPr lang="en-US" b="1" u="sng" smtClean="0"/>
              <a:t>Thuộc tính khóa:</a:t>
            </a:r>
            <a:r>
              <a:rPr lang="en-US" smtClean="0"/>
              <a:t> là thuộc tính tồn tại 1 trong bất kỳ khóa nào của lược đồ.</a:t>
            </a:r>
          </a:p>
          <a:p>
            <a:pPr marL="0" indent="0">
              <a:buNone/>
            </a:pPr>
            <a:endParaRPr lang="en-US" b="1" u="sng" smtClean="0"/>
          </a:p>
          <a:p>
            <a:pPr marL="0" indent="0">
              <a:buNone/>
            </a:pPr>
            <a:r>
              <a:rPr lang="en-US" b="1" u="sng" smtClean="0"/>
              <a:t>Thuộc tính không khóa:</a:t>
            </a:r>
            <a:r>
              <a:rPr lang="en-US" smtClean="0"/>
              <a:t> Là thuộc tính không hề tồn tại trong bất kỳ khóa nào của lược đồ (ngược thuộc tính khóa)</a:t>
            </a:r>
          </a:p>
          <a:p>
            <a:pPr marL="0" indent="0">
              <a:buNone/>
            </a:pPr>
            <a:endParaRPr lang="en-US"/>
          </a:p>
        </p:txBody>
      </p:sp>
    </p:spTree>
    <p:extLst>
      <p:ext uri="{BB962C8B-B14F-4D97-AF65-F5344CB8AC3E}">
        <p14:creationId xmlns:p14="http://schemas.microsoft.com/office/powerpoint/2010/main" val="419638977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 1</a:t>
            </a:r>
            <a:endParaRPr lang="en-US"/>
          </a:p>
        </p:txBody>
      </p:sp>
      <p:sp>
        <p:nvSpPr>
          <p:cNvPr id="3" name="Content Placeholder 2"/>
          <p:cNvSpPr>
            <a:spLocks noGrp="1"/>
          </p:cNvSpPr>
          <p:nvPr>
            <p:ph idx="1"/>
          </p:nvPr>
        </p:nvSpPr>
        <p:spPr>
          <a:xfrm>
            <a:off x="457200" y="1600200"/>
            <a:ext cx="8686800" cy="5257800"/>
          </a:xfrm>
        </p:spPr>
        <p:txBody>
          <a:bodyPr/>
          <a:lstStyle/>
          <a:p>
            <a:pPr marL="0" indent="0">
              <a:buNone/>
            </a:pPr>
            <a:r>
              <a:rPr lang="en-US" b="1" smtClean="0"/>
              <a:t>Tính nguyên tố</a:t>
            </a:r>
            <a:r>
              <a:rPr lang="en-US" smtClean="0"/>
              <a:t>: Một thuộc tính được gọi là nguyên tố nếu như mọi giá trị trong miền giá trị của thuộc tính đó không phải là tập giá trị hay là giá trị phức hợp.</a:t>
            </a:r>
          </a:p>
          <a:p>
            <a:pPr marL="514350" indent="-514350">
              <a:buAutoNum type="arabicPeriod"/>
            </a:pPr>
            <a:r>
              <a:rPr lang="en-US" b="1" smtClean="0"/>
              <a:t>Lược đồ quan hệ </a:t>
            </a:r>
            <a:r>
              <a:rPr lang="en-US" smtClean="0"/>
              <a:t>được gọi là đạt </a:t>
            </a:r>
            <a:r>
              <a:rPr lang="en-US" b="1" smtClean="0"/>
              <a:t>dạng chuẩn 1 </a:t>
            </a:r>
            <a:r>
              <a:rPr lang="en-US" smtClean="0"/>
              <a:t>nếu như mọi thuộc tính đều được gọi là nguyên tố.</a:t>
            </a:r>
          </a:p>
          <a:p>
            <a:pPr marL="514350" indent="-514350">
              <a:buAutoNum type="arabicPeriod"/>
            </a:pPr>
            <a:r>
              <a:rPr lang="en-US" b="1" smtClean="0"/>
              <a:t>Lược đồ cơ sở dữ liệu </a:t>
            </a:r>
            <a:r>
              <a:rPr lang="en-US" smtClean="0"/>
              <a:t>được gọi là đạt </a:t>
            </a:r>
            <a:r>
              <a:rPr lang="en-US" b="1" smtClean="0"/>
              <a:t>dạng chuẩn 1 </a:t>
            </a:r>
            <a:r>
              <a:rPr lang="en-US" smtClean="0"/>
              <a:t>nếu như mọi lược đồ quan hệ trong nó đạt chuẩn 1.</a:t>
            </a:r>
          </a:p>
          <a:p>
            <a:pPr marL="0" indent="0">
              <a:buNone/>
            </a:pPr>
            <a:r>
              <a:rPr lang="en-US" sz="2200" smtClean="0"/>
              <a:t>Ví dụ: Thuộc tính ngày sinh là thuộc tính có giá trị phức, là tổ hợp 3 giá trị ngày tháng năm </a:t>
            </a:r>
            <a:r>
              <a:rPr lang="en-US" sz="2200" smtClean="0">
                <a:sym typeface="Wingdings" panose="05000000000000000000" pitchFamily="2" charset="2"/>
              </a:rPr>
              <a:t> không là nguyên tố</a:t>
            </a:r>
            <a:endParaRPr lang="en-US" sz="2200" smtClean="0"/>
          </a:p>
          <a:p>
            <a:pPr marL="0" indent="0">
              <a:buNone/>
            </a:pPr>
            <a:r>
              <a:rPr lang="en-US" sz="2200" smtClean="0"/>
              <a:t>Cho quan hệ khachhang(makh, sothevisa,…) thuộc tính sothevisa lưu một tập các số thẻ của khác hàng đó, vậy nó là dạng tập </a:t>
            </a:r>
            <a:r>
              <a:rPr lang="en-US" sz="2200" smtClean="0">
                <a:sym typeface="Wingdings" panose="05000000000000000000" pitchFamily="2" charset="2"/>
              </a:rPr>
              <a:t> không nguyên tố.</a:t>
            </a:r>
            <a:endParaRPr lang="en-US" sz="2200" smtClean="0"/>
          </a:p>
          <a:p>
            <a:pPr marL="0" indent="0">
              <a:buNone/>
            </a:pPr>
            <a:endParaRPr lang="en-US" sz="2200"/>
          </a:p>
        </p:txBody>
      </p:sp>
    </p:spTree>
    <p:extLst>
      <p:ext uri="{BB962C8B-B14F-4D97-AF65-F5344CB8AC3E}">
        <p14:creationId xmlns:p14="http://schemas.microsoft.com/office/powerpoint/2010/main" val="38655246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 2</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a:bodyPr>
              <a:lstStyle/>
              <a:p>
                <a:pPr marL="514350" indent="-514350" algn="just">
                  <a:buAutoNum type="arabicPeriod"/>
                </a:pPr>
                <a:r>
                  <a:rPr lang="en-US" sz="2400" smtClean="0"/>
                  <a:t>Lược đồ quan hệ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a:rPr>
                          <m:t>𝑅</m:t>
                        </m:r>
                        <m:r>
                          <a:rPr lang="en-US" sz="2400" b="0" i="1" smtClean="0">
                            <a:latin typeface="Cambria Math"/>
                          </a:rPr>
                          <m:t>,</m:t>
                        </m:r>
                        <m:r>
                          <a:rPr lang="en-US" sz="2400" b="0" i="1" smtClean="0">
                            <a:latin typeface="Cambria Math"/>
                          </a:rPr>
                          <m:t>𝐹</m:t>
                        </m:r>
                      </m:e>
                    </m:d>
                  </m:oMath>
                </a14:m>
                <a:r>
                  <a:rPr lang="en-US" sz="2400" smtClean="0"/>
                  <a:t> đạt dạng chuẩn 2 nếu như đạt dạng chuẩn 1 và </a:t>
                </a:r>
                <a:r>
                  <a:rPr lang="en-US" sz="2400" b="1" smtClean="0"/>
                  <a:t>mọi thuộc tính không khóa</a:t>
                </a:r>
                <a:r>
                  <a:rPr lang="en-US" sz="2400" smtClean="0"/>
                  <a:t> đều phải </a:t>
                </a:r>
                <a:r>
                  <a:rPr lang="en-US" sz="2400" b="1" smtClean="0"/>
                  <a:t>phụ thuộc đầy đủ</a:t>
                </a:r>
                <a:r>
                  <a:rPr lang="en-US" sz="2400" smtClean="0"/>
                  <a:t> vào </a:t>
                </a:r>
                <a:r>
                  <a:rPr lang="en-US" sz="2400" b="1" smtClean="0"/>
                  <a:t>tất cả các khóa</a:t>
                </a:r>
                <a:r>
                  <a:rPr lang="en-US" sz="2400" smtClean="0"/>
                  <a:t> của lược đồ quan hệ. </a:t>
                </a:r>
                <a:endParaRPr lang="en-US" sz="1600" smtClean="0"/>
              </a:p>
              <a:p>
                <a:pPr marL="514350" indent="-514350" algn="just">
                  <a:buAutoNum type="arabicPeriod"/>
                </a:pPr>
                <a:r>
                  <a:rPr lang="en-US" sz="2400" smtClean="0"/>
                  <a:t>Lược đồ cơ sở dữ liệu </a:t>
                </a:r>
                <a14:m>
                  <m:oMath xmlns:m="http://schemas.openxmlformats.org/officeDocument/2006/math">
                    <m:r>
                      <a:rPr lang="en-US" sz="2400" i="1" smtClean="0">
                        <a:latin typeface="Cambria Math"/>
                      </a:rPr>
                      <m:t>𝐷</m:t>
                    </m:r>
                  </m:oMath>
                </a14:m>
                <a:r>
                  <a:rPr lang="en-US" sz="2400" smtClean="0"/>
                  <a:t> đạt dạng chuẩn 2 nếu như mọi lược đồ quan hệ </a:t>
                </a:r>
                <a14:m>
                  <m:oMath xmlns:m="http://schemas.openxmlformats.org/officeDocument/2006/math">
                    <m:r>
                      <a:rPr lang="en-US" sz="2400" b="0" i="0" smtClean="0">
                        <a:latin typeface="Cambria Math"/>
                      </a:rPr>
                      <m:t>(</m:t>
                    </m:r>
                    <m:sSub>
                      <m:sSubPr>
                        <m:ctrlPr>
                          <a:rPr lang="en-US" sz="2400" b="0" i="1" smtClean="0">
                            <a:latin typeface="Cambria Math" panose="02040503050406030204" pitchFamily="18" charset="0"/>
                          </a:rPr>
                        </m:ctrlPr>
                      </m:sSubPr>
                      <m:e>
                        <m:r>
                          <a:rPr lang="en-US" sz="2400" i="1" smtClean="0">
                            <a:latin typeface="Cambria Math"/>
                          </a:rPr>
                          <m:t>𝑅</m:t>
                        </m:r>
                      </m:e>
                      <m:sub>
                        <m:r>
                          <a:rPr lang="en-US" sz="2400" b="0" i="1" smtClean="0">
                            <a:latin typeface="Cambria Math"/>
                          </a:rPr>
                          <m:t>𝑖</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𝐹</m:t>
                        </m:r>
                      </m:e>
                      <m:sub>
                        <m:r>
                          <a:rPr lang="en-US" sz="2400" b="0" i="1" smtClean="0">
                            <a:latin typeface="Cambria Math"/>
                          </a:rPr>
                          <m:t>𝑖</m:t>
                        </m:r>
                      </m:sub>
                    </m:sSub>
                    <m:r>
                      <a:rPr lang="en-US" sz="2400" b="0" i="1" smtClean="0">
                        <a:latin typeface="Cambria Math"/>
                      </a:rPr>
                      <m:t>)</m:t>
                    </m:r>
                  </m:oMath>
                </a14:m>
                <a:r>
                  <a:rPr lang="en-US" sz="2400" smtClean="0"/>
                  <a:t> của D đều đạt dạng chuẩn 2 dưới </a:t>
                </a:r>
                <a14:m>
                  <m:oMath xmlns:m="http://schemas.openxmlformats.org/officeDocument/2006/math">
                    <m:sSub>
                      <m:sSubPr>
                        <m:ctrlPr>
                          <a:rPr lang="en-US" sz="2400" b="0" i="1" smtClean="0">
                            <a:latin typeface="Cambria Math" panose="02040503050406030204" pitchFamily="18" charset="0"/>
                          </a:rPr>
                        </m:ctrlPr>
                      </m:sSubPr>
                      <m:e>
                        <m:r>
                          <a:rPr lang="en-US" sz="2400" i="1" smtClean="0">
                            <a:latin typeface="Cambria Math"/>
                          </a:rPr>
                          <m:t>𝐹</m:t>
                        </m:r>
                      </m:e>
                      <m:sub>
                        <m:r>
                          <a:rPr lang="en-US" sz="2400" b="0" i="1" smtClean="0">
                            <a:latin typeface="Cambria Math"/>
                          </a:rPr>
                          <m:t>𝑖</m:t>
                        </m:r>
                      </m:sub>
                    </m:sSub>
                  </m:oMath>
                </a14:m>
                <a:r>
                  <a:rPr lang="en-US" sz="2400" smtClean="0"/>
                  <a:t>.</a:t>
                </a:r>
              </a:p>
              <a:p>
                <a:pPr marL="0" indent="0" algn="just">
                  <a:buNone/>
                </a:pPr>
                <a:r>
                  <a:rPr lang="en-US" sz="2000" smtClean="0"/>
                  <a:t>Ví dụ: Cho lược đồ quan hệ </a:t>
                </a:r>
              </a:p>
              <a:p>
                <a:pPr marL="0" indent="0" algn="just">
                  <a:buNone/>
                </a:pPr>
                <a14:m>
                  <m:oMathPara xmlns:m="http://schemas.openxmlformats.org/officeDocument/2006/math">
                    <m:oMathParaPr>
                      <m:jc m:val="left"/>
                    </m:oMathParaPr>
                    <m:oMath xmlns:m="http://schemas.openxmlformats.org/officeDocument/2006/math">
                      <m:r>
                        <a:rPr lang="en-US" sz="2000" i="1" smtClean="0">
                          <a:latin typeface="Cambria Math"/>
                        </a:rPr>
                        <m:t>&lt;</m:t>
                      </m:r>
                      <m:r>
                        <a:rPr lang="en-US" sz="2000" i="1" smtClean="0">
                          <a:latin typeface="Cambria Math"/>
                        </a:rPr>
                        <m:t>𝑚𝑎𝑠𝑣</m:t>
                      </m:r>
                      <m:r>
                        <a:rPr lang="en-US" sz="2000" i="1" smtClean="0">
                          <a:latin typeface="Cambria Math"/>
                        </a:rPr>
                        <m:t>,</m:t>
                      </m:r>
                      <m:r>
                        <a:rPr lang="en-US" sz="2000" i="1" smtClean="0">
                          <a:latin typeface="Cambria Math"/>
                        </a:rPr>
                        <m:t>𝑚𝑜𝑛</m:t>
                      </m:r>
                      <m:r>
                        <a:rPr lang="en-US" sz="2000" i="1" smtClean="0">
                          <a:latin typeface="Cambria Math"/>
                        </a:rPr>
                        <m:t>,</m:t>
                      </m:r>
                      <m:r>
                        <a:rPr lang="en-US" sz="2000" i="1" smtClean="0">
                          <a:latin typeface="Cambria Math"/>
                        </a:rPr>
                        <m:t>𝑑𝑖𝑒𝑚</m:t>
                      </m:r>
                      <m:r>
                        <a:rPr lang="en-US" sz="2000" i="1" smtClean="0">
                          <a:latin typeface="Cambria Math"/>
                        </a:rPr>
                        <m:t>,</m:t>
                      </m:r>
                      <m:r>
                        <a:rPr lang="en-US" sz="2000" i="1" smtClean="0">
                          <a:latin typeface="Cambria Math"/>
                        </a:rPr>
                        <m:t>𝑡𝑒𝑛𝑚𝑜𝑛</m:t>
                      </m:r>
                      <m:r>
                        <a:rPr lang="en-US" sz="2000" i="1" smtClean="0">
                          <a:latin typeface="Cambria Math"/>
                        </a:rPr>
                        <m:t>; </m:t>
                      </m:r>
                      <m:d>
                        <m:dPr>
                          <m:begChr m:val="{"/>
                          <m:endChr m:val="}"/>
                          <m:ctrlPr>
                            <a:rPr lang="en-US" sz="2000" i="1" smtClean="0">
                              <a:latin typeface="Cambria Math" panose="02040503050406030204" pitchFamily="18" charset="0"/>
                            </a:rPr>
                          </m:ctrlPr>
                        </m:dPr>
                        <m:e>
                          <m:r>
                            <a:rPr lang="en-US" sz="2000" i="1" smtClean="0">
                              <a:latin typeface="Cambria Math"/>
                            </a:rPr>
                            <m:t>𝑚𝑎𝑠𝑣</m:t>
                          </m:r>
                          <m:r>
                            <a:rPr lang="en-US" sz="2000" i="1" smtClean="0">
                              <a:latin typeface="Cambria Math"/>
                            </a:rPr>
                            <m:t>,</m:t>
                          </m:r>
                          <m:r>
                            <a:rPr lang="en-US" sz="2000" i="1" smtClean="0">
                              <a:latin typeface="Cambria Math"/>
                            </a:rPr>
                            <m:t>𝑚𝑜𝑛</m:t>
                          </m:r>
                          <m:r>
                            <a:rPr lang="en-US" sz="2000" b="0" i="1" smtClean="0">
                              <a:latin typeface="Cambria Math"/>
                            </a:rPr>
                            <m:t>→</m:t>
                          </m:r>
                          <m:r>
                            <a:rPr lang="en-US" sz="2000" b="0" i="1" smtClean="0">
                              <a:latin typeface="Cambria Math"/>
                            </a:rPr>
                            <m:t>𝑑𝑖𝑒𝑚</m:t>
                          </m:r>
                          <m:r>
                            <a:rPr lang="en-US" sz="2000" b="0" i="1" smtClean="0">
                              <a:latin typeface="Cambria Math"/>
                            </a:rPr>
                            <m:t>;</m:t>
                          </m:r>
                          <m:r>
                            <a:rPr lang="en-US" sz="2000" b="0" i="1" smtClean="0">
                              <a:latin typeface="Cambria Math"/>
                            </a:rPr>
                            <m:t>𝑚𝑜𝑛</m:t>
                          </m:r>
                          <m:r>
                            <a:rPr lang="en-US" sz="2000" b="0" i="1" smtClean="0">
                              <a:latin typeface="Cambria Math"/>
                            </a:rPr>
                            <m:t>→</m:t>
                          </m:r>
                          <m:r>
                            <a:rPr lang="en-US" sz="2000" b="0" i="1" smtClean="0">
                              <a:latin typeface="Cambria Math"/>
                            </a:rPr>
                            <m:t>𝑡𝑒𝑛𝑚𝑜𝑛</m:t>
                          </m:r>
                        </m:e>
                      </m:d>
                      <m:r>
                        <a:rPr lang="en-US" sz="2000" b="0" i="1" smtClean="0">
                          <a:latin typeface="Cambria Math"/>
                        </a:rPr>
                        <m:t>&gt;</m:t>
                      </m:r>
                    </m:oMath>
                  </m:oMathPara>
                </a14:m>
                <a:endParaRPr lang="en-US" sz="2000" smtClean="0"/>
              </a:p>
              <a:p>
                <a:pPr marL="0" indent="0" algn="just">
                  <a:buNone/>
                </a:pPr>
                <a:r>
                  <a:rPr lang="en-US" sz="2000" smtClean="0"/>
                  <a:t>Lược đồ quan hệ này không đạt chuẩn 2, vì khóa chỉ duy nhất là </a:t>
                </a:r>
                <a14:m>
                  <m:oMath xmlns:m="http://schemas.openxmlformats.org/officeDocument/2006/math">
                    <m:r>
                      <a:rPr lang="en-US" sz="2000" i="1" smtClean="0">
                        <a:latin typeface="Cambria Math"/>
                      </a:rPr>
                      <m:t>{</m:t>
                    </m:r>
                    <m:r>
                      <a:rPr lang="en-US" sz="2000" i="1" smtClean="0">
                        <a:latin typeface="Cambria Math"/>
                      </a:rPr>
                      <m:t>𝑚𝑎𝑠𝑣</m:t>
                    </m:r>
                    <m:r>
                      <a:rPr lang="en-US" sz="2000" i="1" smtClean="0">
                        <a:latin typeface="Cambria Math"/>
                      </a:rPr>
                      <m:t>,</m:t>
                    </m:r>
                    <m:r>
                      <a:rPr lang="en-US" sz="2000" i="1" smtClean="0">
                        <a:latin typeface="Cambria Math"/>
                      </a:rPr>
                      <m:t>𝑚𝑜𝑛</m:t>
                    </m:r>
                    <m:r>
                      <a:rPr lang="en-US" sz="2000" i="1" smtClean="0">
                        <a:latin typeface="Cambria Math"/>
                      </a:rPr>
                      <m:t>}</m:t>
                    </m:r>
                  </m:oMath>
                </a14:m>
                <a:r>
                  <a:rPr lang="en-US" sz="2000" smtClean="0"/>
                  <a:t>, thuộc tính không khóa </a:t>
                </a:r>
                <a14:m>
                  <m:oMath xmlns:m="http://schemas.openxmlformats.org/officeDocument/2006/math">
                    <m:r>
                      <a:rPr lang="en-US" sz="2000" i="1" smtClean="0">
                        <a:latin typeface="Cambria Math"/>
                      </a:rPr>
                      <m:t>𝑑𝑖𝑒𝑚</m:t>
                    </m:r>
                  </m:oMath>
                </a14:m>
                <a:r>
                  <a:rPr lang="en-US" sz="2000" smtClean="0"/>
                  <a:t> thì phụ thuộc đầy đủ vào khóa, thuộc tính </a:t>
                </a:r>
                <a14:m>
                  <m:oMath xmlns:m="http://schemas.openxmlformats.org/officeDocument/2006/math">
                    <m:r>
                      <a:rPr lang="en-US" sz="2000" i="1" smtClean="0">
                        <a:latin typeface="Cambria Math"/>
                      </a:rPr>
                      <m:t>𝑡𝑒𝑛𝑚𝑜𝑛</m:t>
                    </m:r>
                  </m:oMath>
                </a14:m>
                <a:r>
                  <a:rPr lang="en-US" sz="2000" smtClean="0"/>
                  <a:t> không phụ thuộc đầy đủ vào khóa.</a:t>
                </a:r>
              </a:p>
              <a:p>
                <a:pPr marL="0" indent="0" algn="just">
                  <a:buNone/>
                </a:pPr>
                <a:r>
                  <a:rPr lang="en-US" sz="2000" smtClean="0"/>
                  <a:t>Cho lược đồ cơ sở dữ liệu </a:t>
                </a:r>
              </a:p>
              <a:p>
                <a:pPr marL="0" indent="0" algn="just">
                  <a:buNone/>
                </a:pPr>
                <a14:m>
                  <m:oMathPara xmlns:m="http://schemas.openxmlformats.org/officeDocument/2006/math">
                    <m:oMathParaPr>
                      <m:jc m:val="left"/>
                    </m:oMathParaPr>
                    <m:oMath xmlns:m="http://schemas.openxmlformats.org/officeDocument/2006/math">
                      <m:d>
                        <m:dPr>
                          <m:begChr m:val="{"/>
                          <m:endChr m:val="}"/>
                          <m:ctrlPr>
                            <a:rPr lang="en-US" sz="2000" i="1" smtClean="0">
                              <a:latin typeface="Cambria Math" panose="02040503050406030204" pitchFamily="18" charset="0"/>
                            </a:rPr>
                          </m:ctrlPr>
                        </m:dPr>
                        <m:e>
                          <m:r>
                            <a:rPr lang="en-US" sz="2000" i="1" smtClean="0">
                              <a:latin typeface="Cambria Math"/>
                            </a:rPr>
                            <m:t>&lt;</m:t>
                          </m:r>
                          <m:r>
                            <a:rPr lang="en-US" sz="2000" i="1" smtClean="0">
                              <a:latin typeface="Cambria Math"/>
                            </a:rPr>
                            <m:t>𝑚𝑎𝑠𝑣</m:t>
                          </m:r>
                          <m:r>
                            <a:rPr lang="en-US" sz="2000" i="1" smtClean="0">
                              <a:latin typeface="Cambria Math"/>
                            </a:rPr>
                            <m:t>,</m:t>
                          </m:r>
                          <m:r>
                            <a:rPr lang="en-US" sz="2000" i="1" smtClean="0">
                              <a:latin typeface="Cambria Math"/>
                            </a:rPr>
                            <m:t>𝑚𝑜𝑛</m:t>
                          </m:r>
                          <m:r>
                            <a:rPr lang="en-US" sz="2000" b="0" i="1" smtClean="0">
                              <a:latin typeface="Cambria Math"/>
                            </a:rPr>
                            <m:t>,</m:t>
                          </m:r>
                          <m:r>
                            <a:rPr lang="en-US" sz="2000" b="0" i="1" smtClean="0">
                              <a:latin typeface="Cambria Math"/>
                            </a:rPr>
                            <m:t>𝑑𝑖𝑒𝑚</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𝑚𝑎𝑠𝑣</m:t>
                              </m:r>
                              <m:r>
                                <a:rPr lang="en-US" sz="2000" b="0" i="1" smtClean="0">
                                  <a:latin typeface="Cambria Math"/>
                                </a:rPr>
                                <m:t>,</m:t>
                              </m:r>
                              <m:r>
                                <a:rPr lang="en-US" sz="2000" b="0" i="1" smtClean="0">
                                  <a:latin typeface="Cambria Math"/>
                                </a:rPr>
                                <m:t>𝑚𝑜𝑛</m:t>
                              </m:r>
                              <m:r>
                                <a:rPr lang="en-US" sz="2000" b="0" i="1" smtClean="0">
                                  <a:latin typeface="Cambria Math"/>
                                </a:rPr>
                                <m:t>→</m:t>
                              </m:r>
                              <m:r>
                                <a:rPr lang="en-US" sz="2000" b="0" i="1" smtClean="0">
                                  <a:latin typeface="Cambria Math"/>
                                </a:rPr>
                                <m:t>𝑑𝑖𝑒𝑚</m:t>
                              </m:r>
                            </m:e>
                          </m:d>
                          <m:r>
                            <a:rPr lang="en-US" sz="2000" b="0" i="1" smtClean="0">
                              <a:latin typeface="Cambria Math"/>
                            </a:rPr>
                            <m:t>&gt;;&lt;</m:t>
                          </m:r>
                          <m:r>
                            <a:rPr lang="en-US" sz="2000" b="0" i="1" smtClean="0">
                              <a:latin typeface="Cambria Math"/>
                            </a:rPr>
                            <m:t>𝑚𝑜𝑛</m:t>
                          </m:r>
                          <m:r>
                            <a:rPr lang="en-US" sz="2000" b="0" i="1" smtClean="0">
                              <a:latin typeface="Cambria Math"/>
                            </a:rPr>
                            <m:t>,</m:t>
                          </m:r>
                          <m:r>
                            <a:rPr lang="en-US" sz="2000" b="0" i="1" smtClean="0">
                              <a:latin typeface="Cambria Math"/>
                            </a:rPr>
                            <m:t>𝑡𝑒𝑛𝑚𝑜𝑛</m:t>
                          </m:r>
                          <m:r>
                            <a:rPr lang="en-US" sz="2000" b="0" i="1" smtClean="0">
                              <a:latin typeface="Cambria Math"/>
                            </a:rPr>
                            <m:t>;</m:t>
                          </m:r>
                          <m:d>
                            <m:dPr>
                              <m:begChr m:val="{"/>
                              <m:endChr m:val="}"/>
                              <m:ctrlPr>
                                <a:rPr lang="en-US" sz="2000" b="0" i="1" smtClean="0">
                                  <a:latin typeface="Cambria Math" panose="02040503050406030204" pitchFamily="18" charset="0"/>
                                </a:rPr>
                              </m:ctrlPr>
                            </m:dPr>
                            <m:e>
                              <m:r>
                                <a:rPr lang="en-US" sz="2000" b="0" i="1" smtClean="0">
                                  <a:latin typeface="Cambria Math"/>
                                </a:rPr>
                                <m:t>𝑚𝑜𝑛</m:t>
                              </m:r>
                              <m:r>
                                <a:rPr lang="en-US" sz="2000" b="0" i="1" smtClean="0">
                                  <a:latin typeface="Cambria Math"/>
                                </a:rPr>
                                <m:t>→</m:t>
                              </m:r>
                              <m:r>
                                <a:rPr lang="en-US" sz="2000" b="0" i="1" smtClean="0">
                                  <a:latin typeface="Cambria Math"/>
                                </a:rPr>
                                <m:t>𝑡𝑒𝑛𝑚𝑜𝑛</m:t>
                              </m:r>
                            </m:e>
                          </m:d>
                          <m:r>
                            <a:rPr lang="en-US" sz="2000" b="0" i="1" smtClean="0">
                              <a:latin typeface="Cambria Math"/>
                            </a:rPr>
                            <m:t>&gt;</m:t>
                          </m:r>
                        </m:e>
                      </m:d>
                    </m:oMath>
                  </m:oMathPara>
                </a14:m>
                <a:endParaRPr lang="en-US" sz="2000" b="0" smtClean="0"/>
              </a:p>
              <a:p>
                <a:pPr marL="0" indent="0" algn="just">
                  <a:buNone/>
                </a:pPr>
                <a:r>
                  <a:rPr lang="en-US" sz="2000" smtClean="0"/>
                  <a:t>Lược đồ cơ sở dữ liệu đạt dạng chuẩn 2 vì mọi thành viên đều đạt dạng chuẩn 2</a:t>
                </a:r>
                <a:endParaRPr lang="en-US" sz="20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3"/>
                <a:stretch>
                  <a:fillRect l="-4421" t="-928" r="-1053" b="-2320"/>
                </a:stretch>
              </a:blipFill>
            </p:spPr>
            <p:txBody>
              <a:bodyPr/>
              <a:lstStyle/>
              <a:p>
                <a:r>
                  <a:rPr lang="en-US">
                    <a:noFill/>
                  </a:rPr>
                  <a:t> </a:t>
                </a:r>
              </a:p>
            </p:txBody>
          </p:sp>
        </mc:Fallback>
      </mc:AlternateContent>
    </p:spTree>
    <p:extLst>
      <p:ext uri="{BB962C8B-B14F-4D97-AF65-F5344CB8AC3E}">
        <p14:creationId xmlns:p14="http://schemas.microsoft.com/office/powerpoint/2010/main" val="5976771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 3</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3887" y="1593574"/>
                <a:ext cx="8686800" cy="5257800"/>
              </a:xfrm>
            </p:spPr>
            <p:txBody>
              <a:bodyPr>
                <a:normAutofit/>
              </a:bodyPr>
              <a:lstStyle/>
              <a:p>
                <a:pPr marL="0" indent="0">
                  <a:buNone/>
                </a:pPr>
                <a:r>
                  <a:rPr lang="en-US" sz="2400" b="1" u="sng" smtClean="0"/>
                  <a:t>Thuộc tính bắc cầu</a:t>
                </a:r>
                <a:r>
                  <a:rPr lang="en-US" sz="2400" smtClean="0"/>
                  <a:t>: Cho tập phụ thuộc hàm </a:t>
                </a:r>
                <a14:m>
                  <m:oMath xmlns:m="http://schemas.openxmlformats.org/officeDocument/2006/math">
                    <m:r>
                      <a:rPr lang="en-US" sz="2400" i="1" smtClean="0">
                        <a:latin typeface="Cambria Math"/>
                      </a:rPr>
                      <m:t>𝐹</m:t>
                    </m:r>
                  </m:oMath>
                </a14:m>
                <a:r>
                  <a:rPr lang="en-US" sz="2400" smtClean="0"/>
                  <a:t>, ta gọi </a:t>
                </a:r>
                <a14:m>
                  <m:oMath xmlns:m="http://schemas.openxmlformats.org/officeDocument/2006/math">
                    <m:r>
                      <a:rPr lang="en-US" sz="2400" b="1" i="1" smtClean="0">
                        <a:latin typeface="Cambria Math"/>
                      </a:rPr>
                      <m:t>𝒁</m:t>
                    </m:r>
                  </m:oMath>
                </a14:m>
                <a:r>
                  <a:rPr lang="en-US" sz="2400" b="1" smtClean="0"/>
                  <a:t> là phụ thuộc bắc cầu vào </a:t>
                </a:r>
                <a14:m>
                  <m:oMath xmlns:m="http://schemas.openxmlformats.org/officeDocument/2006/math">
                    <m:r>
                      <a:rPr lang="en-US" sz="2400" b="1" i="1" smtClean="0">
                        <a:latin typeface="Cambria Math"/>
                      </a:rPr>
                      <m:t>𝑿</m:t>
                    </m:r>
                  </m:oMath>
                </a14:m>
                <a:r>
                  <a:rPr lang="en-US" sz="2400" smtClean="0"/>
                  <a:t> (thông qua </a:t>
                </a:r>
                <a14:m>
                  <m:oMath xmlns:m="http://schemas.openxmlformats.org/officeDocument/2006/math">
                    <m:r>
                      <a:rPr lang="en-US" sz="2400" i="1" smtClean="0">
                        <a:latin typeface="Cambria Math"/>
                      </a:rPr>
                      <m:t>𝑌</m:t>
                    </m:r>
                  </m:oMath>
                </a14:m>
                <a:r>
                  <a:rPr lang="en-US" sz="2400" smtClean="0"/>
                  <a:t>) nếu như tồn tại </a:t>
                </a:r>
                <a14:m>
                  <m:oMath xmlns:m="http://schemas.openxmlformats.org/officeDocument/2006/math">
                    <m:r>
                      <a:rPr lang="en-US" sz="2400" i="1" smtClean="0">
                        <a:latin typeface="Cambria Math"/>
                      </a:rPr>
                      <m:t>𝑌</m:t>
                    </m:r>
                  </m:oMath>
                </a14:m>
                <a:r>
                  <a:rPr lang="en-US" sz="2400" smtClean="0"/>
                  <a:t> sao cho có </a:t>
                </a:r>
                <a14:m>
                  <m:oMath xmlns:m="http://schemas.openxmlformats.org/officeDocument/2006/math">
                    <m:r>
                      <a:rPr lang="en-US" sz="2400" i="1" smtClean="0">
                        <a:latin typeface="Cambria Math"/>
                      </a:rPr>
                      <m:t>𝑋</m:t>
                    </m:r>
                    <m:r>
                      <a:rPr lang="en-US" sz="2400" b="0" i="1" smtClean="0">
                        <a:latin typeface="Cambria Math"/>
                      </a:rPr>
                      <m:t>→</m:t>
                    </m:r>
                    <m:r>
                      <a:rPr lang="en-US" sz="2400" i="1" smtClean="0">
                        <a:latin typeface="Cambria Math"/>
                      </a:rPr>
                      <m:t>𝑌</m:t>
                    </m:r>
                  </m:oMath>
                </a14:m>
                <a:r>
                  <a:rPr lang="en-US" sz="2400" smtClean="0"/>
                  <a:t> nhưng </a:t>
                </a:r>
                <a14:m>
                  <m:oMath xmlns:m="http://schemas.openxmlformats.org/officeDocument/2006/math">
                    <m:r>
                      <a:rPr lang="en-US" sz="2400" b="0" i="1" smtClean="0">
                        <a:latin typeface="Cambria Math"/>
                      </a:rPr>
                      <m:t>𝑌</m:t>
                    </m:r>
                  </m:oMath>
                </a14:m>
                <a:r>
                  <a:rPr lang="en-US" sz="2400" smtClean="0"/>
                  <a:t> không suy </a:t>
                </a:r>
                <a14:m>
                  <m:oMath xmlns:m="http://schemas.openxmlformats.org/officeDocument/2006/math">
                    <m:r>
                      <a:rPr lang="en-US" sz="2400" i="1" smtClean="0">
                        <a:latin typeface="Cambria Math"/>
                      </a:rPr>
                      <m:t>𝑋</m:t>
                    </m:r>
                  </m:oMath>
                </a14:m>
                <a:r>
                  <a:rPr lang="en-US" sz="2400" smtClean="0"/>
                  <a:t> và có </a:t>
                </a:r>
                <a14:m>
                  <m:oMath xmlns:m="http://schemas.openxmlformats.org/officeDocument/2006/math">
                    <m:r>
                      <a:rPr lang="en-US" sz="2400" b="0" i="1" smtClean="0">
                        <a:latin typeface="Cambria Math"/>
                      </a:rPr>
                      <m:t>𝑌</m:t>
                    </m:r>
                    <m:r>
                      <a:rPr lang="en-US" sz="2400" b="0" i="1" smtClean="0">
                        <a:latin typeface="Cambria Math"/>
                      </a:rPr>
                      <m:t>→</m:t>
                    </m:r>
                    <m:r>
                      <a:rPr lang="en-US" sz="2400" b="0" i="1" smtClean="0">
                        <a:latin typeface="Cambria Math"/>
                      </a:rPr>
                      <m:t>𝑍</m:t>
                    </m:r>
                  </m:oMath>
                </a14:m>
                <a:r>
                  <a:rPr lang="en-US" sz="2400" smtClean="0"/>
                  <a:t> và </a:t>
                </a:r>
                <a14:m>
                  <m:oMath xmlns:m="http://schemas.openxmlformats.org/officeDocument/2006/math">
                    <m:r>
                      <a:rPr lang="en-US" sz="2400" b="0" i="1" smtClean="0">
                        <a:latin typeface="Cambria Math"/>
                      </a:rPr>
                      <m:t>𝑍</m:t>
                    </m:r>
                    <m:r>
                      <a:rPr lang="en-US" sz="2400" b="0" i="1" smtClean="0">
                        <a:latin typeface="Cambria Math"/>
                      </a:rPr>
                      <m:t>∉</m:t>
                    </m:r>
                    <m:r>
                      <a:rPr lang="en-US" sz="2400" b="0" i="1" smtClean="0">
                        <a:latin typeface="Cambria Math"/>
                      </a:rPr>
                      <m:t>𝑋𝑌</m:t>
                    </m:r>
                  </m:oMath>
                </a14:m>
                <a:r>
                  <a:rPr lang="en-US" sz="2400" smtClean="0"/>
                  <a:t>.</a:t>
                </a:r>
              </a:p>
              <a:p>
                <a:pPr marL="457200" indent="-457200">
                  <a:buAutoNum type="arabicPeriod"/>
                </a:pPr>
                <a:r>
                  <a:rPr lang="en-US" sz="2400" smtClean="0"/>
                  <a:t>Lược đồ quan hệ </a:t>
                </a:r>
                <a14:m>
                  <m:oMath xmlns:m="http://schemas.openxmlformats.org/officeDocument/2006/math">
                    <m:r>
                      <a:rPr lang="en-US" sz="2400" b="0" i="1" smtClean="0">
                        <a:latin typeface="Cambria Math"/>
                      </a:rPr>
                      <m:t>(</m:t>
                    </m:r>
                    <m:r>
                      <a:rPr lang="en-US" sz="2400" b="0" i="1" smtClean="0">
                        <a:latin typeface="Cambria Math"/>
                      </a:rPr>
                      <m:t>𝑅</m:t>
                    </m:r>
                    <m:r>
                      <a:rPr lang="en-US" sz="2400" b="0" i="1" smtClean="0">
                        <a:latin typeface="Cambria Math"/>
                      </a:rPr>
                      <m:t>,</m:t>
                    </m:r>
                    <m:r>
                      <a:rPr lang="en-US" sz="2400" b="0" i="1" smtClean="0">
                        <a:latin typeface="Cambria Math"/>
                      </a:rPr>
                      <m:t>𝐹</m:t>
                    </m:r>
                    <m:r>
                      <a:rPr lang="en-US" sz="2400" b="0" i="1" smtClean="0">
                        <a:latin typeface="Cambria Math"/>
                      </a:rPr>
                      <m:t>)</m:t>
                    </m:r>
                  </m:oMath>
                </a14:m>
                <a:r>
                  <a:rPr lang="en-US" sz="2400" smtClean="0"/>
                  <a:t> đạt dạng chuẩn 3 dưới </a:t>
                </a:r>
                <a14:m>
                  <m:oMath xmlns:m="http://schemas.openxmlformats.org/officeDocument/2006/math">
                    <m:r>
                      <a:rPr lang="en-US" sz="2400" i="1" smtClean="0">
                        <a:latin typeface="Cambria Math"/>
                      </a:rPr>
                      <m:t>𝐹</m:t>
                    </m:r>
                  </m:oMath>
                </a14:m>
                <a:r>
                  <a:rPr lang="en-US" sz="2400" smtClean="0"/>
                  <a:t> nếu đạt dạng chuẩn 1 và </a:t>
                </a:r>
                <a:r>
                  <a:rPr lang="en-US" sz="2400" b="1" smtClean="0"/>
                  <a:t>mọi thuộc tính không khóa </a:t>
                </a:r>
                <a:r>
                  <a:rPr lang="en-US" sz="2400" smtClean="0"/>
                  <a:t>đều </a:t>
                </a:r>
                <a:r>
                  <a:rPr lang="en-US" sz="2400" b="1" smtClean="0"/>
                  <a:t>không phụ thuộc bắc cầu </a:t>
                </a:r>
                <a:r>
                  <a:rPr lang="en-US" sz="2400" smtClean="0"/>
                  <a:t>vào </a:t>
                </a:r>
                <a:r>
                  <a:rPr lang="en-US" sz="2400" b="1" smtClean="0"/>
                  <a:t>bất kỳ khóa</a:t>
                </a:r>
                <a:r>
                  <a:rPr lang="en-US" sz="2400" smtClean="0"/>
                  <a:t> nào của </a:t>
                </a:r>
                <a14:m>
                  <m:oMath xmlns:m="http://schemas.openxmlformats.org/officeDocument/2006/math">
                    <m:r>
                      <a:rPr lang="en-US" sz="2400" b="0" i="1" smtClean="0">
                        <a:latin typeface="Cambria Math"/>
                      </a:rPr>
                      <m:t>𝑅</m:t>
                    </m:r>
                  </m:oMath>
                </a14:m>
                <a:r>
                  <a:rPr lang="en-US" sz="2400" smtClean="0"/>
                  <a:t>.</a:t>
                </a:r>
              </a:p>
              <a:p>
                <a:pPr marL="457200" indent="-457200">
                  <a:buAutoNum type="arabicPeriod"/>
                </a:pPr>
                <a:r>
                  <a:rPr lang="en-US" sz="2400" smtClean="0"/>
                  <a:t>Lược đồ cơ sở dữ liệu </a:t>
                </a:r>
                <a14:m>
                  <m:oMath xmlns:m="http://schemas.openxmlformats.org/officeDocument/2006/math">
                    <m:r>
                      <a:rPr lang="en-US" sz="2400" i="1" smtClean="0">
                        <a:latin typeface="Cambria Math"/>
                      </a:rPr>
                      <m:t>𝐷</m:t>
                    </m:r>
                  </m:oMath>
                </a14:m>
                <a:r>
                  <a:rPr lang="en-US" sz="2400" smtClean="0"/>
                  <a:t> là dạt dạng chuẩn 3 dưới </a:t>
                </a:r>
                <a14:m>
                  <m:oMath xmlns:m="http://schemas.openxmlformats.org/officeDocument/2006/math">
                    <m:r>
                      <a:rPr lang="en-US" sz="2400" i="1" smtClean="0">
                        <a:latin typeface="Cambria Math"/>
                      </a:rPr>
                      <m:t>𝐹</m:t>
                    </m:r>
                  </m:oMath>
                </a14:m>
                <a:r>
                  <a:rPr lang="en-US" sz="2400" smtClean="0"/>
                  <a:t> nếu như mọi lược đồ quan hệ </a:t>
                </a:r>
                <a14:m>
                  <m:oMath xmlns:m="http://schemas.openxmlformats.org/officeDocument/2006/math">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𝑖</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𝐹</m:t>
                        </m:r>
                      </m:e>
                      <m:sub>
                        <m:r>
                          <a:rPr lang="en-US" sz="2400" b="0" i="1" smtClean="0">
                            <a:latin typeface="Cambria Math"/>
                          </a:rPr>
                          <m:t>𝑖</m:t>
                        </m:r>
                      </m:sub>
                    </m:sSub>
                    <m:r>
                      <a:rPr lang="en-US" sz="2400" b="0" i="1" smtClean="0">
                        <a:latin typeface="Cambria Math"/>
                      </a:rPr>
                      <m:t>)</m:t>
                    </m:r>
                  </m:oMath>
                </a14:m>
                <a:r>
                  <a:rPr lang="en-US" sz="2400" smtClean="0"/>
                  <a:t> của </a:t>
                </a:r>
                <a14:m>
                  <m:oMath xmlns:m="http://schemas.openxmlformats.org/officeDocument/2006/math">
                    <m:r>
                      <a:rPr lang="en-US" sz="2400" i="1" smtClean="0">
                        <a:latin typeface="Cambria Math"/>
                      </a:rPr>
                      <m:t>𝐷</m:t>
                    </m:r>
                  </m:oMath>
                </a14:m>
                <a:r>
                  <a:rPr lang="en-US" sz="2400" smtClean="0"/>
                  <a:t> đều đạt dạng chuẩn 3 dưới </a:t>
                </a:r>
                <a14:m>
                  <m:oMath xmlns:m="http://schemas.openxmlformats.org/officeDocument/2006/math">
                    <m:r>
                      <a:rPr lang="en-US" sz="2400" i="1" smtClean="0">
                        <a:latin typeface="Cambria Math"/>
                      </a:rPr>
                      <m:t>𝐹</m:t>
                    </m:r>
                  </m:oMath>
                </a14:m>
                <a:r>
                  <a:rPr lang="en-US" sz="2400" smtClean="0"/>
                  <a:t>.</a:t>
                </a:r>
              </a:p>
              <a:p>
                <a:pPr marL="0" indent="0">
                  <a:buNone/>
                </a:pPr>
                <a:r>
                  <a:rPr lang="en-US" sz="2200" smtClean="0"/>
                  <a:t>Ví dụ: Cho lược đồ quan hệ </a:t>
                </a:r>
                <a14:m>
                  <m:oMath xmlns:m="http://schemas.openxmlformats.org/officeDocument/2006/math">
                    <m:r>
                      <a:rPr lang="en-US" sz="2200" b="0" i="1" smtClean="0">
                        <a:latin typeface="Cambria Math"/>
                      </a:rPr>
                      <m:t>&lt;</m:t>
                    </m:r>
                    <m:r>
                      <a:rPr lang="en-US" sz="2200" b="0" i="1" smtClean="0">
                        <a:latin typeface="Cambria Math"/>
                      </a:rPr>
                      <m:t>𝐴𝐵𝐶𝐷</m:t>
                    </m:r>
                    <m:r>
                      <a:rPr lang="en-US" sz="2200" b="0" i="1" smtClean="0">
                        <a:latin typeface="Cambria Math"/>
                      </a:rPr>
                      <m:t>, </m:t>
                    </m:r>
                    <m:d>
                      <m:dPr>
                        <m:begChr m:val="{"/>
                        <m:endChr m:val="}"/>
                        <m:ctrlPr>
                          <a:rPr lang="en-US" sz="2200" b="0" i="1" smtClean="0">
                            <a:latin typeface="Cambria Math" panose="02040503050406030204" pitchFamily="18" charset="0"/>
                          </a:rPr>
                        </m:ctrlPr>
                      </m:dPr>
                      <m:e>
                        <m:r>
                          <a:rPr lang="en-US" sz="2200" b="0" i="1" smtClean="0">
                            <a:latin typeface="Cambria Math"/>
                          </a:rPr>
                          <m:t>𝐴𝐵</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𝐶</m:t>
                        </m:r>
                        <m:r>
                          <a:rPr lang="en-US" sz="2200" b="0" i="1" smtClean="0">
                            <a:latin typeface="Cambria Math"/>
                          </a:rPr>
                          <m:t>→</m:t>
                        </m:r>
                        <m:r>
                          <a:rPr lang="en-US" sz="2200" b="0" i="1" smtClean="0">
                            <a:latin typeface="Cambria Math"/>
                          </a:rPr>
                          <m:t>𝐷</m:t>
                        </m:r>
                      </m:e>
                    </m:d>
                    <m:r>
                      <a:rPr lang="en-US" sz="2200" b="0" i="1" smtClean="0">
                        <a:latin typeface="Cambria Math"/>
                      </a:rPr>
                      <m:t>&gt;</m:t>
                    </m:r>
                  </m:oMath>
                </a14:m>
                <a:endParaRPr lang="en-US" sz="2200" b="0" smtClean="0"/>
              </a:p>
              <a:p>
                <a:pPr marL="0" indent="0">
                  <a:buNone/>
                </a:pPr>
                <a:r>
                  <a:rPr lang="en-US" sz="2200" smtClean="0"/>
                  <a:t>Không đạt dạng chuẩn 3 vì: Khóa là </a:t>
                </a:r>
                <a14:m>
                  <m:oMath xmlns:m="http://schemas.openxmlformats.org/officeDocument/2006/math">
                    <m:r>
                      <a:rPr lang="en-US" sz="2200" i="1" smtClean="0">
                        <a:latin typeface="Cambria Math"/>
                      </a:rPr>
                      <m:t>𝐴𝐵</m:t>
                    </m:r>
                  </m:oMath>
                </a14:m>
                <a:r>
                  <a:rPr lang="en-US" sz="2200" smtClean="0"/>
                  <a:t> và duy nhất, </a:t>
                </a:r>
                <a14:m>
                  <m:oMath xmlns:m="http://schemas.openxmlformats.org/officeDocument/2006/math">
                    <m:r>
                      <a:rPr lang="en-US" sz="2200" i="1" smtClean="0">
                        <a:latin typeface="Cambria Math"/>
                      </a:rPr>
                      <m:t>𝐷</m:t>
                    </m:r>
                  </m:oMath>
                </a14:m>
                <a:r>
                  <a:rPr lang="en-US" sz="2200" smtClean="0"/>
                  <a:t> là thuộc tính không khóa lại phụ thuộc bắc cầu vào khóa </a:t>
                </a:r>
                <a14:m>
                  <m:oMath xmlns:m="http://schemas.openxmlformats.org/officeDocument/2006/math">
                    <m:r>
                      <a:rPr lang="en-US" sz="2200" i="1" smtClean="0">
                        <a:latin typeface="Cambria Math"/>
                      </a:rPr>
                      <m:t>𝐴𝐵</m:t>
                    </m:r>
                  </m:oMath>
                </a14:m>
                <a:r>
                  <a:rPr lang="en-US" sz="2200" smtClean="0"/>
                  <a:t> thông qua </a:t>
                </a:r>
                <a14:m>
                  <m:oMath xmlns:m="http://schemas.openxmlformats.org/officeDocument/2006/math">
                    <m:r>
                      <a:rPr lang="en-US" sz="2200" i="1" smtClean="0">
                        <a:latin typeface="Cambria Math"/>
                      </a:rPr>
                      <m:t>𝐶</m:t>
                    </m:r>
                  </m:oMath>
                </a14:m>
                <a:r>
                  <a:rPr lang="en-US" sz="2200" smtClean="0"/>
                  <a:t>.</a:t>
                </a:r>
              </a:p>
              <a:p>
                <a:pPr marL="0" indent="0">
                  <a:buNone/>
                </a:pPr>
                <a:r>
                  <a:rPr lang="en-US" sz="2200" b="1" i="1" smtClean="0"/>
                  <a:t>Ghi chú: nếu vi phạm dạng chuẩn 2 sẽ vi phạm dạng chuẩn 3; Nếu đạt dạng chuẩn 3 thì hiển nhiên đạt dạng chuẩn 2.</a:t>
                </a:r>
                <a:endParaRPr lang="en-US" sz="2200" b="1" i="1"/>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3887" y="1593574"/>
                <a:ext cx="8686800" cy="5257800"/>
              </a:xfrm>
              <a:blipFill rotWithShape="1">
                <a:blip r:embed="rId3"/>
                <a:stretch>
                  <a:fillRect l="-1053" t="-927" r="-912"/>
                </a:stretch>
              </a:blipFill>
            </p:spPr>
            <p:txBody>
              <a:bodyPr/>
              <a:lstStyle/>
              <a:p>
                <a:r>
                  <a:rPr lang="en-US">
                    <a:noFill/>
                  </a:rPr>
                  <a:t> </a:t>
                </a:r>
              </a:p>
            </p:txBody>
          </p:sp>
        </mc:Fallback>
      </mc:AlternateContent>
    </p:spTree>
    <p:extLst>
      <p:ext uri="{BB962C8B-B14F-4D97-AF65-F5344CB8AC3E}">
        <p14:creationId xmlns:p14="http://schemas.microsoft.com/office/powerpoint/2010/main" val="29166865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 3</a:t>
            </a:r>
            <a:br>
              <a:rPr lang="en-US" smtClean="0"/>
            </a:br>
            <a:r>
              <a:rPr lang="en-US" smtClean="0"/>
              <a:t>(Ví dụ)</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normAutofit/>
              </a:bodyPr>
              <a:lstStyle/>
              <a:p>
                <a:pPr marL="0" indent="0">
                  <a:buNone/>
                </a:pPr>
                <a:r>
                  <a:rPr lang="en-US" sz="2400" smtClean="0"/>
                  <a:t>Cho lược đồ quan hệ </a:t>
                </a:r>
                <a:endParaRPr lang="en-US" sz="2400" b="0" i="1" smtClean="0">
                  <a:latin typeface="Cambria Math"/>
                </a:endParaRPr>
              </a:p>
              <a:p>
                <a:pPr marL="0" indent="0">
                  <a:buNone/>
                </a:pPr>
                <a14:m>
                  <m:oMathPara xmlns:m="http://schemas.openxmlformats.org/officeDocument/2006/math">
                    <m:oMathParaPr>
                      <m:jc m:val="left"/>
                    </m:oMathParaPr>
                    <m:oMath xmlns:m="http://schemas.openxmlformats.org/officeDocument/2006/math">
                      <m:r>
                        <a:rPr lang="en-US" sz="2400" b="0" i="1" smtClean="0">
                          <a:latin typeface="Cambria Math"/>
                        </a:rPr>
                        <m:t>&lt;</m:t>
                      </m:r>
                      <m:r>
                        <a:rPr lang="en-US" sz="2400" b="0" i="1" smtClean="0">
                          <a:latin typeface="Cambria Math"/>
                        </a:rPr>
                        <m:t>𝑚𝑎𝑠𝑣</m:t>
                      </m:r>
                      <m:r>
                        <a:rPr lang="en-US" sz="2400" b="0" i="1" smtClean="0">
                          <a:latin typeface="Cambria Math"/>
                        </a:rPr>
                        <m:t>,</m:t>
                      </m:r>
                      <m:r>
                        <a:rPr lang="en-US" sz="2400" b="0" i="1" smtClean="0">
                          <a:latin typeface="Cambria Math"/>
                        </a:rPr>
                        <m:t>𝑡𝑒𝑛𝑠𝑣</m:t>
                      </m:r>
                      <m:r>
                        <a:rPr lang="en-US" sz="2400" b="0" i="1" smtClean="0">
                          <a:latin typeface="Cambria Math"/>
                        </a:rPr>
                        <m:t>,</m:t>
                      </m:r>
                      <m:r>
                        <a:rPr lang="en-US" sz="2400" b="0" i="1" smtClean="0">
                          <a:latin typeface="Cambria Math"/>
                        </a:rPr>
                        <m:t>𝑚𝑎𝑙𝑜𝑝</m:t>
                      </m:r>
                      <m:r>
                        <a:rPr lang="en-US" sz="2400" b="0" i="1" smtClean="0">
                          <a:latin typeface="Cambria Math"/>
                        </a:rPr>
                        <m:t>,</m:t>
                      </m:r>
                      <m:r>
                        <a:rPr lang="en-US" sz="2400" b="0" i="1" smtClean="0">
                          <a:latin typeface="Cambria Math"/>
                        </a:rPr>
                        <m:t>𝑡𝑒𝑛𝑙𝑜𝑝</m:t>
                      </m:r>
                      <m:r>
                        <a:rPr lang="en-US" sz="2400" b="0" i="1" smtClean="0">
                          <a:latin typeface="Cambria Math"/>
                        </a:rPr>
                        <m:t>;</m:t>
                      </m:r>
                    </m:oMath>
                  </m:oMathPara>
                </a14:m>
                <a:endParaRPr lang="en-US" sz="2400" b="0" i="1" smtClean="0">
                  <a:latin typeface="Cambria Math"/>
                </a:endParaRP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a:rPr>
                        <m:t>{</m:t>
                      </m:r>
                      <m:r>
                        <a:rPr lang="en-US" sz="2400" b="0" i="1" smtClean="0">
                          <a:latin typeface="Cambria Math"/>
                        </a:rPr>
                        <m:t>𝑚𝑎𝑠𝑣</m:t>
                      </m:r>
                      <m:r>
                        <a:rPr lang="en-US" sz="2400" b="0" i="1" smtClean="0">
                          <a:latin typeface="Cambria Math"/>
                        </a:rPr>
                        <m:t>→</m:t>
                      </m:r>
                      <m:r>
                        <a:rPr lang="en-US" sz="2400" b="0" i="1" smtClean="0">
                          <a:latin typeface="Cambria Math"/>
                        </a:rPr>
                        <m:t>𝑡𝑒𝑛𝑠𝑣</m:t>
                      </m:r>
                      <m:r>
                        <a:rPr lang="en-US" sz="2400" b="0" i="1" smtClean="0">
                          <a:latin typeface="Cambria Math"/>
                        </a:rPr>
                        <m:t>,</m:t>
                      </m:r>
                      <m:r>
                        <a:rPr lang="en-US" sz="2400" b="0" i="1" smtClean="0">
                          <a:latin typeface="Cambria Math"/>
                        </a:rPr>
                        <m:t>𝑚𝑎𝑙𝑜𝑝</m:t>
                      </m:r>
                      <m:r>
                        <a:rPr lang="en-US" sz="2400" b="0" i="1" smtClean="0">
                          <a:latin typeface="Cambria Math"/>
                        </a:rPr>
                        <m:t>;</m:t>
                      </m:r>
                      <m:r>
                        <a:rPr lang="en-US" sz="2400" b="0" i="1" smtClean="0">
                          <a:latin typeface="Cambria Math"/>
                        </a:rPr>
                        <m:t>𝑚𝑎𝑙𝑜𝑝</m:t>
                      </m:r>
                      <m:r>
                        <a:rPr lang="en-US" sz="2400" b="0" i="1" smtClean="0">
                          <a:latin typeface="Cambria Math"/>
                        </a:rPr>
                        <m:t>→</m:t>
                      </m:r>
                      <m:r>
                        <a:rPr lang="en-US" sz="2400" b="0" i="1" smtClean="0">
                          <a:latin typeface="Cambria Math"/>
                        </a:rPr>
                        <m:t>𝑡𝑒𝑛𝑙𝑜𝑝</m:t>
                      </m:r>
                      <m:r>
                        <a:rPr lang="en-US" sz="2400" b="0" i="1" smtClean="0">
                          <a:latin typeface="Cambria Math"/>
                        </a:rPr>
                        <m:t>}&gt;</m:t>
                      </m:r>
                    </m:oMath>
                  </m:oMathPara>
                </a14:m>
                <a:endParaRPr lang="en-US" sz="2400" b="0" smtClean="0"/>
              </a:p>
              <a:p>
                <a:pPr marL="0" indent="0">
                  <a:buNone/>
                </a:pPr>
                <a:r>
                  <a:rPr lang="en-US" sz="2400" smtClean="0"/>
                  <a:t>Không đạt dạng chuẩn 3 vì: Khóa là </a:t>
                </a:r>
                <a14:m>
                  <m:oMath xmlns:m="http://schemas.openxmlformats.org/officeDocument/2006/math">
                    <m:r>
                      <a:rPr lang="en-US" sz="2400" b="0" i="1" smtClean="0">
                        <a:latin typeface="Cambria Math"/>
                      </a:rPr>
                      <m:t>𝑚𝑎𝑠𝑣</m:t>
                    </m:r>
                  </m:oMath>
                </a14:m>
                <a:r>
                  <a:rPr lang="en-US" sz="2400" smtClean="0"/>
                  <a:t> và duy nhất, </a:t>
                </a:r>
                <a14:m>
                  <m:oMath xmlns:m="http://schemas.openxmlformats.org/officeDocument/2006/math">
                    <m:r>
                      <a:rPr lang="en-US" sz="2400" b="0" i="1" smtClean="0">
                        <a:latin typeface="Cambria Math"/>
                      </a:rPr>
                      <m:t>𝑡𝑒𝑛𝑙𝑜𝑝</m:t>
                    </m:r>
                  </m:oMath>
                </a14:m>
                <a:r>
                  <a:rPr lang="en-US" sz="2400" smtClean="0"/>
                  <a:t> là thuộc tính không khóa lại phụ thuộc bắc cầu vào khóa </a:t>
                </a:r>
                <a14:m>
                  <m:oMath xmlns:m="http://schemas.openxmlformats.org/officeDocument/2006/math">
                    <m:r>
                      <a:rPr lang="en-US" sz="2400" b="0" i="1" smtClean="0">
                        <a:latin typeface="Cambria Math"/>
                      </a:rPr>
                      <m:t>𝑚𝑎𝑠𝑣</m:t>
                    </m:r>
                  </m:oMath>
                </a14:m>
                <a:r>
                  <a:rPr lang="en-US" sz="2400" smtClean="0"/>
                  <a:t> thông qua </a:t>
                </a:r>
                <a14:m>
                  <m:oMath xmlns:m="http://schemas.openxmlformats.org/officeDocument/2006/math">
                    <m:r>
                      <a:rPr lang="en-US" sz="2400" b="0" i="1" smtClean="0">
                        <a:latin typeface="Cambria Math"/>
                      </a:rPr>
                      <m:t>𝑚𝑎𝑙𝑜𝑝</m:t>
                    </m:r>
                  </m:oMath>
                </a14:m>
                <a:r>
                  <a:rPr lang="en-US" sz="2400" smtClean="0"/>
                  <a:t>.</a:t>
                </a:r>
              </a:p>
              <a:p>
                <a:pPr marL="0" indent="0">
                  <a:buNone/>
                </a:pPr>
                <a:endParaRPr lang="en-US" sz="2400" smtClean="0"/>
              </a:p>
              <a:p>
                <a:pPr marL="0" indent="0">
                  <a:buNone/>
                </a:pPr>
                <a:r>
                  <a:rPr lang="en-US" sz="2400" smtClean="0"/>
                  <a:t>Nếu ta phân rả thành lược đồ cơ sở dữ liệu sau</a:t>
                </a:r>
              </a:p>
              <a:p>
                <a:pPr marL="0" indent="0">
                  <a:buNone/>
                </a:pPr>
                <a14:m>
                  <m:oMathPara xmlns:m="http://schemas.openxmlformats.org/officeDocument/2006/math">
                    <m:oMathParaPr>
                      <m:jc m:val="left"/>
                    </m:oMathParaPr>
                    <m:oMath xmlns:m="http://schemas.openxmlformats.org/officeDocument/2006/math">
                      <m:r>
                        <a:rPr lang="en-US" sz="2400" b="0" i="1" smtClean="0">
                          <a:latin typeface="Cambria Math"/>
                        </a:rPr>
                        <m:t>{ &lt;</m:t>
                      </m:r>
                      <m:r>
                        <a:rPr lang="en-US" sz="2400" b="0" i="1" smtClean="0">
                          <a:latin typeface="Cambria Math"/>
                        </a:rPr>
                        <m:t>𝑚𝑎𝑠𝑣</m:t>
                      </m:r>
                      <m:r>
                        <a:rPr lang="en-US" sz="2400" b="0" i="1" smtClean="0">
                          <a:latin typeface="Cambria Math"/>
                        </a:rPr>
                        <m:t>,</m:t>
                      </m:r>
                      <m:r>
                        <a:rPr lang="en-US" sz="2400" b="0" i="1" smtClean="0">
                          <a:latin typeface="Cambria Math"/>
                        </a:rPr>
                        <m:t>𝑡𝑒𝑛𝑠𝑣</m:t>
                      </m:r>
                      <m:r>
                        <a:rPr lang="en-US" sz="2400" b="0" i="1" smtClean="0">
                          <a:latin typeface="Cambria Math"/>
                        </a:rPr>
                        <m:t>,</m:t>
                      </m:r>
                      <m:r>
                        <a:rPr lang="en-US" sz="2400" b="0" i="1" smtClean="0">
                          <a:latin typeface="Cambria Math"/>
                        </a:rPr>
                        <m:t>𝑚𝑎𝑙𝑜𝑝</m:t>
                      </m:r>
                      <m:r>
                        <a:rPr lang="en-US" sz="2400" b="0" i="1" smtClean="0">
                          <a:latin typeface="Cambria Math"/>
                        </a:rPr>
                        <m:t>;{</m:t>
                      </m:r>
                      <m:r>
                        <a:rPr lang="en-US" sz="2400" b="0" i="1" smtClean="0">
                          <a:latin typeface="Cambria Math"/>
                        </a:rPr>
                        <m:t>𝑚𝑎𝑠𝑣</m:t>
                      </m:r>
                      <m:r>
                        <a:rPr lang="en-US" sz="2400" b="0" i="1" smtClean="0">
                          <a:latin typeface="Cambria Math"/>
                        </a:rPr>
                        <m:t>→</m:t>
                      </m:r>
                      <m:r>
                        <a:rPr lang="en-US" sz="2400" b="0" i="1" smtClean="0">
                          <a:latin typeface="Cambria Math"/>
                        </a:rPr>
                        <m:t>𝑡𝑒𝑛𝑠𝑣</m:t>
                      </m:r>
                      <m:r>
                        <a:rPr lang="en-US" sz="2400" b="0" i="1" smtClean="0">
                          <a:latin typeface="Cambria Math"/>
                        </a:rPr>
                        <m:t>,</m:t>
                      </m:r>
                      <m:r>
                        <a:rPr lang="en-US" sz="2400" b="0" i="1" smtClean="0">
                          <a:latin typeface="Cambria Math"/>
                        </a:rPr>
                        <m:t>𝑚𝑎𝑙𝑜𝑝</m:t>
                      </m:r>
                      <m:r>
                        <a:rPr lang="en-US" sz="2400" b="0" i="1" smtClean="0">
                          <a:latin typeface="Cambria Math"/>
                        </a:rPr>
                        <m:t>}&gt;;</m:t>
                      </m:r>
                    </m:oMath>
                  </m:oMathPara>
                </a14:m>
                <a:endParaRPr lang="en-US" sz="2400" b="0" smtClean="0"/>
              </a:p>
              <a:p>
                <a:pPr marL="0" indent="0">
                  <a:buNone/>
                </a:pPr>
                <a:r>
                  <a:rPr lang="en-US" sz="2400" b="0" smtClean="0"/>
                  <a:t>  </a:t>
                </a:r>
                <a14:m>
                  <m:oMath xmlns:m="http://schemas.openxmlformats.org/officeDocument/2006/math">
                    <m:r>
                      <a:rPr lang="en-US" sz="2400" b="0" i="0" smtClean="0">
                        <a:latin typeface="Cambria Math"/>
                      </a:rPr>
                      <m:t> </m:t>
                    </m:r>
                    <m:r>
                      <a:rPr lang="en-US" sz="2400" b="0" i="1" smtClean="0">
                        <a:latin typeface="Cambria Math"/>
                      </a:rPr>
                      <m:t>&lt;</m:t>
                    </m:r>
                    <m:r>
                      <a:rPr lang="en-US" sz="2400" b="0" i="1" smtClean="0">
                        <a:latin typeface="Cambria Math"/>
                      </a:rPr>
                      <m:t>𝑚𝑎𝑙𝑜𝑝</m:t>
                    </m:r>
                    <m:r>
                      <a:rPr lang="en-US" sz="2400" b="0" i="1" smtClean="0">
                        <a:latin typeface="Cambria Math"/>
                      </a:rPr>
                      <m:t>,</m:t>
                    </m:r>
                    <m:r>
                      <a:rPr lang="en-US" sz="2400" b="0" i="1" smtClean="0">
                        <a:latin typeface="Cambria Math"/>
                      </a:rPr>
                      <m:t>𝑡𝑒𝑛𝑙𝑜𝑝</m:t>
                    </m:r>
                    <m:r>
                      <a:rPr lang="en-US" sz="2400" b="0" i="1" smtClean="0">
                        <a:latin typeface="Cambria Math"/>
                      </a:rPr>
                      <m:t>;</m:t>
                    </m:r>
                    <m:d>
                      <m:dPr>
                        <m:begChr m:val="{"/>
                        <m:endChr m:val="}"/>
                        <m:ctrlPr>
                          <a:rPr lang="en-US" sz="2400" b="0" i="1" smtClean="0">
                            <a:latin typeface="Cambria Math" panose="02040503050406030204" pitchFamily="18" charset="0"/>
                          </a:rPr>
                        </m:ctrlPr>
                      </m:dPr>
                      <m:e>
                        <m:r>
                          <a:rPr lang="en-US" sz="2400" b="0" i="1" smtClean="0">
                            <a:latin typeface="Cambria Math"/>
                          </a:rPr>
                          <m:t>𝑚𝑎𝑙𝑜𝑝</m:t>
                        </m:r>
                        <m:r>
                          <a:rPr lang="en-US" sz="2400" b="0" i="1" smtClean="0">
                            <a:latin typeface="Cambria Math"/>
                          </a:rPr>
                          <m:t>→</m:t>
                        </m:r>
                        <m:r>
                          <a:rPr lang="en-US" sz="2400" b="0" i="1" smtClean="0">
                            <a:latin typeface="Cambria Math"/>
                          </a:rPr>
                          <m:t>𝑡𝑒𝑛𝑙𝑜𝑝</m:t>
                        </m:r>
                      </m:e>
                    </m:d>
                    <m:r>
                      <a:rPr lang="en-US" sz="2400" b="0" i="1" smtClean="0">
                        <a:latin typeface="Cambria Math"/>
                      </a:rPr>
                      <m:t>&gt; }</m:t>
                    </m:r>
                  </m:oMath>
                </a14:m>
                <a:endParaRPr lang="en-US" sz="2400" b="0" smtClean="0"/>
              </a:p>
              <a:p>
                <a:pPr marL="0" indent="0">
                  <a:buNone/>
                </a:pPr>
                <a:r>
                  <a:rPr lang="en-US" sz="2400" smtClean="0"/>
                  <a:t>Ta nhận thấy các lược đồ quan hệ con đều đạt dạng chuẩn 3. Như vậy lược đồ cơ sở dữ liệu cũng đạt dạng chuẩn 3</a:t>
                </a:r>
                <a:endParaRPr lang="en-US" sz="2400" b="0" smtClean="0"/>
              </a:p>
              <a:p>
                <a:pPr marL="0" indent="0">
                  <a:buNone/>
                </a:pPr>
                <a:endParaRPr lang="en-US" sz="240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3"/>
                <a:stretch>
                  <a:fillRect l="-1053" t="-928" r="-1544"/>
                </a:stretch>
              </a:blipFill>
            </p:spPr>
            <p:txBody>
              <a:bodyPr/>
              <a:lstStyle/>
              <a:p>
                <a:r>
                  <a:rPr lang="en-US">
                    <a:noFill/>
                  </a:rPr>
                  <a:t> </a:t>
                </a:r>
              </a:p>
            </p:txBody>
          </p:sp>
        </mc:Fallback>
      </mc:AlternateContent>
    </p:spTree>
    <p:extLst>
      <p:ext uri="{BB962C8B-B14F-4D97-AF65-F5344CB8AC3E}">
        <p14:creationId xmlns:p14="http://schemas.microsoft.com/office/powerpoint/2010/main" val="2329488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Dạng chuẩn BC (Boyce-Codd)</a:t>
            </a:r>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5257800"/>
              </a:xfrm>
            </p:spPr>
            <p:txBody>
              <a:bodyPr/>
              <a:lstStyle/>
              <a:p>
                <a:pPr marL="514350" indent="-514350" algn="just">
                  <a:buAutoNum type="arabicPeriod"/>
                </a:pPr>
                <a:r>
                  <a:rPr lang="en-US" sz="2400" smtClean="0"/>
                  <a:t>Lược đồ quan hệ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a:rPr>
                          <m:t>𝑅</m:t>
                        </m:r>
                        <m:r>
                          <a:rPr lang="en-US" sz="2400" b="0" i="1" smtClean="0">
                            <a:latin typeface="Cambria Math"/>
                          </a:rPr>
                          <m:t>,</m:t>
                        </m:r>
                        <m:r>
                          <a:rPr lang="en-US" sz="2400" b="0" i="1" smtClean="0">
                            <a:latin typeface="Cambria Math"/>
                          </a:rPr>
                          <m:t>𝐹</m:t>
                        </m:r>
                      </m:e>
                    </m:d>
                  </m:oMath>
                </a14:m>
                <a:r>
                  <a:rPr lang="en-US" sz="2400" smtClean="0"/>
                  <a:t> đạt dạng chuẩn BC dưới </a:t>
                </a:r>
                <a14:m>
                  <m:oMath xmlns:m="http://schemas.openxmlformats.org/officeDocument/2006/math">
                    <m:r>
                      <a:rPr lang="en-US" sz="2400" i="1" smtClean="0">
                        <a:latin typeface="Cambria Math"/>
                      </a:rPr>
                      <m:t>𝐹</m:t>
                    </m:r>
                  </m:oMath>
                </a14:m>
                <a:r>
                  <a:rPr lang="en-US" sz="2400" smtClean="0"/>
                  <a:t> nếu như đạt dạng chuẩn 1 và </a:t>
                </a:r>
                <a:r>
                  <a:rPr lang="en-US" sz="2400" b="1" smtClean="0"/>
                  <a:t>mọi thuộc tính</a:t>
                </a:r>
                <a:r>
                  <a:rPr lang="en-US" sz="2400" smtClean="0"/>
                  <a:t> trong </a:t>
                </a:r>
                <a14:m>
                  <m:oMath xmlns:m="http://schemas.openxmlformats.org/officeDocument/2006/math">
                    <m:r>
                      <a:rPr lang="en-US" sz="2400" i="1" smtClean="0">
                        <a:latin typeface="Cambria Math"/>
                      </a:rPr>
                      <m:t>𝑅</m:t>
                    </m:r>
                  </m:oMath>
                </a14:m>
                <a:r>
                  <a:rPr lang="en-US" sz="2400" smtClean="0"/>
                  <a:t> đều </a:t>
                </a:r>
                <a:r>
                  <a:rPr lang="en-US" sz="2400" b="1" smtClean="0"/>
                  <a:t>không phụ thuộc bắc cầu</a:t>
                </a:r>
                <a:r>
                  <a:rPr lang="en-US" sz="2400" smtClean="0"/>
                  <a:t> vào </a:t>
                </a:r>
                <a:r>
                  <a:rPr lang="en-US" sz="2400" b="1" smtClean="0"/>
                  <a:t>bất kỳ khóa</a:t>
                </a:r>
                <a:r>
                  <a:rPr lang="en-US" sz="2400" smtClean="0"/>
                  <a:t> nào của </a:t>
                </a:r>
                <a14:m>
                  <m:oMath xmlns:m="http://schemas.openxmlformats.org/officeDocument/2006/math">
                    <m:r>
                      <a:rPr lang="en-US" sz="2400" i="1" smtClean="0">
                        <a:latin typeface="Cambria Math"/>
                      </a:rPr>
                      <m:t>𝑅</m:t>
                    </m:r>
                  </m:oMath>
                </a14:m>
                <a:r>
                  <a:rPr lang="en-US" sz="2400" smtClean="0"/>
                  <a:t>.</a:t>
                </a:r>
              </a:p>
              <a:p>
                <a:pPr marL="514350" indent="-514350" algn="just">
                  <a:buAutoNum type="arabicPeriod"/>
                </a:pPr>
                <a:r>
                  <a:rPr lang="en-US" sz="2400" smtClean="0"/>
                  <a:t>Lược đồ cơ sở dữ liệu </a:t>
                </a:r>
                <a14:m>
                  <m:oMath xmlns:m="http://schemas.openxmlformats.org/officeDocument/2006/math">
                    <m:r>
                      <a:rPr lang="en-US" sz="2400" i="1" smtClean="0">
                        <a:latin typeface="Cambria Math"/>
                      </a:rPr>
                      <m:t>𝐷</m:t>
                    </m:r>
                  </m:oMath>
                </a14:m>
                <a:r>
                  <a:rPr lang="en-US" sz="2400" smtClean="0"/>
                  <a:t> đạt dạng chuẩn BC dưới </a:t>
                </a:r>
                <a14:m>
                  <m:oMath xmlns:m="http://schemas.openxmlformats.org/officeDocument/2006/math">
                    <m:r>
                      <a:rPr lang="en-US" sz="2400" i="1" smtClean="0">
                        <a:latin typeface="Cambria Math"/>
                      </a:rPr>
                      <m:t>𝐹</m:t>
                    </m:r>
                  </m:oMath>
                </a14:m>
                <a:r>
                  <a:rPr lang="en-US" sz="2400" smtClean="0"/>
                  <a:t> nếu như mọi lược đồ quan hệ </a:t>
                </a:r>
                <a14:m>
                  <m:oMath xmlns:m="http://schemas.openxmlformats.org/officeDocument/2006/math">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𝑅</m:t>
                        </m:r>
                      </m:e>
                      <m:sub>
                        <m:r>
                          <a:rPr lang="en-US" sz="2400" b="0" i="1" smtClean="0">
                            <a:latin typeface="Cambria Math"/>
                          </a:rPr>
                          <m:t>𝑖</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𝐹</m:t>
                        </m:r>
                      </m:e>
                      <m:sub>
                        <m:r>
                          <a:rPr lang="en-US" sz="2400" b="0" i="1" smtClean="0">
                            <a:latin typeface="Cambria Math"/>
                          </a:rPr>
                          <m:t>𝑖</m:t>
                        </m:r>
                      </m:sub>
                    </m:sSub>
                    <m:r>
                      <a:rPr lang="en-US" sz="2400" b="0" i="1" smtClean="0">
                        <a:latin typeface="Cambria Math"/>
                      </a:rPr>
                      <m:t>)</m:t>
                    </m:r>
                  </m:oMath>
                </a14:m>
                <a:r>
                  <a:rPr lang="en-US" sz="2400" smtClean="0"/>
                  <a:t> trong </a:t>
                </a:r>
                <a14:m>
                  <m:oMath xmlns:m="http://schemas.openxmlformats.org/officeDocument/2006/math">
                    <m:r>
                      <a:rPr lang="en-US" sz="2400" i="1" smtClean="0">
                        <a:latin typeface="Cambria Math"/>
                      </a:rPr>
                      <m:t>𝐷</m:t>
                    </m:r>
                  </m:oMath>
                </a14:m>
                <a:r>
                  <a:rPr lang="en-US" sz="2400" smtClean="0"/>
                  <a:t> đạt dạng chuẩn BC dưới </a:t>
                </a:r>
                <a14:m>
                  <m:oMath xmlns:m="http://schemas.openxmlformats.org/officeDocument/2006/math">
                    <m:r>
                      <a:rPr lang="en-US" sz="2400" i="1" smtClean="0">
                        <a:latin typeface="Cambria Math"/>
                      </a:rPr>
                      <m:t>𝐹</m:t>
                    </m:r>
                  </m:oMath>
                </a14:m>
                <a:r>
                  <a:rPr lang="en-US" sz="2400" smtClean="0"/>
                  <a:t>.</a:t>
                </a:r>
              </a:p>
              <a:p>
                <a:pPr marL="0" indent="0" algn="just">
                  <a:buNone/>
                </a:pPr>
                <a:endParaRPr lang="en-US" sz="2400" b="1" i="1" smtClean="0"/>
              </a:p>
              <a:p>
                <a:pPr marL="0" indent="0" algn="just">
                  <a:buNone/>
                </a:pPr>
                <a:r>
                  <a:rPr lang="en-US" sz="2400" b="1" i="1" smtClean="0"/>
                  <a:t>Ghi chú: dể nhận thấy là nếu tồn tại bất kỳ phụ thuộc hàm </a:t>
                </a:r>
                <a14:m>
                  <m:oMath xmlns:m="http://schemas.openxmlformats.org/officeDocument/2006/math">
                    <m:d>
                      <m:dPr>
                        <m:ctrlPr>
                          <a:rPr lang="en-US" sz="2400" b="1" i="1" smtClean="0">
                            <a:latin typeface="Cambria Math" panose="02040503050406030204" pitchFamily="18" charset="0"/>
                          </a:rPr>
                        </m:ctrlPr>
                      </m:dPr>
                      <m:e>
                        <m:r>
                          <a:rPr lang="en-US" sz="2400" b="1" i="1" smtClean="0">
                            <a:latin typeface="Cambria Math"/>
                          </a:rPr>
                          <m:t>𝑿</m:t>
                        </m:r>
                        <m:r>
                          <a:rPr lang="en-US" sz="2400" b="1" i="1" smtClean="0">
                            <a:latin typeface="Cambria Math"/>
                          </a:rPr>
                          <m:t>→</m:t>
                        </m:r>
                        <m:r>
                          <a:rPr lang="en-US" sz="2400" b="1" i="1" smtClean="0">
                            <a:latin typeface="Cambria Math"/>
                          </a:rPr>
                          <m:t>𝒀</m:t>
                        </m:r>
                      </m:e>
                    </m:d>
                    <m:r>
                      <a:rPr lang="en-US" sz="2400" b="1" i="1" smtClean="0">
                        <a:latin typeface="Cambria Math"/>
                      </a:rPr>
                      <m:t>∈</m:t>
                    </m:r>
                    <m:r>
                      <a:rPr lang="en-US" sz="2400" b="1" i="1" smtClean="0">
                        <a:latin typeface="Cambria Math"/>
                      </a:rPr>
                      <m:t>𝑭</m:t>
                    </m:r>
                  </m:oMath>
                </a14:m>
                <a:r>
                  <a:rPr lang="en-US" sz="2400" b="1" i="1" smtClean="0"/>
                  <a:t> mà </a:t>
                </a:r>
                <a14:m>
                  <m:oMath xmlns:m="http://schemas.openxmlformats.org/officeDocument/2006/math">
                    <m:r>
                      <a:rPr lang="en-US" sz="2400" b="1" i="1" smtClean="0">
                        <a:latin typeface="Cambria Math"/>
                      </a:rPr>
                      <m:t>𝑿</m:t>
                    </m:r>
                  </m:oMath>
                </a14:m>
                <a:r>
                  <a:rPr lang="en-US" sz="2400" b="1" i="1" smtClean="0"/>
                  <a:t> không chứa khóa thì khẳng định là vi phạm dạng chuẩn BC.</a:t>
                </a:r>
              </a:p>
              <a:p>
                <a:pPr marL="0" indent="0" algn="just">
                  <a:buNone/>
                </a:pPr>
                <a:r>
                  <a:rPr lang="en-US" sz="2400" b="1" i="1" smtClean="0"/>
                  <a:t>Như vậy để lược đồ cơ sở dữ liệu đạt chuẩn BC, thì mọi lược đồ quan hệ con chỉ tồn tại những phụ thuộc hàm có vế trái chứa khóa.</a:t>
                </a:r>
                <a:endParaRPr lang="en-US" sz="2400" b="1" i="1"/>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5257800"/>
              </a:xfrm>
              <a:blipFill rotWithShape="1">
                <a:blip r:embed="rId3"/>
                <a:stretch>
                  <a:fillRect l="-1053" t="-928" r="-1053"/>
                </a:stretch>
              </a:blipFill>
            </p:spPr>
            <p:txBody>
              <a:bodyPr/>
              <a:lstStyle/>
              <a:p>
                <a:r>
                  <a:rPr lang="en-US">
                    <a:noFill/>
                  </a:rPr>
                  <a:t> </a:t>
                </a:r>
              </a:p>
            </p:txBody>
          </p:sp>
        </mc:Fallback>
      </mc:AlternateContent>
    </p:spTree>
    <p:extLst>
      <p:ext uri="{BB962C8B-B14F-4D97-AF65-F5344CB8AC3E}">
        <p14:creationId xmlns:p14="http://schemas.microsoft.com/office/powerpoint/2010/main" val="14594012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Nhận xét</a:t>
            </a:r>
            <a:endParaRPr lang="en-US"/>
          </a:p>
        </p:txBody>
      </p:sp>
      <p:sp>
        <p:nvSpPr>
          <p:cNvPr id="3" name="Content Placeholder 2"/>
          <p:cNvSpPr>
            <a:spLocks noGrp="1"/>
          </p:cNvSpPr>
          <p:nvPr>
            <p:ph idx="1"/>
          </p:nvPr>
        </p:nvSpPr>
        <p:spPr>
          <a:xfrm>
            <a:off x="457200" y="1600200"/>
            <a:ext cx="8229600" cy="5105400"/>
          </a:xfrm>
        </p:spPr>
        <p:txBody>
          <a:bodyPr/>
          <a:lstStyle/>
          <a:p>
            <a:pPr algn="just"/>
            <a:r>
              <a:rPr lang="en-US" smtClean="0"/>
              <a:t>Những khái niệm này mang ý nghĩa để phục vụ cho việc kiểm tra hay định hình những cơ sở dữ liệu sao cho hạn chế tối đa sự dư thừa dữ liệu, dữ liệu không hợp lý.</a:t>
            </a:r>
          </a:p>
          <a:p>
            <a:pPr algn="just"/>
            <a:r>
              <a:rPr lang="en-US" smtClean="0"/>
              <a:t>Hơn nữa, qua những dạng chuẩn và cách rả 1 lược đồ quan hệ ra thành lược đồ cơ sở dữ liệu để đạt dạng chuẩn ở từng lược đồ quan hệ con là một cách để xây dựng cơ sở dữ liệu theo hướng tập hợp mọi thuộc tính và các quan hệ lẫn nhau và từ đó dựng lược đồ cơ sở dữ liệu phù hợp.</a:t>
            </a:r>
          </a:p>
          <a:p>
            <a:pPr algn="just"/>
            <a:r>
              <a:rPr lang="en-US" smtClean="0"/>
              <a:t>Sinh viên tự xem phương pháp phân rả (tự học)</a:t>
            </a:r>
            <a:endParaRPr lang="en-US"/>
          </a:p>
        </p:txBody>
      </p:sp>
    </p:spTree>
    <p:extLst>
      <p:ext uri="{BB962C8B-B14F-4D97-AF65-F5344CB8AC3E}">
        <p14:creationId xmlns:p14="http://schemas.microsoft.com/office/powerpoint/2010/main" val="1569342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1038</TotalTime>
  <Words>3144</Words>
  <Application>Microsoft Office PowerPoint</Application>
  <PresentationFormat>On-screen Show (4:3)</PresentationFormat>
  <Paragraphs>564</Paragraphs>
  <Slides>48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Arial</vt:lpstr>
      <vt:lpstr>Calibri</vt:lpstr>
      <vt:lpstr>Cambria Math</vt:lpstr>
      <vt:lpstr>Times New Roman</vt:lpstr>
      <vt:lpstr>Wingdings</vt:lpstr>
      <vt:lpstr>Office Theme</vt:lpstr>
      <vt:lpstr>KHÁI NIỆM CĂN BẢN VỀ CƠ SỞ DỮ LIỆU</vt:lpstr>
      <vt:lpstr>Đặt vấn đề </vt:lpstr>
      <vt:lpstr>Cơ sở dữ liệu</vt:lpstr>
      <vt:lpstr>Cơ sở dữ liệu</vt:lpstr>
      <vt:lpstr>Cơ sở dữ liệu (Mô hình theo hướng quan niệm)</vt:lpstr>
      <vt:lpstr>MÔ HÌNH  CƠ SỞ DỮ LIỆU QUAN HỆ</vt:lpstr>
      <vt:lpstr>Mô hình cơ sở dữ liệu quan hệ</vt:lpstr>
      <vt:lpstr>Mô hình cơ sở dữ liệu quan hệ (Một số quy ước)</vt:lpstr>
      <vt:lpstr>Mô hình cơ sở dữ liệu quan hệ (Khóa và siêu khóa)</vt:lpstr>
      <vt:lpstr>Mô hình cơ sở dữ liệu quan hệ (Khóa và siêu khóa)</vt:lpstr>
      <vt:lpstr>Mô hình cơ sở dữ liệu quan hệ (Lược đồ cơ sở dữ liệu)</vt:lpstr>
      <vt:lpstr>Mô hình cơ sở dữ liệu quan hệ (Lược đồ cơ sở dữ liệu)</vt:lpstr>
      <vt:lpstr>Mô hình cơ sở dữ liệu quan hệ (Ràng buộc toàn vẹn)</vt:lpstr>
      <vt:lpstr>Mô hình cơ sở dữ liệu quan hệ (Ràng buộc toàn vẹn trên một quan hệ)</vt:lpstr>
      <vt:lpstr>Mô hình cơ sở dữ liệu quan hệ (Ràng buộc toàn vẹn trên một quan hệ)</vt:lpstr>
      <vt:lpstr>Mô hình cơ sở dữ liệu quan hệ (Ràng buộc toàn vẹn trên nhiều quan hệ)</vt:lpstr>
      <vt:lpstr>Mô hình cơ sở dữ liệu quan hệ (Ràng buộc toàn vẹn trên nhiều quan hệ)</vt:lpstr>
      <vt:lpstr>Mô hình cơ sở dữ liệu quan hệ</vt:lpstr>
      <vt:lpstr>PHỤ THUỘC HÀM </vt:lpstr>
      <vt:lpstr>Phụ thuộc hàm</vt:lpstr>
      <vt:lpstr>Phụ thuộc hàm</vt:lpstr>
      <vt:lpstr>Phụ thuộc hàm</vt:lpstr>
      <vt:lpstr>Phụ thuộc hàm</vt:lpstr>
      <vt:lpstr>Phụ thuộc hàm (Định nghĩa – Lý thuyết)</vt:lpstr>
      <vt:lpstr>Phụ thuộc hàm (Luật dẫn - Hệ tiên đề Armstrong)</vt:lpstr>
      <vt:lpstr>Phụ thuộc hàm (Luật dẫn - Hệ tiên đề Armstrong)</vt:lpstr>
      <vt:lpstr>Phụ thuộc hàm (Bao đóng)</vt:lpstr>
      <vt:lpstr>Phụ thuộc hàm (Sự dư thừa)</vt:lpstr>
      <vt:lpstr>Phụ thuộc hàm (Phủ - Phủ tối tiểu)</vt:lpstr>
      <vt:lpstr>Phụ thuộc hàm (ví dụ: phụ thuộc hàm đầy đủ)</vt:lpstr>
      <vt:lpstr>Phụ thuộc hàm (ví dụ: phụ thuộc hàm đầy đủ)</vt:lpstr>
      <vt:lpstr>Phụ thuộc hàm (ví dụ: phụ thuộc hàm đầy đủ)</vt:lpstr>
      <vt:lpstr>Phụ thuộc hàm (Thuật toán tìm phủ tối tiểu)</vt:lpstr>
      <vt:lpstr>Phụ thuộc hàm (ví dụ: phủ tối tiểu)</vt:lpstr>
      <vt:lpstr>Phụ thuộc hàm (ví dụ: phủ tối tiểu)</vt:lpstr>
      <vt:lpstr>Phụ thuộc hàm (ví dụ: phủ tối tiểu)</vt:lpstr>
      <vt:lpstr>Phụ thuộc hàm (ví dụ: phủ tối tiểu)</vt:lpstr>
      <vt:lpstr>Phụ thuộc hàm (ví dụ: phủ tối tiểu)</vt:lpstr>
      <vt:lpstr>Phụ thuộc hàm (ví dụ: phủ tối tiểu)</vt:lpstr>
      <vt:lpstr>Phụ thuộc hàm (Phủ - Phủ tối tiểu)</vt:lpstr>
      <vt:lpstr>DẠNG CHUẨN </vt:lpstr>
      <vt:lpstr>Dạng chuẩn</vt:lpstr>
      <vt:lpstr>Dạng chuẩn 1</vt:lpstr>
      <vt:lpstr>Dạng chuẩn 2</vt:lpstr>
      <vt:lpstr>Dạng chuẩn 3</vt:lpstr>
      <vt:lpstr>Dạng chuẩn 3 (Ví dụ)</vt:lpstr>
      <vt:lpstr>Dạng chuẩn BC (Boyce-Codd)</vt:lpstr>
      <vt:lpstr>Nhận xét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HỆ QUẢN TRỊ CƠ SỞ DỮ LIỆU SQL SERVER 2012</dc:title>
  <dc:creator>phanhien</dc:creator>
  <cp:lastModifiedBy>hien phan</cp:lastModifiedBy>
  <cp:revision>252</cp:revision>
  <dcterms:created xsi:type="dcterms:W3CDTF">2015-08-04T00:53:59Z</dcterms:created>
  <dcterms:modified xsi:type="dcterms:W3CDTF">2015-11-07T23:51:36Z</dcterms:modified>
</cp:coreProperties>
</file>