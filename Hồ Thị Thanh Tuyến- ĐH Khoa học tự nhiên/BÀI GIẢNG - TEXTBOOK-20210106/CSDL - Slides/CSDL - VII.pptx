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  <p:sldId id="276" r:id="rId19"/>
    <p:sldId id="277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259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6C8A8-34DC-445E-AB57-BD1D11BE413E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398DC-AD18-4AEE-B05A-B69CE5F6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2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A9D0-906C-4B58-8597-CD0CD89B7D0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smtClean="0">
                <a:ea typeface="Verdana" pitchFamily="34" charset="0"/>
              </a:rPr>
              <a:t>Một tập tin sao lưu có thể chứa nhiều bảng lưu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398DC-AD18-4AEE-B05A-B69CE5F64F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29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3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3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2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5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EB79-FAE2-4654-86B1-78FF01A3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77200" cy="2212975"/>
          </a:xfrm>
        </p:spPr>
        <p:txBody>
          <a:bodyPr>
            <a:normAutofit/>
          </a:bodyPr>
          <a:lstStyle/>
          <a:p>
            <a:r>
              <a:rPr lang="en-US" sz="4000" smtClean="0"/>
              <a:t>PHÂN QUYỀN TRONG</a:t>
            </a:r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>HỆ QUẢN TRỊ CƠ SỞ DỮ LIỆU</a:t>
            </a:r>
            <a:br>
              <a:rPr lang="en-US" sz="4000" smtClean="0"/>
            </a:br>
            <a:r>
              <a:rPr lang="en-US" sz="4000" smtClean="0"/>
              <a:t>SQL SERVER 2012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51511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Phân quyền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303838"/>
          </a:xfrm>
        </p:spPr>
        <p:txBody>
          <a:bodyPr/>
          <a:lstStyle/>
          <a:p>
            <a:r>
              <a:rPr lang="en-US" smtClean="0">
                <a:ea typeface="Arial Unicode MS" pitchFamily="34" charset="-128"/>
              </a:rPr>
              <a:t>Sự phân chia khả năng quản trị và sử dụng hệ quản trị cơ sở dữ liệu SQL Server.</a:t>
            </a:r>
          </a:p>
          <a:p>
            <a:r>
              <a:rPr lang="en-US" smtClean="0">
                <a:ea typeface="Arial Unicode MS" pitchFamily="34" charset="-128"/>
              </a:rPr>
              <a:t>Hình thành theo cơ cấu</a:t>
            </a:r>
          </a:p>
          <a:p>
            <a:pPr lvl="1"/>
            <a:r>
              <a:rPr lang="en-US" sz="2600" smtClean="0">
                <a:ea typeface="Arial Unicode MS" pitchFamily="34" charset="-128"/>
              </a:rPr>
              <a:t>Người đăng nhập (login)</a:t>
            </a:r>
          </a:p>
          <a:p>
            <a:pPr lvl="1"/>
            <a:r>
              <a:rPr lang="en-US" sz="2600" smtClean="0">
                <a:ea typeface="Arial Unicode MS" pitchFamily="34" charset="-128"/>
              </a:rPr>
              <a:t>Người dùng (user)</a:t>
            </a:r>
          </a:p>
          <a:p>
            <a:pPr lvl="1"/>
            <a:r>
              <a:rPr lang="en-US" sz="2600" smtClean="0">
                <a:ea typeface="Arial Unicode MS" pitchFamily="34" charset="-128"/>
              </a:rPr>
              <a:t>Quyền hạn (permission)</a:t>
            </a:r>
          </a:p>
          <a:p>
            <a:pPr lvl="1"/>
            <a:r>
              <a:rPr lang="en-US" sz="2600" smtClean="0">
                <a:ea typeface="Arial Unicode MS" pitchFamily="34" charset="-128"/>
              </a:rPr>
              <a:t>Nhóm quyền (role)</a:t>
            </a:r>
          </a:p>
          <a:p>
            <a:r>
              <a:rPr lang="en-US" smtClean="0">
                <a:ea typeface="Arial Unicode MS" pitchFamily="34" charset="-128"/>
              </a:rPr>
              <a:t>Người đăng nhập được thể hiện là mỗi một người dùng với một số quyền hạn ứng với một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/>
          <p:cNvSpPr/>
          <p:nvPr/>
        </p:nvSpPr>
        <p:spPr>
          <a:xfrm>
            <a:off x="457200" y="2245056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miley Face 4"/>
          <p:cNvSpPr/>
          <p:nvPr/>
        </p:nvSpPr>
        <p:spPr>
          <a:xfrm>
            <a:off x="533400" y="3921456"/>
            <a:ext cx="685800" cy="685800"/>
          </a:xfrm>
          <a:prstGeom prst="smileyFace">
            <a:avLst/>
          </a:prstGeom>
          <a:solidFill>
            <a:srgbClr val="0099F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/>
          <p:cNvSpPr/>
          <p:nvPr/>
        </p:nvSpPr>
        <p:spPr>
          <a:xfrm>
            <a:off x="2667000" y="1787856"/>
            <a:ext cx="1371600" cy="335280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Magnetic Disk 6"/>
          <p:cNvSpPr/>
          <p:nvPr/>
        </p:nvSpPr>
        <p:spPr>
          <a:xfrm>
            <a:off x="7772400" y="2016456"/>
            <a:ext cx="914400" cy="10668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Magnetic Disk 7"/>
          <p:cNvSpPr/>
          <p:nvPr/>
        </p:nvSpPr>
        <p:spPr>
          <a:xfrm>
            <a:off x="7772400" y="3769056"/>
            <a:ext cx="914400" cy="11430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343400" y="2549856"/>
            <a:ext cx="3048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343400" y="2702256"/>
            <a:ext cx="2971800" cy="16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419600" y="2702256"/>
            <a:ext cx="2895600" cy="152400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419600" y="4378656"/>
            <a:ext cx="2895600" cy="158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5105400" y="2245056"/>
            <a:ext cx="685800" cy="609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</a:t>
            </a:r>
            <a:endParaRPr lang="en-US"/>
          </a:p>
        </p:txBody>
      </p:sp>
      <p:sp>
        <p:nvSpPr>
          <p:cNvPr id="27" name="Diamond 26"/>
          <p:cNvSpPr/>
          <p:nvPr/>
        </p:nvSpPr>
        <p:spPr>
          <a:xfrm>
            <a:off x="5943600" y="3464256"/>
            <a:ext cx="685800" cy="609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</a:t>
            </a:r>
            <a:endParaRPr lang="en-US"/>
          </a:p>
        </p:txBody>
      </p:sp>
      <p:sp>
        <p:nvSpPr>
          <p:cNvPr id="28" name="Diamond 27"/>
          <p:cNvSpPr/>
          <p:nvPr/>
        </p:nvSpPr>
        <p:spPr>
          <a:xfrm>
            <a:off x="6629400" y="2626056"/>
            <a:ext cx="685800" cy="609600"/>
          </a:xfrm>
          <a:prstGeom prst="diamond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3</a:t>
            </a:r>
            <a:endParaRPr lang="en-US"/>
          </a:p>
        </p:txBody>
      </p:sp>
      <p:sp>
        <p:nvSpPr>
          <p:cNvPr id="29" name="Diamond 28"/>
          <p:cNvSpPr/>
          <p:nvPr/>
        </p:nvSpPr>
        <p:spPr>
          <a:xfrm>
            <a:off x="4648200" y="4073856"/>
            <a:ext cx="685800" cy="609600"/>
          </a:xfrm>
          <a:prstGeom prst="diamond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4</a:t>
            </a:r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4351360" y="5521656"/>
            <a:ext cx="3124200" cy="1588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Hexagon 31"/>
          <p:cNvSpPr/>
          <p:nvPr/>
        </p:nvSpPr>
        <p:spPr>
          <a:xfrm>
            <a:off x="4198960" y="5674056"/>
            <a:ext cx="990600" cy="45720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R</a:t>
            </a:r>
            <a:r>
              <a:rPr lang="en-US" baseline="-25000" smtClean="0"/>
              <a:t>1</a:t>
            </a:r>
            <a:endParaRPr lang="en-US" baseline="-25000"/>
          </a:p>
        </p:txBody>
      </p:sp>
      <p:sp>
        <p:nvSpPr>
          <p:cNvPr id="33" name="Hexagon 32"/>
          <p:cNvSpPr/>
          <p:nvPr/>
        </p:nvSpPr>
        <p:spPr>
          <a:xfrm>
            <a:off x="5418160" y="5674056"/>
            <a:ext cx="990600" cy="45720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R</a:t>
            </a:r>
            <a:r>
              <a:rPr lang="en-US" baseline="-25000" smtClean="0"/>
              <a:t>2</a:t>
            </a:r>
            <a:endParaRPr lang="en-US" baseline="-25000"/>
          </a:p>
        </p:txBody>
      </p:sp>
      <p:cxnSp>
        <p:nvCxnSpPr>
          <p:cNvPr id="40" name="Straight Arrow Connector 39"/>
          <p:cNvCxnSpPr/>
          <p:nvPr/>
        </p:nvCxnSpPr>
        <p:spPr>
          <a:xfrm rot="5400000" flipH="1" flipV="1">
            <a:off x="4465660" y="5178756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 flipH="1" flipV="1">
            <a:off x="4847454" y="5177962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5400000" flipH="1" flipV="1">
            <a:off x="5228454" y="5177962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 flipH="1" flipV="1">
            <a:off x="5609454" y="5177962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 flipH="1" flipV="1">
            <a:off x="5990454" y="5177962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 flipH="1" flipV="1">
            <a:off x="6371454" y="5177962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 flipH="1" flipV="1">
            <a:off x="6723570" y="5177962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 flipH="1" flipV="1">
            <a:off x="7057254" y="5177962"/>
            <a:ext cx="381000" cy="1588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52400" y="1556080"/>
            <a:ext cx="1219200" cy="158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438400" y="1557668"/>
            <a:ext cx="1828800" cy="158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267200" y="1557668"/>
            <a:ext cx="3276600" cy="158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7543800" y="1557668"/>
            <a:ext cx="1371600" cy="158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1371600" y="1556080"/>
            <a:ext cx="1066800" cy="158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04800" y="118992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Login</a:t>
            </a:r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2743200" y="1189924"/>
            <a:ext cx="135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SQL Service</a:t>
            </a:r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4724400" y="1189924"/>
            <a:ext cx="267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User &amp; Permission &amp; Role</a:t>
            </a:r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848600" y="118992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Database</a:t>
            </a:r>
            <a:endParaRPr lang="en-US"/>
          </a:p>
        </p:txBody>
      </p:sp>
      <p:sp>
        <p:nvSpPr>
          <p:cNvPr id="69" name="Right Arrow 68"/>
          <p:cNvSpPr/>
          <p:nvPr/>
        </p:nvSpPr>
        <p:spPr>
          <a:xfrm>
            <a:off x="1524000" y="2473656"/>
            <a:ext cx="914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Arrow 69"/>
          <p:cNvSpPr/>
          <p:nvPr/>
        </p:nvSpPr>
        <p:spPr>
          <a:xfrm>
            <a:off x="1524000" y="4150056"/>
            <a:ext cx="914400" cy="30480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1600200" y="163545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Log in</a:t>
            </a:r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2514600" y="6283656"/>
            <a:ext cx="6400800" cy="158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852018" y="6295324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SQL Server</a:t>
            </a:r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629400" y="5652448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P</a:t>
            </a:r>
            <a:endParaRPr lang="en-US"/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Mô hình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0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Đăng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nhập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303838"/>
          </a:xfrm>
        </p:spPr>
        <p:txBody>
          <a:bodyPr/>
          <a:lstStyle/>
          <a:p>
            <a:r>
              <a:rPr lang="en-US" b="1" u="sng" dirty="0" err="1" smtClean="0">
                <a:ea typeface="Arial Unicode MS" pitchFamily="34" charset="-128"/>
              </a:rPr>
              <a:t>Tạo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người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đăng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nhập</a:t>
            </a:r>
            <a:endParaRPr lang="en-US" b="1" u="sng" dirty="0" smtClean="0">
              <a:ea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	</a:t>
            </a:r>
            <a:r>
              <a:rPr lang="en-US" sz="2400" err="1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sp_addlogin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70C0"/>
              </a:solidFill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‘</a:t>
            </a:r>
            <a:r>
              <a:rPr lang="en-US" sz="2400" dirty="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tên_login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’ ,  ‘</a:t>
            </a:r>
            <a:r>
              <a:rPr lang="en-US" sz="2400" dirty="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mật_khẩu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’  [, ‘</a:t>
            </a:r>
            <a:r>
              <a:rPr lang="en-US" sz="2400" dirty="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dữ_liệu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’]</a:t>
            </a:r>
          </a:p>
          <a:p>
            <a:pPr>
              <a:buNone/>
            </a:pPr>
            <a:endParaRPr lang="en-US" sz="2400" dirty="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create  login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 </a:t>
            </a:r>
            <a:r>
              <a:rPr lang="en-US" sz="2400" dirty="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tên_login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</a:t>
            </a: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with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password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= ‘</a:t>
            </a:r>
            <a:r>
              <a:rPr lang="en-US" sz="2400" dirty="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mật_khẩu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’ </a:t>
            </a: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[, </a:t>
            </a:r>
            <a:r>
              <a:rPr lang="en-US" sz="2400" dirty="0" err="1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default_database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= </a:t>
            </a:r>
            <a:r>
              <a:rPr lang="en-US" sz="2400" dirty="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dữ_liệu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]</a:t>
            </a:r>
          </a:p>
          <a:p>
            <a:pPr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1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Đăng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nhập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5303838"/>
          </a:xfrm>
        </p:spPr>
        <p:txBody>
          <a:bodyPr>
            <a:normAutofit/>
          </a:bodyPr>
          <a:lstStyle/>
          <a:p>
            <a:r>
              <a:rPr lang="en-US" b="1" u="sng" dirty="0" err="1" smtClean="0">
                <a:ea typeface="Arial Unicode MS" pitchFamily="34" charset="-128"/>
              </a:rPr>
              <a:t>Xóa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người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đăng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nhập</a:t>
            </a:r>
            <a:endParaRPr lang="en-US" b="1" u="sng" dirty="0" smtClean="0">
              <a:ea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	</a:t>
            </a:r>
            <a:r>
              <a:rPr lang="en-US" sz="2400" dirty="0" err="1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sp_droplogin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   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‘</a:t>
            </a:r>
            <a:r>
              <a:rPr lang="en-US" sz="240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tên_login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’</a:t>
            </a:r>
          </a:p>
          <a:p>
            <a:pPr>
              <a:buNone/>
            </a:pPr>
            <a:endParaRPr lang="en-US" sz="2400" dirty="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drop  login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 </a:t>
            </a:r>
            <a:r>
              <a:rPr lang="en-US" sz="2400" err="1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tên_login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</a:t>
            </a:r>
            <a:endParaRPr lang="en-US" sz="24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b="1" u="sng" dirty="0" err="1" smtClean="0">
                <a:ea typeface="Arial Unicode MS" pitchFamily="34" charset="-128"/>
              </a:rPr>
              <a:t>Thay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đổi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người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đăng</a:t>
            </a:r>
            <a:r>
              <a:rPr lang="en-US" b="1" u="sng" dirty="0" smtClean="0">
                <a:ea typeface="Arial Unicode MS" pitchFamily="34" charset="-128"/>
              </a:rPr>
              <a:t> </a:t>
            </a:r>
            <a:r>
              <a:rPr lang="en-US" b="1" u="sng" dirty="0" err="1" smtClean="0">
                <a:ea typeface="Arial Unicode MS" pitchFamily="34" charset="-128"/>
              </a:rPr>
              <a:t>nhập</a:t>
            </a:r>
            <a:endParaRPr lang="en-US" b="1" u="sng" dirty="0" smtClean="0">
              <a:ea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alter 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login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</a:t>
            </a:r>
            <a:endParaRPr lang="en-US" sz="24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{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[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enable 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| </a:t>
            </a:r>
            <a:r>
              <a:rPr lang="en-US" sz="2400" dirty="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disable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] 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|  </a:t>
            </a:r>
          </a:p>
          <a:p>
            <a:pPr>
              <a:buNone/>
            </a:pP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with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{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password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=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‘…’|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default_database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= …}</a:t>
            </a:r>
            <a:endParaRPr lang="en-US" sz="2400" dirty="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}</a:t>
            </a:r>
            <a:r>
              <a:rPr lang="en-US" sz="2400" dirty="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Người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dùng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5303838"/>
          </a:xfrm>
        </p:spPr>
        <p:txBody>
          <a:bodyPr>
            <a:normAutofit/>
          </a:bodyPr>
          <a:lstStyle/>
          <a:p>
            <a:r>
              <a:rPr lang="en-US" b="1" u="sng" smtClean="0">
                <a:ea typeface="Arial Unicode MS" pitchFamily="34" charset="-128"/>
              </a:rPr>
              <a:t>Tạo người dùng cho từng dữ liệu</a:t>
            </a:r>
          </a:p>
          <a:p>
            <a:pPr>
              <a:buNone/>
            </a:pP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	sp_adduser   </a:t>
            </a:r>
            <a:endParaRPr lang="en-US" sz="2400" smtClean="0">
              <a:solidFill>
                <a:srgbClr val="0070C0"/>
              </a:solidFill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‘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tên_login’ , ’tên_user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’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[ , ‘tên_role’ ]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create  user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tên_user  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for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tên_login</a:t>
            </a:r>
          </a:p>
          <a:p>
            <a:endParaRPr lang="en-US" b="1" u="sng" smtClean="0">
              <a:ea typeface="Arial Unicode MS" pitchFamily="34" charset="-128"/>
            </a:endParaRPr>
          </a:p>
          <a:p>
            <a:r>
              <a:rPr lang="en-US" b="1" u="sng" smtClean="0">
                <a:ea typeface="Arial Unicode MS" pitchFamily="34" charset="-128"/>
              </a:rPr>
              <a:t>Xóa </a:t>
            </a:r>
            <a:r>
              <a:rPr lang="en-US" b="1" u="sng" smtClean="0">
                <a:ea typeface="Arial Unicode MS" pitchFamily="34" charset="-128"/>
              </a:rPr>
              <a:t>người dùng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	sp_dropuser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	‘tên_user’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drop   user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	tên_user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7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Nhóm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quyền 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5303838"/>
          </a:xfrm>
        </p:spPr>
        <p:txBody>
          <a:bodyPr>
            <a:normAutofit/>
          </a:bodyPr>
          <a:lstStyle/>
          <a:p>
            <a:r>
              <a:rPr lang="en-US" b="1" u="sng" smtClean="0">
                <a:ea typeface="Arial Unicode MS" pitchFamily="34" charset="-128"/>
              </a:rPr>
              <a:t>Tạo nhóm quyền</a:t>
            </a:r>
          </a:p>
          <a:p>
            <a:pPr>
              <a:buNone/>
            </a:pP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	sp_addrole  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‘tên_role’ 	</a:t>
            </a:r>
          </a:p>
          <a:p>
            <a:pPr>
              <a:buNone/>
            </a:pPr>
            <a:endParaRPr lang="en-US" sz="24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create  role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tên_user</a:t>
            </a:r>
          </a:p>
          <a:p>
            <a:pPr>
              <a:buNone/>
            </a:pPr>
            <a:endParaRPr lang="en-US" sz="24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r>
              <a:rPr lang="en-US" b="1" u="sng" smtClean="0">
                <a:ea typeface="Arial Unicode MS" pitchFamily="34" charset="-128"/>
              </a:rPr>
              <a:t>Xóa nhóm quyền</a:t>
            </a:r>
          </a:p>
          <a:p>
            <a:pPr>
              <a:buNone/>
            </a:pP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	sp_droprole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	‘tên_role’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drop   role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	tên_role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1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Người dùng &amp; nhóm quyền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5303838"/>
          </a:xfrm>
        </p:spPr>
        <p:txBody>
          <a:bodyPr>
            <a:normAutofit/>
          </a:bodyPr>
          <a:lstStyle/>
          <a:p>
            <a:r>
              <a:rPr lang="en-US" b="1" u="sng" smtClean="0">
                <a:ea typeface="Arial Unicode MS" pitchFamily="34" charset="-128"/>
              </a:rPr>
              <a:t>Gắn người dùng với nhóm quyền</a:t>
            </a:r>
          </a:p>
          <a:p>
            <a:pPr>
              <a:buNone/>
            </a:pPr>
            <a:r>
              <a:rPr lang="en-US" b="1" smtClean="0">
                <a:ea typeface="Arial Unicode MS" pitchFamily="34" charset="-128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sp_addrolemember   </a:t>
            </a:r>
          </a:p>
          <a:p>
            <a:pPr>
              <a:buNone/>
            </a:pP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‘tên_role’ 	, ‘tên_user’</a:t>
            </a:r>
          </a:p>
          <a:p>
            <a:endParaRPr lang="en-US" b="1" u="sng" smtClean="0">
              <a:ea typeface="Arial Unicode MS" pitchFamily="34" charset="-128"/>
            </a:endParaRPr>
          </a:p>
          <a:p>
            <a:r>
              <a:rPr lang="en-US" b="1" u="sng" smtClean="0">
                <a:ea typeface="Arial Unicode MS" pitchFamily="34" charset="-128"/>
              </a:rPr>
              <a:t>Xóa nhóm quyền</a:t>
            </a:r>
          </a:p>
          <a:p>
            <a:pPr>
              <a:buNone/>
            </a:pPr>
            <a:r>
              <a:rPr lang="en-US" b="1" smtClean="0">
                <a:ea typeface="Arial Unicode MS" pitchFamily="34" charset="-128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 sp_droprolemember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	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‘tên_role’  , ‘tên_user’</a:t>
            </a:r>
          </a:p>
          <a:p>
            <a:pPr>
              <a:buNone/>
            </a:pPr>
            <a:r>
              <a:rPr lang="en-US" b="1" smtClean="0">
                <a:ea typeface="Arial Unicode MS" pitchFamily="34" charset="-128"/>
              </a:rPr>
              <a:t>	</a:t>
            </a:r>
          </a:p>
          <a:p>
            <a:pPr>
              <a:buNone/>
            </a:pPr>
            <a:r>
              <a:rPr lang="en-US" b="1" smtClean="0">
                <a:ea typeface="Arial Unicode MS" pitchFamily="34" charset="-128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7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Quyền hạn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permission)</a:t>
            </a:r>
            <a:endParaRPr lang="en-US" i="1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5303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smtClean="0">
                <a:ea typeface="Arial Unicode MS" pitchFamily="34" charset="-128"/>
              </a:rPr>
              <a:t>Tạo quyền hạn</a:t>
            </a:r>
          </a:p>
          <a:p>
            <a:pPr>
              <a:buNone/>
            </a:pPr>
            <a:r>
              <a:rPr lang="en-US" b="1" smtClean="0">
                <a:solidFill>
                  <a:srgbClr val="0070C0"/>
                </a:solidFill>
                <a:ea typeface="Arial Unicode MS" pitchFamily="34" charset="-128"/>
              </a:rPr>
              <a:t>	</a:t>
            </a:r>
            <a:r>
              <a:rPr lang="en-US" sz="22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Grant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{ALL | permission} </a:t>
            </a:r>
            <a:endParaRPr lang="en-US" sz="22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2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2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on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table[ (column [,…n])]  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</a:t>
            </a:r>
            <a:r>
              <a:rPr lang="en-US" sz="22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to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{ user | role [,… n] }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[</a:t>
            </a:r>
            <a:r>
              <a:rPr lang="en-US" sz="22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with  grant option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1800" i="1" smtClean="0">
                <a:ea typeface="Arial Unicode MS" pitchFamily="34" charset="-128"/>
              </a:rPr>
              <a:t>with </a:t>
            </a:r>
            <a:r>
              <a:rPr lang="en-US" sz="1800" i="1" smtClean="0">
                <a:ea typeface="Arial Unicode MS" pitchFamily="34" charset="-128"/>
              </a:rPr>
              <a:t>grant option : được phép gán lại quyền mà mình có cho người khác</a:t>
            </a:r>
            <a:r>
              <a:rPr lang="en-US" sz="1800" i="1" smtClean="0">
                <a:ea typeface="Arial Unicode MS" pitchFamily="34" charset="-128"/>
              </a:rPr>
              <a:t>.</a:t>
            </a:r>
          </a:p>
          <a:p>
            <a:pPr marL="0" indent="0">
              <a:buNone/>
            </a:pPr>
            <a:r>
              <a:rPr lang="en-US" sz="2400" b="1" u="sng">
                <a:ea typeface="Arial Unicode MS" pitchFamily="34" charset="-128"/>
              </a:rPr>
              <a:t>Xóa quyền hạn</a:t>
            </a:r>
          </a:p>
          <a:p>
            <a:pPr>
              <a:buNone/>
            </a:pPr>
            <a:r>
              <a:rPr lang="en-US" sz="1800">
                <a:solidFill>
                  <a:srgbClr val="0070C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Revoke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[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grant option for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] {ALL | permission} 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on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	table[ (column [,…n])] 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to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{ user | role [,… n] }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[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cascade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1800" i="1">
                <a:ea typeface="Arial Unicode MS" pitchFamily="34" charset="-128"/>
              </a:rPr>
              <a:t>grant option for : bỏ tính năng cấp lại quyền cho người khác (quyền vẫn được giử lại).</a:t>
            </a:r>
          </a:p>
          <a:p>
            <a:pPr>
              <a:buNone/>
            </a:pPr>
            <a:r>
              <a:rPr lang="en-US" sz="1800" i="1" smtClean="0">
                <a:ea typeface="Arial Unicode MS" pitchFamily="34" charset="-128"/>
              </a:rPr>
              <a:t>cascade</a:t>
            </a:r>
            <a:r>
              <a:rPr lang="en-US" sz="1800" i="1">
                <a:ea typeface="Arial Unicode MS" pitchFamily="34" charset="-128"/>
              </a:rPr>
              <a:t>:  bỏ tất cả các quyền (ở các kế thừa)</a:t>
            </a:r>
          </a:p>
          <a:p>
            <a:pPr>
              <a:buNone/>
            </a:pPr>
            <a:endParaRPr lang="en-US" sz="1800" i="1" smtClean="0">
              <a:ea typeface="Arial Unicode MS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3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Ví dụ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5303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smtClean="0">
                <a:ea typeface="Arial Unicode MS" pitchFamily="34" charset="-128"/>
              </a:rPr>
              <a:t>Đăng nhập ‘sa’</a:t>
            </a:r>
          </a:p>
          <a:p>
            <a:pPr marL="0" lvl="1" indent="0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sp_addlogin  ‘u1’, ‘123’</a:t>
            </a:r>
          </a:p>
          <a:p>
            <a:pPr marL="0" lvl="1" indent="0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sp_addlogin  ‘u2’, ‘123’</a:t>
            </a:r>
          </a:p>
          <a:p>
            <a:pPr marL="0" lvl="1" indent="0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sp_adduser  ‘u1’, ‘u1’</a:t>
            </a:r>
          </a:p>
          <a:p>
            <a:pPr marL="0" lvl="1" indent="0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sp_adduser  ‘u2’, ‘u2’</a:t>
            </a:r>
          </a:p>
          <a:p>
            <a:pPr marL="0" lvl="1" indent="0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Grant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select on sinhvien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to  u1 with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grant option</a:t>
            </a:r>
            <a:endParaRPr lang="en-US" sz="22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 lvl="1">
              <a:buNone/>
            </a:pPr>
            <a:endParaRPr lang="en-US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285750" lvl="1">
              <a:buFont typeface="Symbol"/>
              <a:buChar char="Þ"/>
            </a:pPr>
            <a:r>
              <a:rPr lang="en-US" sz="2400" smtClean="0">
                <a:ea typeface="Arial Unicode MS" pitchFamily="34" charset="-128"/>
              </a:rPr>
              <a:t>u1 có quyền dùng 2 lệnh </a:t>
            </a:r>
          </a:p>
          <a:p>
            <a:pPr marL="285750" lvl="1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Select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* from sinhvien </a:t>
            </a:r>
          </a:p>
          <a:p>
            <a:pPr marL="285750" lvl="1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Grant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select on sinhvien to u2 [with grant option]</a:t>
            </a:r>
          </a:p>
          <a:p>
            <a:pPr lvl="1">
              <a:buNone/>
            </a:pPr>
            <a:endParaRPr lang="en-US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1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Ví dụ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5303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smtClean="0">
                <a:ea typeface="Arial Unicode MS" pitchFamily="34" charset="-128"/>
              </a:rPr>
              <a:t>Đăng nhập với ‘u1’</a:t>
            </a:r>
          </a:p>
          <a:p>
            <a:pPr lvl="1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Grant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select on sinhvien to u2 with grant option</a:t>
            </a:r>
          </a:p>
          <a:p>
            <a:pPr lvl="1">
              <a:buFont typeface="Symbol"/>
              <a:buChar char="Þ"/>
            </a:pPr>
            <a:r>
              <a:rPr lang="en-US" sz="2400" smtClean="0">
                <a:ea typeface="Arial Unicode MS" pitchFamily="34" charset="-128"/>
              </a:rPr>
              <a:t>Vậy u2 có quyền select và grant.</a:t>
            </a:r>
          </a:p>
          <a:p>
            <a:pPr marL="0" indent="0">
              <a:buNone/>
            </a:pPr>
            <a:r>
              <a:rPr lang="en-US" sz="2400" b="1" smtClean="0">
                <a:ea typeface="Arial Unicode MS" pitchFamily="34" charset="-128"/>
              </a:rPr>
              <a:t>Đăng nhập với ‘sa’</a:t>
            </a:r>
          </a:p>
          <a:p>
            <a:pPr lvl="1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Revoke select on sinhvien to u1 cascade </a:t>
            </a:r>
          </a:p>
          <a:p>
            <a:pPr lvl="1">
              <a:buFont typeface="Symbol"/>
              <a:buChar char="Þ"/>
            </a:pPr>
            <a:r>
              <a:rPr lang="en-US" sz="2400" smtClean="0">
                <a:ea typeface="Arial Unicode MS" pitchFamily="34" charset="-128"/>
              </a:rPr>
              <a:t>Xóa hết quyền select và grant ở u1 và cả </a:t>
            </a:r>
            <a:r>
              <a:rPr lang="en-US" sz="2400" smtClean="0">
                <a:ea typeface="Arial Unicode MS" pitchFamily="34" charset="-128"/>
              </a:rPr>
              <a:t>u2</a:t>
            </a:r>
          </a:p>
          <a:p>
            <a:pPr marL="457200" lvl="1" indent="0">
              <a:buNone/>
            </a:pPr>
            <a:endParaRPr lang="en-US" sz="2400" smtClean="0">
              <a:ea typeface="Arial Unicode MS" pitchFamily="34" charset="-128"/>
            </a:endParaRPr>
          </a:p>
          <a:p>
            <a:pPr lvl="1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Revoke grant option for </a:t>
            </a:r>
          </a:p>
          <a:p>
            <a:pPr lvl="1"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select on sinhvien to u1 cascade </a:t>
            </a:r>
          </a:p>
          <a:p>
            <a:pPr lvl="1">
              <a:buFont typeface="Symbol"/>
              <a:buChar char="Þ"/>
            </a:pPr>
            <a:r>
              <a:rPr lang="en-US" sz="2400" smtClean="0">
                <a:ea typeface="Arial Unicode MS" pitchFamily="34" charset="-128"/>
              </a:rPr>
              <a:t>Xóa quyền grant ở u1 </a:t>
            </a:r>
            <a:r>
              <a:rPr lang="en-US" sz="2400" smtClean="0">
                <a:ea typeface="Arial Unicode MS" pitchFamily="34" charset="-128"/>
              </a:rPr>
              <a:t>và </a:t>
            </a:r>
            <a:r>
              <a:rPr lang="en-US" sz="2400" smtClean="0">
                <a:ea typeface="Arial Unicode MS" pitchFamily="34" charset="-128"/>
              </a:rPr>
              <a:t>quyền select và grant ở </a:t>
            </a:r>
            <a:r>
              <a:rPr lang="en-US" sz="2400" smtClean="0">
                <a:ea typeface="Arial Unicode MS" pitchFamily="34" charset="-128"/>
              </a:rPr>
              <a:t>u2</a:t>
            </a:r>
            <a:endParaRPr lang="en-US" sz="2400" smtClean="0">
              <a:ea typeface="Arial Unicode MS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8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Sao lưu 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mtClean="0">
                <a:ea typeface="Arial Unicode MS" pitchFamily="34" charset="-128"/>
              </a:rPr>
              <a:t>Khái niệm</a:t>
            </a:r>
          </a:p>
          <a:p>
            <a:pPr>
              <a:buNone/>
            </a:pPr>
            <a:r>
              <a:rPr lang="en-US" smtClean="0">
                <a:ea typeface="Arial Unicode MS" pitchFamily="34" charset="-128"/>
              </a:rPr>
              <a:t>	Sao lưu là công việc sao chép thông tin của database vào một thời điểm nhất định vào nơi lưu trữ khác</a:t>
            </a:r>
            <a:r>
              <a:rPr lang="en-US" smtClean="0">
                <a:ea typeface="Arial Unicode MS" pitchFamily="34" charset="-128"/>
              </a:rPr>
              <a:t>.</a:t>
            </a:r>
          </a:p>
          <a:p>
            <a:pPr>
              <a:buNone/>
            </a:pPr>
            <a:endParaRPr lang="en-US" smtClean="0">
              <a:ea typeface="Arial Unicode MS" pitchFamily="34" charset="-128"/>
            </a:endParaRPr>
          </a:p>
          <a:p>
            <a:pPr marL="0" indent="0">
              <a:buNone/>
            </a:pPr>
            <a:r>
              <a:rPr lang="en-US" b="1" smtClean="0">
                <a:ea typeface="Arial Unicode MS" pitchFamily="34" charset="-128"/>
              </a:rPr>
              <a:t>Vấn đề</a:t>
            </a:r>
          </a:p>
          <a:p>
            <a:pPr lvl="1"/>
            <a:r>
              <a:rPr lang="en-US" smtClean="0">
                <a:ea typeface="Arial Unicode MS" pitchFamily="34" charset="-128"/>
              </a:rPr>
              <a:t>Có thật sự có nhu cầu cần sao lưu dữ liệu.</a:t>
            </a:r>
          </a:p>
          <a:p>
            <a:pPr lvl="1"/>
            <a:r>
              <a:rPr lang="en-US" smtClean="0">
                <a:ea typeface="Arial Unicode MS" pitchFamily="34" charset="-128"/>
              </a:rPr>
              <a:t>Chiến lược sao lưu dữ liệu</a:t>
            </a:r>
            <a:r>
              <a:rPr lang="en-US" smtClean="0">
                <a:ea typeface="Arial Unicode MS" pitchFamily="34" charset="-128"/>
              </a:rPr>
              <a:t>.</a:t>
            </a:r>
          </a:p>
          <a:p>
            <a:pPr lvl="1"/>
            <a:r>
              <a:rPr lang="en-US" smtClean="0">
                <a:ea typeface="Arial Unicode MS" pitchFamily="34" charset="-128"/>
              </a:rPr>
              <a:t>Cách phục hồi dữ liệu</a:t>
            </a:r>
            <a:endParaRPr lang="en-US" smtClean="0">
              <a:ea typeface="Arial Unicode MS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5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Sao lưu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(Phân loại)</a:t>
            </a:r>
            <a:endParaRPr lang="en-US" i="1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5486400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b="1" smtClean="0">
                <a:ea typeface="Arial Unicode MS" pitchFamily="34" charset="-128"/>
              </a:rPr>
              <a:t>Sao lưu toàn phần </a:t>
            </a:r>
          </a:p>
          <a:p>
            <a:pPr marL="285750" lvl="1">
              <a:buNone/>
            </a:pPr>
            <a:r>
              <a:rPr lang="en-US" smtClean="0">
                <a:ea typeface="Arial Unicode MS" pitchFamily="34" charset="-128"/>
              </a:rPr>
              <a:t>	Toàn bộ database sẽ được ghi lại vào thời điểm sao lưu.</a:t>
            </a:r>
          </a:p>
          <a:p>
            <a:pPr marL="0" lvl="1" indent="0">
              <a:buNone/>
            </a:pPr>
            <a:r>
              <a:rPr lang="en-US" b="1" smtClean="0">
                <a:ea typeface="Arial Unicode MS" pitchFamily="34" charset="-128"/>
              </a:rPr>
              <a:t>Sao lưu một phần</a:t>
            </a:r>
          </a:p>
          <a:p>
            <a:pPr marL="285750" lvl="1">
              <a:buNone/>
            </a:pPr>
            <a:r>
              <a:rPr lang="en-US" smtClean="0">
                <a:ea typeface="Arial Unicode MS" pitchFamily="34" charset="-128"/>
              </a:rPr>
              <a:t>	Chỉ những phần thay đổi của database so với thời điểm mà database đã sao lưu toàn phần gần nhất.</a:t>
            </a:r>
          </a:p>
          <a:p>
            <a:pPr marL="0" lvl="1" indent="0">
              <a:buNone/>
            </a:pPr>
            <a:r>
              <a:rPr lang="en-US" b="1" smtClean="0">
                <a:ea typeface="Arial Unicode MS" pitchFamily="34" charset="-128"/>
              </a:rPr>
              <a:t>Sao lưu bảng lưu vết  của giao tác (transaction log)</a:t>
            </a:r>
          </a:p>
          <a:p>
            <a:pPr marL="285750" lvl="1">
              <a:buNone/>
            </a:pPr>
            <a:r>
              <a:rPr lang="en-US" b="1" smtClean="0">
                <a:ea typeface="Arial Unicode MS" pitchFamily="34" charset="-128"/>
              </a:rPr>
              <a:t>	</a:t>
            </a:r>
            <a:r>
              <a:rPr lang="en-US" smtClean="0">
                <a:ea typeface="Arial Unicode MS" pitchFamily="34" charset="-128"/>
              </a:rPr>
              <a:t>Sao lưu vết của các giao tác đang được thực thi tại thời điểm sao lưu.</a:t>
            </a:r>
            <a:endParaRPr lang="en-US" b="1" smtClean="0">
              <a:ea typeface="Arial Unicode MS" pitchFamily="34" charset="-128"/>
            </a:endParaRPr>
          </a:p>
          <a:p>
            <a:pPr marL="0" lvl="1" indent="0">
              <a:buNone/>
            </a:pPr>
            <a:r>
              <a:rPr lang="en-US" b="1" smtClean="0">
                <a:ea typeface="Arial Unicode MS" pitchFamily="34" charset="-128"/>
              </a:rPr>
              <a:t>Sao lưu các bảng sao trong dữ liệu phân tán (duplicate data)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8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Sao lưu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(Cú pháp lệnh)</a:t>
            </a:r>
            <a:endParaRPr lang="en-US" i="1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763000" cy="5410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BACKUP DATABASE </a:t>
            </a:r>
            <a:r>
              <a:rPr lang="en-US" sz="24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tendb</a:t>
            </a:r>
            <a:r>
              <a:rPr lang="en-US" sz="24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dirty="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TO </a:t>
            </a:r>
            <a:r>
              <a:rPr lang="en-US" sz="24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&lt;</a:t>
            </a:r>
            <a:r>
              <a:rPr lang="en-US" sz="24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thiết</a:t>
            </a:r>
            <a:r>
              <a:rPr lang="en-US" sz="2400" i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bị</a:t>
            </a:r>
            <a:r>
              <a:rPr lang="en-US" sz="2400" i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lưu</a:t>
            </a:r>
            <a:r>
              <a:rPr lang="en-US" sz="24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&gt; 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[ </a:t>
            </a:r>
            <a:r>
              <a:rPr lang="en-US" sz="2400" dirty="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WITH </a:t>
            </a:r>
            <a:r>
              <a:rPr lang="en-US" sz="24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r>
              <a:rPr lang="en-US" sz="2400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DIFFERENTIAL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| &lt;</a:t>
            </a:r>
            <a:r>
              <a:rPr lang="en-US" sz="24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tham</a:t>
            </a:r>
            <a:r>
              <a:rPr lang="en-US" sz="2400" i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số</a:t>
            </a:r>
            <a:r>
              <a:rPr lang="en-US" sz="24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&gt;} </a:t>
            </a:r>
            <a:r>
              <a:rPr lang="en-US" sz="24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]</a:t>
            </a:r>
          </a:p>
          <a:p>
            <a:pPr>
              <a:buNone/>
            </a:pPr>
            <a:endParaRPr lang="en-US" dirty="0" smtClean="0"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DIFFERENTIAL</a:t>
            </a:r>
            <a:r>
              <a:rPr lang="en-US" sz="2200" dirty="0" smtClean="0"/>
              <a:t> : </a:t>
            </a:r>
            <a:r>
              <a:rPr lang="en-US" sz="2200" dirty="0" smtClean="0">
                <a:ea typeface="Verdana" pitchFamily="34" charset="0"/>
              </a:rPr>
              <a:t>Sao </a:t>
            </a:r>
            <a:r>
              <a:rPr lang="en-US" sz="2200" dirty="0" err="1" smtClean="0">
                <a:ea typeface="Verdana" pitchFamily="34" charset="0"/>
              </a:rPr>
              <a:t>lưu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một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phần</a:t>
            </a:r>
            <a:r>
              <a:rPr lang="en-US" sz="2200" dirty="0" smtClean="0">
                <a:ea typeface="Verdana" pitchFamily="34" charset="0"/>
              </a:rPr>
              <a:t>, </a:t>
            </a:r>
            <a:r>
              <a:rPr lang="en-US" sz="2200" dirty="0" err="1" smtClean="0">
                <a:ea typeface="Verdana" pitchFamily="34" charset="0"/>
              </a:rPr>
              <a:t>mặc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nhiên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là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sao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lưu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toàn</a:t>
            </a:r>
            <a:r>
              <a:rPr lang="en-US" sz="2200" dirty="0" smtClean="0">
                <a:ea typeface="Verdana" pitchFamily="34" charset="0"/>
              </a:rPr>
              <a:t> </a:t>
            </a:r>
            <a:r>
              <a:rPr lang="en-US" sz="2200" dirty="0" err="1" smtClean="0">
                <a:ea typeface="Verdana" pitchFamily="34" charset="0"/>
              </a:rPr>
              <a:t>phần</a:t>
            </a:r>
            <a:r>
              <a:rPr lang="en-US" sz="2200" dirty="0" smtClean="0">
                <a:ea typeface="Verdana" pitchFamily="34" charset="0"/>
              </a:rPr>
              <a:t>.</a:t>
            </a:r>
          </a:p>
          <a:p>
            <a:pPr>
              <a:buNone/>
            </a:pPr>
            <a:r>
              <a:rPr lang="en-US" sz="22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&lt;</a:t>
            </a:r>
            <a:r>
              <a:rPr lang="en-US" sz="22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thiết</a:t>
            </a:r>
            <a:r>
              <a:rPr lang="en-US" sz="2200" i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2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bị</a:t>
            </a:r>
            <a:r>
              <a:rPr lang="en-US" sz="2200" i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200" i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lưu</a:t>
            </a:r>
            <a:r>
              <a:rPr lang="en-US" sz="22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&gt;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:=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r>
              <a:rPr lang="en-US" sz="220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DISK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|</a:t>
            </a:r>
            <a:r>
              <a:rPr lang="en-US" sz="220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TAPE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}=‘</a:t>
            </a:r>
            <a:r>
              <a:rPr lang="en-US" sz="2200" i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tên_thiết_bị</a:t>
            </a:r>
            <a:r>
              <a:rPr lang="en-US" sz="2200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’</a:t>
            </a:r>
          </a:p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DESCRIPTION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i="1">
                <a:latin typeface="Courier New" pitchFamily="49" charset="0"/>
                <a:cs typeface="Courier New" pitchFamily="49" charset="0"/>
              </a:rPr>
              <a:t>ghichu </a:t>
            </a:r>
            <a:r>
              <a:rPr lang="en-US" sz="2200"/>
              <a:t>(ghi chú bảng lưu)</a:t>
            </a:r>
          </a:p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NAME</a:t>
            </a:r>
            <a:r>
              <a:rPr lang="en-US" sz="240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</a:t>
            </a:r>
            <a:r>
              <a:rPr lang="en-US" sz="2400" i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ten</a:t>
            </a:r>
            <a:r>
              <a:rPr lang="en-US" sz="2400">
                <a:ea typeface="Arial Unicode MS" pitchFamily="34" charset="-128"/>
                <a:cs typeface="Arial Unicode MS" pitchFamily="34" charset="-128"/>
              </a:rPr>
              <a:t> (ghi tên bảng lưu)</a:t>
            </a:r>
          </a:p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PASSWORD</a:t>
            </a:r>
            <a:r>
              <a:rPr lang="en-US" sz="240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</a:t>
            </a:r>
            <a:r>
              <a:rPr lang="en-US" sz="2400" i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matkhau</a:t>
            </a:r>
            <a:r>
              <a:rPr lang="en-US" sz="2400">
                <a:ea typeface="Arial Unicode MS" pitchFamily="34" charset="-128"/>
                <a:cs typeface="Arial Unicode MS" pitchFamily="34" charset="-128"/>
              </a:rPr>
              <a:t> (ghi mật khẩu bảng lưu)</a:t>
            </a:r>
          </a:p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RETAINDAYS</a:t>
            </a:r>
            <a:r>
              <a:rPr lang="en-US" sz="240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</a:t>
            </a:r>
            <a:r>
              <a:rPr lang="en-US" sz="2400" i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songay</a:t>
            </a:r>
            <a:r>
              <a:rPr lang="en-US" sz="2400">
                <a:ea typeface="Arial Unicode MS" pitchFamily="34" charset="-128"/>
                <a:cs typeface="Arial Unicode MS" pitchFamily="34" charset="-128"/>
              </a:rPr>
              <a:t> (ghi số ngày hết hạn của bảng lưu tính từ thời điểm sao lưu) </a:t>
            </a:r>
          </a:p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EXPIREDATE</a:t>
            </a:r>
            <a:r>
              <a:rPr lang="en-US" sz="240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</a:t>
            </a:r>
            <a:r>
              <a:rPr lang="en-US" sz="2400" i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ngay</a:t>
            </a:r>
            <a:r>
              <a:rPr lang="en-US" sz="2400">
                <a:ea typeface="Arial Unicode MS" pitchFamily="34" charset="-128"/>
                <a:cs typeface="Arial Unicode MS" pitchFamily="34" charset="-128"/>
              </a:rPr>
              <a:t> (hạn cuối của bảng sao lưu)</a:t>
            </a:r>
          </a:p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STOP_ON_ERROR  </a:t>
            </a:r>
            <a:r>
              <a:rPr lang="en-US" sz="240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|</a:t>
            </a:r>
            <a:r>
              <a:rPr lang="en-US" sz="24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CONTINUE_AFTER_ERROR</a:t>
            </a:r>
            <a:r>
              <a:rPr lang="en-US" sz="2400">
                <a:solidFill>
                  <a:srgbClr val="00B0F0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>
                <a:ea typeface="Arial Unicode MS" pitchFamily="34" charset="-128"/>
                <a:cs typeface="Arial Unicode MS" pitchFamily="34" charset="-128"/>
              </a:rPr>
              <a:t> (ngừng khi gặp lỗi và ngược lại)</a:t>
            </a:r>
          </a:p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STATS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i="1">
                <a:latin typeface="Courier New" pitchFamily="49" charset="0"/>
                <a:cs typeface="Courier New" pitchFamily="49" charset="0"/>
              </a:rPr>
              <a:t>số </a:t>
            </a:r>
            <a:r>
              <a:rPr lang="en-US" sz="2400" i="1"/>
              <a:t> </a:t>
            </a:r>
            <a:r>
              <a:rPr lang="en-US" sz="2400"/>
              <a:t>(phần trăm thể hiện trong quá trình sao </a:t>
            </a:r>
            <a:r>
              <a:rPr lang="en-US" sz="2400"/>
              <a:t>lưu</a:t>
            </a:r>
            <a:r>
              <a:rPr lang="en-US" sz="2400" smtClean="0"/>
              <a:t>)</a:t>
            </a:r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9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Sao lưu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(Ví dụ)</a:t>
            </a:r>
            <a:endParaRPr lang="en-US" i="1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smtClean="0"/>
              <a:t>Sao lưu toàn phần cho database tên là ‘</a:t>
            </a:r>
            <a:r>
              <a:rPr lang="en-US" b="1" i="1" smtClean="0"/>
              <a:t>qlbv</a:t>
            </a:r>
            <a:r>
              <a:rPr lang="en-US" b="1" smtClean="0"/>
              <a:t>’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BACKUP DATABASE qlbv  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TO DISK = 'E:\qlbv.bak'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WITH NAME = 'qlbv backup', STATS = 10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b="1" smtClean="0"/>
              <a:t>Sao lưu một phần cho database tên là ‘qlbv’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BACKUP DATABASE qlbv  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TO DISK = 'E:\qlbv.bak'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WITH  DIFFERENTIAL, NAME = 'qlbv backup 1 phan', STATS = 10</a:t>
            </a:r>
          </a:p>
          <a:p>
            <a:pPr marL="0" indent="0">
              <a:buNone/>
            </a:pPr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4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Phục hồi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(Cú pháp lệnh)</a:t>
            </a:r>
            <a:endParaRPr lang="en-US" i="1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763000" cy="5410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20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RESTORE DATABASE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200" i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tendb_moi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20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FROM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&lt;</a:t>
            </a:r>
            <a:r>
              <a:rPr lang="en-US" sz="2200" i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thiết bị lưu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&gt;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[ </a:t>
            </a:r>
            <a:r>
              <a:rPr lang="en-US" sz="220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WITH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{&lt;</a:t>
            </a:r>
            <a:r>
              <a:rPr lang="en-US" sz="2200" i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tham số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&gt;} ]</a:t>
            </a:r>
          </a:p>
          <a:p>
            <a:pPr>
              <a:buNone/>
            </a:pPr>
            <a:endParaRPr lang="en-US" smtClean="0"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>
              <a:buNone/>
            </a:pPr>
            <a:r>
              <a:rPr lang="en-US" sz="2200" i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&lt;thiết bị lưu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&gt; :=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r>
              <a:rPr lang="en-US" sz="220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DISK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|</a:t>
            </a:r>
            <a:r>
              <a:rPr lang="en-US" sz="2200" smtClean="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TAPE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 = ‘</a:t>
            </a:r>
            <a:r>
              <a:rPr lang="en-US" sz="2200" i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tên_thiết_bị</a:t>
            </a:r>
            <a:r>
              <a:rPr lang="en-US" sz="220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’</a:t>
            </a:r>
          </a:p>
          <a:p>
            <a:pPr marL="0" indent="0">
              <a:buNone/>
            </a:pPr>
            <a:r>
              <a:rPr lang="en-US" sz="22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STOP_ON_ERROR</a:t>
            </a:r>
            <a:r>
              <a:rPr lang="en-US" sz="220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|</a:t>
            </a:r>
            <a:r>
              <a:rPr lang="en-US" sz="22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CONTINUE_AFTER_ERROR</a:t>
            </a:r>
            <a:r>
              <a:rPr lang="en-US" sz="2200">
                <a:solidFill>
                  <a:srgbClr val="00B0F0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pPr marL="0" indent="0">
              <a:buNone/>
            </a:pPr>
            <a:r>
              <a:rPr lang="en-US" sz="2200" smtClean="0">
                <a:ea typeface="Arial Unicode MS" pitchFamily="34" charset="-128"/>
                <a:cs typeface="Arial Unicode MS" pitchFamily="34" charset="-128"/>
              </a:rPr>
              <a:t>	 </a:t>
            </a:r>
            <a:r>
              <a:rPr lang="en-US" sz="2200">
                <a:ea typeface="Arial Unicode MS" pitchFamily="34" charset="-128"/>
                <a:cs typeface="Arial Unicode MS" pitchFamily="34" charset="-128"/>
              </a:rPr>
              <a:t>(ngừng khi gặp lỗi và ngược lại)</a:t>
            </a:r>
            <a:br>
              <a:rPr lang="en-US" sz="2200">
                <a:ea typeface="Arial Unicode MS" pitchFamily="34" charset="-128"/>
                <a:cs typeface="Arial Unicode MS" pitchFamily="34" charset="-128"/>
              </a:rPr>
            </a:br>
            <a:r>
              <a:rPr lang="en-US" sz="220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FILE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{ </a:t>
            </a:r>
            <a:r>
              <a:rPr lang="en-US" sz="2200" i="1">
                <a:latin typeface="Courier New" pitchFamily="49" charset="0"/>
                <a:cs typeface="Courier New" pitchFamily="49" charset="0"/>
              </a:rPr>
              <a:t>tên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| </a:t>
            </a:r>
            <a:r>
              <a:rPr lang="en-US" sz="2200" i="1">
                <a:latin typeface="Courier New" pitchFamily="49" charset="0"/>
                <a:cs typeface="Courier New" pitchFamily="49" charset="0"/>
              </a:rPr>
              <a:t>số thứ tự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0" indent="0">
              <a:buNone/>
            </a:pPr>
            <a:r>
              <a:rPr lang="en-US" sz="2200" smtClean="0"/>
              <a:t>	(</a:t>
            </a:r>
            <a:r>
              <a:rPr lang="en-US" sz="2200"/>
              <a:t>Chỉ bảng sao lưu được phục hồi trong tập tin sao lưu)</a:t>
            </a:r>
          </a:p>
          <a:p>
            <a:pPr marL="0" indent="0">
              <a:buNone/>
            </a:pPr>
            <a:r>
              <a:rPr lang="en-US" sz="2200">
                <a:solidFill>
                  <a:srgbClr val="00B0F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PASSWORD</a:t>
            </a:r>
            <a:r>
              <a:rPr lang="en-US" sz="220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</a:t>
            </a:r>
            <a:r>
              <a:rPr lang="en-US" sz="2200" i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matkhau</a:t>
            </a:r>
            <a:r>
              <a:rPr lang="en-US" sz="220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smtClean="0"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sz="2200">
                <a:ea typeface="Arial Unicode MS" pitchFamily="34" charset="-128"/>
                <a:cs typeface="Arial Unicode MS" pitchFamily="34" charset="-128"/>
              </a:rPr>
              <a:t>ghi mật khẩu bảng lưu)</a:t>
            </a:r>
          </a:p>
          <a:p>
            <a:pPr marL="0" indent="0">
              <a:buNone/>
            </a:pPr>
            <a:r>
              <a:rPr lang="en-US" sz="220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RECOVERY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| </a:t>
            </a:r>
            <a:r>
              <a:rPr lang="en-US" sz="220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NORECOVERY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en-US" sz="2200" smtClean="0">
                <a:latin typeface="Courier New" pitchFamily="49" charset="0"/>
                <a:cs typeface="Courier New" pitchFamily="49" charset="0"/>
              </a:rPr>
              <a:t>	Recovery</a:t>
            </a:r>
            <a:r>
              <a:rPr lang="en-US" sz="2200" smtClean="0"/>
              <a:t>  	(</a:t>
            </a:r>
            <a:r>
              <a:rPr lang="en-US" sz="2200"/>
              <a:t>Chấm dứt quá trình phục hồi)</a:t>
            </a:r>
          </a:p>
          <a:p>
            <a:pPr marL="914400" indent="-914400">
              <a:buNone/>
            </a:pPr>
            <a:r>
              <a:rPr lang="en-US" sz="2200" smtClean="0">
                <a:latin typeface="Courier New" pitchFamily="49" charset="0"/>
                <a:cs typeface="Courier New" pitchFamily="49" charset="0"/>
              </a:rPr>
              <a:t>	NoRecovery 	</a:t>
            </a:r>
            <a:r>
              <a:rPr lang="en-US" sz="2200" smtClean="0"/>
              <a:t>(</a:t>
            </a:r>
            <a:r>
              <a:rPr lang="en-US" sz="2200"/>
              <a:t>Chưa chấm dứt, và cho phép tiếp các lệnh phục hồi kế, và quá trình sẽ có trạng thái Recovery nếu mọi lệnh phục hồi hoàn thành)</a:t>
            </a:r>
          </a:p>
          <a:p>
            <a:pPr>
              <a:buNone/>
            </a:pPr>
            <a:endParaRPr lang="en-US" sz="2800" smtClean="0"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i="1" smtClean="0">
                <a:ea typeface="Arial Unicode MS" pitchFamily="34" charset="-128"/>
                <a:cs typeface="Arial Unicode MS" pitchFamily="34" charset="-128"/>
              </a:rPr>
              <a:t>Sao lưu 1 phần chỉ được phục hồi liền sau quá trình phục hồi toàn phần (với tham số norecovery)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6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hục hồi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(Ví dụ)</a:t>
            </a:r>
            <a:endParaRPr lang="en-US" i="1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Phục hồi từ tập tin ‘qlbv.bak’ thành database tên là ‘</a:t>
            </a:r>
            <a:r>
              <a:rPr lang="en-US" i="1" smtClean="0"/>
              <a:t>qlbv</a:t>
            </a:r>
            <a:r>
              <a:rPr lang="en-US" smtClean="0"/>
              <a:t>’.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RESTORE DATABASE qlbv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FROM DISK = 'E:\qlbv.bak' 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WITH FILE = 1, NORECOVERY, STATS=10;</a:t>
            </a:r>
          </a:p>
          <a:p>
            <a:pPr marL="0" indent="0">
              <a:buNone/>
            </a:pPr>
            <a:endParaRPr lang="en-US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RESTORE DATABASE qlbv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FROM DISK = ‘E:\qlbv.bak' 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WITH FILE = 2, RECOVERY, STATS=10</a:t>
            </a:r>
          </a:p>
          <a:p>
            <a:pPr marL="0" indent="0">
              <a:buNone/>
            </a:pPr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4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Sao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lưu và phục hồi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(Attach &amp; detach)</a:t>
            </a:r>
            <a:endParaRPr lang="en-US" i="1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7630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Dữ liệu được lưu trử thành tập tin có đuôi là </a:t>
            </a:r>
            <a:r>
              <a:rPr lang="en-US" sz="2800" b="1" smtClean="0">
                <a:ea typeface="Arial Unicode MS" pitchFamily="34" charset="-128"/>
                <a:cs typeface="Arial Unicode MS" pitchFamily="34" charset="-128"/>
              </a:rPr>
              <a:t>.mdf</a:t>
            </a: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 và các vết lưu quá trình làm việc, giao tác được lưu với tập tin có đuôi là </a:t>
            </a:r>
            <a:r>
              <a:rPr lang="en-US" sz="2800" b="1" smtClean="0">
                <a:ea typeface="Arial Unicode MS" pitchFamily="34" charset="-128"/>
                <a:cs typeface="Arial Unicode MS" pitchFamily="34" charset="-128"/>
              </a:rPr>
              <a:t>.ldf</a:t>
            </a: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 .</a:t>
            </a:r>
          </a:p>
          <a:p>
            <a:pPr marL="0" indent="0">
              <a:buNone/>
            </a:pP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Một cách khác để sao lưu là ta giữ lại các tập tin đó (quan trọng là </a:t>
            </a:r>
            <a:r>
              <a:rPr lang="en-US" sz="2800" b="1" smtClean="0">
                <a:ea typeface="Arial Unicode MS" pitchFamily="34" charset="-128"/>
                <a:cs typeface="Arial Unicode MS" pitchFamily="34" charset="-128"/>
              </a:rPr>
              <a:t>.mdf</a:t>
            </a: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) </a:t>
            </a:r>
          </a:p>
          <a:p>
            <a:pPr marL="0" indent="0">
              <a:buNone/>
            </a:pPr>
            <a:endParaRPr lang="en-US" sz="2800" smtClean="0"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buNone/>
            </a:pP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Để có thể lấy được tập tin .mdf ta phải không còn làm việc với database đó nữa bằng lệnh </a:t>
            </a:r>
            <a:r>
              <a:rPr lang="en-US" sz="2800" b="1" smtClean="0">
                <a:ea typeface="Arial Unicode MS" pitchFamily="34" charset="-128"/>
                <a:cs typeface="Arial Unicode MS" pitchFamily="34" charset="-128"/>
              </a:rPr>
              <a:t>sp_detach_db</a:t>
            </a: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0" indent="0">
              <a:buNone/>
            </a:pPr>
            <a:r>
              <a:rPr lang="en-US" sz="2800" smtClean="0">
                <a:ea typeface="Arial Unicode MS" pitchFamily="34" charset="-128"/>
                <a:cs typeface="Arial Unicode MS" pitchFamily="34" charset="-128"/>
              </a:rPr>
              <a:t>Để có thể gán lại tập tin .mdf vào SQL Server thành một database thì ta dùng lệnh </a:t>
            </a:r>
            <a:r>
              <a:rPr lang="en-US" sz="2800" b="1" smtClean="0">
                <a:ea typeface="Arial Unicode MS" pitchFamily="34" charset="-128"/>
                <a:cs typeface="Arial Unicode MS" pitchFamily="34" charset="-128"/>
              </a:rPr>
              <a:t>sp_attach_db.</a:t>
            </a:r>
            <a:endParaRPr lang="en-US" sz="2800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2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Lệnh &amp; ví dụ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sp_detach_db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‘</a:t>
            </a:r>
            <a:r>
              <a:rPr lang="en-US" i="1" smtClean="0">
                <a:latin typeface="Courier New" pitchFamily="49" charset="0"/>
                <a:cs typeface="Courier New" pitchFamily="49" charset="0"/>
              </a:rPr>
              <a:t>tên_database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’</a:t>
            </a:r>
          </a:p>
          <a:p>
            <a:pPr marL="0" indent="0">
              <a:buNone/>
            </a:pPr>
            <a:r>
              <a:rPr lang="en-US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sp_attach_db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‘</a:t>
            </a:r>
            <a:r>
              <a:rPr lang="en-US" i="1" smtClean="0">
                <a:latin typeface="Courier New" pitchFamily="49" charset="0"/>
                <a:cs typeface="Courier New" pitchFamily="49" charset="0"/>
              </a:rPr>
              <a:t>tên_database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’ ,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	‘</a:t>
            </a:r>
            <a:r>
              <a:rPr lang="en-US" i="1" smtClean="0">
                <a:latin typeface="Courier New" pitchFamily="49" charset="0"/>
                <a:cs typeface="Courier New" pitchFamily="49" charset="0"/>
              </a:rPr>
              <a:t>đường_dẫn_và_tên_tập_tin_mdf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’,</a:t>
            </a:r>
          </a:p>
          <a:p>
            <a:pPr marL="0" indent="0">
              <a:buNone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	‘</a:t>
            </a:r>
            <a:r>
              <a:rPr lang="en-US" i="1" smtClean="0">
                <a:latin typeface="Courier New" pitchFamily="49" charset="0"/>
                <a:cs typeface="Courier New" pitchFamily="49" charset="0"/>
              </a:rPr>
              <a:t>đường_dẫn_và_tên_tập_tin_ldf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’</a:t>
            </a:r>
          </a:p>
          <a:p>
            <a:pPr marL="0" indent="0">
              <a:buNone/>
            </a:pPr>
            <a:endParaRPr lang="en-US" smtClean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mtClean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sp_attach_db </a:t>
            </a:r>
            <a:r>
              <a:rPr lang="en-US">
                <a:latin typeface="Courier New" pitchFamily="49" charset="0"/>
                <a:cs typeface="Courier New" pitchFamily="49" charset="0"/>
              </a:rPr>
              <a:t>'qlbv' ,</a:t>
            </a:r>
          </a:p>
          <a:p>
            <a:pPr marL="0" indent="0"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'E:\quanlybenhvien.mdf',</a:t>
            </a:r>
          </a:p>
          <a:p>
            <a:pPr marL="0" indent="0"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'E:\</a:t>
            </a:r>
            <a:r>
              <a:rPr lang="en-US">
                <a:latin typeface="Courier New" pitchFamily="49" charset="0"/>
                <a:cs typeface="Courier New" pitchFamily="49" charset="0"/>
              </a:rPr>
              <a:t>quanlybenhvien_log.ldf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‘</a:t>
            </a:r>
            <a:endParaRPr lang="en-US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sp_detach_db </a:t>
            </a:r>
            <a:r>
              <a:rPr lang="en-US">
                <a:latin typeface="Courier New" pitchFamily="49" charset="0"/>
                <a:cs typeface="Courier New" pitchFamily="49" charset="0"/>
              </a:rPr>
              <a:t>'qlbv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'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9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Sinh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mã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tạo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liệu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Chức</a:t>
            </a:r>
            <a:r>
              <a:rPr lang="en-US" sz="280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năng</a:t>
            </a:r>
            <a:r>
              <a:rPr lang="en-US" sz="280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Generate Scripts</a:t>
            </a:r>
          </a:p>
          <a:p>
            <a:pPr marL="0" indent="0">
              <a:buNone/>
            </a:pPr>
            <a:endParaRPr lang="en-US" dirty="0" smtClean="0">
              <a:solidFill>
                <a:srgbClr val="00B0F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133600"/>
            <a:ext cx="47625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796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712</Words>
  <Application>Microsoft Office PowerPoint</Application>
  <PresentationFormat>On-screen Show (4:3)</PresentationFormat>
  <Paragraphs>212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PHÂN QUYỀN TRONG HỆ QUẢN TRỊ CƠ SỞ DỮ LIỆU SQL SERVER 2012</vt:lpstr>
      <vt:lpstr>Phân quyền</vt:lpstr>
      <vt:lpstr>Mô hình</vt:lpstr>
      <vt:lpstr>Đăng nhập  </vt:lpstr>
      <vt:lpstr>Đăng nhập</vt:lpstr>
      <vt:lpstr>Người dùng</vt:lpstr>
      <vt:lpstr>Nhóm quyền </vt:lpstr>
      <vt:lpstr>Người dùng &amp; nhóm quyền</vt:lpstr>
      <vt:lpstr>Quyền hạn  (permission)</vt:lpstr>
      <vt:lpstr>Ví dụ</vt:lpstr>
      <vt:lpstr>Ví dụ</vt:lpstr>
      <vt:lpstr>Sao lưu </vt:lpstr>
      <vt:lpstr>Sao lưu (Phân loại)</vt:lpstr>
      <vt:lpstr>Sao lưu (Cú pháp lệnh)</vt:lpstr>
      <vt:lpstr>Sao lưu (Ví dụ)</vt:lpstr>
      <vt:lpstr>Phục hồi (Cú pháp lệnh)</vt:lpstr>
      <vt:lpstr>Phục hồi (Ví dụ)</vt:lpstr>
      <vt:lpstr>Sao lưu và phục hồi (Attach &amp; detach)</vt:lpstr>
      <vt:lpstr>Lệnh &amp; ví dụ</vt:lpstr>
      <vt:lpstr>Sinh mã tạo dữ liệu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QUẢN TRỊ CƠ SỞ DỮ LIỆU SQL SERVER 2012</dc:title>
  <dc:creator>phanhien</dc:creator>
  <cp:lastModifiedBy>phanhien</cp:lastModifiedBy>
  <cp:revision>168</cp:revision>
  <dcterms:created xsi:type="dcterms:W3CDTF">2015-08-04T00:53:59Z</dcterms:created>
  <dcterms:modified xsi:type="dcterms:W3CDTF">2015-08-05T08:59:07Z</dcterms:modified>
</cp:coreProperties>
</file>