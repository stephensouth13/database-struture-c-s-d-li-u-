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91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B18B3-4D27-49EF-9159-D8FCD06A83F8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D4E49-66D2-4030-B257-AEC40F97E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3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Phần</a:t>
            </a:r>
            <a:r>
              <a:rPr lang="en-US" baseline="0" smtClean="0"/>
              <a:t> tô đậm: không ghi bí danh bảng thì hiển nhiên được hiểu là của bảng đệ quy.</a:t>
            </a:r>
          </a:p>
          <a:p>
            <a:r>
              <a:rPr lang="en-US" baseline="0" smtClean="0"/>
              <a:t>truy.tennv : mang ý nghĩa là tên nhân viên cấp trên chứ không phải là tên nhân viên ở dòng hiện tại đang xét</a:t>
            </a:r>
          </a:p>
          <a:p>
            <a:r>
              <a:rPr lang="en-US" baseline="0" smtClean="0"/>
              <a:t>Các điều kiện chính là những điều kiện dừng hay là điều kiện để tiếp đệ quy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7D4E49-66D2-4030-B257-AEC40F97E9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2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TRUY VẤN NÂNG CAO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Bảng tạm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9530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with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tscv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as (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manv,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count(*)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ts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phancong </a:t>
            </a:r>
            <a:endParaRPr lang="en-US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group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by manv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) 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select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manv, tennv, </a:t>
            </a:r>
            <a:endParaRPr lang="en-US" sz="220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(select ts from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tscv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where manv=nv.manv)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 	 / (select sum(ts) from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tscv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) AS xxx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nhanvien </a:t>
            </a:r>
            <a:r>
              <a:rPr lang="en-US" sz="2200" smtClean="0">
                <a:latin typeface="Courier New" pitchFamily="49" charset="0"/>
                <a:cs typeface="Courier New" pitchFamily="49" charset="0"/>
              </a:rPr>
              <a:t>nv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--------------------------------------------------</a:t>
            </a:r>
            <a:endParaRPr lang="en-US" sz="220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select manv, count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(*)/(select sum(ts) from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tscv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from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phancong </a:t>
            </a:r>
            <a:endParaRPr lang="en-US" sz="220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cs typeface="Courier New" pitchFamily="49" charset="0"/>
              </a:rPr>
              <a:t>group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by manv</a:t>
            </a:r>
            <a:endParaRPr lang="en-US" sz="22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200" smtClean="0"/>
          </a:p>
        </p:txBody>
      </p:sp>
    </p:spTree>
    <p:extLst>
      <p:ext uri="{BB962C8B-B14F-4D97-AF65-F5344CB8AC3E}">
        <p14:creationId xmlns:p14="http://schemas.microsoft.com/office/powerpoint/2010/main" val="21311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đệ quy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create table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quanhe_nhanvien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(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manv char(5) primary key,tennv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char(20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), manvct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char(5))</a:t>
            </a:r>
          </a:p>
          <a:p>
            <a:pPr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-------------------------------</a:t>
            </a:r>
          </a:p>
          <a:p>
            <a:pPr>
              <a:buFont typeface="Arial" charset="0"/>
              <a:buNone/>
            </a:pPr>
            <a:endParaRPr lang="en-US" sz="22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manv		tennv		manvct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Nv001		A		null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Nv002		B		null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Nv003		C		Nv001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Nv004		D		Nv001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Nv005		E		Nv003</a:t>
            </a:r>
          </a:p>
          <a:p>
            <a:pPr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Nv006		F		Nv005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đệ quy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70000" lnSpcReduction="20000"/>
          </a:bodyPr>
          <a:lstStyle/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with truy (manv,tennv,manvct,mucdo,cay,cayten) as (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select	a.manv,a.tennv,a.manvct,1 as mucdo,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cast('' as varchar(max)) as cay,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cast('' as varchar(max)) as cayten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a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where	</a:t>
            </a:r>
            <a:r>
              <a:rPr lang="en-US">
                <a:solidFill>
                  <a:srgbClr val="0070C0"/>
                </a:solidFill>
                <a:latin typeface="Courier New" pitchFamily="49" charset="0"/>
                <a:ea typeface="Verdana" pitchFamily="34" charset="0"/>
                <a:cs typeface="Courier New" pitchFamily="49" charset="0"/>
              </a:rPr>
              <a:t>a.manvct is null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union all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select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endParaRPr lang="en-US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b.manv,b.tennv,b.manvct,</a:t>
            </a:r>
            <a:r>
              <a:rPr lang="en-US" b="1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mucdo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+ 1 as mucdo,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(</a:t>
            </a:r>
            <a:r>
              <a:rPr lang="en-US" b="1">
                <a:latin typeface="Courier New" pitchFamily="49" charset="0"/>
                <a:ea typeface="Verdana" pitchFamily="34" charset="0"/>
                <a:cs typeface="Courier New" pitchFamily="49" charset="0"/>
              </a:rPr>
              <a:t>truy.cay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+ '\' + b.manvct) as cay,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</a:t>
            </a:r>
            <a:r>
              <a:rPr lang="en-US" b="1">
                <a:latin typeface="Courier New" pitchFamily="49" charset="0"/>
                <a:ea typeface="Verdana" pitchFamily="34" charset="0"/>
                <a:cs typeface="Courier New" pitchFamily="49" charset="0"/>
              </a:rPr>
              <a:t>cayten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+ '\' + cast(</a:t>
            </a:r>
            <a:r>
              <a:rPr lang="en-US">
                <a:solidFill>
                  <a:srgbClr val="FF0000"/>
                </a:solidFill>
                <a:latin typeface="Courier New" pitchFamily="49" charset="0"/>
                <a:ea typeface="Verdana" pitchFamily="34" charset="0"/>
                <a:cs typeface="Courier New" pitchFamily="49" charset="0"/>
              </a:rPr>
              <a:t>truy.tennv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 as varchar(20))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			as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cayten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b inner join truy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on </a:t>
            </a:r>
            <a:r>
              <a:rPr lang="en-US">
                <a:solidFill>
                  <a:srgbClr val="0070C0"/>
                </a:solidFill>
                <a:latin typeface="Courier New" pitchFamily="49" charset="0"/>
                <a:ea typeface="Verdana" pitchFamily="34" charset="0"/>
                <a:cs typeface="Courier New" pitchFamily="49" charset="0"/>
              </a:rPr>
              <a:t>truy.manv = b.manvct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)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select *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from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truy</a:t>
            </a:r>
            <a:endParaRPr lang="en-US">
              <a:latin typeface="Courier New" pitchFamily="49" charset="0"/>
              <a:ea typeface="Verdana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43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đệ quy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with truy (manv,tennv,manvct,kq) as (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select	a.manv,a.tennv,a.manvct,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		cast('' as varchar(max)) as kq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a 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where	a.manvct is null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union all 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select	b.manv,b.tennv,b.manvct,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(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truy.kq + '\' + b.manvct) as kq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b inner join truy 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			on truy.manv = b.manvct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)</a:t>
            </a:r>
          </a:p>
          <a:p>
            <a:pPr>
              <a:buNone/>
              <a:defRPr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* from truy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707289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đệ quy</a:t>
            </a:r>
            <a:br>
              <a:rPr lang="en-US" smtClean="0"/>
            </a:br>
            <a:r>
              <a:rPr lang="en-US" i="1" smtClean="0"/>
              <a:t>(kết quả)</a:t>
            </a:r>
            <a:endParaRPr lang="en-US" i="1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51196"/>
              </p:ext>
            </p:extLst>
          </p:nvPr>
        </p:nvGraphicFramePr>
        <p:xfrm>
          <a:off x="353007" y="1976120"/>
          <a:ext cx="84582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1600"/>
                <a:gridCol w="1066800"/>
                <a:gridCol w="1143000"/>
                <a:gridCol w="990600"/>
                <a:gridCol w="2743200"/>
                <a:gridCol w="114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Tennv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Manvct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Mucdo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cayten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Nv001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\Nv001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Nv001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\Nv001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Nv003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\Nv001\Nv003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\A\C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Nv006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Nv005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\Nv001\Nv003\Nv005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\A\C\E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3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đệ quy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62500" lnSpcReduction="20000"/>
          </a:bodyPr>
          <a:lstStyle/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with truy (manv,tennv,manvct,mucdo,cay,cayten) as (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select	a.manv,a.tennv,a.manvct,1 as mucdo,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cast('' as varchar(max)) as cay,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cast('' as varchar(max)) as cayten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a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where	a.manvct = a.manv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union all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select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endParaRPr lang="en-US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b.manv,b.tennv,b.manvct,mucdo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+ 1 as mucdo,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(truy.cay + '\' + b.manvct) as cay,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cayten + '\' + cast(truy.tennv as varchar(20))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as cayten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from	quanhe_nhanvien b inner join truy 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		on truy.manv = b.manvct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	where 	b.manv != b.manvct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)</a:t>
            </a:r>
          </a:p>
          <a:p>
            <a:pPr>
              <a:buNone/>
              <a:defRPr/>
            </a:pP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select * </a:t>
            </a:r>
            <a:r>
              <a:rPr lang="en-US">
                <a:latin typeface="Courier New" pitchFamily="49" charset="0"/>
                <a:ea typeface="Verdana" pitchFamily="34" charset="0"/>
                <a:cs typeface="Courier New" pitchFamily="49" charset="0"/>
              </a:rPr>
              <a:t>from </a:t>
            </a:r>
            <a:r>
              <a:rPr lang="en-US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truy</a:t>
            </a:r>
          </a:p>
          <a:p>
            <a:pPr>
              <a:buNone/>
              <a:defRPr/>
            </a:pPr>
            <a:r>
              <a:rPr lang="en-US" smtClean="0">
                <a:ea typeface="Verdana" pitchFamily="34" charset="0"/>
              </a:rPr>
              <a:t>Đây là trường hợp điều kiện dừng là mã nv cấp trên và mã nv đó giống nhau.</a:t>
            </a:r>
          </a:p>
        </p:txBody>
      </p:sp>
    </p:spTree>
    <p:extLst>
      <p:ext uri="{BB962C8B-B14F-4D97-AF65-F5344CB8AC3E}">
        <p14:creationId xmlns:p14="http://schemas.microsoft.com/office/powerpoint/2010/main" val="2961522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chéo </a:t>
            </a:r>
            <a:br>
              <a:rPr lang="en-US" smtClean="0"/>
            </a:br>
            <a:r>
              <a:rPr lang="en-US" i="1" smtClean="0"/>
              <a:t>(Pivot)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816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create table 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baocaods </a:t>
            </a:r>
            <a:endParaRPr lang="en-US" sz="180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US" sz="1800" smtClean="0">
                <a:latin typeface="Courier New" pitchFamily="49" charset="0"/>
                <a:cs typeface="Courier New" pitchFamily="49" charset="0"/>
              </a:rPr>
              <a:t>(nam int, mahang 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char(5</a:t>
            </a:r>
            <a:r>
              <a:rPr lang="en-US" sz="1800" smtClean="0">
                <a:latin typeface="Courier New" pitchFamily="49" charset="0"/>
                <a:cs typeface="Courier New" pitchFamily="49" charset="0"/>
              </a:rPr>
              <a:t>), sl int, daily 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char(5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), </a:t>
            </a:r>
            <a:endParaRPr lang="en-US" sz="180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smtClean="0">
                <a:latin typeface="Courier New" pitchFamily="49" charset="0"/>
                <a:cs typeface="Courier New" pitchFamily="49" charset="0"/>
              </a:rPr>
              <a:t>constraint 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kc_baocaods </a:t>
            </a:r>
            <a:r>
              <a:rPr lang="en-US" sz="1800" smtClean="0">
                <a:latin typeface="Courier New" pitchFamily="49" charset="0"/>
                <a:cs typeface="Courier New" pitchFamily="49" charset="0"/>
              </a:rPr>
              <a:t>primary key (nam,mahang,daily))</a:t>
            </a:r>
            <a:endParaRPr lang="en-US" sz="180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en-US" sz="18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---------------------------------------------------------</a:t>
            </a:r>
            <a:endParaRPr lang="en-US" sz="18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(1998,'G1',3,'D1')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(1999,'G1',4,'D1')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(1997,'G1',2,'D1')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(1998,'G2',9,'D1')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(1999,'G2',4,'D1')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(1997,'G2',6,'D1')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(1998,'G1',32,'D2')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(1999,'G1',42,'D2')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(1997,'G1',22,'D2')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(1998,'G2',30,'D2')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(1999,'G2',40,'D2')</a:t>
            </a:r>
          </a:p>
          <a:p>
            <a:pPr marL="463550" indent="0">
              <a:buNone/>
              <a:defRPr/>
            </a:pP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(1997,'G2',20,</a:t>
            </a:r>
            <a:r>
              <a:rPr lang="en-US" sz="1800">
                <a:latin typeface="Courier New" pitchFamily="49" charset="0"/>
                <a:ea typeface="Verdana" pitchFamily="34" charset="0"/>
                <a:cs typeface="Courier New" pitchFamily="49" charset="0"/>
              </a:rPr>
              <a:t>'D2</a:t>
            </a:r>
            <a:r>
              <a:rPr lang="en-US" sz="18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')</a:t>
            </a:r>
            <a:endParaRPr lang="en-US" sz="1800">
              <a:latin typeface="Courier New" pitchFamily="49" charset="0"/>
              <a:ea typeface="Verdana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70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chéo</a:t>
            </a:r>
            <a:br>
              <a:rPr lang="en-US" smtClean="0"/>
            </a:br>
            <a:r>
              <a:rPr lang="en-US" i="1" smtClean="0"/>
              <a:t>(Pivot)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>
            <a:noAutofit/>
          </a:bodyPr>
          <a:lstStyle/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select mahang,[1997],[1998],[1999]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from (select mahang,sl,nam from baocaods) as a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pivot (sum(sl) for nam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1997],[1998],[1999])) as b</a:t>
            </a: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------------------------------------------------------</a:t>
            </a:r>
          </a:p>
          <a:p>
            <a:pPr>
              <a:buFont typeface="Arial" charset="0"/>
              <a:buNone/>
            </a:pPr>
            <a:endParaRPr lang="en-US" sz="200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[1997],[1998],[1999] : </a:t>
            </a:r>
            <a:r>
              <a:rPr lang="en-US" sz="2000"/>
              <a:t>là các giá trị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cs typeface="Courier New" pitchFamily="49" charset="0"/>
              </a:rPr>
              <a:t>mahang,sl,nam </a:t>
            </a:r>
            <a:r>
              <a:rPr lang="en-US" sz="200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sz="2000" smtClean="0"/>
              <a:t>gồm </a:t>
            </a:r>
            <a:r>
              <a:rPr lang="en-US" sz="2000"/>
              <a:t>đúng 3 cột gồm </a:t>
            </a:r>
            <a:r>
              <a:rPr lang="en-US" sz="2000"/>
              <a:t>Header </a:t>
            </a:r>
            <a:r>
              <a:rPr lang="en-US" sz="2000" smtClean="0"/>
              <a:t>Row,Header </a:t>
            </a:r>
            <a:r>
              <a:rPr lang="en-US" sz="2000"/>
              <a:t>column, Value.</a:t>
            </a:r>
          </a:p>
          <a:p>
            <a:pPr>
              <a:buFont typeface="Arial" charset="0"/>
              <a:buNone/>
            </a:pPr>
            <a:r>
              <a:rPr lang="en-US" sz="2000">
                <a:ea typeface="Verdana" pitchFamily="34" charset="0"/>
              </a:rPr>
              <a:t>Mệnh đề From và Pivot phải đặt lại tên </a:t>
            </a:r>
            <a:r>
              <a:rPr lang="en-US" sz="2000">
                <a:ea typeface="Verdana" pitchFamily="34" charset="0"/>
              </a:rPr>
              <a:t>mới</a:t>
            </a:r>
            <a:r>
              <a:rPr lang="en-US" sz="2000" smtClean="0">
                <a:ea typeface="Verdana" pitchFamily="34" charset="0"/>
              </a:rPr>
              <a:t>.</a:t>
            </a:r>
          </a:p>
          <a:p>
            <a:pPr>
              <a:buFont typeface="Arial" charset="0"/>
              <a:buNone/>
            </a:pPr>
            <a:endParaRPr lang="en-US" sz="2000">
              <a:ea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0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------------------------------------------------------</a:t>
            </a:r>
            <a:endParaRPr lang="en-US" sz="2000">
              <a:latin typeface="Courier New" pitchFamily="49" charset="0"/>
              <a:ea typeface="Verdana" pitchFamily="34" charset="0"/>
              <a:cs typeface="Verdana" pitchFamily="34" charset="0"/>
            </a:endParaRPr>
          </a:p>
          <a:p>
            <a:pPr>
              <a:buFont typeface="Arial" charset="0"/>
              <a:buNone/>
            </a:pPr>
            <a:r>
              <a:rPr lang="en-US" sz="2000" b="1">
                <a:latin typeface="Courier New" pitchFamily="49" charset="0"/>
                <a:ea typeface="Verdana" pitchFamily="34" charset="0"/>
                <a:cs typeface="Verdana" pitchFamily="34" charset="0"/>
              </a:rPr>
              <a:t>Mahang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000" b="1">
                <a:latin typeface="Courier New" pitchFamily="49" charset="0"/>
                <a:ea typeface="Verdana" pitchFamily="34" charset="0"/>
                <a:cs typeface="Verdana" pitchFamily="34" charset="0"/>
              </a:rPr>
              <a:t>1997		1998		1999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G1	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24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	35		46</a:t>
            </a:r>
          </a:p>
          <a:p>
            <a:pPr>
              <a:buFont typeface="Arial" charset="0"/>
              <a:buNone/>
            </a:pP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G2	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	26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	39	</a:t>
            </a:r>
            <a:r>
              <a:rPr lang="en-US" sz="2000">
                <a:latin typeface="Courier New" pitchFamily="49" charset="0"/>
                <a:ea typeface="Verdana" pitchFamily="34" charset="0"/>
                <a:cs typeface="Verdana" pitchFamily="34" charset="0"/>
              </a:rPr>
              <a:t>	</a:t>
            </a:r>
            <a:r>
              <a:rPr lang="en-US" sz="2000" smtClean="0">
                <a:latin typeface="Courier New" pitchFamily="49" charset="0"/>
                <a:ea typeface="Verdana" pitchFamily="34" charset="0"/>
                <a:cs typeface="Verdana" pitchFamily="34" charset="0"/>
              </a:rPr>
              <a:t>44</a:t>
            </a:r>
            <a:endParaRPr lang="en-US" sz="2000">
              <a:latin typeface="Courier New" pitchFamily="49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Truy vấn </a:t>
            </a:r>
            <a:br>
              <a:rPr lang="en-US" smtClean="0"/>
            </a:br>
            <a:r>
              <a:rPr lang="en-US" i="1" smtClean="0"/>
              <a:t>(Cross – outer apply)</a:t>
            </a:r>
            <a:endParaRPr lang="en-US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select *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From nhanvien as </a:t>
            </a:r>
            <a:r>
              <a:rPr lang="en-US" sz="2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cross apply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( select count(*)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as ts 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from phancong as pc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 	  where pc.manv = </a:t>
            </a:r>
            <a:r>
              <a:rPr lang="en-US" sz="220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nv</a:t>
            </a:r>
            <a:r>
              <a:rPr lang="en-US" sz="2200">
                <a:latin typeface="Courier New" pitchFamily="49" charset="0"/>
                <a:cs typeface="Courier New" pitchFamily="49" charset="0"/>
              </a:rPr>
              <a:t>.manv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cs typeface="Courier New" pitchFamily="49" charset="0"/>
              </a:rPr>
              <a:t>	) </a:t>
            </a:r>
            <a:r>
              <a:rPr lang="en-US" sz="2200" b="1">
                <a:latin typeface="Courier New" pitchFamily="49" charset="0"/>
                <a:cs typeface="Courier New" pitchFamily="49" charset="0"/>
              </a:rPr>
              <a:t>as tongsoviec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endParaRPr lang="en-US" sz="22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b="1">
                <a:ea typeface="Verdana" pitchFamily="34" charset="0"/>
                <a:cs typeface="Verdana" pitchFamily="34" charset="0"/>
              </a:rPr>
              <a:t>Làm lại truy vấn count cho từng manv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b="1">
                <a:ea typeface="Verdana" pitchFamily="34" charset="0"/>
                <a:cs typeface="Verdana" pitchFamily="34" charset="0"/>
              </a:rPr>
              <a:t>(có thể thay câu count thành hàm tính toán cho ra Table)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* </a:t>
            </a:r>
            <a:endParaRPr lang="en-US" sz="2200" smtClean="0">
              <a:latin typeface="Courier New" pitchFamily="49" charset="0"/>
              <a:ea typeface="Verdana" pitchFamily="34" charset="0"/>
              <a:cs typeface="Courier New" pitchFamily="49" charset="0"/>
            </a:endParaRP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from 	nhanvien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as nv </a:t>
            </a:r>
            <a:r>
              <a:rPr lang="en-US" sz="2200" b="1">
                <a:latin typeface="Courier New" pitchFamily="49" charset="0"/>
                <a:ea typeface="Verdana" pitchFamily="34" charset="0"/>
                <a:cs typeface="Courier New" pitchFamily="49" charset="0"/>
              </a:rPr>
              <a:t>inner join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(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select manv,count(*) ts from phancong 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group by manv) as tscv</a:t>
            </a:r>
          </a:p>
          <a:p>
            <a:pPr>
              <a:lnSpc>
                <a:spcPct val="90000"/>
              </a:lnSpc>
              <a:buFont typeface="Arial" charset="0"/>
              <a:buNone/>
            </a:pP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		On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tscv.manv </a:t>
            </a:r>
            <a:r>
              <a:rPr lang="en-US" sz="2200">
                <a:latin typeface="Courier New" pitchFamily="49" charset="0"/>
                <a:ea typeface="Verdana" pitchFamily="34" charset="0"/>
                <a:cs typeface="Courier New" pitchFamily="49" charset="0"/>
              </a:rPr>
              <a:t>= </a:t>
            </a:r>
            <a:r>
              <a:rPr lang="en-US" sz="2200" smtClean="0">
                <a:latin typeface="Courier New" pitchFamily="49" charset="0"/>
                <a:ea typeface="Verdana" pitchFamily="34" charset="0"/>
                <a:cs typeface="Courier New" pitchFamily="49" charset="0"/>
              </a:rPr>
              <a:t>nv.manv</a:t>
            </a:r>
            <a:endParaRPr lang="en-US" sz="2200">
              <a:latin typeface="Courier New" pitchFamily="49" charset="0"/>
              <a:ea typeface="Verdana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203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397</Words>
  <Application>Microsoft Office PowerPoint</Application>
  <PresentationFormat>On-screen Show (4:3)</PresentationFormat>
  <Paragraphs>162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TRUY VẤN NÂNG CAO</vt:lpstr>
      <vt:lpstr>Bảng tạm</vt:lpstr>
      <vt:lpstr>Truy vấn đệ quy</vt:lpstr>
      <vt:lpstr>Truy vấn đệ quy</vt:lpstr>
      <vt:lpstr>Truy vấn đệ quy</vt:lpstr>
      <vt:lpstr>Truy vấn đệ quy (kết quả)</vt:lpstr>
      <vt:lpstr>Truy vấn đệ quy </vt:lpstr>
      <vt:lpstr>Truy vấn chéo  (Pivot)</vt:lpstr>
      <vt:lpstr>Truy vấn chéo (Pivot)</vt:lpstr>
      <vt:lpstr>Truy vấn  (Cross – outer apply)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74</cp:revision>
  <dcterms:created xsi:type="dcterms:W3CDTF">2015-08-04T00:53:59Z</dcterms:created>
  <dcterms:modified xsi:type="dcterms:W3CDTF">2015-08-05T01:18:39Z</dcterms:modified>
</cp:coreProperties>
</file>