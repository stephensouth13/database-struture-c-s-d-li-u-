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91" y="-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7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5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3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9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3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9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8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4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2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5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3FC10-CAB5-4CCC-8773-2D123589A9E3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3EB79-FAE2-4654-86B1-78FF01A3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4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smtClean="0"/>
              <a:t>HỆ QUẢN TRỊ CƠ SỞ DỮ LIỆU</a:t>
            </a:r>
            <a:br>
              <a:rPr lang="en-US" sz="4000" smtClean="0"/>
            </a:br>
            <a:r>
              <a:rPr lang="en-US" sz="4000" smtClean="0"/>
              <a:t>SQL SERVER 2012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5151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Giới thiệu hệ quản trị cơ sở dữ liệu</a:t>
            </a:r>
            <a:br>
              <a:rPr lang="en-US" smtClean="0"/>
            </a:br>
            <a:r>
              <a:rPr lang="en-US" smtClean="0"/>
              <a:t>SQL Server 2012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smtClean="0"/>
              <a:t>HQTCSDL là phần mềm với tiện ích giúp cho việc quản trị dữ liệu một cách hiệu quả. </a:t>
            </a:r>
          </a:p>
          <a:p>
            <a:r>
              <a:rPr lang="en-US" smtClean="0"/>
              <a:t>Có rất nhiều HQTCSDL, trong đó có một sản phẩm của Microsoft là SQL Server (bên cạnh của Oracle, IBM, MySQL, …)</a:t>
            </a:r>
          </a:p>
          <a:p>
            <a:r>
              <a:rPr lang="en-US" smtClean="0"/>
              <a:t>Công cụ chính SQL Server 2012 (</a:t>
            </a:r>
            <a:r>
              <a:rPr lang="en-US" sz="1800" smtClean="0"/>
              <a:t>cài đặt ở sách chính</a:t>
            </a:r>
            <a:r>
              <a:rPr lang="en-US" smtClean="0"/>
              <a:t>)</a:t>
            </a:r>
          </a:p>
          <a:p>
            <a:pPr lvl="1"/>
            <a:r>
              <a:rPr lang="en-US" smtClean="0"/>
              <a:t>Giao diện làm việc (SQL Server Management Studio)</a:t>
            </a:r>
          </a:p>
          <a:p>
            <a:pPr lvl="1"/>
            <a:r>
              <a:rPr lang="en-US" smtClean="0"/>
              <a:t>Lưu trử dữ liệu (Database Engine)</a:t>
            </a:r>
          </a:p>
          <a:p>
            <a:pPr lvl="1"/>
            <a:r>
              <a:rPr lang="en-US" smtClean="0"/>
              <a:t>Tổng hợp và phân tích dữ liệu (Analysis Services)</a:t>
            </a:r>
          </a:p>
        </p:txBody>
      </p:sp>
    </p:spTree>
    <p:extLst>
      <p:ext uri="{BB962C8B-B14F-4D97-AF65-F5344CB8AC3E}">
        <p14:creationId xmlns:p14="http://schemas.microsoft.com/office/powerpoint/2010/main" val="21311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Tính năng chính của SQL Server 2012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Quản trị dữ liệu</a:t>
            </a:r>
          </a:p>
          <a:p>
            <a:r>
              <a:rPr lang="en-US" smtClean="0"/>
              <a:t>Chia sẽ dữ liệu qua mạng và các HQTCSDL khác</a:t>
            </a:r>
          </a:p>
          <a:p>
            <a:r>
              <a:rPr lang="en-US" smtClean="0"/>
              <a:t>Báo cáo, tổng hợp và phân tích dữ liệu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42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Tính năng chính của quản trị dữ liệu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smtClean="0"/>
              <a:t>Tạo lập dữ liệu</a:t>
            </a:r>
          </a:p>
          <a:p>
            <a:r>
              <a:rPr lang="en-US" smtClean="0"/>
              <a:t>Khai thác dữ liệu (thông qua ngôn ngữ truy vấn)</a:t>
            </a:r>
          </a:p>
          <a:p>
            <a:r>
              <a:rPr lang="en-US" smtClean="0"/>
              <a:t>Hỗ trợ lập trình xử lý số liệu và dữ liệu</a:t>
            </a:r>
          </a:p>
          <a:p>
            <a:r>
              <a:rPr lang="en-US" smtClean="0"/>
              <a:t>Quản lý giao tác</a:t>
            </a:r>
          </a:p>
          <a:p>
            <a:r>
              <a:rPr lang="en-US" smtClean="0"/>
              <a:t>Quản lý các toàn vẹn dữ liệu</a:t>
            </a:r>
          </a:p>
          <a:p>
            <a:r>
              <a:rPr lang="en-US" smtClean="0"/>
              <a:t>Hỗ trợ phân quyền sử dụng dữ liệu</a:t>
            </a:r>
          </a:p>
          <a:p>
            <a:r>
              <a:rPr lang="en-US" smtClean="0"/>
              <a:t>Hỗ trợ việc sao lưu</a:t>
            </a: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z="1800" i="1" smtClean="0"/>
              <a:t>Ngôn ngữ được sử dụng để khai thác dữ liệu là T-SQL (Transact-Structured Query Language) </a:t>
            </a:r>
            <a:r>
              <a:rPr lang="en-US" sz="1800" smtClean="0"/>
              <a:t>[ </a:t>
            </a:r>
            <a:r>
              <a:rPr lang="en-US" sz="1800" i="1" smtClean="0"/>
              <a:t>đây là ngôn ngữ mở rộng trên SQL</a:t>
            </a:r>
            <a:r>
              <a:rPr lang="en-US" sz="1800" smtClean="0"/>
              <a:t> ]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6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Một số quy ước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Verdana" pitchFamily="34" charset="0"/>
                <a:ea typeface="Verdana" pitchFamily="34" charset="0"/>
                <a:cs typeface="Verdana" pitchFamily="34" charset="0"/>
              </a:rPr>
              <a:t>Từ khoá  			:	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TUKHOA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Verdana" pitchFamily="34" charset="0"/>
                <a:ea typeface="Verdana" pitchFamily="34" charset="0"/>
                <a:cs typeface="Verdana" pitchFamily="34" charset="0"/>
              </a:rPr>
              <a:t>Mệnh đề 			: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&lt;menhde&gt;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Verdana" pitchFamily="34" charset="0"/>
                <a:ea typeface="Verdana" pitchFamily="34" charset="0"/>
                <a:cs typeface="Verdana" pitchFamily="34" charset="0"/>
              </a:rPr>
              <a:t>Tên riêng			: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ten_rieng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Verdana" pitchFamily="34" charset="0"/>
                <a:ea typeface="Verdana" pitchFamily="34" charset="0"/>
                <a:cs typeface="Verdana" pitchFamily="34" charset="0"/>
              </a:rPr>
              <a:t>Hoặc				: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|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Verdana" pitchFamily="34" charset="0"/>
                <a:ea typeface="Verdana" pitchFamily="34" charset="0"/>
                <a:cs typeface="Verdana" pitchFamily="34" charset="0"/>
              </a:rPr>
              <a:t>Lặp lại nhiều lần	:	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[,..n]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Verdana" pitchFamily="34" charset="0"/>
                <a:ea typeface="Verdana" pitchFamily="34" charset="0"/>
                <a:cs typeface="Verdana" pitchFamily="34" charset="0"/>
              </a:rPr>
              <a:t>Mô tả tập hợp</a:t>
            </a:r>
            <a:endParaRPr lang="en-US" i="1" smtClean="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 marL="1997075" indent="-1997075"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{a|b|c}: tồn tại ít nhất 1 trong 3 thành phần a,b,c.</a:t>
            </a:r>
          </a:p>
          <a:p>
            <a:pPr marL="1997075" indent="-1997075"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[a|b|c]: tồn tại ít nhất 0 trong 3 thành phần a,b,c.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69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Kiểu dữ liệu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Chuỗi: 	char; nchar; varchar; nvarchar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	text; ntext</a:t>
            </a:r>
          </a:p>
          <a:p>
            <a:r>
              <a:rPr lang="en-US" smtClean="0"/>
              <a:t>Số:		bit; tinyint; smallint; int; bigint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	float; real; decimal/numeric; 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	money; smallmoney</a:t>
            </a:r>
          </a:p>
          <a:p>
            <a:r>
              <a:rPr lang="en-US" smtClean="0"/>
              <a:t>Ngày:	date; datetime; time</a:t>
            </a:r>
          </a:p>
          <a:p>
            <a:r>
              <a:rPr lang="en-US"/>
              <a:t> </a:t>
            </a:r>
            <a:r>
              <a:rPr lang="en-US" smtClean="0"/>
              <a:t>		rowversion; uniqueidentifier</a:t>
            </a:r>
          </a:p>
          <a:p>
            <a:r>
              <a:rPr lang="en-US"/>
              <a:t> </a:t>
            </a:r>
            <a:r>
              <a:rPr lang="en-US" smtClean="0"/>
              <a:t>		binary; image; XML</a:t>
            </a:r>
          </a:p>
        </p:txBody>
      </p:sp>
    </p:spTree>
    <p:extLst>
      <p:ext uri="{BB962C8B-B14F-4D97-AF65-F5344CB8AC3E}">
        <p14:creationId xmlns:p14="http://schemas.microsoft.com/office/powerpoint/2010/main" val="323177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tạo lập dữ liệu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10000"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Verdana" pitchFamily="34" charset="0"/>
                <a:ea typeface="Verdana" pitchFamily="34" charset="0"/>
                <a:cs typeface="Verdana" pitchFamily="34" charset="0"/>
              </a:rPr>
              <a:t>Cú pháp tạo lập dữ liệu :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CREATE DATABASE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ten_database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USE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ten_database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Verdana" pitchFamily="34" charset="0"/>
                <a:ea typeface="Verdana" pitchFamily="34" charset="0"/>
                <a:cs typeface="Verdana" pitchFamily="34" charset="0"/>
              </a:rPr>
              <a:t>Cú pháp tạo lập bảng :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CREATE TABLE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ten_bang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( 	{&lt;dinh_nghia_cot&gt; | &lt;rang_buoc_bang&gt;} 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	[,.. n]	)</a:t>
            </a:r>
          </a:p>
          <a:p>
            <a:pPr>
              <a:buFont typeface="Arial" charset="0"/>
              <a:buNone/>
            </a:pPr>
            <a:endParaRPr lang="en-US" smtClean="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dinh_nghia_cot ::= 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{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ten_cot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 &lt;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kieu_dl&gt;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} [DEFAULT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giatri_hang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]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[IDENTITY [(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hat_giong 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muc_tang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)]]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[&lt;rang_buoc_cot&gt;]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13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tạo lập dữ liệu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[&lt;rang_buoc_cot&gt;] ::=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[CONSTRAINT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ten_rang_buoc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] 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{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{NULL | NOT NULL}				|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CHECK (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ten_cot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			  				{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=|&gt;|&lt;|!=|≥|≤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gia_tri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)	|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{PRIMARY KEY | UNIQUE}			|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REFERENCES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ten_bang_quan_h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e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     (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ten_cot_quan_he 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[,..n]) 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  [ON {DELETE|UPDATE} CASCADE ]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80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tạo lập dữ liệu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029200"/>
          </a:xfrm>
        </p:spPr>
        <p:txBody>
          <a:bodyPr>
            <a:normAutofit fontScale="92500" lnSpcReduction="10000"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[&lt;rang_buoc_bang&gt;] ::=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[CONSTRAINT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ten_rang_buoc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] 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{	CHECK (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bieu_thuc_tren_cot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	  	{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=|&gt;|&lt;|!=|≥|≤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gia_tri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)	|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{PRIMARY KEY | UNIQUE} (ten_cot 					[,..n])			 	|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FOREIGN KEY (ten_cot [,..n])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	RREFERENCES ten_bang_quan_he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	(ten_cot_quan_he [,..n])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	[ON {DELETE|UPDATE} CASCADE ]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46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tạo lập dữ liệu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029200"/>
          </a:xfrm>
        </p:spPr>
        <p:txBody>
          <a:bodyPr>
            <a:normAutofit fontScale="85000" lnSpcReduction="20000"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Verdana" pitchFamily="34" charset="0"/>
                <a:ea typeface="Verdana" pitchFamily="34" charset="0"/>
                <a:cs typeface="Verdana" pitchFamily="34" charset="0"/>
              </a:rPr>
              <a:t>Cú pháp thay đổi cấu trúc bảng :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ALTER TABLE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ten_bang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{	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ALTER COLUMN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ten_cot 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{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DROP DEFAULT |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SET DEFAULT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gia_tri_hang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|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IDENTITY (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hat_giong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,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muc_tang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) 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} |									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ADD {&lt;dinh_nghia_cot&gt;|&lt;rang_buoc_bang&gt;} [,..n] |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DROP {CONSTRAINT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ten_rb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| COLUMN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ten_cot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	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</a:t>
            </a:r>
          </a:p>
          <a:p>
            <a:pPr>
              <a:buFont typeface="Arial" charset="0"/>
              <a:buNone/>
            </a:pPr>
            <a:endParaRPr lang="en-US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400" smtClean="0">
                <a:latin typeface="Verdana" pitchFamily="34" charset="0"/>
                <a:ea typeface="Verdana" pitchFamily="34" charset="0"/>
                <a:cs typeface="Verdana" pitchFamily="34" charset="0"/>
              </a:rPr>
              <a:t>Cú pháp xoá bảng :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DROP TABLE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ten_bang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4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tạo lập dữ liệu</a:t>
            </a:r>
            <a:br>
              <a:rPr lang="en-US" smtClean="0"/>
            </a:br>
            <a:r>
              <a:rPr lang="en-US" i="1" smtClean="0"/>
              <a:t>(ví dụ)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029200"/>
          </a:xfrm>
        </p:spPr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sz="2200" smtClean="0"/>
              <a:t>Create table lophoc (</a:t>
            </a:r>
          </a:p>
          <a:p>
            <a:pPr>
              <a:buFont typeface="Arial" charset="0"/>
              <a:buNone/>
            </a:pPr>
            <a:r>
              <a:rPr lang="en-US" sz="2200"/>
              <a:t>	</a:t>
            </a:r>
            <a:r>
              <a:rPr lang="en-US" sz="2200" smtClean="0"/>
              <a:t>malop nvarchar(5) primary key, tenlop nvarchar(100), tongso int, </a:t>
            </a:r>
          </a:p>
          <a:p>
            <a:pPr>
              <a:buFont typeface="Arial" charset="0"/>
              <a:buNone/>
            </a:pPr>
            <a:r>
              <a:rPr lang="en-US" sz="2200"/>
              <a:t>	</a:t>
            </a:r>
            <a:r>
              <a:rPr lang="en-US" sz="2200" smtClean="0"/>
              <a:t>constraint tschk check (tongso &lt; 50))</a:t>
            </a:r>
          </a:p>
          <a:p>
            <a:pPr>
              <a:buFont typeface="Arial" charset="0"/>
              <a:buNone/>
            </a:pPr>
            <a:r>
              <a:rPr lang="en-US" sz="2200" smtClean="0"/>
              <a:t>Create table monhoc ( </a:t>
            </a:r>
          </a:p>
          <a:p>
            <a:pPr>
              <a:buFont typeface="Arial" charset="0"/>
              <a:buNone/>
            </a:pPr>
            <a:r>
              <a:rPr lang="en-US" sz="2200"/>
              <a:t>	</a:t>
            </a:r>
            <a:r>
              <a:rPr lang="en-US" sz="2200" smtClean="0"/>
              <a:t>mamon nvarchar(5) primary key, tenmon nvarchar(100))</a:t>
            </a:r>
          </a:p>
          <a:p>
            <a:pPr>
              <a:buFont typeface="Arial" charset="0"/>
              <a:buNone/>
            </a:pPr>
            <a:r>
              <a:rPr lang="en-US" sz="2200" smtClean="0"/>
              <a:t>Create table sinhvien (</a:t>
            </a:r>
          </a:p>
          <a:p>
            <a:pPr>
              <a:buFont typeface="Arial" charset="0"/>
              <a:buNone/>
            </a:pPr>
            <a:r>
              <a:rPr lang="en-US" sz="2200"/>
              <a:t>	</a:t>
            </a:r>
            <a:r>
              <a:rPr lang="en-US" sz="2200" smtClean="0"/>
              <a:t>masinhvien nvarchar(10) primary key, tensinhvien nvarchar(100),</a:t>
            </a:r>
          </a:p>
          <a:p>
            <a:pPr>
              <a:buFont typeface="Arial" charset="0"/>
              <a:buNone/>
            </a:pPr>
            <a:r>
              <a:rPr lang="en-US" sz="2200"/>
              <a:t>	</a:t>
            </a:r>
            <a:r>
              <a:rPr lang="en-US" sz="2200" smtClean="0"/>
              <a:t>malop nvarchar(5) references lophoc(malop))</a:t>
            </a:r>
          </a:p>
          <a:p>
            <a:pPr>
              <a:buFont typeface="Arial" charset="0"/>
              <a:buNone/>
            </a:pPr>
            <a:r>
              <a:rPr lang="en-US" sz="2200" smtClean="0"/>
              <a:t>Create table diem (</a:t>
            </a:r>
          </a:p>
          <a:p>
            <a:pPr>
              <a:buFont typeface="Arial" charset="0"/>
              <a:buNone/>
            </a:pPr>
            <a:r>
              <a:rPr lang="en-US" sz="2200"/>
              <a:t>	</a:t>
            </a:r>
            <a:r>
              <a:rPr lang="en-US" sz="2200" smtClean="0"/>
              <a:t>masinhvien nvarchar(10) references sinhvien(masinhvien),</a:t>
            </a:r>
          </a:p>
          <a:p>
            <a:pPr>
              <a:buFont typeface="Arial" charset="0"/>
              <a:buNone/>
            </a:pPr>
            <a:r>
              <a:rPr lang="en-US" sz="2200"/>
              <a:t>	</a:t>
            </a:r>
            <a:r>
              <a:rPr lang="en-US" sz="2200" smtClean="0"/>
              <a:t>mamon nvarchar(5) references monhoc(mamon),</a:t>
            </a:r>
          </a:p>
          <a:p>
            <a:pPr>
              <a:buFont typeface="Arial" charset="0"/>
              <a:buNone/>
            </a:pPr>
            <a:r>
              <a:rPr lang="en-US" sz="2200"/>
              <a:t>	</a:t>
            </a:r>
            <a:r>
              <a:rPr lang="en-US" sz="2200" smtClean="0"/>
              <a:t>diem decimal, </a:t>
            </a:r>
          </a:p>
          <a:p>
            <a:pPr>
              <a:buFont typeface="Arial" charset="0"/>
              <a:buNone/>
            </a:pPr>
            <a:r>
              <a:rPr lang="en-US" sz="2200"/>
              <a:t>	</a:t>
            </a:r>
            <a:r>
              <a:rPr lang="en-US" sz="2200" smtClean="0"/>
              <a:t>constraint kchinh primary key (masinhvien, mamon) )</a:t>
            </a:r>
          </a:p>
          <a:p>
            <a:pP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8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tạo lập dữ liệu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029200"/>
          </a:xfrm>
        </p:spPr>
        <p:txBody>
          <a:bodyPr>
            <a:normAutofit fontScale="92500" lnSpcReduction="10000"/>
          </a:bodyPr>
          <a:lstStyle/>
          <a:p>
            <a:pPr>
              <a:buFont typeface="Arial" charset="0"/>
              <a:buNone/>
            </a:pPr>
            <a:r>
              <a:rPr lang="en-US" smtClean="0">
                <a:latin typeface="Verdana" pitchFamily="34" charset="0"/>
                <a:ea typeface="Verdana" pitchFamily="34" charset="0"/>
                <a:cs typeface="Verdana" pitchFamily="34" charset="0"/>
              </a:rPr>
              <a:t>Luật trên dữ liệu :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CREATE RULE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ten_luat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AS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@VALUE  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{IN | LIKE |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= | &gt; | &lt; | != | ≥ | ≤ 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}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{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gia_tri 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[,..n]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| tap_hop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}	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Verdana" pitchFamily="34" charset="0"/>
                <a:ea typeface="Verdana" pitchFamily="34" charset="0"/>
                <a:cs typeface="Verdana" pitchFamily="34" charset="0"/>
              </a:rPr>
              <a:t>Áp dụng luật :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EXEC sp_bindrule 	‘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ten_luat’,‘ten_bang.ten_cot’</a:t>
            </a:r>
          </a:p>
          <a:p>
            <a:pPr>
              <a:buFont typeface="Arial" charset="0"/>
              <a:buNone/>
            </a:pP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	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[furtureonly]</a:t>
            </a:r>
          </a:p>
          <a:p>
            <a:pPr>
              <a:buFont typeface="Arial" charset="0"/>
              <a:buNone/>
            </a:pP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EXEC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sp_unbindrule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‘ten_bang.ten_cot’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901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truy vấn - Select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 fontScale="92500" lnSpcReduction="20000"/>
          </a:bodyPr>
          <a:lstStyle/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SELECT [[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ALL|DISTINCT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]|[TOP [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PERCENT] n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]] &lt;danh_sach_select&gt;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FROM &lt;danh_sach_bang&gt;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WHERE &lt;dieu_kien&gt;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ORDER BY </a:t>
            </a:r>
            <a:endParaRPr lang="en-US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{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ten_cot 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[,..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n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] |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thu_tu_cot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[,..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n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]}</a:t>
            </a:r>
            <a:endParaRPr lang="en-US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None/>
              <a:defRPr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------------------------------------------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&lt;danh_sach_select&gt; ::= </a:t>
            </a:r>
            <a:endParaRPr lang="en-US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{ [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ten_bang.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 | 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bi_danh.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]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ten_cot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 | </a:t>
            </a:r>
          </a:p>
          <a:p>
            <a:pPr>
              <a:buNone/>
              <a:defRPr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bieu_thuc_tinh_toan_tren_cot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</a:t>
            </a:r>
            <a:endParaRPr lang="en-US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} [[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AS]	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ten_cot_moi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]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  	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[,..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n]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88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truy vấn - Select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 fontScale="77500" lnSpcReduction="20000"/>
          </a:bodyPr>
          <a:lstStyle/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&lt;danh_sach_bang&gt; ::= </a:t>
            </a:r>
          </a:p>
          <a:p>
            <a:pPr>
              <a:buNone/>
              <a:defRPr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{&lt;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ten_bang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&gt;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 [AS 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bi_danh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] [,..n] | &lt;bang_tam&gt;}</a:t>
            </a:r>
          </a:p>
          <a:p>
            <a:pPr>
              <a:buNone/>
              <a:defRPr/>
            </a:pPr>
            <a:endParaRPr lang="en-US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&lt;bang_tam&gt; ::= 	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  ( &lt;ten_bang&gt; [AS 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bi_danh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]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    {INNER | RIGHT | LEFT} JOIN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    &lt;ten_bang&gt; [AS 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bi_danh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]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  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ON 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dieu_kien ) [AS 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bi_danh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]     </a:t>
            </a:r>
            <a:endParaRPr lang="en-US" b="1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None/>
              <a:defRPr/>
            </a:pPr>
            <a:r>
              <a:rPr lang="en-US" b="1">
                <a:latin typeface="Courier New" pitchFamily="49" charset="0"/>
                <a:ea typeface="Verdana" pitchFamily="34" charset="0"/>
                <a:cs typeface="Courier New" pitchFamily="49" charset="0"/>
              </a:rPr>
              <a:t>	|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  ( {&lt;bang_tam&gt; | &lt;ten_bang&gt; [AS 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bi_danh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]}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  {INNER | RIGHT | LEFT} JOIN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  {&lt;bang_tam&gt; | &lt;ten_bang&gt; [AS 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bi_danh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]}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  ON dieu_kien ) [AS 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bi_danh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]</a:t>
            </a:r>
          </a:p>
          <a:p>
            <a:pPr>
              <a:buNone/>
              <a:defRPr/>
            </a:pPr>
            <a:endParaRPr lang="en-US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&lt;ten_bang&gt; ::= {</a:t>
            </a:r>
            <a:r>
              <a:rPr lang="en-US" i="1">
                <a:latin typeface="Courier New" pitchFamily="49" charset="0"/>
                <a:ea typeface="Verdana" pitchFamily="34" charset="0"/>
                <a:cs typeface="Courier New" pitchFamily="49" charset="0"/>
              </a:rPr>
              <a:t>ten_bang </a:t>
            </a:r>
            <a:r>
              <a:rPr lang="en-US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| 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(SELECT …)}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96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truy vấn – Select</a:t>
            </a:r>
            <a:br>
              <a:rPr lang="en-US" smtClean="0"/>
            </a:br>
            <a:r>
              <a:rPr lang="en-US" i="1" smtClean="0"/>
              <a:t>(điều kiện)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&lt;dieu_kien&gt; ::= 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{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[NOT] 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{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gia_tri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| 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ten_cot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| 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bieu_thuc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{ 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= | &gt; | &lt; | != | ≥ | ≤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 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{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gia_tri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| 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ten_cot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| 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bieu_thuc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		|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[NOT] IN ({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gia_tri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[,..n]|SELECT 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1_cot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})	|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[NOT] BETWEEN 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{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gia_tri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| 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ten_cot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| 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bieu_thuc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 AND 	{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gia_tri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| 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ten_cot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| 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bieu_thuc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  	|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[NOT] LIKE </a:t>
            </a:r>
            <a:r>
              <a:rPr lang="en-US" sz="22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chuoi_co_ky_tu_dai_dien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	</a:t>
            </a:r>
            <a:endParaRPr lang="en-US" sz="2200" smtClean="0">
              <a:latin typeface="Verdana" pitchFamily="34" charset="0"/>
              <a:ea typeface="Verdana" pitchFamily="34" charset="0"/>
              <a:cs typeface="Courier New" pitchFamily="49" charset="0"/>
            </a:endParaRPr>
          </a:p>
          <a:p>
            <a:pPr>
              <a:buNone/>
              <a:defRPr/>
            </a:pPr>
            <a:endParaRPr lang="en-US" sz="2200" smtClean="0"/>
          </a:p>
          <a:p>
            <a:pPr>
              <a:buNone/>
              <a:defRPr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55825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truy vấn – Select</a:t>
            </a:r>
            <a:br>
              <a:rPr lang="en-US" smtClean="0"/>
            </a:br>
            <a:r>
              <a:rPr lang="en-US" i="1" smtClean="0"/>
              <a:t>(điều kiện)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000" smtClean="0">
                <a:ea typeface="Verdana" pitchFamily="34" charset="0"/>
                <a:cs typeface="Verdana" pitchFamily="34" charset="0"/>
              </a:rPr>
              <a:t>Chuổi </a:t>
            </a:r>
            <a:r>
              <a:rPr lang="en-US" sz="2000">
                <a:ea typeface="Verdana" pitchFamily="34" charset="0"/>
                <a:cs typeface="Verdana" pitchFamily="34" charset="0"/>
              </a:rPr>
              <a:t>ký tự đại diện : </a:t>
            </a:r>
          </a:p>
          <a:p>
            <a:pPr>
              <a:buFont typeface="Arial" charset="0"/>
              <a:buNone/>
            </a:pPr>
            <a:r>
              <a:rPr lang="en-US" sz="2000">
                <a:ea typeface="Verdana" pitchFamily="34" charset="0"/>
                <a:cs typeface="Verdana" pitchFamily="34" charset="0"/>
              </a:rPr>
              <a:t>	%	</a:t>
            </a:r>
            <a:r>
              <a:rPr lang="en-US" sz="2000" smtClean="0">
                <a:ea typeface="Verdana" pitchFamily="34" charset="0"/>
                <a:cs typeface="Verdana" pitchFamily="34" charset="0"/>
              </a:rPr>
              <a:t>: Bất </a:t>
            </a:r>
            <a:r>
              <a:rPr lang="en-US" sz="2000">
                <a:ea typeface="Verdana" pitchFamily="34" charset="0"/>
                <a:cs typeface="Verdana" pitchFamily="34" charset="0"/>
              </a:rPr>
              <a:t>cứ ký tự gì của hơn 0 ký tự</a:t>
            </a:r>
          </a:p>
          <a:p>
            <a:pPr>
              <a:buFont typeface="Arial" charset="0"/>
              <a:buNone/>
            </a:pPr>
            <a:r>
              <a:rPr lang="en-US" sz="2000">
                <a:ea typeface="Verdana" pitchFamily="34" charset="0"/>
                <a:cs typeface="Verdana" pitchFamily="34" charset="0"/>
              </a:rPr>
              <a:t>	_	</a:t>
            </a:r>
            <a:r>
              <a:rPr lang="en-US" sz="2000" smtClean="0">
                <a:ea typeface="Verdana" pitchFamily="34" charset="0"/>
                <a:cs typeface="Verdana" pitchFamily="34" charset="0"/>
              </a:rPr>
              <a:t>: Bất </a:t>
            </a:r>
            <a:r>
              <a:rPr lang="en-US" sz="2000">
                <a:ea typeface="Verdana" pitchFamily="34" charset="0"/>
                <a:cs typeface="Verdana" pitchFamily="34" charset="0"/>
              </a:rPr>
              <a:t>cứ ký tự gì của 1 ký tự</a:t>
            </a:r>
          </a:p>
          <a:p>
            <a:pPr>
              <a:buFont typeface="Arial" charset="0"/>
              <a:buNone/>
            </a:pPr>
            <a:r>
              <a:rPr lang="en-US" sz="2000">
                <a:ea typeface="Verdana" pitchFamily="34" charset="0"/>
                <a:cs typeface="Verdana" pitchFamily="34" charset="0"/>
              </a:rPr>
              <a:t>	[]	</a:t>
            </a:r>
            <a:r>
              <a:rPr lang="en-US" sz="2000" smtClean="0">
                <a:ea typeface="Verdana" pitchFamily="34" charset="0"/>
                <a:cs typeface="Verdana" pitchFamily="34" charset="0"/>
              </a:rPr>
              <a:t>: Một </a:t>
            </a:r>
            <a:r>
              <a:rPr lang="en-US" sz="2000">
                <a:ea typeface="Verdana" pitchFamily="34" charset="0"/>
                <a:cs typeface="Verdana" pitchFamily="34" charset="0"/>
              </a:rPr>
              <a:t>giá trị đơn trong đoạn giá trị hay tập </a:t>
            </a:r>
            <a:r>
              <a:rPr lang="en-US" sz="2000" smtClean="0">
                <a:ea typeface="Verdana" pitchFamily="34" charset="0"/>
                <a:cs typeface="Verdana" pitchFamily="34" charset="0"/>
              </a:rPr>
              <a:t>giá </a:t>
            </a:r>
            <a:r>
              <a:rPr lang="en-US" sz="2000">
                <a:ea typeface="Verdana" pitchFamily="34" charset="0"/>
                <a:cs typeface="Verdana" pitchFamily="34" charset="0"/>
              </a:rPr>
              <a:t>trị. </a:t>
            </a:r>
            <a:endParaRPr lang="en-US" sz="2000" smtClean="0"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000">
                <a:ea typeface="Verdana" pitchFamily="34" charset="0"/>
                <a:cs typeface="Verdana" pitchFamily="34" charset="0"/>
              </a:rPr>
              <a:t>	</a:t>
            </a:r>
            <a:r>
              <a:rPr lang="en-US" sz="2000" smtClean="0">
                <a:ea typeface="Verdana" pitchFamily="34" charset="0"/>
                <a:cs typeface="Verdana" pitchFamily="34" charset="0"/>
              </a:rPr>
              <a:t>	  Ví </a:t>
            </a:r>
            <a:r>
              <a:rPr lang="en-US" sz="2000">
                <a:ea typeface="Verdana" pitchFamily="34" charset="0"/>
                <a:cs typeface="Verdana" pitchFamily="34" charset="0"/>
              </a:rPr>
              <a:t>dụ : [a-b] hay [abef]</a:t>
            </a:r>
          </a:p>
          <a:p>
            <a:pPr>
              <a:buFont typeface="Arial" charset="0"/>
              <a:buNone/>
            </a:pPr>
            <a:r>
              <a:rPr lang="en-US" sz="2000">
                <a:ea typeface="Verdana" pitchFamily="34" charset="0"/>
                <a:cs typeface="Verdana" pitchFamily="34" charset="0"/>
              </a:rPr>
              <a:t>	[^]	</a:t>
            </a:r>
            <a:r>
              <a:rPr lang="en-US" sz="2000" smtClean="0">
                <a:ea typeface="Verdana" pitchFamily="34" charset="0"/>
                <a:cs typeface="Verdana" pitchFamily="34" charset="0"/>
              </a:rPr>
              <a:t>: Một </a:t>
            </a:r>
            <a:r>
              <a:rPr lang="en-US" sz="2000">
                <a:ea typeface="Verdana" pitchFamily="34" charset="0"/>
                <a:cs typeface="Verdana" pitchFamily="34" charset="0"/>
              </a:rPr>
              <a:t>giá trị đơn không thuộc vào trong </a:t>
            </a:r>
            <a:r>
              <a:rPr lang="en-US" sz="2000" smtClean="0">
                <a:ea typeface="Verdana" pitchFamily="34" charset="0"/>
                <a:cs typeface="Verdana" pitchFamily="34" charset="0"/>
              </a:rPr>
              <a:t>đoạn </a:t>
            </a:r>
            <a:r>
              <a:rPr lang="en-US" sz="2000">
                <a:ea typeface="Verdana" pitchFamily="34" charset="0"/>
                <a:cs typeface="Verdana" pitchFamily="34" charset="0"/>
              </a:rPr>
              <a:t>giá trị hay tập giá trị. </a:t>
            </a:r>
          </a:p>
          <a:p>
            <a:pPr>
              <a:buFont typeface="Arial" charset="0"/>
              <a:buNone/>
            </a:pPr>
            <a:r>
              <a:rPr lang="en-US" sz="2000">
                <a:ea typeface="Verdana" pitchFamily="34" charset="0"/>
                <a:cs typeface="Verdana" pitchFamily="34" charset="0"/>
              </a:rPr>
              <a:t>		</a:t>
            </a:r>
            <a:r>
              <a:rPr lang="en-US" sz="2000" smtClean="0">
                <a:ea typeface="Verdana" pitchFamily="34" charset="0"/>
                <a:cs typeface="Verdana" pitchFamily="34" charset="0"/>
              </a:rPr>
              <a:t>  Ví </a:t>
            </a:r>
            <a:r>
              <a:rPr lang="en-US" sz="2000">
                <a:ea typeface="Verdana" pitchFamily="34" charset="0"/>
                <a:cs typeface="Verdana" pitchFamily="34" charset="0"/>
              </a:rPr>
              <a:t>dụ : [^a-b] hay [^abef]</a:t>
            </a:r>
          </a:p>
          <a:p>
            <a:pPr>
              <a:buFont typeface="Arial" charset="0"/>
              <a:buNone/>
            </a:pPr>
            <a:endParaRPr lang="en-US" sz="200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000" b="1" smtClean="0">
                <a:latin typeface="Courier New" panose="02070309020205020404" pitchFamily="49" charset="0"/>
                <a:ea typeface="Verdana" pitchFamily="34" charset="0"/>
                <a:cs typeface="Courier New" pitchFamily="49" charset="0"/>
              </a:rPr>
              <a:t>SOME | ANY | ALL</a:t>
            </a:r>
          </a:p>
          <a:p>
            <a:pPr>
              <a:buFont typeface="Arial" charset="0"/>
              <a:buNone/>
            </a:pPr>
            <a:r>
              <a:rPr lang="en-US" sz="2000" b="1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EXISTS (SELECT …)</a:t>
            </a:r>
            <a:r>
              <a:rPr lang="en-US" sz="20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 	: T</a:t>
            </a:r>
            <a:r>
              <a:rPr lang="en-US" sz="2000" smtClean="0">
                <a:ea typeface="Verdana" pitchFamily="34" charset="0"/>
              </a:rPr>
              <a:t>rả về true/false nếu select có kết </a:t>
            </a:r>
            <a:r>
              <a:rPr lang="en-US" sz="2000" smtClean="0">
                <a:ea typeface="Verdana" pitchFamily="34" charset="0"/>
              </a:rPr>
              <a:t>quả</a:t>
            </a:r>
          </a:p>
          <a:p>
            <a:pPr>
              <a:buFont typeface="Arial" charset="0"/>
              <a:buNone/>
            </a:pPr>
            <a:r>
              <a:rPr lang="en-US" sz="2000" b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EXCEPT – INTERSECT</a:t>
            </a:r>
            <a:endParaRPr lang="en-US" sz="2000" b="1" smtClean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18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truy vấn - Select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1816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SELECT [ALL | DISTINCT</a:t>
            </a: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]  &lt;</a:t>
            </a: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danh_sach_select_nhom&gt;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	FROM &lt;danh_sach_bang&gt;	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	WHERE &lt;dieu_kien&gt;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	GROUP BY &lt;danh_sach_select_gom_nhom&gt;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	HAVING &lt;dieu_kien</a:t>
            </a: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</a:t>
            </a:r>
          </a:p>
          <a:p>
            <a:pPr>
              <a:buFont typeface="Arial" charset="0"/>
              <a:buNone/>
            </a:pP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------------------------------------------------------</a:t>
            </a:r>
            <a:endParaRPr lang="en-US" sz="200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&lt;danh_sach_select_gom_nhom&gt; ::= </a:t>
            </a:r>
          </a:p>
          <a:p>
            <a:pPr>
              <a:buFont typeface="Arial" charset="0"/>
              <a:buNone/>
            </a:pP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{[</a:t>
            </a:r>
            <a:r>
              <a:rPr lang="en-US" sz="20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ten_bang.</a:t>
            </a: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|</a:t>
            </a:r>
            <a:r>
              <a:rPr lang="en-US" sz="20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bi_danh.</a:t>
            </a: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]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{</a:t>
            </a:r>
            <a:r>
              <a:rPr lang="en-US" sz="20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ten_cot_gom_nhom | bieu_thuc_tren_cot</a:t>
            </a: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}</a:t>
            </a:r>
          </a:p>
          <a:p>
            <a:pPr>
              <a:buFont typeface="Arial" charset="0"/>
              <a:buNone/>
            </a:pP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}[,..n]</a:t>
            </a:r>
          </a:p>
          <a:p>
            <a:pPr>
              <a:buFont typeface="Arial" charset="0"/>
              <a:buNone/>
            </a:pP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&lt;danh_sach_select_nhom&gt; ::= </a:t>
            </a:r>
          </a:p>
          <a:p>
            <a:pPr>
              <a:buFont typeface="Arial" charset="0"/>
              <a:buNone/>
            </a:pP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 	&lt;danh_sach_select_gom_nhom&gt; , </a:t>
            </a:r>
          </a:p>
          <a:p>
            <a:pPr>
              <a:buFont typeface="Arial" charset="0"/>
              <a:buNone/>
            </a:pP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  	[</a:t>
            </a:r>
            <a:r>
              <a:rPr lang="en-US" sz="2000" i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tinh_toan_tong_hop_tren_cot </a:t>
            </a: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[,..n]]</a:t>
            </a:r>
          </a:p>
        </p:txBody>
      </p:sp>
    </p:spTree>
    <p:extLst>
      <p:ext uri="{BB962C8B-B14F-4D97-AF65-F5344CB8AC3E}">
        <p14:creationId xmlns:p14="http://schemas.microsoft.com/office/powerpoint/2010/main" val="568291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200">
                <a:latin typeface="Verdana" pitchFamily="34" charset="0"/>
                <a:ea typeface="Verdana" pitchFamily="34" charset="0"/>
                <a:cs typeface="Verdana" pitchFamily="34" charset="0"/>
              </a:rPr>
              <a:t>Liệt kê danh sách sinh viên không hề có điểm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Select sv.* from sinhvien sv 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Where sv.masinhvien not in 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		(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Select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masinhvien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from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diem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)</a:t>
            </a:r>
          </a:p>
          <a:p>
            <a:pPr>
              <a:buFont typeface="Arial" charset="0"/>
              <a:buNone/>
            </a:pPr>
            <a:endParaRPr lang="en-US" sz="220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200">
                <a:latin typeface="Verdana" pitchFamily="34" charset="0"/>
                <a:ea typeface="Verdana" pitchFamily="34" charset="0"/>
                <a:cs typeface="Verdana" pitchFamily="34" charset="0"/>
              </a:rPr>
              <a:t>Liệt kê danh sách sinh viên có ít nhất 1 môn điểm 10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Select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distinct sv.masinhvien, sv.tensinhvien </a:t>
            </a:r>
            <a:endParaRPr lang="en-US" sz="220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From sinhvien sv inner join diem d 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	on d.masinhvien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=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sv.masinhvien </a:t>
            </a:r>
            <a:endParaRPr lang="en-US" sz="220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Where d.diem = 10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112622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r>
              <a:rPr lang="en-US" sz="2200">
                <a:latin typeface="Verdana" pitchFamily="34" charset="0"/>
                <a:ea typeface="Verdana" pitchFamily="34" charset="0"/>
                <a:cs typeface="Verdana" pitchFamily="34" charset="0"/>
              </a:rPr>
              <a:t>Liệt kê danh sách sinh viên mà mọi môn học đều có điểm &gt;= 5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Select sv.* from sinhvien sv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Where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sv.masinhvien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not in 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	(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Select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masinhvien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from diem where diem &lt; 5)</a:t>
            </a:r>
          </a:p>
          <a:p>
            <a:pPr>
              <a:buFont typeface="Arial" charset="0"/>
              <a:buNone/>
            </a:pPr>
            <a:endParaRPr lang="en-US" sz="2200" smtClean="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endParaRPr lang="en-US" sz="220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Select sv.masinhvien, sv.tensinhvien </a:t>
            </a:r>
            <a:endParaRPr lang="en-US" sz="220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from sinhvien sv inner join diem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d </a:t>
            </a:r>
            <a:endParaRPr lang="en-US" sz="2200" smtClean="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on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d.masv = sv.masv 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Group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by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sv.masinhvien, sv.tensinhvien 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Having min(d.diem) &gt;= 5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154424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r>
              <a:rPr lang="en-US" sz="2200">
                <a:latin typeface="Verdana" pitchFamily="34" charset="0"/>
                <a:ea typeface="Verdana" pitchFamily="34" charset="0"/>
                <a:cs typeface="Verdana" pitchFamily="34" charset="0"/>
              </a:rPr>
              <a:t>Liệt kê danh sách sinh viên đã học nhiều môn nhất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Select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sv.masinhvien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sv.tensinhvien,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count(distinct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d.mamon) as tong into #b1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From sinhvien sv inner join diem d 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	on d.masv = sv.masv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Group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by </a:t>
            </a: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sv.masinhvien, sv.tensinhvien</a:t>
            </a:r>
          </a:p>
          <a:p>
            <a:pPr>
              <a:buFont typeface="Arial" charset="0"/>
              <a:buNone/>
            </a:pPr>
            <a:endParaRPr lang="en-US" sz="2200" smtClean="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endParaRPr lang="en-US" sz="220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Select masv, tensv from #b1 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Verdana" pitchFamily="34" charset="0"/>
              </a:rPr>
              <a:t>where tong = (select max(tong) from #b1)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497198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</a:t>
            </a:r>
            <a:br>
              <a:rPr lang="en-US" smtClean="0"/>
            </a:br>
            <a:r>
              <a:rPr lang="en-US" sz="2800" i="1" smtClean="0"/>
              <a:t>(</a:t>
            </a:r>
            <a:r>
              <a:rPr lang="en-US" sz="2800" i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EXCEPT – INTERSECT)</a:t>
            </a:r>
            <a:endParaRPr lang="en-US" sz="2800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congviec </a:t>
            </a:r>
            <a:endParaRPr lang="en-US" sz="200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macv char(5) 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primary </a:t>
            </a:r>
            <a:r>
              <a:rPr lang="en-US" sz="2000" smtClean="0">
                <a:latin typeface="Courier New" pitchFamily="49" charset="0"/>
                <a:cs typeface="Courier New" pitchFamily="49" charset="0"/>
              </a:rPr>
              <a:t>key,tencv 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char(20))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phancong </a:t>
            </a:r>
            <a:r>
              <a:rPr lang="en-US" sz="200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manv char(5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sz="2000" smtClean="0">
                <a:latin typeface="Courier New" pitchFamily="49" charset="0"/>
                <a:cs typeface="Courier New" pitchFamily="49" charset="0"/>
              </a:rPr>
              <a:t>macv char(5), constraint 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pk_phancong primary key (manv,macv))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create 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table </a:t>
            </a:r>
            <a:r>
              <a:rPr lang="en-US" sz="2000" smtClean="0">
                <a:latin typeface="Courier New" pitchFamily="49" charset="0"/>
                <a:cs typeface="Courier New" pitchFamily="49" charset="0"/>
              </a:rPr>
              <a:t>nhanvien </a:t>
            </a:r>
            <a:endParaRPr lang="en-US" sz="2000">
              <a:latin typeface="Courier New" pitchFamily="49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	(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manv char(5) primary key, tennv char(20))</a:t>
            </a:r>
          </a:p>
          <a:p>
            <a:pPr>
              <a:buFont typeface="Arial" charset="0"/>
              <a:buNone/>
            </a:pPr>
            <a:endParaRPr lang="en-US" sz="2000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000" b="1" smtClean="0">
                <a:ea typeface="Verdana" pitchFamily="34" charset="0"/>
              </a:rPr>
              <a:t>Ví dụ dữ liệu</a:t>
            </a:r>
          </a:p>
          <a:p>
            <a:pPr>
              <a:buFont typeface="Arial" charset="0"/>
              <a:buNone/>
            </a:pP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manv</a:t>
            </a: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		macv			manv		macv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nv001		cv001			nv002		cv001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nv001		cv002			nv002		cv002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						nv002		cv003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901016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</a:t>
            </a:r>
            <a:br>
              <a:rPr lang="en-US" smtClean="0"/>
            </a:br>
            <a:r>
              <a:rPr lang="en-US" sz="2800" i="1" smtClean="0"/>
              <a:t>(</a:t>
            </a:r>
            <a:r>
              <a:rPr lang="en-US" sz="2800" i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EXCEPT – INTERSECT)</a:t>
            </a:r>
            <a:endParaRPr lang="en-US" sz="2800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000" b="1" smtClean="0">
                <a:ea typeface="Verdana" pitchFamily="34" charset="0"/>
                <a:cs typeface="Verdana" pitchFamily="34" charset="0"/>
              </a:rPr>
              <a:t>EXCEPT</a:t>
            </a:r>
          </a:p>
          <a:p>
            <a:pPr>
              <a:buFont typeface="Arial" charset="0"/>
              <a:buNone/>
            </a:pPr>
            <a:r>
              <a:rPr lang="en-US" sz="2000" smtClean="0">
                <a:ea typeface="Verdana" pitchFamily="34" charset="0"/>
                <a:cs typeface="Verdana" pitchFamily="34" charset="0"/>
              </a:rPr>
              <a:t>Lấy </a:t>
            </a:r>
            <a:r>
              <a:rPr lang="en-US" sz="2000">
                <a:ea typeface="Verdana" pitchFamily="34" charset="0"/>
                <a:cs typeface="Verdana" pitchFamily="34" charset="0"/>
              </a:rPr>
              <a:t>ra manv mà chỉ có làm công việc cv001 mà không làm công việc cv003.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Select manv from phancong where macv = ‘cv001’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Except 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Courier New" pitchFamily="49" charset="0"/>
              </a:rPr>
              <a:t>Select manv from phancong where macv = ‘cv003’</a:t>
            </a:r>
          </a:p>
          <a:p>
            <a:pPr>
              <a:buFont typeface="Wingdings"/>
              <a:buChar char="è"/>
            </a:pP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  <a:sym typeface="Wingdings" pitchFamily="2" charset="2"/>
              </a:rPr>
              <a:t>Nv001</a:t>
            </a:r>
          </a:p>
          <a:p>
            <a:pPr marL="0" indent="0">
              <a:buNone/>
            </a:pPr>
            <a:endParaRPr lang="en-US" sz="200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000" b="1">
                <a:ea typeface="Verdana" pitchFamily="34" charset="0"/>
                <a:cs typeface="Verdana" pitchFamily="34" charset="0"/>
              </a:rPr>
              <a:t>INTERSECT :</a:t>
            </a:r>
          </a:p>
          <a:p>
            <a:pPr>
              <a:buFont typeface="Arial" charset="0"/>
              <a:buNone/>
            </a:pPr>
            <a:r>
              <a:rPr lang="en-US" sz="2000">
                <a:ea typeface="Verdana" pitchFamily="34" charset="0"/>
                <a:cs typeface="Verdana" pitchFamily="34" charset="0"/>
              </a:rPr>
              <a:t>Lấy ra manv mà làm cả 2 công </a:t>
            </a:r>
            <a:r>
              <a:rPr lang="en-US" sz="2000">
                <a:ea typeface="Verdana" pitchFamily="34" charset="0"/>
                <a:cs typeface="Verdana" pitchFamily="34" charset="0"/>
              </a:rPr>
              <a:t>việc </a:t>
            </a:r>
            <a:r>
              <a:rPr lang="en-US" sz="2000" smtClean="0">
                <a:ea typeface="Verdana" pitchFamily="34" charset="0"/>
                <a:cs typeface="Verdana" pitchFamily="34" charset="0"/>
              </a:rPr>
              <a:t>cv001 và cv003</a:t>
            </a:r>
            <a:endParaRPr lang="en-US" sz="2000"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</a:rPr>
              <a:t>Select manv from phancong where macv = ‘cv001’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</a:rPr>
              <a:t>Intersect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</a:rPr>
              <a:t>Select manv from phancong where macv = ‘cv003’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  <a:sym typeface="Wingdings" pitchFamily="2" charset="2"/>
              </a:rPr>
              <a:t> nv002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180657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529</Words>
  <Application>Microsoft Office PowerPoint</Application>
  <PresentationFormat>On-screen Show (4:3)</PresentationFormat>
  <Paragraphs>241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HỆ QUẢN TRỊ CƠ SỞ DỮ LIỆU SQL SERVER 2012</vt:lpstr>
      <vt:lpstr>Giới thiệu hệ quản trị cơ sở dữ liệu SQL Server 2012</vt:lpstr>
      <vt:lpstr>Tính năng chính của SQL Server 2012</vt:lpstr>
      <vt:lpstr>Tính năng chính của quản trị dữ liệu</vt:lpstr>
      <vt:lpstr>Một số quy ước</vt:lpstr>
      <vt:lpstr>Kiểu dữ liệu</vt:lpstr>
      <vt:lpstr>Ngôn ngữ tạo lập dữ liệu</vt:lpstr>
      <vt:lpstr>Ngôn ngữ tạo lập dữ liệu</vt:lpstr>
      <vt:lpstr>Ngôn ngữ tạo lập dữ liệu</vt:lpstr>
      <vt:lpstr>Ngôn ngữ tạo lập dữ liệu</vt:lpstr>
      <vt:lpstr>Ngôn ngữ tạo lập dữ liệu (ví dụ)</vt:lpstr>
      <vt:lpstr>Ngôn ngữ tạo lập dữ liệu</vt:lpstr>
      <vt:lpstr>Ngôn ngữ truy vấn - Select</vt:lpstr>
      <vt:lpstr>Ngôn ngữ truy vấn - Select</vt:lpstr>
      <vt:lpstr>Ngôn ngữ truy vấn – Select (điều kiện)</vt:lpstr>
      <vt:lpstr>Ngôn ngữ truy vấn – Select (điều kiện)</vt:lpstr>
      <vt:lpstr>Ngôn ngữ truy vấn - Select</vt:lpstr>
      <vt:lpstr>Ví dụ</vt:lpstr>
      <vt:lpstr>Ví dụ</vt:lpstr>
      <vt:lpstr>Ví dụ</vt:lpstr>
      <vt:lpstr>Ví dụ (EXCEPT – INTERSECT)</vt:lpstr>
      <vt:lpstr>Ví dụ (EXCEPT – INTERSECT)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QUẢN TRỊ CƠ SỞ DỮ LIỆU SQL SERVER 2012</dc:title>
  <dc:creator>phanhien</dc:creator>
  <cp:lastModifiedBy>phanhien</cp:lastModifiedBy>
  <cp:revision>57</cp:revision>
  <dcterms:created xsi:type="dcterms:W3CDTF">2015-08-04T00:53:59Z</dcterms:created>
  <dcterms:modified xsi:type="dcterms:W3CDTF">2015-08-04T02:51:26Z</dcterms:modified>
</cp:coreProperties>
</file>