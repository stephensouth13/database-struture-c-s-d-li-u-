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259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6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3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9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34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8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88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3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2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00562-4F68-4063-A95E-FFFEBDB36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5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br>
              <a:rPr lang="en-US" smtClean="0"/>
            </a:b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3FC10-CAB5-4CCC-8773-2D123589A9E3}" type="datetimeFigureOut">
              <a:rPr lang="en-US" smtClean="0"/>
              <a:t>8/7/2015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3EB79-FAE2-4654-86B1-78FF01A3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060575"/>
          </a:xfrm>
        </p:spPr>
        <p:txBody>
          <a:bodyPr>
            <a:normAutofit/>
          </a:bodyPr>
          <a:lstStyle/>
          <a:p>
            <a:r>
              <a:rPr lang="en-US" sz="4000" smtClean="0"/>
              <a:t>NGÔN NGỮ ĐẠI SỐ QUAN HỆ</a:t>
            </a:r>
            <a:br>
              <a:rPr lang="en-US" sz="4000" smtClean="0"/>
            </a:b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51511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smtClean="0"/>
              <a:t>Bản chất quan hệ là tập con trong một không gian tích.</a:t>
            </a:r>
          </a:p>
          <a:p>
            <a:r>
              <a:rPr lang="en-US" smtClean="0"/>
              <a:t>Chúng ta phải thực hiện những phép toán làm thay đổi thể hiện của quan hệ hay lược đồ.</a:t>
            </a:r>
          </a:p>
          <a:p>
            <a:pPr marL="0" indent="0">
              <a:buNone/>
            </a:pPr>
            <a:r>
              <a:rPr lang="en-US" smtClean="0"/>
              <a:t>=&gt; Các phép toán trên quan hệ cùng với các quan hệ được gọi là đại số quan hệ.</a:t>
            </a:r>
          </a:p>
        </p:txBody>
      </p:sp>
    </p:spTree>
    <p:extLst>
      <p:ext uri="{BB962C8B-B14F-4D97-AF65-F5344CB8AC3E}">
        <p14:creationId xmlns:p14="http://schemas.microsoft.com/office/powerpoint/2010/main" val="21311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i="1" smtClean="0"/>
              <a:t>(Một số quy ước)</a:t>
            </a:r>
            <a:endParaRPr lang="en-US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mtClean="0"/>
                  <a:t>Cho một lược đồ quan hệ ký hiệu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𝑅</m:t>
                      </m:r>
                      <m:r>
                        <a:rPr lang="en-US" b="0" i="1" smtClean="0">
                          <a:latin typeface="Cambria Math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mtClean="0"/>
              </a:p>
              <a:p>
                <a:pPr marL="0" indent="0">
                  <a:buNone/>
                </a:pPr>
                <a:r>
                  <a:rPr lang="en-US" smtClean="0"/>
                  <a:t>Trong đó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mtClean="0"/>
                  <a:t> được coi là thuộc tính của lược đồ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𝑅</m:t>
                    </m:r>
                  </m:oMath>
                </a14:m>
                <a:endParaRPr lang="en-US" smtClean="0"/>
              </a:p>
              <a:p>
                <a:pPr marL="0" indent="0">
                  <a:buNone/>
                </a:pPr>
                <a:r>
                  <a:rPr lang="en-US" smtClean="0"/>
                  <a:t>Tập giá trị của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mtClean="0"/>
                  <a:t> ký hiệu là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𝑑𝑜𝑚</m:t>
                    </m:r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mtClean="0"/>
              </a:p>
              <a:p>
                <a:pPr marL="0" indent="0">
                  <a:buNone/>
                </a:pPr>
                <a:r>
                  <a:rPr lang="en-US" smtClean="0"/>
                  <a:t>Quan hệ là tập các bộ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mtClean="0"/>
                  <a:t>, ký hiệu là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mtClean="0"/>
              </a:p>
              <a:p>
                <a:pPr marL="0" indent="0">
                  <a:buNone/>
                </a:pPr>
                <a:r>
                  <a:rPr lang="en-US" smtClean="0"/>
                  <a:t>Mỗi bộ t là tập các giá trị của thuộc tính, ký hiệu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,…,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mtClean="0"/>
              </a:p>
              <a:p>
                <a:pPr marL="0" indent="0">
                  <a:buNone/>
                </a:pPr>
                <a:r>
                  <a:rPr lang="en-US" smtClean="0"/>
                  <a:t>Trong đó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.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     (∀1≤</m:t>
                      </m:r>
                      <m:r>
                        <a:rPr lang="en-US" b="0" i="1" smtClean="0">
                          <a:latin typeface="Cambria Math"/>
                        </a:rPr>
                        <m:t>𝑖</m:t>
                      </m:r>
                      <m:r>
                        <a:rPr lang="en-US" b="0" i="1" smtClean="0">
                          <a:latin typeface="Cambria Math"/>
                        </a:rPr>
                        <m:t>≤</m:t>
                      </m:r>
                      <m:r>
                        <a:rPr lang="en-US" b="0" i="1" smtClean="0"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481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529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i="1" smtClean="0"/>
              <a:t>(Một số quy ước)</a:t>
            </a:r>
            <a:endParaRPr lang="en-US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mtClean="0"/>
                  <a:t>Cho một quan hệ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mtClean="0"/>
                  <a:t> trên lược đồ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𝑅</m:t>
                    </m:r>
                    <m:r>
                      <a:rPr lang="en-US" i="1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}</m:t>
                    </m:r>
                  </m:oMath>
                </a14:m>
                <a:endParaRPr lang="en-US" smtClean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𝑎𝑑𝑜𝑚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 </m:t>
                        </m:r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𝑑</m:t>
                        </m:r>
                        <m:r>
                          <a:rPr lang="en-US" b="0" i="1" smtClean="0">
                            <a:latin typeface="Cambria Math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∃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𝑟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𝑑</m:t>
                    </m:r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endParaRPr lang="en-US" b="0" smtClean="0"/>
              </a:p>
              <a:p>
                <a:pPr marL="514350" indent="-51435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𝑎𝑑𝑜𝑚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  <m:r>
                          <a:rPr lang="en-US" b="0" i="1" smtClean="0">
                            <a:latin typeface="Cambria Math"/>
                          </a:rPr>
                          <m:t>, </m:t>
                        </m:r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𝑎𝑑𝑜𝑚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𝑎𝑑𝑜𝑚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,</m:t>
                        </m:r>
                        <m:r>
                          <a:rPr lang="en-US" i="1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</a:rPr>
                      <m:t>…×                            </m:t>
                    </m:r>
                    <m:r>
                      <a:rPr lang="en-US" b="0" i="1" smtClean="0">
                        <a:latin typeface="Cambria Math"/>
                      </a:rPr>
                      <m:t>𝑎𝑑𝑜𝑚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𝑟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smtClean="0"/>
              </a:p>
              <a:p>
                <a:pPr marL="0" indent="0">
                  <a:buNone/>
                </a:pPr>
                <a:endParaRPr lang="en-US" smtClean="0"/>
              </a:p>
              <a:p>
                <a:pPr marL="0" indent="0">
                  <a:buNone/>
                </a:pPr>
                <a:r>
                  <a:rPr lang="en-US" smtClean="0"/>
                  <a:t>Cho 2 quan hệ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  <m:r>
                      <a:rPr lang="en-US" i="1" smtClean="0">
                        <a:latin typeface="Cambria Math"/>
                      </a:rPr>
                      <m:t>,</m:t>
                    </m:r>
                    <m:r>
                      <a:rPr lang="en-US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mtClean="0"/>
                  <a:t> trên lược đồ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mtClean="0"/>
                  <a:t>, ta có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∩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𝑣</m:t>
                      </m:r>
                      <m:r>
                        <a:rPr lang="en-US" b="0" i="1" smtClean="0">
                          <a:latin typeface="Cambria Math"/>
                        </a:rPr>
                        <m:t>à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 }</m:t>
                      </m:r>
                    </m:oMath>
                  </m:oMathPara>
                </a14:m>
                <a:endParaRPr lang="en-US" b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∪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h𝑎𝑦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b="0" i="1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\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/>
                        </a:rPr>
                        <m:t>s</m:t>
                      </m:r>
                      <m:r>
                        <a:rPr lang="en-US" b="0" i="1" smtClean="0">
                          <a:latin typeface="Cambria Math"/>
                        </a:rPr>
                        <m:t>   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𝑣</m:t>
                      </m:r>
                      <m:r>
                        <a:rPr lang="en-US" b="0" i="1" smtClean="0">
                          <a:latin typeface="Cambria Math"/>
                        </a:rPr>
                        <m:t>à 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∉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 } </m:t>
                      </m:r>
                    </m:oMath>
                  </m:oMathPara>
                </a14:m>
                <a:endParaRPr lang="en-US" b="0" smtClean="0"/>
              </a:p>
              <a:p>
                <a:pPr marL="0" indent="0">
                  <a:buNone/>
                </a:pPr>
                <a:endParaRPr lang="en-US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481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851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(Phép chiếu)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mtClean="0"/>
                  <a:t>Cho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𝑋</m:t>
                    </m:r>
                    <m:r>
                      <a:rPr lang="en-US" b="0" i="1" smtClean="0">
                        <a:latin typeface="Cambria Math"/>
                      </a:rPr>
                      <m:t>⊂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mtClean="0"/>
                  <a:t>, phép chiếu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mtClean="0"/>
                  <a:t> lên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mtClean="0"/>
                  <a:t>, ký hiệu là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, ∀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en-US" b="0" smtClean="0"/>
              </a:p>
              <a:p>
                <a:pPr marL="0" indent="0">
                  <a:buNone/>
                </a:pPr>
                <a:r>
                  <a:rPr lang="en-US" sz="2400" smtClean="0"/>
                  <a:t>Lấy ví dụ:</a:t>
                </a:r>
              </a:p>
              <a:p>
                <a:pPr marL="0" indent="0">
                  <a:buNone/>
                </a:pPr>
                <a:r>
                  <a:rPr lang="en-US" sz="2400" smtClean="0"/>
                  <a:t>Quan hệ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𝑆𝑉</m:t>
                    </m:r>
                    <m:r>
                      <a:rPr lang="en-US" sz="2400" i="1" smtClean="0">
                        <a:latin typeface="Cambria Math"/>
                      </a:rPr>
                      <m:t>(</m:t>
                    </m:r>
                    <m:r>
                      <a:rPr lang="en-US" sz="2400" i="1" smtClean="0">
                        <a:latin typeface="Cambria Math"/>
                      </a:rPr>
                      <m:t>𝑚𝑎𝑠𝑣</m:t>
                    </m:r>
                    <m:r>
                      <a:rPr lang="en-US" sz="2400" i="1" smtClean="0"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latin typeface="Cambria Math"/>
                      </a:rPr>
                      <m:t>h𝑜𝑡𝑒𝑛</m:t>
                    </m:r>
                    <m:r>
                      <a:rPr lang="en-US" sz="2400" i="1" smtClean="0"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latin typeface="Cambria Math"/>
                      </a:rPr>
                      <m:t>𝑙𝑜𝑝</m:t>
                    </m:r>
                    <m:r>
                      <a:rPr lang="en-US" sz="240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smtClean="0"/>
                  <a:t>, với tập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𝑋</m:t>
                    </m:r>
                    <m:r>
                      <a:rPr lang="en-US" sz="2400" i="1" smtClean="0">
                        <a:latin typeface="Cambria Math"/>
                      </a:rPr>
                      <m:t>={</m:t>
                    </m:r>
                    <m:r>
                      <a:rPr lang="en-US" sz="2400" i="1" smtClean="0">
                        <a:latin typeface="Cambria Math"/>
                      </a:rPr>
                      <m:t>𝑚𝑎𝑠𝑣</m:t>
                    </m:r>
                    <m:r>
                      <a:rPr lang="en-US" sz="2400" i="1" smtClean="0"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latin typeface="Cambria Math"/>
                      </a:rPr>
                      <m:t>h𝑜𝑡𝑒𝑛</m:t>
                    </m:r>
                    <m:r>
                      <a:rPr lang="en-US" sz="2400" i="1" smtClean="0">
                        <a:latin typeface="Cambria Math"/>
                      </a:rPr>
                      <m:t>} </m:t>
                    </m:r>
                  </m:oMath>
                </a14:m>
                <a:endParaRPr lang="en-US" sz="2400" smtClean="0"/>
              </a:p>
              <a:p>
                <a:pPr marL="0" indent="0">
                  <a:buNone/>
                </a:pPr>
                <a:r>
                  <a:rPr lang="en-US" sz="2400" smtClean="0"/>
                  <a:t>Ta có chiếu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𝑆𝑉</m:t>
                    </m:r>
                    <m:r>
                      <a:rPr lang="en-US" sz="240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smtClean="0"/>
                  <a:t>trên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𝑋</m:t>
                    </m:r>
                  </m:oMath>
                </a14:m>
                <a:r>
                  <a:rPr lang="en-US" sz="2400" smtClean="0"/>
                  <a:t> như sau</a:t>
                </a:r>
              </a:p>
              <a:p>
                <a:pPr marL="0" indent="0">
                  <a:buNone/>
                </a:pPr>
                <a:endParaRPr lang="en-US" sz="240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481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4013535"/>
                  </p:ext>
                </p:extLst>
              </p:nvPr>
            </p:nvGraphicFramePr>
            <p:xfrm>
              <a:off x="4572000" y="3886200"/>
              <a:ext cx="304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00"/>
                    <a:gridCol w="838200"/>
                    <a:gridCol w="1295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𝒓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d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masv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Hoten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Hoàng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Nhân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S3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Vân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S4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Hương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S5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Linh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4013535"/>
                  </p:ext>
                </p:extLst>
              </p:nvPr>
            </p:nvGraphicFramePr>
            <p:xfrm>
              <a:off x="4572000" y="3886200"/>
              <a:ext cx="30480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00"/>
                    <a:gridCol w="838200"/>
                    <a:gridCol w="12954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8197" r="-23333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masv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Hoten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Hoàng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Nhân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S3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Vân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S4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Hương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S5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Linh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92862"/>
              </p:ext>
            </p:extLst>
          </p:nvPr>
        </p:nvGraphicFramePr>
        <p:xfrm>
          <a:off x="609600" y="3886200"/>
          <a:ext cx="3048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385"/>
                <a:gridCol w="703385"/>
                <a:gridCol w="1055077"/>
                <a:gridCol w="58615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SV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Hoten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Hoàng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Hương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22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(Phép chọn)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mtClean="0"/>
                  <a:t>Cho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smtClean="0"/>
                  <a:t> và điều kiện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smtClean="0"/>
                  <a:t>, phép chọn trên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mtClean="0"/>
                  <a:t> các bộ thỏa điều kiện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smtClean="0"/>
                  <a:t>, ký hiệu là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|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smtClean="0"/>
              </a:p>
              <a:p>
                <a:pPr marL="0" indent="0">
                  <a:buNone/>
                </a:pPr>
                <a:r>
                  <a:rPr lang="en-US" sz="2400" smtClean="0"/>
                  <a:t>Lấy ví dụ:</a:t>
                </a:r>
              </a:p>
              <a:p>
                <a:pPr marL="0" indent="0">
                  <a:buNone/>
                </a:pPr>
                <a:r>
                  <a:rPr lang="en-US" sz="2400" smtClean="0"/>
                  <a:t>Quan hệ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𝑆𝑉</m:t>
                    </m:r>
                    <m:r>
                      <a:rPr lang="en-US" sz="2400" i="1" smtClean="0">
                        <a:latin typeface="Cambria Math"/>
                      </a:rPr>
                      <m:t>(</m:t>
                    </m:r>
                    <m:r>
                      <a:rPr lang="en-US" sz="2400" i="1" smtClean="0">
                        <a:latin typeface="Cambria Math"/>
                      </a:rPr>
                      <m:t>𝑚𝑎𝑠𝑣</m:t>
                    </m:r>
                    <m:r>
                      <a:rPr lang="en-US" sz="2400" i="1" smtClean="0"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latin typeface="Cambria Math"/>
                      </a:rPr>
                      <m:t>h𝑜𝑡𝑒𝑛</m:t>
                    </m:r>
                    <m:r>
                      <a:rPr lang="en-US" sz="2400" i="1" smtClean="0">
                        <a:latin typeface="Cambria Math"/>
                      </a:rPr>
                      <m:t>, </m:t>
                    </m:r>
                    <m:r>
                      <a:rPr lang="en-US" sz="2400" i="1" smtClean="0">
                        <a:latin typeface="Cambria Math"/>
                      </a:rPr>
                      <m:t>𝑙𝑜𝑝</m:t>
                    </m:r>
                    <m:r>
                      <a:rPr lang="en-US" sz="240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400" smtClean="0"/>
                  <a:t>, với tập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𝑝</m:t>
                    </m:r>
                    <m:r>
                      <a:rPr lang="en-US" sz="2400" b="0" i="1" smtClean="0">
                        <a:latin typeface="Cambria Math"/>
                      </a:rPr>
                      <m:t>:</m:t>
                    </m:r>
                    <m:r>
                      <a:rPr lang="en-US" sz="2400" b="0" i="1" smtClean="0">
                        <a:latin typeface="Cambria Math"/>
                      </a:rPr>
                      <m:t>𝐿𝑜𝑝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𝑇𝐻</m:t>
                    </m:r>
                    <m:r>
                      <a:rPr lang="en-US" sz="2400" i="1" smtClean="0">
                        <a:latin typeface="Cambria Math"/>
                      </a:rPr>
                      <m:t> </m:t>
                    </m:r>
                  </m:oMath>
                </a14:m>
                <a:endParaRPr lang="en-US" sz="2400" smtClean="0"/>
              </a:p>
              <a:p>
                <a:pPr marL="0" indent="0">
                  <a:buNone/>
                </a:pPr>
                <a:endParaRPr lang="en-US" sz="240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 rotWithShape="1">
                <a:blip r:embed="rId2"/>
                <a:stretch>
                  <a:fillRect l="-1481" t="-1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802977"/>
              </p:ext>
            </p:extLst>
          </p:nvPr>
        </p:nvGraphicFramePr>
        <p:xfrm>
          <a:off x="609600" y="3886200"/>
          <a:ext cx="3048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385"/>
                <a:gridCol w="703385"/>
                <a:gridCol w="1055077"/>
                <a:gridCol w="58615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SV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Hoten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5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Hoàng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Hương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Linh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8228645"/>
                  </p:ext>
                </p:extLst>
              </p:nvPr>
            </p:nvGraphicFramePr>
            <p:xfrm>
              <a:off x="4572000" y="3886200"/>
              <a:ext cx="3048000" cy="11320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/>
                    <a:gridCol w="762000"/>
                    <a:gridCol w="914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𝒑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𝑺𝑽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)=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masv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Hoten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S3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Vân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S4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Hương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8228645"/>
                  </p:ext>
                </p:extLst>
              </p:nvPr>
            </p:nvGraphicFramePr>
            <p:xfrm>
              <a:off x="4572000" y="3886200"/>
              <a:ext cx="3048000" cy="11320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/>
                    <a:gridCol w="762000"/>
                    <a:gridCol w="914400"/>
                  </a:tblGrid>
                  <a:tr h="3903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7813" r="-122222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masv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Hoten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S3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Vân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S4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Hương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216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(Phép kết tự nhiên)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mtClean="0"/>
                  <a:t>Cho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r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𝑆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mtClean="0"/>
                  <a:t> và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𝑄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b="0" i="1" smtClean="0">
                        <a:latin typeface="Cambria Math"/>
                      </a:rPr>
                      <m:t>𝑆</m:t>
                    </m:r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𝑃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∪</m:t>
                    </m:r>
                    <m:r>
                      <a:rPr lang="en-US" b="0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smtClean="0"/>
                  <a:t>, phép kết tự nhiên trên hai quan hệ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mtClean="0"/>
                  <a:t> và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mtClean="0"/>
                  <a:t>, ký hiệu là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𝑟</m:t>
                    </m:r>
                    <m:r>
                      <a:rPr lang="en-US" sz="2400" b="0" i="1" smtClean="0">
                        <a:latin typeface="Cambria Math"/>
                      </a:rPr>
                      <m:t>⋈</m:t>
                    </m:r>
                    <m:r>
                      <a:rPr lang="en-US" sz="2400" b="0" i="1" smtClean="0">
                        <a:latin typeface="Cambria Math"/>
                      </a:rPr>
                      <m:t>𝑠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/>
                      </a:rPr>
                      <m:t> ∃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∈</m:t>
                    </m:r>
                    <m:r>
                      <a:rPr lang="en-US" sz="2400" b="0" i="1" smtClean="0">
                        <a:latin typeface="Cambria Math"/>
                      </a:rPr>
                      <m:t>𝑟</m:t>
                    </m:r>
                    <m:r>
                      <a:rPr lang="en-US" sz="2400" b="0" i="1" smtClean="0">
                        <a:latin typeface="Cambria Math"/>
                      </a:rPr>
                      <m:t> </m:t>
                    </m:r>
                    <m:r>
                      <a:rPr lang="en-US" sz="2400" b="0" i="1" smtClean="0">
                        <a:latin typeface="Cambria Math"/>
                      </a:rPr>
                      <m:t>𝑣</m:t>
                    </m:r>
                    <m:r>
                      <a:rPr lang="en-US" sz="2400" b="0" i="1" smtClean="0">
                        <a:latin typeface="Cambria Math"/>
                      </a:rPr>
                      <m:t>à ∃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∈</m:t>
                    </m:r>
                    <m:r>
                      <a:rPr lang="en-US" sz="2400" b="0" i="1" smtClean="0">
                        <a:latin typeface="Cambria Math"/>
                      </a:rPr>
                      <m:t>𝑠</m:t>
                    </m:r>
                    <m:r>
                      <a:rPr lang="en-US" sz="2400" b="0" i="1" smtClean="0">
                        <a:latin typeface="Cambria Math"/>
                      </a:rPr>
                      <m:t>,  </m:t>
                    </m:r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𝑅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𝑣</m:t>
                    </m:r>
                    <m:r>
                      <a:rPr lang="en-US" sz="2400" b="0" i="1" smtClean="0">
                        <a:latin typeface="Cambria Math"/>
                      </a:rPr>
                      <m:t>à </m:t>
                    </m:r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/>
                      </a:rPr>
                      <m:t>.</m:t>
                    </m:r>
                    <m:r>
                      <a:rPr lang="en-US" sz="2400" b="0" i="1" smtClean="0">
                        <a:latin typeface="Cambria Math"/>
                      </a:rPr>
                      <m:t>𝑆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sz="2400" smtClean="0"/>
                  <a:t> </a:t>
                </a:r>
              </a:p>
              <a:p>
                <a:pPr marL="0" indent="0">
                  <a:buNone/>
                </a:pPr>
                <a:r>
                  <a:rPr lang="en-US" sz="2400" smtClean="0"/>
                  <a:t>Khi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𝑄</m:t>
                    </m:r>
                    <m:r>
                      <a:rPr lang="en-US" sz="2400" b="0" i="1" smtClean="0">
                        <a:latin typeface="Cambria Math"/>
                      </a:rPr>
                      <m:t>=∅</m:t>
                    </m:r>
                  </m:oMath>
                </a14:m>
                <a:r>
                  <a:rPr lang="en-US" sz="2400" smtClean="0"/>
                  <a:t> thì phép kết tự nhiên là phép tích Descartes.</a:t>
                </a:r>
              </a:p>
              <a:p>
                <a:pPr marL="0" indent="0">
                  <a:buNone/>
                </a:pPr>
                <a:r>
                  <a:rPr lang="en-US" sz="2400" smtClean="0"/>
                  <a:t>Khi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𝑄</m:t>
                    </m:r>
                    <m:r>
                      <a:rPr lang="en-US" sz="2400" b="0" i="1" smtClean="0">
                        <a:latin typeface="Cambria Math"/>
                      </a:rPr>
                      <m:t>≠∅</m:t>
                    </m:r>
                  </m:oMath>
                </a14:m>
                <a:r>
                  <a:rPr lang="en-US" sz="2400" smtClean="0"/>
                  <a:t> thì đó là phép kết có điều kiện theo các thuộc tính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smtClean="0"/>
                  <a:t>.</a:t>
                </a:r>
              </a:p>
              <a:p>
                <a:pPr marL="0" indent="0">
                  <a:buNone/>
                </a:pPr>
                <a:endParaRPr lang="en-US" sz="24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5105400"/>
              </a:xfrm>
              <a:blipFill rotWithShape="1">
                <a:blip r:embed="rId2"/>
                <a:stretch>
                  <a:fillRect l="-1404" t="-1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246527"/>
              </p:ext>
            </p:extLst>
          </p:nvPr>
        </p:nvGraphicFramePr>
        <p:xfrm>
          <a:off x="533400" y="4038600"/>
          <a:ext cx="152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 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C2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340400"/>
              </p:ext>
            </p:extLst>
          </p:nvPr>
        </p:nvGraphicFramePr>
        <p:xfrm>
          <a:off x="2362200" y="4038600"/>
          <a:ext cx="152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 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C2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271801"/>
                  </p:ext>
                </p:extLst>
              </p:nvPr>
            </p:nvGraphicFramePr>
            <p:xfrm>
              <a:off x="4495800" y="4038600"/>
              <a:ext cx="22098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/>
                    <a:gridCol w="457200"/>
                    <a:gridCol w="457200"/>
                    <a:gridCol w="533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⋈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C2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7271801"/>
                  </p:ext>
                </p:extLst>
              </p:nvPr>
            </p:nvGraphicFramePr>
            <p:xfrm>
              <a:off x="4495800" y="4038600"/>
              <a:ext cx="2209800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/>
                    <a:gridCol w="457200"/>
                    <a:gridCol w="457200"/>
                    <a:gridCol w="5334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0" t="-8197" r="-189600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C2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724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(Phép kết tự nhiên)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smtClean="0"/>
                  <a:t>Xét ví dụ sau:</a:t>
                </a:r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endParaRPr lang="en-US" sz="2400" smtClean="0"/>
              </a:p>
              <a:p>
                <a:pPr marL="0" indent="0">
                  <a:buNone/>
                </a:pPr>
                <a:endParaRPr lang="en-US" sz="2400"/>
              </a:p>
              <a:p>
                <a:pPr marL="0" indent="0">
                  <a:buNone/>
                </a:pPr>
                <a:endParaRPr lang="en-US" sz="2400" smtClean="0"/>
              </a:p>
              <a:p>
                <a:pPr marL="0" indent="0">
                  <a:buNone/>
                </a:pPr>
                <a:r>
                  <a:rPr lang="en-US" sz="2400" smtClean="0"/>
                  <a:t>Khi đó ta có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𝑟</m:t>
                        </m:r>
                        <m:r>
                          <a:rPr lang="en-US" sz="2400" b="0" i="1" smtClean="0">
                            <a:latin typeface="Cambria Math"/>
                          </a:rPr>
                          <m:t>⋈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𝑠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400" smtClean="0"/>
                  <a:t> và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  <m:r>
                          <a:rPr lang="en-US" sz="2400" i="1">
                            <a:latin typeface="Cambria Math"/>
                          </a:rPr>
                          <m:t>⋈</m:t>
                        </m:r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z="2400" smtClean="0"/>
                  <a:t> thì đây là kết đầy đủ.</a:t>
                </a:r>
              </a:p>
              <a:p>
                <a:pPr marL="0" indent="0">
                  <a:buNone/>
                </a:pPr>
                <a:r>
                  <a:rPr lang="en-US" sz="2400" smtClean="0"/>
                  <a:t>Xét trường hợp kết không đầy đủ sau</a:t>
                </a:r>
                <a:endParaRPr lang="en-US" sz="240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5105400"/>
              </a:xfrm>
              <a:blipFill rotWithShape="1">
                <a:blip r:embed="rId2"/>
                <a:stretch>
                  <a:fillRect l="-1053" t="-956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843582"/>
              </p:ext>
            </p:extLst>
          </p:nvPr>
        </p:nvGraphicFramePr>
        <p:xfrm>
          <a:off x="533400" y="2057400"/>
          <a:ext cx="152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482600"/>
                <a:gridCol w="533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 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C2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961292"/>
              </p:ext>
            </p:extLst>
          </p:nvPr>
        </p:nvGraphicFramePr>
        <p:xfrm>
          <a:off x="2286000" y="2057400"/>
          <a:ext cx="152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 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489284"/>
                  </p:ext>
                </p:extLst>
              </p:nvPr>
            </p:nvGraphicFramePr>
            <p:xfrm>
              <a:off x="4495800" y="2057400"/>
              <a:ext cx="22098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/>
                    <a:gridCol w="457200"/>
                    <a:gridCol w="457200"/>
                    <a:gridCol w="533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⋈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C2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6489284"/>
                  </p:ext>
                </p:extLst>
              </p:nvPr>
            </p:nvGraphicFramePr>
            <p:xfrm>
              <a:off x="4495800" y="2057400"/>
              <a:ext cx="22098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/>
                    <a:gridCol w="457200"/>
                    <a:gridCol w="457200"/>
                    <a:gridCol w="5334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800" t="-8197" r="-1896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C2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A2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17079"/>
              </p:ext>
            </p:extLst>
          </p:nvPr>
        </p:nvGraphicFramePr>
        <p:xfrm>
          <a:off x="609600" y="4724400"/>
          <a:ext cx="1524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482600"/>
                <a:gridCol w="533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 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C2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A2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C3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732968"/>
              </p:ext>
            </p:extLst>
          </p:nvPr>
        </p:nvGraphicFramePr>
        <p:xfrm>
          <a:off x="2362200" y="4724400"/>
          <a:ext cx="152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/>
                <a:gridCol w="508000"/>
                <a:gridCol w="50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B1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C1 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B1</a:t>
                      </a:r>
                      <a:r>
                        <a:rPr lang="en-US" baseline="0" smtClean="0"/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C2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741120"/>
                  </p:ext>
                </p:extLst>
              </p:nvPr>
            </p:nvGraphicFramePr>
            <p:xfrm>
              <a:off x="4572000" y="4724400"/>
              <a:ext cx="22098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/>
                    <a:gridCol w="457200"/>
                    <a:gridCol w="457200"/>
                    <a:gridCol w="5334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𝒓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⋈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𝒔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C2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741120"/>
                  </p:ext>
                </p:extLst>
              </p:nvPr>
            </p:nvGraphicFramePr>
            <p:xfrm>
              <a:off x="4572000" y="4724400"/>
              <a:ext cx="22098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2000"/>
                    <a:gridCol w="457200"/>
                    <a:gridCol w="457200"/>
                    <a:gridCol w="5334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t="-8197" r="-1904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C1 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A1</a:t>
                          </a:r>
                          <a:r>
                            <a:rPr lang="en-US" baseline="0" smtClean="0"/>
                            <a:t> 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B1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C2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99938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(Kết có điều kiện)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/>
          <a:lstStyle/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470749"/>
              </p:ext>
            </p:extLst>
          </p:nvPr>
        </p:nvGraphicFramePr>
        <p:xfrm>
          <a:off x="533399" y="1661160"/>
          <a:ext cx="3048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385"/>
                <a:gridCol w="703385"/>
                <a:gridCol w="1055077"/>
                <a:gridCol w="58615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SV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Hoten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Hoàng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Hương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051037"/>
              </p:ext>
            </p:extLst>
          </p:nvPr>
        </p:nvGraphicFramePr>
        <p:xfrm>
          <a:off x="3733800" y="167640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914400"/>
                <a:gridCol w="990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Lop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maLop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Tenlop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Toán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QT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Quản</a:t>
                      </a:r>
                      <a:r>
                        <a:rPr lang="en-US" baseline="0" smtClean="0"/>
                        <a:t> trị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Tin học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2127" y="3505200"/>
                <a:ext cx="8686800" cy="795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thực hiện phép kết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/>
                        <a:cs typeface="Times New Roman" panose="02020603050405020304" pitchFamily="18" charset="0"/>
                      </a:rPr>
                      <m:t>𝑆𝑉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⋈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𝐿𝑜𝑝</m:t>
                    </m:r>
                  </m:oMath>
                </a14:m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theo điều kiện là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/>
                        <a:cs typeface="Times New Roman" panose="02020603050405020304" pitchFamily="18" charset="0"/>
                      </a:rPr>
                      <m:t>SV</m:t>
                    </m:r>
                    <m:r>
                      <a:rPr lang="en-US" sz="2200" b="0" i="0" smtClean="0"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𝑙𝑜𝑝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𝐿𝑜𝑝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𝑚𝑎𝑙𝑜𝑝</m:t>
                    </m:r>
                  </m:oMath>
                </a14:m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 có kết quả, ký hiệu là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𝑆𝑉</m:t>
                    </m:r>
                    <m:sSub>
                      <m:sSubPr>
                        <m:ctrlP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  <a:cs typeface="Times New Roman" panose="02020603050405020304" pitchFamily="18" charset="0"/>
                          </a:rPr>
                          <m:t>SV</m:t>
                        </m:r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𝑙𝑜𝑝</m:t>
                        </m:r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𝐿𝑜𝑝</m:t>
                        </m:r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2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𝑚𝑎𝑙𝑜𝑝</m:t>
                        </m:r>
                      </m:sub>
                    </m:sSub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𝐿𝑜𝑝</m:t>
                    </m:r>
                  </m:oMath>
                </a14:m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27" y="3505200"/>
                <a:ext cx="8686800" cy="795539"/>
              </a:xfrm>
              <a:prstGeom prst="rect">
                <a:avLst/>
              </a:prstGeom>
              <a:blipFill rotWithShape="1">
                <a:blip r:embed="rId2"/>
                <a:stretch>
                  <a:fillRect l="-912" t="-4580" b="-10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185116"/>
              </p:ext>
            </p:extLst>
          </p:nvPr>
        </p:nvGraphicFramePr>
        <p:xfrm>
          <a:off x="533400" y="4300739"/>
          <a:ext cx="4952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762000"/>
                <a:gridCol w="990600"/>
                <a:gridCol w="685800"/>
                <a:gridCol w="914400"/>
                <a:gridCol w="9905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Kết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Hoten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malop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Tenlop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Hoàng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Toán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Toán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Tin học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Hương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Tin học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6172200"/>
                <a:ext cx="86868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Phép toán điều kiện có thể là những phép khác như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≤ ≥ &gt; &lt; …</m:t>
                    </m:r>
                  </m:oMath>
                </a14:m>
                <a:endParaRPr lang="en-US" sz="2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6172200"/>
                <a:ext cx="8686800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842" t="-8571" b="-2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605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(Kết ngoài)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5105400"/>
          </a:xfrm>
        </p:spPr>
        <p:txBody>
          <a:bodyPr/>
          <a:lstStyle/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smtClean="0"/>
          </a:p>
          <a:p>
            <a:pPr marL="0" indent="0">
              <a:buNone/>
            </a:pPr>
            <a:endParaRPr lang="en-US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925019"/>
              </p:ext>
            </p:extLst>
          </p:nvPr>
        </p:nvGraphicFramePr>
        <p:xfrm>
          <a:off x="533399" y="1661160"/>
          <a:ext cx="3048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3385"/>
                <a:gridCol w="703385"/>
                <a:gridCol w="1055077"/>
                <a:gridCol w="58615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SV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Hoten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Hoàng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Hương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299902"/>
              </p:ext>
            </p:extLst>
          </p:nvPr>
        </p:nvGraphicFramePr>
        <p:xfrm>
          <a:off x="3733800" y="1676400"/>
          <a:ext cx="2514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914400"/>
                <a:gridCol w="990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Lop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maLop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Tenlop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Toán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QT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Quản</a:t>
                      </a:r>
                      <a:r>
                        <a:rPr lang="en-US" baseline="0" smtClean="0"/>
                        <a:t> trị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Tin học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42127" y="3505200"/>
                <a:ext cx="86868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Thực hiện phép kết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/>
                        <a:cs typeface="Times New Roman" panose="02020603050405020304" pitchFamily="18" charset="0"/>
                      </a:rPr>
                      <m:t>𝑆𝑉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⋈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𝐿𝑜𝑝</m:t>
                    </m:r>
                  </m:oMath>
                </a14:m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theo điều kiện là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/>
                        <a:cs typeface="Times New Roman" panose="02020603050405020304" pitchFamily="18" charset="0"/>
                      </a:rPr>
                      <m:t>SV</m:t>
                    </m:r>
                    <m:r>
                      <a:rPr lang="en-US" sz="2200" b="0" i="0" smtClean="0"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𝑙𝑜𝑝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𝐿𝑜𝑝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200" b="0" i="1" smtClean="0">
                        <a:latin typeface="Cambria Math"/>
                        <a:cs typeface="Times New Roman" panose="02020603050405020304" pitchFamily="18" charset="0"/>
                      </a:rPr>
                      <m:t>𝑚𝑎𝑙𝑜𝑝</m:t>
                    </m:r>
                  </m:oMath>
                </a14:m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và ưu tiên các bộ bên quan hệ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/>
                        <a:cs typeface="Times New Roman" panose="02020603050405020304" pitchFamily="18" charset="0"/>
                      </a:rPr>
                      <m:t>𝑙𝑜𝑝</m:t>
                    </m:r>
                  </m:oMath>
                </a14:m>
                <a:r>
                  <a:rPr lang="en-US" sz="2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mà không có kết, gọi là kết ngoài bên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/>
                        <a:cs typeface="Times New Roman" panose="02020603050405020304" pitchFamily="18" charset="0"/>
                      </a:rPr>
                      <m:t>𝑙𝑜𝑝</m:t>
                    </m:r>
                  </m:oMath>
                </a14:m>
                <a:endParaRPr lang="en-US" sz="220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27" y="3505200"/>
                <a:ext cx="8686800" cy="769441"/>
              </a:xfrm>
              <a:prstGeom prst="rect">
                <a:avLst/>
              </a:prstGeom>
              <a:blipFill rotWithShape="1">
                <a:blip r:embed="rId2"/>
                <a:stretch>
                  <a:fillRect l="-912" t="-4762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82299"/>
              </p:ext>
            </p:extLst>
          </p:nvPr>
        </p:nvGraphicFramePr>
        <p:xfrm>
          <a:off x="533400" y="4300739"/>
          <a:ext cx="4952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838200"/>
                <a:gridCol w="914400"/>
                <a:gridCol w="685800"/>
                <a:gridCol w="838200"/>
                <a:gridCol w="1066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Kết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masv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Hoten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malop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Tenlop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4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Hoàng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Toán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Toán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Vân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Tin học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Hương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Tin học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Null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Null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Null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QT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Quản</a:t>
                      </a:r>
                      <a:r>
                        <a:rPr lang="en-US" baseline="0" smtClean="0"/>
                        <a:t> trị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96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(phép chia)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2286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mtClean="0"/>
                  <a:t>Cho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US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, </m:t>
                    </m:r>
                    <m:r>
                      <a:rPr lang="en-US" b="0" i="1" smtClean="0">
                        <a:latin typeface="Cambria Math"/>
                      </a:rPr>
                      <m:t>𝑠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𝑆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mtClean="0"/>
                  <a:t> với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</m:t>
                    </m:r>
                    <m:r>
                      <a:rPr lang="en-US" b="0" i="1" smtClean="0">
                        <a:latin typeface="Cambria Math"/>
                      </a:rPr>
                      <m:t>⊂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smtClean="0"/>
                  <a:t>, gọi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𝑅</m:t>
                    </m:r>
                    <m:r>
                      <a:rPr lang="en-US" b="0" i="1" smtClean="0">
                        <a:latin typeface="Cambria Math"/>
                      </a:rPr>
                      <m:t>\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/>
                      </a:rPr>
                      <m:t>S</m:t>
                    </m:r>
                  </m:oMath>
                </a14:m>
                <a:r>
                  <a:rPr lang="en-US" smtClean="0"/>
                  <a:t>, phép chia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mtClean="0"/>
                  <a:t> cho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mtClean="0"/>
                  <a:t> ký hiệu là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÷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∀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𝑠</m:t>
                      </m:r>
                      <m:r>
                        <a:rPr lang="en-US" b="0" i="1" smtClean="0">
                          <a:latin typeface="Cambria Math"/>
                        </a:rPr>
                        <m:t>, ∃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∈</m:t>
                      </m:r>
                      <m:r>
                        <a:rPr lang="en-US" b="0" i="1" smtClean="0">
                          <a:latin typeface="Cambria Math"/>
                        </a:rPr>
                        <m:t>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𝑡h</m:t>
                      </m:r>
                      <m:r>
                        <a:rPr lang="en-US" b="0" i="1" smtClean="0">
                          <a:latin typeface="Cambria Math"/>
                        </a:rPr>
                        <m:t>ỏ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𝑡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𝑣</m:t>
                      </m:r>
                      <m:r>
                        <a:rPr lang="en-US" b="0" i="1" smtClean="0">
                          <a:latin typeface="Cambria Math"/>
                        </a:rPr>
                        <m:t>à 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smtClean="0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2286000"/>
              </a:xfrm>
              <a:blipFill rotWithShape="1">
                <a:blip r:embed="rId2"/>
                <a:stretch>
                  <a:fillRect l="-1481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955"/>
              </p:ext>
            </p:extLst>
          </p:nvPr>
        </p:nvGraphicFramePr>
        <p:xfrm>
          <a:off x="6248400" y="3840480"/>
          <a:ext cx="1828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CV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CongViec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Sơn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Rửa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938405"/>
              </p:ext>
            </p:extLst>
          </p:nvPr>
        </p:nvGraphicFramePr>
        <p:xfrm>
          <a:off x="609600" y="3810000"/>
          <a:ext cx="3429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PhanCong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NhanVien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CongViec</a:t>
                      </a:r>
                      <a:endParaRPr lang="en-US"/>
                    </a:p>
                  </a:txBody>
                  <a:tcPr/>
                </a:tc>
              </a:tr>
              <a:tr h="370840">
                <a:tc rowSpan="3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NV1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Sơn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NV2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Sơn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NV3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Rửa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NV2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Rửa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NV3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Sơn</a:t>
                      </a:r>
                      <a:r>
                        <a:rPr lang="en-US" baseline="0" smtClean="0"/>
                        <a:t> xe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891396"/>
                  </p:ext>
                </p:extLst>
              </p:nvPr>
            </p:nvGraphicFramePr>
            <p:xfrm>
              <a:off x="4648200" y="5181600"/>
              <a:ext cx="3429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9800"/>
                    <a:gridCol w="1219200"/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𝑷𝒉𝒂𝒏𝑪𝒐𝒏𝒈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÷</m:t>
                                </m:r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𝑪𝑽</m:t>
                                </m:r>
                              </m:oMath>
                            </m:oMathPara>
                          </a14:m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NhanVien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NV2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NV3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2891396"/>
                  </p:ext>
                </p:extLst>
              </p:nvPr>
            </p:nvGraphicFramePr>
            <p:xfrm>
              <a:off x="4648200" y="5181600"/>
              <a:ext cx="3429000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9800"/>
                    <a:gridCol w="12192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76" t="-8197" r="-5524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NhanVien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NV2</a:t>
                          </a:r>
                          <a:endParaRPr lang="en-US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mtClean="0"/>
                            <a:t>NV3</a:t>
                          </a:r>
                          <a:endParaRPr lang="en-US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73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(Phép toán)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5105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600" smtClean="0"/>
                  <a:t>Cho quan hệ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𝑟</m:t>
                    </m:r>
                    <m:r>
                      <a:rPr lang="en-US" sz="2600" b="0" i="1" smtClean="0">
                        <a:latin typeface="Cambria Math"/>
                      </a:rPr>
                      <m:t>(</m:t>
                    </m:r>
                    <m:r>
                      <a:rPr lang="en-US" sz="2600" b="0" i="1" smtClean="0">
                        <a:latin typeface="Cambria Math"/>
                      </a:rPr>
                      <m:t>𝑅</m:t>
                    </m:r>
                    <m:r>
                      <a:rPr lang="en-US" sz="2600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600" smtClean="0"/>
                  <a:t> trên lược đồ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𝑅</m:t>
                    </m:r>
                    <m:r>
                      <a:rPr lang="en-US" sz="2600" b="0" i="1" smtClean="0"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}</m:t>
                    </m:r>
                  </m:oMath>
                </a14:m>
                <a:endParaRPr lang="en-US" sz="2600" smtClean="0"/>
              </a:p>
              <a:p>
                <a:pPr marL="0" indent="0">
                  <a:buNone/>
                </a:pPr>
                <a:r>
                  <a:rPr lang="en-US" sz="2600" smtClean="0"/>
                  <a:t>Ta đặt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6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26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600" smtClean="0"/>
                  <a:t>, đây là phép toán được làm trên 1 bộ của quan hệ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sz="2600" smtClean="0"/>
                  <a:t> khi đó ta có phép chiếu ghi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/>
                        </a:rPr>
                        <m:t>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600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600" b="0" i="1" smtClean="0">
                              <a:latin typeface="Cambria Math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600" b="0" smtClean="0"/>
              </a:p>
              <a:p>
                <a:pPr marL="0" indent="0">
                  <a:buNone/>
                </a:pPr>
                <a:r>
                  <a:rPr lang="en-US" sz="2600" smtClean="0"/>
                  <a:t>Phép tổng hợp là phép toán được làm trên nhiều bộ, như hàm Sum, Count, Min, Max, … được ký hiệu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sSubPr>
                        <m:e/>
                        <m:sub>
                          <m:r>
                            <a:rPr lang="en-US" sz="2600" b="0" i="1" smtClean="0">
                              <a:latin typeface="Cambria Math"/>
                            </a:rPr>
                            <m:t>𝐴</m:t>
                          </m:r>
                        </m:sub>
                      </m:sSub>
                      <m:sSub>
                        <m:sSubPr>
                          <m:ctrlPr>
                            <a:rPr lang="en-US" sz="26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US" sz="2600" b="0" i="1" smtClean="0">
                          <a:latin typeface="Cambria Math"/>
                        </a:rPr>
                        <m:t>(</m:t>
                      </m:r>
                      <m:r>
                        <a:rPr lang="en-US" sz="2600" b="0" i="1" smtClean="0">
                          <a:latin typeface="Cambria Math"/>
                        </a:rPr>
                        <m:t>𝑟</m:t>
                      </m:r>
                      <m:r>
                        <a:rPr lang="en-US" sz="2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600" smtClean="0"/>
              </a:p>
              <a:p>
                <a:pPr marL="0" indent="0">
                  <a:buNone/>
                </a:pPr>
                <a:r>
                  <a:rPr lang="en-US" sz="2600" smtClean="0"/>
                  <a:t>Trong đó dùng giá trị của thuộc tính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sz="2600" smtClean="0"/>
                  <a:t> để chia nhóm và với nhóm đó ta dùng phép toán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US" sz="2600" smtClean="0"/>
                  <a:t> để tổng hợp trên quan hệ 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/>
                      </a:rPr>
                      <m:t>𝑟</m:t>
                    </m:r>
                  </m:oMath>
                </a14:m>
                <a:endParaRPr lang="en-US" sz="2600" smtClean="0"/>
              </a:p>
              <a:p>
                <a:pPr marL="0" indent="0">
                  <a:buNone/>
                </a:pPr>
                <a:r>
                  <a:rPr lang="en-US" sz="2600" smtClean="0"/>
                  <a:t>Ví dụ: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/>
                      <m:sub>
                        <m:sSub>
                          <m:sSubPr>
                            <m:ctrlPr>
                              <a:rPr lang="en-US" sz="26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𝑆</m:t>
                        </m:r>
                        <m:r>
                          <a:rPr lang="en-US" sz="2600" b="0" i="1" smtClean="0">
                            <a:latin typeface="Cambria Math"/>
                          </a:rPr>
                          <m:t>=</m:t>
                        </m:r>
                        <m:r>
                          <a:rPr lang="en-US" sz="2600" b="0" i="1" smtClean="0">
                            <a:latin typeface="Cambria Math"/>
                          </a:rPr>
                          <m:t>𝑠𝑢𝑚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600" b="0" i="1" smtClean="0">
                                    <a:latin typeface="Cambria Math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600" b="0" i="1" smtClean="0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sub>
                    </m:sSub>
                    <m:d>
                      <m:d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/>
                          </a:rPr>
                          <m:t>𝑟</m:t>
                        </m:r>
                      </m:e>
                    </m:d>
                    <m:r>
                      <a:rPr lang="en-US" sz="2600" b="0" i="1" smtClean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sz="26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600" b="0" i="1" smtClean="0">
                        <a:latin typeface="Cambria Math"/>
                      </a:rPr>
                      <m:t>,</m:t>
                    </m:r>
                    <m:r>
                      <a:rPr lang="en-US" sz="2600" b="0" i="1" smtClean="0">
                        <a:latin typeface="Cambria Math"/>
                      </a:rPr>
                      <m:t>𝑆</m:t>
                    </m:r>
                    <m:r>
                      <a:rPr lang="en-US" sz="2600" b="0" i="1" smtClean="0">
                        <a:latin typeface="Cambria Math"/>
                      </a:rPr>
                      <m:t>]</m:t>
                    </m:r>
                  </m:oMath>
                </a14:m>
                <a:endParaRPr lang="en-US" sz="2600" smtClean="0"/>
              </a:p>
              <a:p>
                <a:pPr marL="0" indent="0">
                  <a:buNone/>
                </a:pPr>
                <a:r>
                  <a:rPr lang="en-US" smtClean="0"/>
                  <a:t>Ý nói là gom nhóm theo giá trị của thuộc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mtClean="0"/>
                  <a:t> và tính tổng giá trị của thuộc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mtClean="0"/>
                  <a:t> theo nhóm và có tên là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</a:rPr>
                      <m:t>𝑆</m:t>
                    </m:r>
                  </m:oMath>
                </a14:m>
                <a:r>
                  <a:rPr lang="en-US" smtClean="0"/>
                  <a:t>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5105400"/>
              </a:xfrm>
              <a:blipFill rotWithShape="1">
                <a:blip r:embed="rId2"/>
                <a:stretch>
                  <a:fillRect l="-1415" t="-1792" b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58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Ngôn ngữ đại số quan hệ</a:t>
            </a:r>
            <a:br>
              <a:rPr lang="en-US" smtClean="0"/>
            </a:br>
            <a:r>
              <a:rPr lang="en-US" smtClean="0"/>
              <a:t>(Ví dụ)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51054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2400" b="1" smtClean="0"/>
                  <a:t>Cho quan hệ SV(masv, hoten, tuoi, nganh)</a:t>
                </a:r>
              </a:p>
              <a:p>
                <a:pPr marL="0" indent="0">
                  <a:buNone/>
                </a:pPr>
                <a:r>
                  <a:rPr lang="en-US" sz="2400" b="1"/>
                  <a:t>Với quan hệ NH(nganh, </a:t>
                </a:r>
                <a:r>
                  <a:rPr lang="en-US" sz="2400" b="1"/>
                  <a:t>tennganh</a:t>
                </a:r>
                <a:r>
                  <a:rPr lang="en-US" sz="2400" b="1" smtClean="0"/>
                  <a:t>)</a:t>
                </a:r>
                <a:endParaRPr lang="en-US" sz="2400" b="1" smtClean="0"/>
              </a:p>
              <a:p>
                <a:pPr marL="0" indent="0">
                  <a:buNone/>
                </a:pPr>
                <a:endParaRPr lang="en-US" sz="2400" b="1" smtClean="0"/>
              </a:p>
              <a:p>
                <a:pPr marL="0" indent="0">
                  <a:buNone/>
                </a:pPr>
                <a:r>
                  <a:rPr lang="en-US" sz="2400" b="1" smtClean="0"/>
                  <a:t>Viết </a:t>
                </a:r>
                <a:r>
                  <a:rPr lang="en-US" sz="2400" b="1" smtClean="0"/>
                  <a:t>lấy ra masv, hoten theo học ngành “TH” có tuổi &gt; 20.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𝑡𝑢𝑜𝑖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&gt;20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𝑎𝑛𝑑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𝑛𝑔𝑎𝑛h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="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𝑇𝐻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"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𝑆𝑉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[</m:t>
                      </m:r>
                      <m:r>
                        <a:rPr lang="en-US" sz="2400" b="0" i="1" smtClean="0">
                          <a:latin typeface="Cambria Math"/>
                        </a:rPr>
                        <m:t>𝑚𝑎𝑠𝑣</m:t>
                      </m:r>
                      <m:r>
                        <a:rPr lang="en-US" sz="2400" b="0" i="1" smtClean="0">
                          <a:latin typeface="Cambria Math"/>
                        </a:rPr>
                        <m:t>, </m:t>
                      </m:r>
                      <m:r>
                        <a:rPr lang="en-US" sz="2400" b="0" i="1" smtClean="0">
                          <a:latin typeface="Cambria Math"/>
                        </a:rPr>
                        <m:t>h𝑜𝑡𝑒𝑛</m:t>
                      </m:r>
                      <m:r>
                        <a:rPr lang="en-US" sz="2400" b="0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400" smtClean="0"/>
              </a:p>
              <a:p>
                <a:pPr marL="0" indent="0">
                  <a:buNone/>
                </a:pPr>
                <a:endParaRPr lang="en-US" sz="2400" b="1" smtClean="0"/>
              </a:p>
              <a:p>
                <a:pPr marL="0" indent="0">
                  <a:buNone/>
                </a:pPr>
                <a:r>
                  <a:rPr lang="en-US" sz="2400" b="1" smtClean="0"/>
                  <a:t>Viết </a:t>
                </a:r>
                <a:r>
                  <a:rPr lang="en-US" sz="2400" b="1" smtClean="0"/>
                  <a:t>lấy ra ngành mà có tổng số lượng sinh viên với độ tuổi hơn 20 đang theo </a:t>
                </a:r>
                <a:r>
                  <a:rPr lang="en-US" sz="2400" b="1" smtClean="0"/>
                  <a:t>học lớn hơn 10.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&gt;10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/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𝑛𝑔𝑎𝑛h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𝐶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𝑐𝑜𝑢𝑛𝑡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/>
                                        </a:rPr>
                                        <m:t>𝑚𝑎𝑠𝑣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sz="2400" b="0" i="1" smtClean="0">
                                  <a:latin typeface="Cambria Math"/>
                                </a:rPr>
                                <m:t> 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𝑡𝑢𝑜𝑖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&gt;20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𝑆𝑉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)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𝑛𝑔𝑎𝑛h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𝐶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[</m:t>
                      </m:r>
                      <m:r>
                        <a:rPr lang="en-US" sz="2400" b="0" i="1" smtClean="0">
                          <a:latin typeface="Cambria Math"/>
                        </a:rPr>
                        <m:t>𝑛𝑔𝑎𝑛h</m:t>
                      </m:r>
                      <m:r>
                        <a:rPr lang="en-US" sz="2400" b="0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400" smtClean="0"/>
              </a:p>
              <a:p>
                <a:pPr marL="0" indent="0">
                  <a:buNone/>
                </a:pPr>
                <a:endParaRPr lang="en-US" sz="2400" b="1" smtClean="0"/>
              </a:p>
              <a:p>
                <a:pPr marL="0" indent="0">
                  <a:buNone/>
                </a:pPr>
                <a:r>
                  <a:rPr lang="en-US" sz="2400" b="1" smtClean="0"/>
                  <a:t>Viết lấy ra danh sách gồm masv, hoten, tennganh mà có tuổi &gt; 20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𝑟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𝑆𝑉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⋈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𝑆𝑉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𝑛𝑔𝑎𝑛h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𝑁𝐻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.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𝑛𝑔𝑎𝑛h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𝑁𝐻</m:t>
                      </m:r>
                      <m:r>
                        <a:rPr lang="en-US" sz="2400" b="0" i="1" smtClean="0">
                          <a:latin typeface="Cambria Math"/>
                        </a:rPr>
                        <m:t>[</m:t>
                      </m:r>
                      <m:r>
                        <a:rPr lang="en-US" sz="2400" b="0" i="1" smtClean="0">
                          <a:latin typeface="Cambria Math"/>
                        </a:rPr>
                        <m:t>𝑆𝑉</m:t>
                      </m:r>
                      <m:r>
                        <a:rPr lang="en-US" sz="2400" b="0" i="1" smtClean="0">
                          <a:latin typeface="Cambria Math"/>
                        </a:rPr>
                        <m:t>.</m:t>
                      </m:r>
                      <m:r>
                        <a:rPr lang="en-US" sz="2400" b="0" i="1" smtClean="0">
                          <a:latin typeface="Cambria Math"/>
                        </a:rPr>
                        <m:t>𝑚𝑎𝑠𝑣</m:t>
                      </m:r>
                      <m:r>
                        <a:rPr lang="en-US" sz="2400" b="0" i="1" smtClean="0">
                          <a:latin typeface="Cambria Math"/>
                        </a:rPr>
                        <m:t>, </m:t>
                      </m:r>
                      <m:r>
                        <a:rPr lang="en-US" sz="2400" b="0" i="1" smtClean="0">
                          <a:latin typeface="Cambria Math"/>
                        </a:rPr>
                        <m:t>𝑆𝑉</m:t>
                      </m:r>
                      <m:r>
                        <a:rPr lang="en-US" sz="2400" b="0" i="1" smtClean="0">
                          <a:latin typeface="Cambria Math"/>
                        </a:rPr>
                        <m:t>.</m:t>
                      </m:r>
                      <m:r>
                        <a:rPr lang="en-US" sz="2400" b="0" i="1" smtClean="0">
                          <a:latin typeface="Cambria Math"/>
                        </a:rPr>
                        <m:t>h𝑜𝑡𝑒𝑛</m:t>
                      </m:r>
                      <m:r>
                        <a:rPr lang="en-US" sz="2400" b="0" i="1" smtClean="0">
                          <a:latin typeface="Cambria Math"/>
                        </a:rPr>
                        <m:t>, </m:t>
                      </m:r>
                      <m:r>
                        <a:rPr lang="en-US" sz="2400" b="0" i="1" smtClean="0">
                          <a:latin typeface="Cambria Math"/>
                        </a:rPr>
                        <m:t>𝑆𝑉</m:t>
                      </m:r>
                      <m:r>
                        <a:rPr lang="en-US" sz="2400" b="0" i="1" smtClean="0">
                          <a:latin typeface="Cambria Math"/>
                        </a:rPr>
                        <m:t>.</m:t>
                      </m:r>
                      <m:r>
                        <a:rPr lang="en-US" sz="2400" b="0" i="1" smtClean="0">
                          <a:latin typeface="Cambria Math"/>
                        </a:rPr>
                        <m:t>𝑡𝑢𝑜𝑖</m:t>
                      </m:r>
                      <m:r>
                        <a:rPr lang="en-US" sz="2400" b="0" i="1" smtClean="0">
                          <a:latin typeface="Cambria Math"/>
                        </a:rPr>
                        <m:t>, </m:t>
                      </m:r>
                      <m:r>
                        <a:rPr lang="en-US" sz="2400" b="0" i="1" smtClean="0">
                          <a:latin typeface="Cambria Math"/>
                        </a:rPr>
                        <m:t>𝑁𝐻</m:t>
                      </m:r>
                      <m:r>
                        <a:rPr lang="en-US" sz="2400" b="0" i="1" smtClean="0">
                          <a:latin typeface="Cambria Math"/>
                        </a:rPr>
                        <m:t>.</m:t>
                      </m:r>
                      <m:r>
                        <a:rPr lang="en-US" sz="2400" b="0" i="1" smtClean="0">
                          <a:latin typeface="Cambria Math"/>
                        </a:rPr>
                        <m:t>𝑡𝑒𝑛𝑛𝑔𝑎𝑛h</m:t>
                      </m:r>
                      <m:r>
                        <a:rPr lang="en-US" sz="2400" b="0" i="1" smtClean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240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𝑡𝑢𝑜𝑖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&gt;20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𝑟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𝑚𝑎𝑠𝑣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h𝑜𝑡𝑒𝑛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𝑛𝑔𝑎𝑛h</m:t>
                          </m:r>
                        </m:e>
                      </m:d>
                    </m:oMath>
                  </m:oMathPara>
                </a14:m>
                <a:endParaRPr lang="en-US" sz="2400" b="0" smtClean="0"/>
              </a:p>
              <a:p>
                <a:pPr marL="0" indent="0">
                  <a:buNone/>
                </a:pPr>
                <a:endParaRPr lang="en-US" sz="240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5105400"/>
              </a:xfrm>
              <a:blipFill rotWithShape="1">
                <a:blip r:embed="rId2"/>
                <a:stretch>
                  <a:fillRect l="-702" t="-1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312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1517</Words>
  <Application>Microsoft Office PowerPoint</Application>
  <PresentationFormat>On-screen Show (4:3)</PresentationFormat>
  <Paragraphs>367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NGÔN NGỮ ĐẠI SỐ QUAN HỆ </vt:lpstr>
      <vt:lpstr>Ngôn ngữ đại số quan hệ</vt:lpstr>
      <vt:lpstr>Ngôn ngữ đại số quan hệ (Một số quy ước)</vt:lpstr>
      <vt:lpstr>Ngôn ngữ đại số quan hệ (Một số quy ước)</vt:lpstr>
      <vt:lpstr>Ngôn ngữ đại số quan hệ (Phép chiếu)</vt:lpstr>
      <vt:lpstr>Ngôn ngữ đại số quan hệ (Phép chọn)</vt:lpstr>
      <vt:lpstr>Ngôn ngữ đại số quan hệ (Phép kết tự nhiên)</vt:lpstr>
      <vt:lpstr>Ngôn ngữ đại số quan hệ (Phép kết tự nhiên)</vt:lpstr>
      <vt:lpstr>Ngôn ngữ đại số quan hệ (Kết có điều kiện)</vt:lpstr>
      <vt:lpstr>Ngôn ngữ đại số quan hệ (Kết ngoài)</vt:lpstr>
      <vt:lpstr>Ngôn ngữ đại số quan hệ (phép chia)</vt:lpstr>
      <vt:lpstr>Ngôn ngữ đại số quan hệ (Phép toán)</vt:lpstr>
      <vt:lpstr>Ngôn ngữ đại số quan hệ (Ví dụ)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QUẢN TRỊ CƠ SỞ DỮ LIỆU SQL SERVER 2012</dc:title>
  <dc:creator>phanhien</dc:creator>
  <cp:lastModifiedBy>phanhien</cp:lastModifiedBy>
  <cp:revision>102</cp:revision>
  <dcterms:created xsi:type="dcterms:W3CDTF">2015-08-04T00:53:59Z</dcterms:created>
  <dcterms:modified xsi:type="dcterms:W3CDTF">2015-08-07T07:30:32Z</dcterms:modified>
</cp:coreProperties>
</file>